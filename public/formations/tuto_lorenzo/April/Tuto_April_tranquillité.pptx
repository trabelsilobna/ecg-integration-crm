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gk+i1yW0gzAz8kRuheIoBMWUfT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27'!A1" TargetMode="External"/><Relationship Id="rId10" Type="http://schemas.openxmlformats.org/officeDocument/2006/relationships/image" Target="../media/image19.png"/><Relationship Id="rId13" Type="http://schemas.openxmlformats.org/officeDocument/2006/relationships/image" Target="../media/image2.jp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9" Type="http://schemas.openxmlformats.org/officeDocument/2006/relationships/hyperlink" Target="#'5'!A1" TargetMode="External"/><Relationship Id="rId15" Type="http://schemas.openxmlformats.org/officeDocument/2006/relationships/image" Target="../media/image22.png"/><Relationship Id="rId14" Type="http://schemas.openxmlformats.org/officeDocument/2006/relationships/hyperlink" Target="#'10'!A1" TargetMode="External"/><Relationship Id="rId5" Type="http://schemas.openxmlformats.org/officeDocument/2006/relationships/image" Target="../media/image29.png"/><Relationship Id="rId6" Type="http://schemas.openxmlformats.org/officeDocument/2006/relationships/image" Target="../media/image26.jpg"/><Relationship Id="rId7" Type="http://schemas.openxmlformats.org/officeDocument/2006/relationships/hyperlink" Target="#'2'!A1" TargetMode="External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hyperlink" Target="#'27'!A1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hyperlink" Target="#'27'!A1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2.jp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jp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hyperlink" Target="#'2'!A1" TargetMode="External"/><Relationship Id="rId9" Type="http://schemas.openxmlformats.org/officeDocument/2006/relationships/hyperlink" Target="#'27'!A1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24.png"/><Relationship Id="rId7" Type="http://schemas.openxmlformats.org/officeDocument/2006/relationships/image" Target="../media/image15.jpg"/><Relationship Id="rId8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hyperlink" Target="#'10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hyperlink" Target="#'27'!A1" TargetMode="External"/><Relationship Id="rId9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2.jp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hyperlink" Target="#'27'!A1" TargetMode="External"/><Relationship Id="rId7" Type="http://schemas.openxmlformats.org/officeDocument/2006/relationships/image" Target="../media/image27.png"/><Relationship Id="rId8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jp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hyperlink" Target="#'27'!A1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²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renforts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463800" y="284759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16000 professionnels  de santé pour des    équipements de qualité à prix réduit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2841625" y="450043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463800" y="6116167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4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98" name="Google Shape;98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4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1" name="Google Shape;101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4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4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" name="Google Shape;10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6" name="Google Shape;106;p1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4439" y="3170627"/>
            <a:ext cx="640045" cy="6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26900" y="4891693"/>
            <a:ext cx="930612" cy="52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familles et les séniors</a:t>
            </a:r>
            <a:endParaRPr/>
          </a:p>
        </p:txBody>
      </p:sp>
      <p:grpSp>
        <p:nvGrpSpPr>
          <p:cNvPr id="110" name="Google Shape;110;p14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11" name="Google Shape;111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112" name="Google Shape;112;p14">
              <a:hlinkClick r:id="rId11"/>
            </p:cNvPr>
            <p:cNvPicPr preferRelativeResize="0"/>
            <p:nvPr/>
          </p:nvPicPr>
          <p:blipFill rotWithShape="1">
            <a:blip r:embed="rId12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13" name="Google Shape;113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QUATREM ASSURANCES INTERMEDIEES GROUPE MALAKOFF MEDERIC (Marques) - Data  INPI" id="114" name="Google Shape;114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24000" y="1613213"/>
            <a:ext cx="416088" cy="67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XERIA Insurance International" id="115" name="Google Shape;115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12578" l="12265" r="9433" t="22013"/>
          <a:stretch/>
        </p:blipFill>
        <p:spPr>
          <a:xfrm>
            <a:off x="4721225" y="6517610"/>
            <a:ext cx="976837" cy="629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348343" y="2029097"/>
            <a:ext cx="6198508" cy="10355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APRIL Tranquillité Santé une solution adaptée pour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répondre à vos besoins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COMPLÈTES PROPOSANT UNE COUVERTURE DE QUALITÉ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29746" y="3205777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48343" y="3739173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45621" y="4435719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renforts pour booster vos garanties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29746" y="6261842"/>
            <a:ext cx="6198508" cy="60619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BONUS FIDELITE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Après la deuxième année, sur les soins dentaires et en optique</a:t>
            </a:r>
            <a:endParaRPr sz="1400" cap="small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29746" y="7015471"/>
            <a:ext cx="6198508" cy="128304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Kalixia, 1er réseau de soins de santé de France.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5621" y="8438075"/>
            <a:ext cx="6198508" cy="108693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Axeria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</p:txBody>
      </p:sp>
      <p:grpSp>
        <p:nvGrpSpPr>
          <p:cNvPr id="127" name="Google Shape;127;p15"/>
          <p:cNvGrpSpPr/>
          <p:nvPr/>
        </p:nvGrpSpPr>
        <p:grpSpPr>
          <a:xfrm>
            <a:off x="934750" y="890929"/>
            <a:ext cx="5215617" cy="1038433"/>
            <a:chOff x="1248230" y="945460"/>
            <a:chExt cx="5215617" cy="1038433"/>
          </a:xfrm>
        </p:grpSpPr>
        <p:sp>
          <p:nvSpPr>
            <p:cNvPr id="128" name="Google Shape;128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April Tranquillité ?</a:t>
              </a:r>
              <a:endParaRPr/>
            </a:p>
          </p:txBody>
        </p:sp>
        <p:pic>
          <p:nvPicPr>
            <p:cNvPr descr="Bonne idée - Icônes commercialisation gratuites" id="129" name="Google Shape;12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/>
          <p:nvPr/>
        </p:nvSpPr>
        <p:spPr>
          <a:xfrm>
            <a:off x="329746" y="5535206"/>
            <a:ext cx="6198508" cy="575484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couple - 10 % sur la cotisation.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multi-détention -10%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32" name="Google Shape;132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133" name="Google Shape;133;p15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34" name="Google Shape;134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15"/>
          <p:cNvSpPr/>
          <p:nvPr/>
        </p:nvSpPr>
        <p:spPr>
          <a:xfrm>
            <a:off x="329746" y="5002342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Maintien de la cotisation pendant 3 ans pour les 65-70 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16"/>
          <p:cNvGrpSpPr/>
          <p:nvPr/>
        </p:nvGrpSpPr>
        <p:grpSpPr>
          <a:xfrm>
            <a:off x="1004728" y="1195598"/>
            <a:ext cx="5200867" cy="1200329"/>
            <a:chOff x="976399" y="1057661"/>
            <a:chExt cx="5200867" cy="1200329"/>
          </a:xfrm>
        </p:grpSpPr>
        <p:pic>
          <p:nvPicPr>
            <p:cNvPr descr="ajuster la conception de l'icône créative 15456496 Art vectoriel chez  Vecteezy" id="142" name="Google Shape;14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6"/>
            <p:cNvSpPr txBox="1"/>
            <p:nvPr/>
          </p:nvSpPr>
          <p:spPr>
            <a:xfrm>
              <a:off x="2385332" y="1057661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April Tranquillité, vous donne la possibilité de booster vos garanties</a:t>
              </a: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45" name="Google Shape;145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146" name="Google Shape;146;p16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47" name="Google Shape;14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8527"/>
          <a:stretch/>
        </p:blipFill>
        <p:spPr>
          <a:xfrm>
            <a:off x="1004728" y="2657050"/>
            <a:ext cx="4619730" cy="3165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318" y="5971964"/>
            <a:ext cx="6239364" cy="3023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17"/>
          <p:cNvGrpSpPr/>
          <p:nvPr/>
        </p:nvGrpSpPr>
        <p:grpSpPr>
          <a:xfrm>
            <a:off x="741746" y="938452"/>
            <a:ext cx="5175477" cy="1068608"/>
            <a:chOff x="1640097" y="967319"/>
            <a:chExt cx="5175477" cy="1068608"/>
          </a:xfrm>
        </p:grpSpPr>
        <p:pic>
          <p:nvPicPr>
            <p:cNvPr id="156" name="Google Shape;156;p17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7"/>
            <p:cNvSpPr txBox="1"/>
            <p:nvPr/>
          </p:nvSpPr>
          <p:spPr>
            <a:xfrm>
              <a:off x="2635459" y="1044993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Kalixia ?</a:t>
              </a:r>
              <a:endParaRPr/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descr="Feingeist - Lunette Pour Les Ecran - Free Transparent PNG Clipart Images  Download" id="159" name="Google Shape;159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7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libre choix au sein d’un référentiel verres / lentilles très complet de verriers rigoureusement sélectionnés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40 % sur les verres de classe B, – 30 % sur les lentilles; – 20% sur les montures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de qualité : garanties casse verres et monture</a:t>
              </a:r>
              <a:endParaRPr/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descr="Icône D'oreille Pour Vos Sites De Conception Et Projets PNG , Audio, Oreille,  Écoutez Licône PNG et vecteur pour téléchargement gratuit" id="162" name="Google Shape;162;p17"/>
            <p:cNvPicPr preferRelativeResize="0"/>
            <p:nvPr/>
          </p:nvPicPr>
          <p:blipFill rotWithShape="1">
            <a:blip r:embed="rId7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– 500 € en moyenne pour un double appareillage de classe 2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prestation « tout en un » : aide auditive prête à l’emploi avec piles et kit d’entretien pour 6 mois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prestations accessibles aux ascendants directs des assurés bénéficiaires</a:t>
              </a:r>
              <a:endParaRPr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65" name="Google Shape;16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renforcement de l’accès aux actes de prothèse, d’orthodontie, d’implantologie, de parodontologie, et de prévention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amélioration de la prise en charge complémentaire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respect de plafonds d’honoraires, au niveau des pratiques moyennes du département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10 ans sur les couronnes</a:t>
              </a:r>
              <a:endParaRPr/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68" name="Google Shape;168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Kalixia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à des ostéopathes sélectionnés sur des critères de qualité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normalisation et une dématérialisation de la note d’honoraires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modération tarifaire</a:t>
              </a:r>
              <a:endParaRPr/>
            </a:p>
          </p:txBody>
        </p:sp>
      </p:grpSp>
      <p:grpSp>
        <p:nvGrpSpPr>
          <p:cNvPr id="170" name="Google Shape;170;p17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71" name="Google Shape;171;p17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172" name="Google Shape;172;p17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73" name="Google Shape;173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8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180" name="Google Shape;180;p18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181" name="Google Shape;181;p18">
              <a:hlinkClick r:id="rId4"/>
            </p:cNvPr>
            <p:cNvPicPr preferRelativeResize="0"/>
            <p:nvPr/>
          </p:nvPicPr>
          <p:blipFill rotWithShape="1">
            <a:blip r:embed="rId5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182" name="Google Shape;18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8"/>
          <p:cNvSpPr txBox="1"/>
          <p:nvPr/>
        </p:nvSpPr>
        <p:spPr>
          <a:xfrm>
            <a:off x="1984284" y="1637164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Axeria ?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38767" y="3243956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Axeria vous propose gratuitement:</a:t>
            </a:r>
            <a:endParaRPr/>
          </a:p>
        </p:txBody>
      </p:sp>
      <p:grpSp>
        <p:nvGrpSpPr>
          <p:cNvPr id="185" name="Google Shape;185;p18"/>
          <p:cNvGrpSpPr/>
          <p:nvPr/>
        </p:nvGrpSpPr>
        <p:grpSpPr>
          <a:xfrm>
            <a:off x="1411854" y="4500644"/>
            <a:ext cx="5308289" cy="811475"/>
            <a:chOff x="1112374" y="2709083"/>
            <a:chExt cx="5308289" cy="811475"/>
          </a:xfrm>
        </p:grpSpPr>
        <p:sp>
          <p:nvSpPr>
            <p:cNvPr id="186" name="Google Shape;186;p18"/>
            <p:cNvSpPr txBox="1"/>
            <p:nvPr/>
          </p:nvSpPr>
          <p:spPr>
            <a:xfrm>
              <a:off x="1736175" y="2897890"/>
              <a:ext cx="46844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16 heures d’aide ménagère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, à concurrence de 2 heures consécutives par jour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112374" y="2709083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8"/>
          <p:cNvGrpSpPr/>
          <p:nvPr/>
        </p:nvGrpSpPr>
        <p:grpSpPr>
          <a:xfrm>
            <a:off x="137857" y="5831804"/>
            <a:ext cx="6198746" cy="798889"/>
            <a:chOff x="222327" y="5188381"/>
            <a:chExt cx="6198746" cy="798889"/>
          </a:xfrm>
        </p:grpSpPr>
        <p:pic>
          <p:nvPicPr>
            <p:cNvPr id="189" name="Google Shape;189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8"/>
            <p:cNvSpPr txBox="1"/>
            <p:nvPr/>
          </p:nvSpPr>
          <p:spPr>
            <a:xfrm>
              <a:off x="1088573" y="5248670"/>
              <a:ext cx="5332500" cy="7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garde à l'extérieur des animaux de compagnie à concurrence de 250 euros TTC, à la condition qu'ils aient reçu les vaccinations obligatoires</a:t>
              </a:r>
              <a:endParaRPr/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1411855" y="7410299"/>
            <a:ext cx="5101828" cy="858536"/>
            <a:chOff x="319683" y="6589531"/>
            <a:chExt cx="5980735" cy="858536"/>
          </a:xfrm>
        </p:grpSpPr>
        <p:pic>
          <p:nvPicPr>
            <p:cNvPr id="192" name="Google Shape;192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8"/>
            <p:cNvSpPr txBox="1"/>
            <p:nvPr/>
          </p:nvSpPr>
          <p:spPr>
            <a:xfrm>
              <a:off x="967845" y="6709403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garde des enfants: de 7h à 19 h(sauf dimanche et jours fériés), au Domicile du Bénéficiaire, la garde des enfants à charge, de moins de 15 ans</a:t>
              </a:r>
              <a:endParaRPr/>
            </a:p>
          </p:txBody>
        </p:sp>
      </p:grpSp>
      <p:pic>
        <p:nvPicPr>
          <p:cNvPr descr="AXERIA Insurance International" id="194" name="Google Shape;194;p18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12578" l="12265" r="9433" t="22013"/>
          <a:stretch/>
        </p:blipFill>
        <p:spPr>
          <a:xfrm>
            <a:off x="720624" y="1637164"/>
            <a:ext cx="1640666" cy="105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00" name="Google Shape;200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08" name="Google Shape;208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9" name="Google Shape;209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0" name="Google Shape;210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13" name="Google Shape;213;p19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214" name="Google Shape;214;p19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215" name="Google Shape;215;p19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216" name="Google Shape;216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22" name="Google Shape;222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0"/>
          <p:cNvGrpSpPr/>
          <p:nvPr/>
        </p:nvGrpSpPr>
        <p:grpSpPr>
          <a:xfrm>
            <a:off x="101600" y="63175"/>
            <a:ext cx="6686550" cy="1086039"/>
            <a:chOff x="101600" y="63175"/>
            <a:chExt cx="6686550" cy="1086039"/>
          </a:xfrm>
        </p:grpSpPr>
        <p:sp>
          <p:nvSpPr>
            <p:cNvPr id="228" name="Google Shape;228;p20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Tranquillité      by                               assuré par                                 </a:t>
              </a:r>
              <a:endParaRPr/>
            </a:p>
          </p:txBody>
        </p:sp>
        <p:pic>
          <p:nvPicPr>
            <p:cNvPr id="229" name="Google Shape;229;p20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34782" l="26740" r="53075" t="47554"/>
            <a:stretch/>
          </p:blipFill>
          <p:spPr>
            <a:xfrm>
              <a:off x="2588889" y="157841"/>
              <a:ext cx="970793" cy="499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QUATREM ASSURANCES INTERMEDIEES GROUPE MALAKOFF MEDERIC (Marques) - Data  INPI" id="230" name="Google Shape;230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565496" y="63175"/>
              <a:ext cx="673868" cy="1086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