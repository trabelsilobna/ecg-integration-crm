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ggJFEkT46X7iWqLWCGl0HWRIZ4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bd303a520_0_0:notes"/>
          <p:cNvSpPr/>
          <p:nvPr>
            <p:ph idx="2" type="sldImg"/>
          </p:nvPr>
        </p:nvSpPr>
        <p:spPr>
          <a:xfrm>
            <a:off x="2357438" y="1279525"/>
            <a:ext cx="23892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bd303a520_0_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bbd303a520_0_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0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#'27'!A1" TargetMode="External"/><Relationship Id="rId10" Type="http://schemas.openxmlformats.org/officeDocument/2006/relationships/image" Target="../media/image5.png"/><Relationship Id="rId13" Type="http://schemas.openxmlformats.org/officeDocument/2006/relationships/image" Target="../media/image1.jp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1.jpg"/><Relationship Id="rId9" Type="http://schemas.openxmlformats.org/officeDocument/2006/relationships/hyperlink" Target="#'5'!A1" TargetMode="External"/><Relationship Id="rId15" Type="http://schemas.openxmlformats.org/officeDocument/2006/relationships/image" Target="../media/image14.png"/><Relationship Id="rId14" Type="http://schemas.openxmlformats.org/officeDocument/2006/relationships/hyperlink" Target="#'10'!A1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15.jpg"/><Relationship Id="rId7" Type="http://schemas.openxmlformats.org/officeDocument/2006/relationships/hyperlink" Target="#'2'!A1" TargetMode="External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#'27'!A1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hyperlink" Target="#'27'!A1" TargetMode="External"/><Relationship Id="rId7" Type="http://schemas.openxmlformats.org/officeDocument/2006/relationships/image" Target="../media/image18.png"/><Relationship Id="rId8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jpg"/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hyperlink" Target="#'2'!A1" TargetMode="External"/><Relationship Id="rId9" Type="http://schemas.openxmlformats.org/officeDocument/2006/relationships/hyperlink" Target="#'27'!A1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17.jpg"/><Relationship Id="rId8" Type="http://schemas.openxmlformats.org/officeDocument/2006/relationships/image" Target="../media/image24.jp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hyperlink" Target="#'10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hyperlink" Target="#'27'!A1" TargetMode="External"/><Relationship Id="rId9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image" Target="../media/image1.jpg"/><Relationship Id="rId7" Type="http://schemas.openxmlformats.org/officeDocument/2006/relationships/image" Target="../media/image31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hyperlink" Target="#'27'!A1" TargetMode="External"/><Relationship Id="rId7" Type="http://schemas.openxmlformats.org/officeDocument/2006/relationships/image" Target="../media/image18.png"/><Relationship Id="rId8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jpg"/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8.png"/><Relationship Id="rId9" Type="http://schemas.openxmlformats.org/officeDocument/2006/relationships/hyperlink" Target="#'27'!A1" TargetMode="External"/><Relationship Id="rId5" Type="http://schemas.openxmlformats.org/officeDocument/2006/relationships/image" Target="../media/image32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3 packs confort et bien-être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463800" y="284759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16000 professionnels  de santé pour des    équipements de qualité à prix réduit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2841625" y="450043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2463800" y="611616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4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5" name="Google Shape;95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6" name="Google Shape;96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14"/>
          <p:cNvGrpSpPr/>
          <p:nvPr/>
        </p:nvGrpSpPr>
        <p:grpSpPr>
          <a:xfrm>
            <a:off x="2524885" y="3065751"/>
            <a:ext cx="976837" cy="1010393"/>
            <a:chOff x="2548471" y="3049424"/>
            <a:chExt cx="976837" cy="1010393"/>
          </a:xfrm>
        </p:grpSpPr>
        <p:sp>
          <p:nvSpPr>
            <p:cNvPr id="98" name="Google Shape;98;p14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99" name="Google Shape;99;p14"/>
            <p:cNvPicPr preferRelativeResize="0"/>
            <p:nvPr/>
          </p:nvPicPr>
          <p:blipFill rotWithShape="1">
            <a:blip r:embed="rId4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" name="Google Shape;100;p14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01" name="Google Shape;101;p14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2" name="Google Shape;102;p14"/>
            <p:cNvPicPr preferRelativeResize="0"/>
            <p:nvPr/>
          </p:nvPicPr>
          <p:blipFill rotWithShape="1">
            <a:blip r:embed="rId5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4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104" name="Google Shape;104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5" name="Google Shape;105;p14"/>
            <p:cNvPicPr preferRelativeResize="0"/>
            <p:nvPr/>
          </p:nvPicPr>
          <p:blipFill rotWithShape="1">
            <a:blip r:embed="rId6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6" name="Google Shape;106;p14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54439" y="3170627"/>
            <a:ext cx="640045" cy="68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26900" y="4891693"/>
            <a:ext cx="930612" cy="523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+ 50 ans</a:t>
            </a:r>
            <a:endParaRPr/>
          </a:p>
        </p:txBody>
      </p:sp>
      <p:grpSp>
        <p:nvGrpSpPr>
          <p:cNvPr id="110" name="Google Shape;110;p14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111" name="Google Shape;111;p14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Santé Globale+      by                               assuré par                                 </a:t>
              </a:r>
              <a:endParaRPr/>
            </a:p>
          </p:txBody>
        </p:sp>
        <p:pic>
          <p:nvPicPr>
            <p:cNvPr id="112" name="Google Shape;112;p14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34782" l="26740" r="53075" t="47554"/>
            <a:stretch/>
          </p:blipFill>
          <p:spPr>
            <a:xfrm>
              <a:off x="2853149" y="14642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113" name="Google Shape;113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QUATREM ASSURANCES INTERMEDIEES GROUPE MALAKOFF MEDERIC (Marques) - Data  INPI" id="114" name="Google Shape;114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24000" y="1613213"/>
            <a:ext cx="416088" cy="670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XERIA Insurance International" id="115" name="Google Shape;115;p14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12578" l="12265" r="9433" t="22013"/>
          <a:stretch/>
        </p:blipFill>
        <p:spPr>
          <a:xfrm>
            <a:off x="4721225" y="6517610"/>
            <a:ext cx="976837" cy="629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348343" y="2029097"/>
            <a:ext cx="6198508" cy="121087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plus de ses garanties particulièrement adaptées aux besoins des plus de 50 ans,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APRIL Santé Globale + vous procure confort et tranquillité d’esprit grâce à sa protection optimale. 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329746" y="3380675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348343" y="392132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345621" y="4612429"/>
            <a:ext cx="6198508" cy="670044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renfort  « Confort et Bien-Être »,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pour ajuster vos garanties selon vos habitudes de soins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48343" y="6170014"/>
            <a:ext cx="6198508" cy="69015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BONUS FIDELITE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remboursements majorés après la deuxième et la troisième année</a:t>
            </a:r>
            <a:endParaRPr sz="1400" cap="small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48343" y="7031298"/>
            <a:ext cx="6198508" cy="128304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Kalixia, 1er réseau de soins de santé de France.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tarifs négociés auprès 6 700 centres d’optiques, 4 500 chirurgiens-dentistes et orthodontistes, 4500 centres audio partenaires et 450 ostéopathes, répartis sur l’ensemble du territoire.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48343" y="8441933"/>
            <a:ext cx="6198508" cy="92423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Axeria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127" name="Google Shape;127;p15"/>
          <p:cNvGrpSpPr/>
          <p:nvPr/>
        </p:nvGrpSpPr>
        <p:grpSpPr>
          <a:xfrm>
            <a:off x="934750" y="890929"/>
            <a:ext cx="5215617" cy="1038433"/>
            <a:chOff x="1248230" y="945460"/>
            <a:chExt cx="5215617" cy="1038433"/>
          </a:xfrm>
        </p:grpSpPr>
        <p:sp>
          <p:nvSpPr>
            <p:cNvPr id="128" name="Google Shape;128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April Global+ ?</a:t>
              </a:r>
              <a:endParaRPr/>
            </a:p>
          </p:txBody>
        </p:sp>
        <p:pic>
          <p:nvPicPr>
            <p:cNvPr descr="Bonne idée - Icônes commercialisation gratuites" id="129" name="Google Shape;12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5"/>
          <p:cNvSpPr/>
          <p:nvPr/>
        </p:nvSpPr>
        <p:spPr>
          <a:xfrm>
            <a:off x="348343" y="5433643"/>
            <a:ext cx="6198508" cy="575484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couple avec ou sans enfants 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- 10 % sur la cotisation.</a:t>
            </a:r>
            <a:endParaRPr/>
          </a:p>
        </p:txBody>
      </p:sp>
      <p:grpSp>
        <p:nvGrpSpPr>
          <p:cNvPr id="131" name="Google Shape;131;p15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132" name="Google Shape;132;p15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Santé Globale+      by                               assuré par                                 </a:t>
              </a:r>
              <a:endParaRPr/>
            </a:p>
          </p:txBody>
        </p:sp>
        <p:pic>
          <p:nvPicPr>
            <p:cNvPr id="133" name="Google Shape;133;p15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34782" l="26740" r="53075" t="47554"/>
            <a:stretch/>
          </p:blipFill>
          <p:spPr>
            <a:xfrm>
              <a:off x="2853149" y="14642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134" name="Google Shape;134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p16"/>
          <p:cNvGrpSpPr/>
          <p:nvPr/>
        </p:nvGrpSpPr>
        <p:grpSpPr>
          <a:xfrm>
            <a:off x="1004728" y="1195598"/>
            <a:ext cx="5200867" cy="1200329"/>
            <a:chOff x="976399" y="1057661"/>
            <a:chExt cx="5200867" cy="1200329"/>
          </a:xfrm>
        </p:grpSpPr>
        <p:pic>
          <p:nvPicPr>
            <p:cNvPr descr="ajuster la conception de l'icône créative 15456496 Art vectoriel chez  Vecteezy" id="141" name="Google Shape;14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6"/>
            <p:cNvSpPr txBox="1"/>
            <p:nvPr/>
          </p:nvSpPr>
          <p:spPr>
            <a:xfrm>
              <a:off x="2385332" y="1057661"/>
              <a:ext cx="379193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April Global+, vous donne la possibilité d’ajuster vos garanties</a:t>
              </a:r>
              <a:endParaRPr/>
            </a:p>
          </p:txBody>
        </p:sp>
      </p:grpSp>
      <p:grpSp>
        <p:nvGrpSpPr>
          <p:cNvPr id="143" name="Google Shape;143;p16"/>
          <p:cNvGrpSpPr/>
          <p:nvPr/>
        </p:nvGrpSpPr>
        <p:grpSpPr>
          <a:xfrm>
            <a:off x="239712" y="2892299"/>
            <a:ext cx="5424488" cy="1362075"/>
            <a:chOff x="620712" y="3141662"/>
            <a:chExt cx="5424488" cy="1362075"/>
          </a:xfrm>
        </p:grpSpPr>
        <p:pic>
          <p:nvPicPr>
            <p:cNvPr id="144" name="Google Shape;14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0712" y="3141662"/>
              <a:ext cx="1323975" cy="1362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6"/>
            <p:cNvSpPr txBox="1"/>
            <p:nvPr/>
          </p:nvSpPr>
          <p:spPr>
            <a:xfrm>
              <a:off x="1944687" y="3214115"/>
              <a:ext cx="4100513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Vous pouvez choisir parmi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 packs confort 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Niveau Avantage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Niveau Equilibre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Niveau privilège</a:t>
              </a:r>
              <a:endParaRPr/>
            </a:p>
          </p:txBody>
        </p:sp>
      </p:grpSp>
      <p:pic>
        <p:nvPicPr>
          <p:cNvPr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7076" y="4703128"/>
            <a:ext cx="6463847" cy="43039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16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148" name="Google Shape;148;p16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Santé Globale+      by                               assuré par                                 </a:t>
              </a:r>
              <a:endParaRPr/>
            </a:p>
          </p:txBody>
        </p:sp>
        <p:pic>
          <p:nvPicPr>
            <p:cNvPr id="149" name="Google Shape;149;p16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34782" l="26740" r="53075" t="47554"/>
            <a:stretch/>
          </p:blipFill>
          <p:spPr>
            <a:xfrm>
              <a:off x="2853149" y="14642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150" name="Google Shape;150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bd303a520_0_0"/>
          <p:cNvSpPr txBox="1"/>
          <p:nvPr>
            <p:ph type="title"/>
          </p:nvPr>
        </p:nvSpPr>
        <p:spPr>
          <a:xfrm>
            <a:off x="471488" y="527404"/>
            <a:ext cx="5915100" cy="191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17"/>
          <p:cNvGrpSpPr/>
          <p:nvPr/>
        </p:nvGrpSpPr>
        <p:grpSpPr>
          <a:xfrm>
            <a:off x="741746" y="938452"/>
            <a:ext cx="5020432" cy="1068608"/>
            <a:chOff x="1640097" y="967319"/>
            <a:chExt cx="5020432" cy="1068608"/>
          </a:xfrm>
        </p:grpSpPr>
        <p:pic>
          <p:nvPicPr>
            <p:cNvPr id="163" name="Google Shape;163;p17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0097" y="967319"/>
              <a:ext cx="995362" cy="1068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17"/>
            <p:cNvSpPr txBox="1"/>
            <p:nvPr/>
          </p:nvSpPr>
          <p:spPr>
            <a:xfrm>
              <a:off x="2480414" y="1005879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Kalixia ?</a:t>
              </a:r>
              <a:endParaRPr/>
            </a:p>
          </p:txBody>
        </p:sp>
      </p:grpSp>
      <p:grpSp>
        <p:nvGrpSpPr>
          <p:cNvPr id="165" name="Google Shape;165;p17"/>
          <p:cNvGrpSpPr/>
          <p:nvPr/>
        </p:nvGrpSpPr>
        <p:grpSpPr>
          <a:xfrm>
            <a:off x="13524" y="2264276"/>
            <a:ext cx="6247576" cy="1384995"/>
            <a:chOff x="343724" y="2264276"/>
            <a:chExt cx="6069776" cy="1384995"/>
          </a:xfrm>
        </p:grpSpPr>
        <p:pic>
          <p:nvPicPr>
            <p:cNvPr descr="Feingeist - Lunette Pour Les Ecran - Free Transparent PNG Clipart Images  Download" id="166" name="Google Shape;166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7"/>
            <p:cNvSpPr txBox="1"/>
            <p:nvPr/>
          </p:nvSpPr>
          <p:spPr>
            <a:xfrm>
              <a:off x="1382902" y="2264276"/>
              <a:ext cx="5030598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libre choix au sein d’un référentiel verres / lentilles très complet de verriers rigoureusement sélectionnés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40 % sur les verres de classe B, – 30 % sur les lentilles; – 20% sur les montures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de qualité : garanties casse verres et monture</a:t>
              </a:r>
              <a:endParaRPr/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1286084" y="3930046"/>
            <a:ext cx="5409936" cy="1600438"/>
            <a:chOff x="1730184" y="4376845"/>
            <a:chExt cx="4992359" cy="1600438"/>
          </a:xfrm>
        </p:grpSpPr>
        <p:pic>
          <p:nvPicPr>
            <p:cNvPr descr="Icône D'oreille Pour Vos Sites De Conception Et Projets PNG , Audio, Oreille,  Écoutez Licône PNG et vecteur pour téléchargement gratuit" id="169" name="Google Shape;169;p17"/>
            <p:cNvPicPr preferRelativeResize="0"/>
            <p:nvPr/>
          </p:nvPicPr>
          <p:blipFill rotWithShape="1">
            <a:blip r:embed="rId7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7"/>
            <p:cNvSpPr txBox="1"/>
            <p:nvPr/>
          </p:nvSpPr>
          <p:spPr>
            <a:xfrm>
              <a:off x="2175244" y="4376845"/>
              <a:ext cx="454729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– 500 € en moyenne pour un double appareillage de classe 2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prestation « tout en un » : aide auditive prête à l’emploi avec piles et kit d’entretien pour 6 mois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accessibles aux ascendants directs des assurés bénéficiaires</a:t>
              </a:r>
              <a:endParaRPr/>
            </a:p>
          </p:txBody>
        </p:sp>
      </p:grpSp>
      <p:grpSp>
        <p:nvGrpSpPr>
          <p:cNvPr id="171" name="Google Shape;171;p17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descr="Bouton Logo Les Dents - Images vectorielles gratuites sur Pixabay - Pixabay" id="172" name="Google Shape;17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7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renforcement de l’accès aux actes de prothèse, d’orthodontie, d’implantologie, de parodontologie, et de prévention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amélioration de la prise en charge complémentaire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Le respect de plafonds d’honoraires, au niveau des pratiques moyennes du département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10 ans sur les couronnes</a:t>
              </a:r>
              <a:endParaRPr/>
            </a:p>
          </p:txBody>
        </p:sp>
      </p:grpSp>
      <p:grpSp>
        <p:nvGrpSpPr>
          <p:cNvPr id="174" name="Google Shape;174;p17"/>
          <p:cNvGrpSpPr/>
          <p:nvPr/>
        </p:nvGrpSpPr>
        <p:grpSpPr>
          <a:xfrm>
            <a:off x="1261356" y="7858144"/>
            <a:ext cx="5406144" cy="1384995"/>
            <a:chOff x="1261356" y="7832744"/>
            <a:chExt cx="5406144" cy="1384995"/>
          </a:xfrm>
        </p:grpSpPr>
        <p:pic>
          <p:nvPicPr>
            <p:cNvPr descr="Centre d'ostéopathie - Roxane Gervais St-Amour D.O." id="175" name="Google Shape;175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7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des ostéopathes sélectionnés sur des critères de qualité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normalisation et une dématérialisation de la note d’honoraires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modération tarifaire</a:t>
              </a:r>
              <a:endParaRPr/>
            </a:p>
          </p:txBody>
        </p:sp>
      </p:grpSp>
      <p:grpSp>
        <p:nvGrpSpPr>
          <p:cNvPr id="177" name="Google Shape;177;p17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178" name="Google Shape;178;p17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Santé Globale+      by                               assuré par                                 </a:t>
              </a:r>
              <a:endParaRPr/>
            </a:p>
          </p:txBody>
        </p:sp>
        <p:pic>
          <p:nvPicPr>
            <p:cNvPr id="179" name="Google Shape;179;p17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34782" l="26740" r="53075" t="47554"/>
            <a:stretch/>
          </p:blipFill>
          <p:spPr>
            <a:xfrm>
              <a:off x="2853149" y="14642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180" name="Google Shape;180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85" name="Google Shape;1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18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187" name="Google Shape;187;p18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Santé Globale+      by                               assuré par                                 </a:t>
              </a:r>
              <a:endParaRPr/>
            </a:p>
          </p:txBody>
        </p:sp>
        <p:pic>
          <p:nvPicPr>
            <p:cNvPr id="188" name="Google Shape;188;p18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34782" l="26740" r="53075" t="47554"/>
            <a:stretch/>
          </p:blipFill>
          <p:spPr>
            <a:xfrm>
              <a:off x="2853149" y="14642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189" name="Google Shape;189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18"/>
          <p:cNvSpPr txBox="1"/>
          <p:nvPr/>
        </p:nvSpPr>
        <p:spPr>
          <a:xfrm>
            <a:off x="2002035" y="975680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Axeria ?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956518" y="2582472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Axeria vous propose gratuitement:</a:t>
            </a:r>
            <a:endParaRPr/>
          </a:p>
        </p:txBody>
      </p:sp>
      <p:grpSp>
        <p:nvGrpSpPr>
          <p:cNvPr id="192" name="Google Shape;192;p18"/>
          <p:cNvGrpSpPr/>
          <p:nvPr/>
        </p:nvGrpSpPr>
        <p:grpSpPr>
          <a:xfrm>
            <a:off x="1429605" y="3839160"/>
            <a:ext cx="5308289" cy="811475"/>
            <a:chOff x="1112374" y="2709083"/>
            <a:chExt cx="5308289" cy="811475"/>
          </a:xfrm>
        </p:grpSpPr>
        <p:sp>
          <p:nvSpPr>
            <p:cNvPr id="193" name="Google Shape;193;p18"/>
            <p:cNvSpPr txBox="1"/>
            <p:nvPr/>
          </p:nvSpPr>
          <p:spPr>
            <a:xfrm>
              <a:off x="1736175" y="2897890"/>
              <a:ext cx="468448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16 heures d’aide ménagère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, à concurrence de 2 heures consécutives par jour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4" name="Google Shape;194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12374" y="2709083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" name="Google Shape;195;p18"/>
          <p:cNvGrpSpPr/>
          <p:nvPr/>
        </p:nvGrpSpPr>
        <p:grpSpPr>
          <a:xfrm>
            <a:off x="155608" y="5170320"/>
            <a:ext cx="6198819" cy="798953"/>
            <a:chOff x="222327" y="5188381"/>
            <a:chExt cx="6198819" cy="798953"/>
          </a:xfrm>
        </p:grpSpPr>
        <p:pic>
          <p:nvPicPr>
            <p:cNvPr id="196" name="Google Shape;196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18"/>
            <p:cNvSpPr txBox="1"/>
            <p:nvPr/>
          </p:nvSpPr>
          <p:spPr>
            <a:xfrm>
              <a:off x="1088573" y="524867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garde à l'extérieur des animaux de compagnie à concurrence de 250 euros TTC, à la condition qu'ils aient reçu les vaccinations obligatoires</a:t>
              </a:r>
              <a:endParaRPr/>
            </a:p>
          </p:txBody>
        </p:sp>
      </p:grpSp>
      <p:grpSp>
        <p:nvGrpSpPr>
          <p:cNvPr id="198" name="Google Shape;198;p18"/>
          <p:cNvGrpSpPr/>
          <p:nvPr/>
        </p:nvGrpSpPr>
        <p:grpSpPr>
          <a:xfrm>
            <a:off x="1429606" y="6748815"/>
            <a:ext cx="5101824" cy="858536"/>
            <a:chOff x="319683" y="6589531"/>
            <a:chExt cx="5980735" cy="858536"/>
          </a:xfrm>
        </p:grpSpPr>
        <p:pic>
          <p:nvPicPr>
            <p:cNvPr id="199" name="Google Shape;199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18"/>
            <p:cNvSpPr txBox="1"/>
            <p:nvPr/>
          </p:nvSpPr>
          <p:spPr>
            <a:xfrm>
              <a:off x="967845" y="6709403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garde des enfants: de 7h à 19 h(sauf dimanche et jours fériés), au Domicile du Bénéficiaire, la garde des enfants à charge, de moins de 15 ans</a:t>
              </a:r>
              <a:endParaRPr/>
            </a:p>
          </p:txBody>
        </p:sp>
      </p:grpSp>
      <p:pic>
        <p:nvPicPr>
          <p:cNvPr descr="AXERIA Insurance International" id="201" name="Google Shape;201;p18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12578" l="12265" r="9433" t="22013"/>
          <a:stretch/>
        </p:blipFill>
        <p:spPr>
          <a:xfrm>
            <a:off x="738375" y="975680"/>
            <a:ext cx="1640666" cy="105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07" name="Google Shape;207;p19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10" name="Google Shape;21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15" name="Google Shape;215;p19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6" name="Google Shape;216;p19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7" name="Google Shape;217;p19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20" name="Google Shape;220;p19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221" name="Google Shape;221;p19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Santé Globale+      by                               assuré par                                 </a:t>
              </a:r>
              <a:endParaRPr/>
            </a:p>
          </p:txBody>
        </p:sp>
        <p:pic>
          <p:nvPicPr>
            <p:cNvPr id="222" name="Google Shape;222;p19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34782" l="26740" r="53075" t="47554"/>
            <a:stretch/>
          </p:blipFill>
          <p:spPr>
            <a:xfrm>
              <a:off x="2853149" y="14642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223" name="Google Shape;223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29" name="Google Shape;229;p20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20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235" name="Google Shape;235;p20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Santé Globale+      by                               assuré par                                 </a:t>
              </a:r>
              <a:endParaRPr/>
            </a:p>
          </p:txBody>
        </p:sp>
        <p:pic>
          <p:nvPicPr>
            <p:cNvPr id="236" name="Google Shape;236;p20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34782" l="26740" r="53075" t="47554"/>
            <a:stretch/>
          </p:blipFill>
          <p:spPr>
            <a:xfrm>
              <a:off x="2853149" y="14642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237" name="Google Shape;237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