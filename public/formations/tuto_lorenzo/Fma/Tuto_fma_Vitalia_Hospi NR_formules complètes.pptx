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9906000" cx="6858000"/>
  <p:notesSz cx="7104050" cy="102346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10" roundtripDataSignature="AMtx7mhOq9Nzxt29lKh8w1ztdJnDheaI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2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023992" y="0"/>
            <a:ext cx="3078427" cy="513508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  <a:noFill/>
          <a:ln>
            <a:noFill/>
          </a:ln>
        </p:spPr>
        <p:txBody>
          <a:bodyPr anchorCtr="0" anchor="b" bIns="49500" lIns="99050" spcFirstLastPara="1" rIns="99050" wrap="square" tIns="495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fr-FR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4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15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6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0" name="Google Shape;140;p16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:notes"/>
          <p:cNvSpPr txBox="1"/>
          <p:nvPr>
            <p:ph idx="1" type="body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  <a:noFill/>
          <a:ln>
            <a:noFill/>
          </a:ln>
        </p:spPr>
        <p:txBody>
          <a:bodyPr anchorCtr="0" anchor="t" bIns="49500" lIns="99050" spcFirstLastPara="1" rIns="99050" wrap="square" tIns="495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0" name="Google Shape;170;p17:notes"/>
          <p:cNvSpPr/>
          <p:nvPr>
            <p:ph idx="2" type="sldImg"/>
          </p:nvPr>
        </p:nvSpPr>
        <p:spPr>
          <a:xfrm>
            <a:off x="2357438" y="1279525"/>
            <a:ext cx="2389187" cy="3454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seul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e de titr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0"/>
          <p:cNvSpPr txBox="1"/>
          <p:nvPr>
            <p:ph type="ctrTitle"/>
          </p:nvPr>
        </p:nvSpPr>
        <p:spPr>
          <a:xfrm>
            <a:off x="857250" y="1621191"/>
            <a:ext cx="51435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0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1pPr>
            <a:lvl2pPr lvl="1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sz="1125"/>
            </a:lvl2pPr>
            <a:lvl3pPr lvl="2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sz="1013"/>
            </a:lvl3pPr>
            <a:lvl4pPr lvl="3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lvl="4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lvl="5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lvl="6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lvl="7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lvl="8" algn="ctr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23" name="Google Shape;23;p20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1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de sectio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/>
          <p:nvPr>
            <p:ph type="title"/>
          </p:nvPr>
        </p:nvSpPr>
        <p:spPr>
          <a:xfrm>
            <a:off x="467916" y="2469622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75"/>
              <a:buFont typeface="Calibri"/>
              <a:buNone/>
              <a:defRPr sz="3375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2"/>
          <p:cNvSpPr txBox="1"/>
          <p:nvPr>
            <p:ph idx="1" type="body"/>
          </p:nvPr>
        </p:nvSpPr>
        <p:spPr>
          <a:xfrm>
            <a:off x="467916" y="6629225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125"/>
              <a:buNone/>
              <a:defRPr sz="1125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1013"/>
              <a:buNone/>
              <a:defRPr sz="1013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ux contenu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/>
          <p:nvPr>
            <p:ph type="title"/>
          </p:nvPr>
        </p:nvSpPr>
        <p:spPr>
          <a:xfrm>
            <a:off x="472381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4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48" name="Google Shape;48;p24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4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None/>
              <a:defRPr b="1" sz="1125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None/>
              <a:defRPr b="1" sz="1013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b="1" sz="900"/>
            </a:lvl9pPr>
          </a:lstStyle>
          <a:p/>
        </p:txBody>
      </p:sp>
      <p:sp>
        <p:nvSpPr>
          <p:cNvPr id="50" name="Google Shape;50;p24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ide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u avec légende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8612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575"/>
              <a:buChar char="•"/>
              <a:defRPr sz="1575"/>
            </a:lvl2pPr>
            <a:lvl3pPr indent="-314325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0037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4pPr>
            <a:lvl5pPr indent="-300037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5pPr>
            <a:lvl6pPr indent="-300037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6pPr>
            <a:lvl7pPr indent="-300037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7pPr>
            <a:lvl8pPr indent="-300037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8pPr>
            <a:lvl9pPr indent="-300037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Char char="•"/>
              <a:defRPr sz="1125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avec légende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472381" y="660400"/>
            <a:ext cx="2211883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2915543" y="1426281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472381" y="2971800"/>
            <a:ext cx="2211883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1pPr>
            <a:lvl2pPr indent="-2286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788"/>
              <a:buNone/>
              <a:defRPr sz="788"/>
            </a:lvl2pPr>
            <a:lvl3pPr indent="-2286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3pPr>
            <a:lvl4pPr indent="-2286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4pPr>
            <a:lvl5pPr indent="-2286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5pPr>
            <a:lvl6pPr indent="-2286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6pPr>
            <a:lvl7pPr indent="-2286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7pPr>
            <a:lvl8pPr indent="-2286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8pPr>
            <a:lvl9pPr indent="-2286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563"/>
              <a:buNone/>
              <a:defRPr sz="563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exte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vertical et texte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1449695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1pPr>
            <a:lvl2pPr indent="0" lvl="1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2pPr>
            <a:lvl3pPr indent="0" lvl="2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3pPr>
            <a:lvl4pPr indent="0" lvl="3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4pPr>
            <a:lvl5pPr indent="0" lvl="4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5pPr>
            <a:lvl6pPr indent="0" lvl="5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6pPr>
            <a:lvl7pPr indent="0" lvl="6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7pPr>
            <a:lvl8pPr indent="0" lvl="7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8pPr>
            <a:lvl9pPr indent="0" lvl="8" mar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00"/>
              <a:buFont typeface="Calibri"/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471488" y="527404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75"/>
              <a:buFont typeface="Calibri"/>
              <a:buNone/>
              <a:defRPr b="0" i="0" sz="24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8612" lvl="0" marL="457200" marR="0" rtl="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575"/>
              <a:buFont typeface="Arial"/>
              <a:buChar char="•"/>
              <a:defRPr b="0" i="0" sz="15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4325" lvl="1" marL="914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00037" lvl="2" marL="1371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125"/>
              <a:buFont typeface="Arial"/>
              <a:buChar char="•"/>
              <a:defRPr b="0" i="0" sz="112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2925" lvl="3" marL="1828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2925" lvl="4" marL="22860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2925" lvl="5" marL="27432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2925" lvl="6" marL="32004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2925" lvl="7" marL="36576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2925" lvl="8" marL="4114800" marR="0" rtl="0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013"/>
              <a:buFont typeface="Arial"/>
              <a:buChar char="•"/>
              <a:defRPr b="0" i="0" sz="101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471488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2271713" y="9181395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4843463" y="9181395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675"/>
              <a:buFont typeface="Calibri"/>
              <a:buNone/>
              <a:defRPr b="0" i="0" sz="675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#'9'!A1" TargetMode="External"/><Relationship Id="rId10" Type="http://schemas.openxmlformats.org/officeDocument/2006/relationships/image" Target="../media/image4.jpg"/><Relationship Id="rId13" Type="http://schemas.openxmlformats.org/officeDocument/2006/relationships/image" Target="../media/image16.png"/><Relationship Id="rId1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9" Type="http://schemas.openxmlformats.org/officeDocument/2006/relationships/image" Target="../media/image18.jpg"/><Relationship Id="rId5" Type="http://schemas.openxmlformats.org/officeDocument/2006/relationships/hyperlink" Target="#'6'!A1" TargetMode="External"/><Relationship Id="rId6" Type="http://schemas.openxmlformats.org/officeDocument/2006/relationships/image" Target="../media/image22.png"/><Relationship Id="rId7" Type="http://schemas.openxmlformats.org/officeDocument/2006/relationships/image" Target="../media/image12.png"/><Relationship Id="rId8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23.png"/><Relationship Id="rId10" Type="http://schemas.openxmlformats.org/officeDocument/2006/relationships/image" Target="../media/image5.png"/><Relationship Id="rId13" Type="http://schemas.openxmlformats.org/officeDocument/2006/relationships/image" Target="../media/image21.png"/><Relationship Id="rId1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hyperlink" Target="#'9'!A1" TargetMode="External"/><Relationship Id="rId7" Type="http://schemas.openxmlformats.org/officeDocument/2006/relationships/image" Target="../media/image15.png"/><Relationship Id="rId8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Relationship Id="rId5" Type="http://schemas.openxmlformats.org/officeDocument/2006/relationships/image" Target="../media/image2.png"/><Relationship Id="rId6" Type="http://schemas.openxmlformats.org/officeDocument/2006/relationships/image" Target="../media/image25.png"/><Relationship Id="rId7" Type="http://schemas.openxmlformats.org/officeDocument/2006/relationships/image" Target="../media/image19.png"/><Relationship Id="rId8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4"/>
          <p:cNvSpPr/>
          <p:nvPr/>
        </p:nvSpPr>
        <p:spPr>
          <a:xfrm>
            <a:off x="-117566" y="918463"/>
            <a:ext cx="6732802" cy="8385904"/>
          </a:xfrm>
          <a:prstGeom prst="rect">
            <a:avLst/>
          </a:prstGeom>
          <a:solidFill>
            <a:srgbClr val="2F5496"/>
          </a:solidFill>
          <a:ln cap="flat" cmpd="sng" w="25400">
            <a:solidFill>
              <a:srgbClr val="8DA9DB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5461689" y="9642688"/>
            <a:ext cx="1388522" cy="20005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fr-FR" sz="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FICHE PRODUIT MARS 2014</a:t>
            </a:r>
            <a:endParaRPr/>
          </a:p>
        </p:txBody>
      </p:sp>
      <p:sp>
        <p:nvSpPr>
          <p:cNvPr id="90" name="Google Shape;90;p14"/>
          <p:cNvSpPr/>
          <p:nvPr/>
        </p:nvSpPr>
        <p:spPr>
          <a:xfrm>
            <a:off x="1987886" y="1258563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323F4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complémentaire santé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via</a:t>
            </a: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Contrat NON responsable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14"/>
          <p:cNvGrpSpPr/>
          <p:nvPr/>
        </p:nvGrpSpPr>
        <p:grpSpPr>
          <a:xfrm>
            <a:off x="2045763" y="1495981"/>
            <a:ext cx="976837" cy="1010393"/>
            <a:chOff x="2109263" y="1465142"/>
            <a:chExt cx="976837" cy="1010393"/>
          </a:xfrm>
        </p:grpSpPr>
        <p:sp>
          <p:nvSpPr>
            <p:cNvPr id="92" name="Google Shape;92;p14"/>
            <p:cNvSpPr/>
            <p:nvPr/>
          </p:nvSpPr>
          <p:spPr>
            <a:xfrm>
              <a:off x="2109263" y="1465142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Modèle Logo Santé Et Forme Physique Logo Médical | PosterMyWall" id="93" name="Google Shape;93;p14"/>
            <p:cNvPicPr preferRelativeResize="0"/>
            <p:nvPr/>
          </p:nvPicPr>
          <p:blipFill rotWithShape="1">
            <a:blip r:embed="rId3">
              <a:alphaModFix/>
            </a:blip>
            <a:srcRect b="24816" l="23299" r="27063" t="11936"/>
            <a:stretch/>
          </p:blipFill>
          <p:spPr>
            <a:xfrm>
              <a:off x="2311520" y="1585367"/>
              <a:ext cx="596138" cy="75958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4" name="Google Shape;94;p14"/>
          <p:cNvSpPr/>
          <p:nvPr/>
        </p:nvSpPr>
        <p:spPr>
          <a:xfrm>
            <a:off x="-4107550" y="953182"/>
            <a:ext cx="6446849" cy="840479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5" name="Google Shape;95;p14"/>
          <p:cNvGrpSpPr/>
          <p:nvPr/>
        </p:nvGrpSpPr>
        <p:grpSpPr>
          <a:xfrm>
            <a:off x="2461807" y="3302726"/>
            <a:ext cx="3759200" cy="1463934"/>
            <a:chOff x="2841625" y="4500433"/>
            <a:chExt cx="3759200" cy="1463934"/>
          </a:xfrm>
        </p:grpSpPr>
        <p:sp>
          <p:nvSpPr>
            <p:cNvPr id="96" name="Google Shape;96;p14"/>
            <p:cNvSpPr/>
            <p:nvPr/>
          </p:nvSpPr>
          <p:spPr>
            <a:xfrm>
              <a:off x="2841625" y="4500433"/>
              <a:ext cx="3759200" cy="1463934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000">
                  <a:solidFill>
                    <a:srgbClr val="2F5496"/>
                  </a:solidFill>
                  <a:latin typeface="Calibri"/>
                  <a:ea typeface="Calibri"/>
                  <a:cs typeface="Calibri"/>
                  <a:sym typeface="Calibri"/>
                </a:rPr>
                <a:t>   Un Tiers payant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  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                      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Un tiers payant national, qui vous évite d’avancer les frais médicaux.</a:t>
              </a:r>
              <a:endParaRPr/>
            </a:p>
          </p:txBody>
        </p:sp>
        <p:grpSp>
          <p:nvGrpSpPr>
            <p:cNvPr id="97" name="Google Shape;97;p14"/>
            <p:cNvGrpSpPr/>
            <p:nvPr/>
          </p:nvGrpSpPr>
          <p:grpSpPr>
            <a:xfrm>
              <a:off x="2911326" y="4743824"/>
              <a:ext cx="976837" cy="1010393"/>
              <a:chOff x="2693612" y="4712978"/>
              <a:chExt cx="976837" cy="1010393"/>
            </a:xfrm>
          </p:grpSpPr>
          <p:sp>
            <p:nvSpPr>
              <p:cNvPr id="98" name="Google Shape;98;p14"/>
              <p:cNvSpPr/>
              <p:nvPr/>
            </p:nvSpPr>
            <p:spPr>
              <a:xfrm>
                <a:off x="2693612" y="4712978"/>
                <a:ext cx="976837" cy="1010393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1C305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descr="Tiers payant : qu'est-ce que c'est et comment l'obtenir ?" id="99" name="Google Shape;99;p14"/>
              <p:cNvPicPr preferRelativeResize="0"/>
              <p:nvPr/>
            </p:nvPicPr>
            <p:blipFill rotWithShape="1">
              <a:blip r:embed="rId4">
                <a:alphaModFix/>
              </a:blip>
              <a:srcRect b="4848" l="19237" r="29792" t="4849"/>
              <a:stretch/>
            </p:blipFill>
            <p:spPr>
              <a:xfrm>
                <a:off x="2862942" y="4910684"/>
                <a:ext cx="638175" cy="59604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0" name="Google Shape;100;p14">
              <a:hlinkClick r:id="rId5"/>
            </p:cNvPr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4779463" y="4884143"/>
              <a:ext cx="1607012" cy="65343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1" name="Google Shape;101;p14"/>
          <p:cNvSpPr/>
          <p:nvPr/>
        </p:nvSpPr>
        <p:spPr>
          <a:xfrm>
            <a:off x="-392704" y="2135826"/>
            <a:ext cx="2488094" cy="5506457"/>
          </a:xfrm>
          <a:prstGeom prst="ellipse">
            <a:avLst/>
          </a:prstGeom>
          <a:solidFill>
            <a:schemeClr val="lt1"/>
          </a:solidFill>
          <a:ln cap="flat" cmpd="sng" w="254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Une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3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 intégrale </a:t>
            </a: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Pour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 18 ans et +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sans limite d’âge</a:t>
            </a:r>
            <a:endParaRPr/>
          </a:p>
        </p:txBody>
      </p:sp>
      <p:grpSp>
        <p:nvGrpSpPr>
          <p:cNvPr id="102" name="Google Shape;102;p14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03" name="Google Shape;103;p14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04" name="Google Shape;104;p14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VITALIA HOSPI+ </a:t>
                </a:r>
                <a:r>
                  <a:rPr b="1" lang="fr-FR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assuré par                                 </a:t>
                </a:r>
                <a:endParaRPr/>
              </a:p>
            </p:txBody>
          </p:sp>
          <p:pic>
            <p:nvPicPr>
              <p:cNvPr id="105" name="Google Shape;105;p14"/>
              <p:cNvPicPr preferRelativeResize="0"/>
              <p:nvPr/>
            </p:nvPicPr>
            <p:blipFill rotWithShape="1">
              <a:blip r:embed="rId7">
                <a:alphaModFix/>
              </a:blip>
              <a:srcRect b="19177" l="15722" r="8841" t="1095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06" name="Google Shape;106;p1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Animaux Santé | Mutuelle Animaux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987800" y="1720193"/>
            <a:ext cx="1511989" cy="584177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/>
          <p:nvPr/>
        </p:nvSpPr>
        <p:spPr>
          <a:xfrm>
            <a:off x="1985637" y="7440858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2000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Protection juridique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Un accompagnement en cas de litige,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9" name="Google Shape;109;p14"/>
          <p:cNvGrpSpPr/>
          <p:nvPr/>
        </p:nvGrpSpPr>
        <p:grpSpPr>
          <a:xfrm>
            <a:off x="2061514" y="7695895"/>
            <a:ext cx="976837" cy="1010393"/>
            <a:chOff x="1963799" y="8142480"/>
            <a:chExt cx="976837" cy="1010393"/>
          </a:xfrm>
        </p:grpSpPr>
        <p:sp>
          <p:nvSpPr>
            <p:cNvPr id="110" name="Google Shape;110;p14"/>
            <p:cNvSpPr/>
            <p:nvPr/>
          </p:nvSpPr>
          <p:spPr>
            <a:xfrm>
              <a:off x="1963799" y="8142480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Protection juridique" id="111" name="Google Shape;111;p14"/>
            <p:cNvPicPr preferRelativeResize="0"/>
            <p:nvPr/>
          </p:nvPicPr>
          <p:blipFill rotWithShape="1">
            <a:blip r:embed="rId9">
              <a:alphaModFix/>
            </a:blip>
            <a:srcRect b="29438" l="4034" r="4386" t="0"/>
            <a:stretch/>
          </p:blipFill>
          <p:spPr>
            <a:xfrm>
              <a:off x="2092593" y="8359486"/>
              <a:ext cx="726806" cy="56000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2" name="Google Shape;112;p14"/>
          <p:cNvSpPr/>
          <p:nvPr/>
        </p:nvSpPr>
        <p:spPr>
          <a:xfrm>
            <a:off x="2520045" y="5401805"/>
            <a:ext cx="3759200" cy="146393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5400">
            <a:solidFill>
              <a:srgbClr val="1C305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</a:t>
            </a:r>
            <a:r>
              <a:rPr b="1" lang="fr-FR" sz="2000" u="none">
                <a:solidFill>
                  <a:srgbClr val="2F5496"/>
                </a:solidFill>
                <a:latin typeface="Calibri"/>
                <a:ea typeface="Calibri"/>
                <a:cs typeface="Calibri"/>
                <a:sym typeface="Calibri"/>
              </a:rPr>
              <a:t>Une assistance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             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fr-FR" sz="16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</a:t>
            </a:r>
            <a:r>
              <a:rPr b="0" lang="fr-FR" sz="12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service haut de gamme 24h/24, 7j/7 pour vous accompagner en cas de coup dur</a:t>
            </a:r>
            <a:endParaRPr b="1" sz="16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3" name="Google Shape;113;p14"/>
          <p:cNvGrpSpPr/>
          <p:nvPr/>
        </p:nvGrpSpPr>
        <p:grpSpPr>
          <a:xfrm>
            <a:off x="2600991" y="5646566"/>
            <a:ext cx="976837" cy="1010393"/>
            <a:chOff x="2566518" y="6340968"/>
            <a:chExt cx="976837" cy="1010393"/>
          </a:xfrm>
        </p:grpSpPr>
        <p:sp>
          <p:nvSpPr>
            <p:cNvPr id="114" name="Google Shape;114;p14"/>
            <p:cNvSpPr/>
            <p:nvPr/>
          </p:nvSpPr>
          <p:spPr>
            <a:xfrm>
              <a:off x="2566518" y="6340968"/>
              <a:ext cx="976837" cy="1010393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1C305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2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ssistance and protection logo work people sign Vector Image" id="115" name="Google Shape;115;p14"/>
            <p:cNvPicPr preferRelativeResize="0"/>
            <p:nvPr/>
          </p:nvPicPr>
          <p:blipFill rotWithShape="1">
            <a:blip r:embed="rId10">
              <a:alphaModFix/>
            </a:blip>
            <a:srcRect b="31895" l="20105" r="19154" t="9307"/>
            <a:stretch/>
          </p:blipFill>
          <p:spPr>
            <a:xfrm>
              <a:off x="2781449" y="6523581"/>
              <a:ext cx="577433" cy="60373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16" name="Google Shape;116;p14">
            <a:hlinkClick r:id="rId11"/>
          </p:cNvPr>
          <p:cNvPicPr preferRelativeResize="0"/>
          <p:nvPr/>
        </p:nvPicPr>
        <p:blipFill rotWithShape="1">
          <a:blip r:embed="rId12">
            <a:alphaModFix/>
          </a:blip>
          <a:srcRect b="23857" l="0" r="4129" t="28225"/>
          <a:stretch/>
        </p:blipFill>
        <p:spPr>
          <a:xfrm>
            <a:off x="4437950" y="5707009"/>
            <a:ext cx="1308959" cy="725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3922116" y="7948055"/>
            <a:ext cx="955057" cy="524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348343" y="2133601"/>
            <a:ext cx="6198508" cy="798285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Formules renforcées ou recentrées sur 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postes clés pour couvrir tous les besoins &amp; budgets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329746" y="3054461"/>
            <a:ext cx="6198508" cy="38543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adhésion rapide en ligne avec la signature électronique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48343" y="3537057"/>
            <a:ext cx="6198508" cy="541482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Une reprise à la concurrence facilitée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avec la prise en charge de l’envoi de la résiliation en cas de RIA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348343" y="4184096"/>
            <a:ext cx="6198508" cy="27827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Aucun délai d’attente sur les formules Santé 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29746" y="4554486"/>
            <a:ext cx="6198508" cy="278273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Réduction DUO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dès 2 assurés réduction de 10 % par adulte</a:t>
            </a:r>
            <a:endParaRPr/>
          </a:p>
        </p:txBody>
      </p:sp>
      <p:grpSp>
        <p:nvGrpSpPr>
          <p:cNvPr id="127" name="Google Shape;127;p15"/>
          <p:cNvGrpSpPr/>
          <p:nvPr/>
        </p:nvGrpSpPr>
        <p:grpSpPr>
          <a:xfrm>
            <a:off x="1248230" y="945460"/>
            <a:ext cx="5215617" cy="1038433"/>
            <a:chOff x="1248230" y="945460"/>
            <a:chExt cx="5215617" cy="1038433"/>
          </a:xfrm>
        </p:grpSpPr>
        <p:sp>
          <p:nvSpPr>
            <p:cNvPr id="128" name="Google Shape;128;p15"/>
            <p:cNvSpPr txBox="1"/>
            <p:nvPr/>
          </p:nvSpPr>
          <p:spPr>
            <a:xfrm>
              <a:off x="2283732" y="1029786"/>
              <a:ext cx="4180115" cy="9541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Pourquoi choisir FMA </a:t>
              </a:r>
              <a:r>
                <a:rPr b="1" lang="fr-FR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APESIA formules complètes </a:t>
              </a:r>
              <a:r>
                <a:rPr b="1" lang="fr-FR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pic>
          <p:nvPicPr>
            <p:cNvPr descr="Bonne idée - Icônes commercialisation gratuites" id="129" name="Google Shape;129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248230" y="945460"/>
              <a:ext cx="1035502" cy="10355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0" name="Google Shape;130;p15"/>
          <p:cNvSpPr/>
          <p:nvPr/>
        </p:nvSpPr>
        <p:spPr>
          <a:xfrm>
            <a:off x="348343" y="5644952"/>
            <a:ext cx="6198508" cy="1011937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Pour les soins courants, optique, vignettes pharmacie, laboratoires, radiologies, auxiliaires médicaux… Pas de distinction avec les signataires de l’OPTAM / OPTAM CO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348343" y="4953000"/>
            <a:ext cx="6198508" cy="559390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Aucune limite d’âge lors de la souscription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" name="Google Shape;132;p15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33" name="Google Shape;133;p15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34" name="Google Shape;134;p15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VITALIA HOSPI+ </a:t>
                </a:r>
                <a:r>
                  <a:rPr b="1" lang="fr-FR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assuré par                                 </a:t>
                </a:r>
                <a:endParaRPr/>
              </a:p>
            </p:txBody>
          </p:sp>
          <p:pic>
            <p:nvPicPr>
              <p:cNvPr id="135" name="Google Shape;135;p15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36" name="Google Shape;136;p1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15"/>
          <p:cNvSpPr/>
          <p:nvPr/>
        </p:nvSpPr>
        <p:spPr>
          <a:xfrm>
            <a:off x="348343" y="6789451"/>
            <a:ext cx="6198508" cy="1503336"/>
          </a:xfrm>
          <a:prstGeom prst="roundRect">
            <a:avLst>
              <a:gd fmla="val 16667" name="adj"/>
            </a:avLst>
          </a:prstGeom>
          <a:solidFill>
            <a:srgbClr val="2F5496"/>
          </a:solidFill>
          <a:ln cap="flat" cmpd="sng" w="25400">
            <a:solidFill>
              <a:srgbClr val="2F54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L’assistance IMA en inclusion </a:t>
            </a: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un réseau de 10 000 prestataires en France pour un maillage territoriale optimal. Des experts de l’assistance disponibles 7j/7, 24h/24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fr-F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Des garanties haut de gamme </a:t>
            </a:r>
            <a:r>
              <a:rPr lang="fr-FR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inclusion sur mesure pour toute la famille: aide ménagère, service de proximité, prise en charge des animaux domestiques, garde et scolarité des enfants,…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42" name="Google Shape;14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" name="Google Shape;143;p16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44" name="Google Shape;144;p16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45" name="Google Shape;145;p16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VITALIA HOSPI+ </a:t>
                </a:r>
                <a:r>
                  <a:rPr b="1" lang="fr-FR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assuré par                                 </a:t>
                </a:r>
                <a:endParaRPr/>
              </a:p>
            </p:txBody>
          </p:sp>
          <p:pic>
            <p:nvPicPr>
              <p:cNvPr id="146" name="Google Shape;146;p16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47" name="Google Shape;147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Comment contacter Inter Mutuelles Assistance ?" id="148" name="Google Shape;148;p16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23857" l="0" r="4129" t="28225"/>
          <a:stretch/>
        </p:blipFill>
        <p:spPr>
          <a:xfrm>
            <a:off x="993948" y="977292"/>
            <a:ext cx="1463258" cy="8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1999662" y="953601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l’assistance IMA ?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956518" y="2696772"/>
            <a:ext cx="49103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d’hospitalisation ou d’immobilisation,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IMA vous propose gratuitement:</a:t>
            </a:r>
            <a:endParaRPr/>
          </a:p>
        </p:txBody>
      </p:sp>
      <p:grpSp>
        <p:nvGrpSpPr>
          <p:cNvPr id="151" name="Google Shape;151;p16"/>
          <p:cNvGrpSpPr/>
          <p:nvPr/>
        </p:nvGrpSpPr>
        <p:grpSpPr>
          <a:xfrm>
            <a:off x="120105" y="3628345"/>
            <a:ext cx="6020613" cy="811475"/>
            <a:chOff x="400050" y="2786464"/>
            <a:chExt cx="6020613" cy="811475"/>
          </a:xfrm>
        </p:grpSpPr>
        <p:sp>
          <p:nvSpPr>
            <p:cNvPr id="152" name="Google Shape;152;p16"/>
            <p:cNvSpPr txBox="1"/>
            <p:nvPr/>
          </p:nvSpPr>
          <p:spPr>
            <a:xfrm>
              <a:off x="987223" y="2897890"/>
              <a:ext cx="54334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b="0" i="0"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 l’aide à domicile: (ménage, repas, vaisselle, course à proximité</a:t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400050" y="2786464"/>
              <a:ext cx="591075" cy="8114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16"/>
          <p:cNvGrpSpPr/>
          <p:nvPr/>
        </p:nvGrpSpPr>
        <p:grpSpPr>
          <a:xfrm>
            <a:off x="831907" y="4596772"/>
            <a:ext cx="5639929" cy="878816"/>
            <a:chOff x="222327" y="3957748"/>
            <a:chExt cx="6053947" cy="878816"/>
          </a:xfrm>
        </p:grpSpPr>
        <p:sp>
          <p:nvSpPr>
            <p:cNvPr id="155" name="Google Shape;155;p16"/>
            <p:cNvSpPr txBox="1"/>
            <p:nvPr/>
          </p:nvSpPr>
          <p:spPr>
            <a:xfrm>
              <a:off x="943701" y="4097900"/>
              <a:ext cx="5332573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Des services de proximités: ( livraison des médicaments, Portage des repas, portage d’espèces, livraison des courses,…)</a:t>
              </a:r>
              <a:endParaRPr b="0" i="0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6" name="Google Shape;156;p16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222327" y="3957748"/>
              <a:ext cx="768798" cy="66227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7" name="Google Shape;157;p16"/>
          <p:cNvGrpSpPr/>
          <p:nvPr/>
        </p:nvGrpSpPr>
        <p:grpSpPr>
          <a:xfrm>
            <a:off x="120105" y="5632575"/>
            <a:ext cx="6198819" cy="733785"/>
            <a:chOff x="222327" y="5188381"/>
            <a:chExt cx="6198819" cy="733785"/>
          </a:xfrm>
        </p:grpSpPr>
        <p:pic>
          <p:nvPicPr>
            <p:cNvPr id="158" name="Google Shape;158;p16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222327" y="5188381"/>
              <a:ext cx="836413" cy="73378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" name="Google Shape;159;p16"/>
            <p:cNvSpPr txBox="1"/>
            <p:nvPr/>
          </p:nvSpPr>
          <p:spPr>
            <a:xfrm>
              <a:off x="1088573" y="5248670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La prise en charge l’animal chez l’adhérant, par un pet Sitter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 (Visite, promenade, garde, …)</a:t>
              </a:r>
              <a:endParaRPr/>
            </a:p>
          </p:txBody>
        </p:sp>
      </p:grpSp>
      <p:grpSp>
        <p:nvGrpSpPr>
          <p:cNvPr id="160" name="Google Shape;160;p16"/>
          <p:cNvGrpSpPr/>
          <p:nvPr/>
        </p:nvGrpSpPr>
        <p:grpSpPr>
          <a:xfrm>
            <a:off x="956518" y="6583636"/>
            <a:ext cx="5781376" cy="613892"/>
            <a:chOff x="449887" y="6368680"/>
            <a:chExt cx="5781376" cy="613892"/>
          </a:xfrm>
        </p:grpSpPr>
        <p:sp>
          <p:nvSpPr>
            <p:cNvPr id="161" name="Google Shape;161;p16"/>
            <p:cNvSpPr txBox="1"/>
            <p:nvPr/>
          </p:nvSpPr>
          <p:spPr>
            <a:xfrm>
              <a:off x="1263374" y="6459352"/>
              <a:ext cx="4967889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Transport post-hospitalisation: chez un proche, ou aux RDV médicaux</a:t>
              </a:r>
              <a:endParaRPr/>
            </a:p>
          </p:txBody>
        </p:sp>
        <p:pic>
          <p:nvPicPr>
            <p:cNvPr id="162" name="Google Shape;162;p16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449887" y="6368680"/>
              <a:ext cx="933972" cy="52322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3" name="Google Shape;163;p16"/>
          <p:cNvGrpSpPr/>
          <p:nvPr/>
        </p:nvGrpSpPr>
        <p:grpSpPr>
          <a:xfrm>
            <a:off x="338188" y="7397797"/>
            <a:ext cx="5980735" cy="762965"/>
            <a:chOff x="319683" y="6589531"/>
            <a:chExt cx="5980735" cy="762965"/>
          </a:xfrm>
        </p:grpSpPr>
        <p:pic>
          <p:nvPicPr>
            <p:cNvPr id="164" name="Google Shape;164;p16"/>
            <p:cNvPicPr preferRelativeResize="0"/>
            <p:nvPr/>
          </p:nvPicPr>
          <p:blipFill rotWithShape="1">
            <a:blip r:embed="rId12">
              <a:alphaModFix/>
            </a:blip>
            <a:srcRect b="0" l="0" r="0" t="0"/>
            <a:stretch/>
          </p:blipFill>
          <p:spPr>
            <a:xfrm>
              <a:off x="319683" y="6589531"/>
              <a:ext cx="593986" cy="7629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5" name="Google Shape;165;p16"/>
            <p:cNvSpPr txBox="1"/>
            <p:nvPr/>
          </p:nvSpPr>
          <p:spPr>
            <a:xfrm>
              <a:off x="967845" y="6709403"/>
              <a:ext cx="5332573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rgbClr val="161615"/>
                </a:buClr>
                <a:buSzPts val="1400"/>
                <a:buFont typeface="Noto Sans Symbols"/>
                <a:buChar char="▪"/>
              </a:pP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Prise en charge des enfants: (déplacement d’un proche, transfert, garde, conduite à l’école, soutien scolaire, aide aux devoirs,…)</a:t>
              </a:r>
              <a:endParaRPr/>
            </a:p>
          </p:txBody>
        </p:sp>
      </p:grpSp>
      <p:pic>
        <p:nvPicPr>
          <p:cNvPr id="166" name="Google Shape;166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86350" y="8361030"/>
            <a:ext cx="728862" cy="81997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6"/>
          <p:cNvSpPr txBox="1"/>
          <p:nvPr/>
        </p:nvSpPr>
        <p:spPr>
          <a:xfrm>
            <a:off x="1675618" y="8472132"/>
            <a:ext cx="500853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161615"/>
              </a:buClr>
              <a:buSzPts val="1400"/>
              <a:buFont typeface="Noto Sans Symbols"/>
              <a:buChar char="▪"/>
            </a:pPr>
            <a:r>
              <a:rPr lang="fr-FR" sz="1400">
                <a:solidFill>
                  <a:srgbClr val="161615"/>
                </a:solidFill>
                <a:latin typeface="Arial"/>
                <a:ea typeface="Arial"/>
                <a:cs typeface="Arial"/>
                <a:sym typeface="Arial"/>
              </a:rPr>
              <a:t>Prise en charge des ascendants: (déplacement d’un proche, transfert, garde,…)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outon Logo Les Dents - Images vectorielles gratuites sur Pixabay - Pixabay" id="172" name="Google Shape;17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62" y="14272152"/>
            <a:ext cx="49067" cy="490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3" name="Google Shape;173;p17"/>
          <p:cNvGrpSpPr/>
          <p:nvPr/>
        </p:nvGrpSpPr>
        <p:grpSpPr>
          <a:xfrm>
            <a:off x="101600" y="93434"/>
            <a:ext cx="6686550" cy="628650"/>
            <a:chOff x="101600" y="93434"/>
            <a:chExt cx="6686550" cy="628650"/>
          </a:xfrm>
        </p:grpSpPr>
        <p:grpSp>
          <p:nvGrpSpPr>
            <p:cNvPr id="174" name="Google Shape;174;p17"/>
            <p:cNvGrpSpPr/>
            <p:nvPr/>
          </p:nvGrpSpPr>
          <p:grpSpPr>
            <a:xfrm>
              <a:off x="101600" y="93434"/>
              <a:ext cx="6686550" cy="628650"/>
              <a:chOff x="101600" y="93434"/>
              <a:chExt cx="6686550" cy="628650"/>
            </a:xfrm>
          </p:grpSpPr>
          <p:sp>
            <p:nvSpPr>
              <p:cNvPr id="175" name="Google Shape;175;p17"/>
              <p:cNvSpPr/>
              <p:nvPr/>
            </p:nvSpPr>
            <p:spPr>
              <a:xfrm>
                <a:off x="101600" y="93434"/>
                <a:ext cx="6686550" cy="628650"/>
              </a:xfrm>
              <a:prstGeom prst="roundRect">
                <a:avLst>
                  <a:gd fmla="val 16667" name="adj"/>
                </a:avLst>
              </a:prstGeom>
              <a:solidFill>
                <a:schemeClr val="lt1"/>
              </a:solidFill>
              <a:ln cap="flat" cmpd="sng" w="44450">
                <a:solidFill>
                  <a:srgbClr val="2F5496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VITALIA HOSPI+ </a:t>
                </a:r>
                <a:r>
                  <a:rPr b="1" lang="fr-FR" sz="11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FORMULE COMPLETE   </a:t>
                </a:r>
                <a:r>
                  <a:rPr b="1" lang="fr-FR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by                            assuré par                                 </a:t>
                </a:r>
                <a:endParaRPr/>
              </a:p>
            </p:txBody>
          </p:sp>
          <p:pic>
            <p:nvPicPr>
              <p:cNvPr id="176" name="Google Shape;176;p17"/>
              <p:cNvPicPr preferRelativeResize="0"/>
              <p:nvPr/>
            </p:nvPicPr>
            <p:blipFill rotWithShape="1">
              <a:blip r:embed="rId4">
                <a:alphaModFix/>
              </a:blip>
              <a:srcRect b="19177" l="15722" r="8841" t="10958"/>
              <a:stretch/>
            </p:blipFill>
            <p:spPr>
              <a:xfrm>
                <a:off x="3429000" y="178500"/>
                <a:ext cx="1072346" cy="427263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descr="Animaux Santé | Mutuelle Animaux" id="177" name="Google Shape;177;p1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662443" y="215944"/>
              <a:ext cx="1046194" cy="40421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17"/>
          <p:cNvSpPr txBox="1"/>
          <p:nvPr/>
        </p:nvSpPr>
        <p:spPr>
          <a:xfrm>
            <a:off x="1939650" y="1432443"/>
            <a:ext cx="4684487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2800">
                <a:solidFill>
                  <a:srgbClr val="0070C0"/>
                </a:solidFill>
                <a:latin typeface="Calibri"/>
                <a:ea typeface="Calibri"/>
                <a:cs typeface="Calibri"/>
                <a:sym typeface="Calibri"/>
              </a:rPr>
              <a:t>Pourquoi faire appel à La protection juridique CFDP ?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26125" y="2857751"/>
            <a:ext cx="5718498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 cas de litige ou de différend vous opposant à un tiers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 résultant d’un accident médical susceptible,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fr-F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CFDP met à votre disposition gratuitement:</a:t>
            </a:r>
            <a:endParaRPr/>
          </a:p>
        </p:txBody>
      </p:sp>
      <p:grpSp>
        <p:nvGrpSpPr>
          <p:cNvPr id="180" name="Google Shape;180;p17"/>
          <p:cNvGrpSpPr/>
          <p:nvPr/>
        </p:nvGrpSpPr>
        <p:grpSpPr>
          <a:xfrm>
            <a:off x="233863" y="4214223"/>
            <a:ext cx="5999299" cy="1253076"/>
            <a:chOff x="282356" y="3892553"/>
            <a:chExt cx="5999299" cy="1253076"/>
          </a:xfrm>
        </p:grpSpPr>
        <p:sp>
          <p:nvSpPr>
            <p:cNvPr id="181" name="Google Shape;181;p17"/>
            <p:cNvSpPr txBox="1"/>
            <p:nvPr/>
          </p:nvSpPr>
          <p:spPr>
            <a:xfrm>
              <a:off x="1817665" y="3976078"/>
              <a:ext cx="4463990" cy="11695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 par téléphone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qui répond aux questions </a:t>
              </a: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d’ordre juridique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que vous vous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posez, vous informe sur vos droits, vous apporte une aide </a:t>
              </a:r>
              <a:r>
                <a:rPr lang="fr-FR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afin de prendre une décision et de trouver une solution à vos problèmes,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2" name="Google Shape;182;p17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82356" y="3892553"/>
              <a:ext cx="1535008" cy="12137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3" name="Google Shape;183;p17"/>
          <p:cNvGrpSpPr/>
          <p:nvPr/>
        </p:nvGrpSpPr>
        <p:grpSpPr>
          <a:xfrm>
            <a:off x="1196600" y="6122468"/>
            <a:ext cx="5242236" cy="923330"/>
            <a:chOff x="1295893" y="5584357"/>
            <a:chExt cx="5242236" cy="923330"/>
          </a:xfrm>
        </p:grpSpPr>
        <p:sp>
          <p:nvSpPr>
            <p:cNvPr id="184" name="Google Shape;184;p17"/>
            <p:cNvSpPr txBox="1"/>
            <p:nvPr/>
          </p:nvSpPr>
          <p:spPr>
            <a:xfrm>
              <a:off x="2654300" y="5640155"/>
              <a:ext cx="3883829" cy="7386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d’Assistance Juridique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sur rendez-vous 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lorsqu’un examen particulier de votre situation est nécessaire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5" name="Google Shape;185;p17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1295893" y="5584357"/>
              <a:ext cx="1358407" cy="92333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86" name="Google Shape;186;p17"/>
          <p:cNvGrpSpPr/>
          <p:nvPr/>
        </p:nvGrpSpPr>
        <p:grpSpPr>
          <a:xfrm>
            <a:off x="291312" y="7700968"/>
            <a:ext cx="5815469" cy="954107"/>
            <a:chOff x="352505" y="7329255"/>
            <a:chExt cx="5815469" cy="954107"/>
          </a:xfrm>
        </p:grpSpPr>
        <p:sp>
          <p:nvSpPr>
            <p:cNvPr id="187" name="Google Shape;187;p17"/>
            <p:cNvSpPr txBox="1"/>
            <p:nvPr/>
          </p:nvSpPr>
          <p:spPr>
            <a:xfrm>
              <a:off x="1830064" y="7329255"/>
              <a:ext cx="4337910" cy="9531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1"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un service de gestion des sinistres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qui prend les mesures utiles afin de faire valoir vos droits à </a:t>
              </a:r>
              <a:r>
                <a:rPr lang="fr-FR" sz="1400">
                  <a:solidFill>
                    <a:srgbClr val="161615"/>
                  </a:solidFill>
                  <a:latin typeface="Arial"/>
                  <a:ea typeface="Arial"/>
                  <a:cs typeface="Arial"/>
                  <a:sym typeface="Arial"/>
                </a:rPr>
                <a:t>l’amiable </a:t>
              </a:r>
              <a:r>
                <a:rPr lang="fr-FR" sz="14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et, au besoin, vous donne les moyens d’en poursuivre l’exercice en justice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88" name="Google Shape;188;p17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52505" y="7458293"/>
              <a:ext cx="1477559" cy="825069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89" name="Google Shape;18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70455" y="1357599"/>
            <a:ext cx="1769195" cy="972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2018-01-12T04:36:24Z</dcterms:created>
  <dc:creator>Aurelie Racamier</dc:creator>
</cp:coreProperties>
</file>