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</p:sldMasterIdLst>
  <p:notesMasterIdLst>
    <p:notesMasterId r:id="rId6"/>
  </p:notesMasterIdLst>
  <p:sldIdLst>
    <p:sldId id="257" r:id="rId2"/>
    <p:sldId id="258" r:id="rId3"/>
    <p:sldId id="260" r:id="rId4"/>
    <p:sldId id="261" r:id="rId5"/>
  </p:sldIdLst>
  <p:sldSz cx="6858000" cy="9906000" type="A4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gRM5g9jOzKvKatFZesqbkETYKt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C65A"/>
    <a:srgbClr val="EDE0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3156" y="5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fr-FR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‹N°›</a:t>
            </a:fld>
            <a:endParaRPr lang="fr-FR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3545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3175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0571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9AD9F75-E73E-EF80-C089-C200F5853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0E29E6D8-C875-D32F-4116-08273146C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3CEB76D8-E845-0785-42A7-9CA3A8CD07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6277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19F93D-8255-6088-978F-25DC26943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D7BFAE2-4DDA-5CEB-A9B6-7D5458672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B73B4B-47A0-53CE-FB4A-AD41B31C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0C3929-B721-1FD6-6598-B242CD10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F648CC-6D73-618F-316C-4C34386E4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41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ED3FED-8441-4FF5-F1F0-A30EF4C44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A4C529-50E2-FFE9-B0D2-5F3CE75A5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9D8057-FF2B-9856-98BD-4E857A25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D5ED8A-7AED-E653-D1EF-EE8C96F24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3FE8BF-FB84-E3DB-A22B-F46BE7014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7619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829AA2-7A23-BF3D-289E-7FF50B55F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421FF2-5439-BF21-C412-685553F9C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EB08C0-77FA-5722-A86A-E6D8943D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BC8CAD-E33D-AE37-E4CD-E4F3F349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741DF6-21BA-D0FF-118F-31BCAD395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469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9CE797-B1F8-954A-2FCD-E1936621A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56F958-B869-AD5F-5DF5-54B2731DD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229B082-B806-B1EB-76D2-D157D79FD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A437EF-E1D5-4506-6A95-EB99876C6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ADE150-0B3E-FAC3-8835-244B419C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5A06BD-CCC0-5601-CE7D-FD57F3F4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5841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2ACAED-B220-DE36-4BC0-07B2E9B28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8855D4-99FC-AA15-3986-F50C040E7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79FD663-E006-C456-79A4-4DBB71A93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CB4238C-0499-8F34-0E58-D0C21C11FA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8993611-0F7E-2147-3300-0320286B0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D3B29C-0CB3-376F-C603-483F26092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5484CD4-DFF9-E770-EFAD-46C12CB28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D3E3E8C-DEE2-B83F-75FF-B074ED0B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4910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740DC6-2906-269F-B67E-ED3941EE4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8B189EC-D496-3FE3-3760-9959A0949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702D2E-B2BD-1DED-CF8E-7BA263E37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0F1244-A899-ACD7-B1D9-001617F9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0698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0E38EE-8952-23B4-2E92-2298A4D9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FCBACE9-D3DB-9337-7CDA-7B0575CFC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5077C4-3BD7-EAF7-C25D-2296B058E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102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D74707-CCCA-1559-2F58-90891138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13183F-431C-1322-E86E-6C67A3F6B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FF3E38C-97FB-9E66-E268-AD578DA70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81BB4D-FA63-2DED-8349-6FFDA0AC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312810-EE84-AB7C-4A60-4B3F52D9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C8157E-05A9-F6F5-6BA7-0EEBFBD34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741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7B92C1-B502-80FD-B5FF-7A6FA0D63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3B1D321-502B-2A13-A328-CBD7F22D8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65CA632-6A78-36DD-F377-B0EB9AB98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B572ED-A03B-85BE-C65F-84B0A27E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29D9F9-E70D-72E5-67B8-A80BD4F3A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85CFCE-6528-3C48-47B9-06997386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19719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830739-2A53-9F08-296C-9423F03C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46F5002-EE58-0EED-A9C4-8B5FBB3CE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F764B9-47A1-26C1-28F0-93D21761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4C82DA-93DC-2508-A870-F83ABA690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579AC2-833F-8B72-F3B1-D753FC730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824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D3ABFD9-2C9A-F88B-0765-0D03AE3DE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BA08473-EF90-F0DC-EDFA-47E205D2C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FDCA93-AB4F-96F6-DB43-3E42B2D92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3099B5-E8F3-C8AF-B427-3888071F6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C7DEFF-A670-934B-2676-17D05B4A6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480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829D36A-551C-2B63-2C63-7AC113F49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E106FF-0729-5625-3E57-62D8BB341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BB5502-3C28-EF77-0F65-3213F96AF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2A5075-5C48-4796-C2DB-2B2B537115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8000B2-DD91-18F1-D613-34CC36949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5247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hyperlink" Target="#'9'!A1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hyperlink" Target="#'6'!A1"/><Relationship Id="rId11" Type="http://schemas.openxmlformats.org/officeDocument/2006/relationships/image" Target="../media/image7.jpeg"/><Relationship Id="rId5" Type="http://schemas.microsoft.com/office/2007/relationships/hdphoto" Target="../media/hdphoto1.wdp"/><Relationship Id="rId10" Type="http://schemas.openxmlformats.org/officeDocument/2006/relationships/image" Target="../media/image6.jpe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hyperlink" Target="#'9'!A1"/><Relationship Id="rId11" Type="http://schemas.openxmlformats.org/officeDocument/2006/relationships/image" Target="../media/image15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8C5A1A0-D5D0-53B1-3FC3-1CF496B243BA}"/>
              </a:ext>
            </a:extLst>
          </p:cNvPr>
          <p:cNvSpPr/>
          <p:nvPr/>
        </p:nvSpPr>
        <p:spPr>
          <a:xfrm>
            <a:off x="-117566" y="918463"/>
            <a:ext cx="6732802" cy="83859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4" name="Rectangle : coins arrondis 1033">
            <a:extLst>
              <a:ext uri="{FF2B5EF4-FFF2-40B4-BE49-F238E27FC236}">
                <a16:creationId xmlns:a16="http://schemas.microsoft.com/office/drawing/2014/main" id="{820F75DD-2243-24D9-F91B-F3FC463E36A2}"/>
              </a:ext>
            </a:extLst>
          </p:cNvPr>
          <p:cNvSpPr/>
          <p:nvPr/>
        </p:nvSpPr>
        <p:spPr>
          <a:xfrm>
            <a:off x="1987886" y="1258563"/>
            <a:ext cx="3759200" cy="146393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1600" b="1" dirty="0">
              <a:solidFill>
                <a:schemeClr val="tx1"/>
              </a:solidFill>
            </a:endParaRPr>
          </a:p>
          <a:p>
            <a:pPr algn="r"/>
            <a:endParaRPr lang="fr-FR" sz="1600" b="1" dirty="0">
              <a:solidFill>
                <a:schemeClr val="tx1"/>
              </a:solidFill>
            </a:endParaRPr>
          </a:p>
          <a:p>
            <a:pPr algn="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complémentaire santé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via</a:t>
            </a:r>
            <a:r>
              <a:rPr lang="fr-FR" sz="1600" b="1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Contrat NON responsable</a:t>
            </a:r>
          </a:p>
          <a:p>
            <a:pPr algn="r"/>
            <a:endParaRPr lang="fr-FR" sz="1600" b="1" dirty="0">
              <a:solidFill>
                <a:schemeClr val="tx1"/>
              </a:solidFill>
            </a:endParaRPr>
          </a:p>
          <a:p>
            <a:pPr algn="r"/>
            <a:endParaRPr lang="fr-FR" sz="1600" b="1" dirty="0">
              <a:solidFill>
                <a:schemeClr val="tx1"/>
              </a:solidFill>
            </a:endParaRPr>
          </a:p>
        </p:txBody>
      </p:sp>
      <p:grpSp>
        <p:nvGrpSpPr>
          <p:cNvPr id="1052" name="Groupe 1051">
            <a:extLst>
              <a:ext uri="{FF2B5EF4-FFF2-40B4-BE49-F238E27FC236}">
                <a16:creationId xmlns:a16="http://schemas.microsoft.com/office/drawing/2014/main" id="{1B98BC47-454E-7573-3854-004087E54ABF}"/>
              </a:ext>
            </a:extLst>
          </p:cNvPr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1045" name="Ellipse 1044">
              <a:extLst>
                <a:ext uri="{FF2B5EF4-FFF2-40B4-BE49-F238E27FC236}">
                  <a16:creationId xmlns:a16="http://schemas.microsoft.com/office/drawing/2014/main" id="{FD26AE43-9742-47B6-8BDA-2D79D26DE0F8}"/>
                </a:ext>
              </a:extLst>
            </p:cNvPr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41" name="Picture 18" descr="Modèle Logo Santé Et Forme Physique Logo Médical | PosterMyWall">
              <a:extLst>
                <a:ext uri="{FF2B5EF4-FFF2-40B4-BE49-F238E27FC236}">
                  <a16:creationId xmlns:a16="http://schemas.microsoft.com/office/drawing/2014/main" id="{5596F68D-AA41-DFE9-E9A2-B9194E9FAF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9" t="11936" r="27063" b="24816"/>
            <a:stretch/>
          </p:blipFill>
          <p:spPr bwMode="auto">
            <a:xfrm>
              <a:off x="2311520" y="1585367"/>
              <a:ext cx="596138" cy="759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63" name="Ellipse 1062">
            <a:extLst>
              <a:ext uri="{FF2B5EF4-FFF2-40B4-BE49-F238E27FC236}">
                <a16:creationId xmlns:a16="http://schemas.microsoft.com/office/drawing/2014/main" id="{0F42D8DA-AD12-EFA1-5581-09AE50177610}"/>
              </a:ext>
            </a:extLst>
          </p:cNvPr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2800" b="1" dirty="0">
              <a:solidFill>
                <a:schemeClr val="tx1"/>
              </a:solidFill>
            </a:endParaRP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A042503A-BA47-E78F-9BC0-0E69B1A021FD}"/>
              </a:ext>
            </a:extLst>
          </p:cNvPr>
          <p:cNvGrpSpPr/>
          <p:nvPr/>
        </p:nvGrpSpPr>
        <p:grpSpPr>
          <a:xfrm>
            <a:off x="2461807" y="3302726"/>
            <a:ext cx="3759200" cy="1463934"/>
            <a:chOff x="2841625" y="4500433"/>
            <a:chExt cx="3759200" cy="1463934"/>
          </a:xfrm>
        </p:grpSpPr>
        <p:sp>
          <p:nvSpPr>
            <p:cNvPr id="1037" name="Rectangle : coins arrondis 1036">
              <a:extLst>
                <a:ext uri="{FF2B5EF4-FFF2-40B4-BE49-F238E27FC236}">
                  <a16:creationId xmlns:a16="http://schemas.microsoft.com/office/drawing/2014/main" id="{2E2C7234-7ACB-651B-0D87-2C363492D917}"/>
                </a:ext>
              </a:extLst>
            </p:cNvPr>
            <p:cNvSpPr/>
            <p:nvPr/>
          </p:nvSpPr>
          <p:spPr>
            <a:xfrm>
              <a:off x="2841625" y="4500433"/>
              <a:ext cx="3759200" cy="1463934"/>
            </a:xfrm>
            <a:prstGeom prst="roundRect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fr-FR" sz="2000" b="1" dirty="0">
                  <a:solidFill>
                    <a:schemeClr val="accent1">
                      <a:lumMod val="75000"/>
                    </a:schemeClr>
                  </a:solidFill>
                </a:rPr>
                <a:t>   Un Tiers payant</a:t>
              </a:r>
            </a:p>
            <a:p>
              <a:r>
                <a:rPr lang="fr-FR" sz="1600" b="1" dirty="0">
                  <a:solidFill>
                    <a:schemeClr val="tx1"/>
                  </a:solidFill>
                </a:rPr>
                <a:t>                                            </a:t>
              </a:r>
            </a:p>
            <a:p>
              <a:r>
                <a:rPr lang="fr-FR" sz="1600" b="1" dirty="0">
                  <a:solidFill>
                    <a:schemeClr val="tx1"/>
                  </a:solidFill>
                </a:rPr>
                <a:t>                                         </a:t>
              </a:r>
            </a:p>
            <a:p>
              <a:pPr algn="ctr"/>
              <a:r>
                <a:rPr lang="fr-FR" sz="1400" dirty="0">
                  <a:solidFill>
                    <a:schemeClr val="tx1"/>
                  </a:solidFill>
                </a:rPr>
                <a:t>  </a:t>
              </a:r>
            </a:p>
            <a:p>
              <a:pPr algn="r"/>
              <a:r>
                <a:rPr lang="fr-FR" sz="1200" dirty="0">
                  <a:solidFill>
                    <a:schemeClr val="tx1"/>
                  </a:solidFill>
                </a:rPr>
                <a:t>                   Un tiers payant national, qui vous évite d’avancer les frais médicaux.</a:t>
              </a:r>
            </a:p>
          </p:txBody>
        </p:sp>
        <p:grpSp>
          <p:nvGrpSpPr>
            <p:cNvPr id="1050" name="Groupe 1049">
              <a:extLst>
                <a:ext uri="{FF2B5EF4-FFF2-40B4-BE49-F238E27FC236}">
                  <a16:creationId xmlns:a16="http://schemas.microsoft.com/office/drawing/2014/main" id="{EE3E8E91-2656-D7E0-F4AE-A7310F23F8C3}"/>
                </a:ext>
              </a:extLst>
            </p:cNvPr>
            <p:cNvGrpSpPr/>
            <p:nvPr/>
          </p:nvGrpSpPr>
          <p:grpSpPr>
            <a:xfrm>
              <a:off x="2911326" y="4743824"/>
              <a:ext cx="976837" cy="1010393"/>
              <a:chOff x="2693612" y="4712978"/>
              <a:chExt cx="976837" cy="1010393"/>
            </a:xfrm>
          </p:grpSpPr>
          <p:sp>
            <p:nvSpPr>
              <p:cNvPr id="1048" name="Ellipse 1047">
                <a:extLst>
                  <a:ext uri="{FF2B5EF4-FFF2-40B4-BE49-F238E27FC236}">
                    <a16:creationId xmlns:a16="http://schemas.microsoft.com/office/drawing/2014/main" id="{5EB7E7A5-A185-101D-7EF8-35F0B21685CA}"/>
                  </a:ext>
                </a:extLst>
              </p:cNvPr>
              <p:cNvSpPr/>
              <p:nvPr/>
            </p:nvSpPr>
            <p:spPr>
              <a:xfrm>
                <a:off x="2693612" y="4712978"/>
                <a:ext cx="976837" cy="1010393"/>
              </a:xfrm>
              <a:prstGeom prst="ellipse">
                <a:avLst/>
              </a:prstGeom>
              <a:solidFill>
                <a:schemeClr val="bg1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fr-FR" sz="2800" b="1">
                  <a:solidFill>
                    <a:schemeClr val="tx1"/>
                  </a:solidFill>
                </a:endParaRPr>
              </a:p>
            </p:txBody>
          </p:sp>
          <p:pic>
            <p:nvPicPr>
              <p:cNvPr id="1044" name="Picture 16" descr="Tiers payant : qu'est-ce que c'est et comment l'obtenir ?">
                <a:extLst>
                  <a:ext uri="{FF2B5EF4-FFF2-40B4-BE49-F238E27FC236}">
                    <a16:creationId xmlns:a16="http://schemas.microsoft.com/office/drawing/2014/main" id="{5CDEE249-5D62-70AB-1349-DE31685588A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237" t="4849" r="29792" b="4849"/>
              <a:stretch/>
            </p:blipFill>
            <p:spPr bwMode="auto">
              <a:xfrm>
                <a:off x="2862942" y="4910684"/>
                <a:ext cx="638175" cy="5960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8" name="Image 7">
              <a:hlinkClick r:id="rId6"/>
              <a:extLst>
                <a:ext uri="{FF2B5EF4-FFF2-40B4-BE49-F238E27FC236}">
                  <a16:creationId xmlns:a16="http://schemas.microsoft.com/office/drawing/2014/main" id="{D53D5487-B6D6-45AB-9286-D4BDA2C6A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79463" y="4884143"/>
              <a:ext cx="1607012" cy="653432"/>
            </a:xfrm>
            <a:prstGeom prst="rect">
              <a:avLst/>
            </a:prstGeom>
          </p:spPr>
        </p:pic>
      </p:grpSp>
      <p:sp>
        <p:nvSpPr>
          <p:cNvPr id="4" name="Ellipse 3">
            <a:extLst>
              <a:ext uri="{FF2B5EF4-FFF2-40B4-BE49-F238E27FC236}">
                <a16:creationId xmlns:a16="http://schemas.microsoft.com/office/drawing/2014/main" id="{F8FB4B19-5766-0D3D-891D-EC86D507BEB9}"/>
              </a:ext>
            </a:extLst>
          </p:cNvPr>
          <p:cNvSpPr/>
          <p:nvPr/>
        </p:nvSpPr>
        <p:spPr>
          <a:xfrm>
            <a:off x="-392704" y="2135826"/>
            <a:ext cx="2488094" cy="550645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3200" b="1" dirty="0">
                <a:solidFill>
                  <a:schemeClr val="tx1"/>
                </a:solidFill>
              </a:rPr>
              <a:t>Une </a:t>
            </a:r>
          </a:p>
          <a:p>
            <a:pPr algn="ctr"/>
            <a:r>
              <a:rPr lang="fr-FR" sz="3200" b="1" dirty="0">
                <a:solidFill>
                  <a:schemeClr val="tx1"/>
                </a:solidFill>
              </a:rPr>
              <a:t>solution intégrale </a:t>
            </a:r>
            <a:r>
              <a:rPr lang="fr-FR" b="1" dirty="0">
                <a:solidFill>
                  <a:schemeClr val="tx1"/>
                </a:solidFill>
              </a:rPr>
              <a:t>Pour </a:t>
            </a:r>
          </a:p>
          <a:p>
            <a:pPr algn="ctr"/>
            <a:r>
              <a:rPr lang="fr-FR" b="1" dirty="0">
                <a:solidFill>
                  <a:schemeClr val="tx1"/>
                </a:solidFill>
              </a:rPr>
              <a:t>les 18 ans et +</a:t>
            </a:r>
          </a:p>
          <a:p>
            <a:pPr algn="ctr"/>
            <a:r>
              <a:rPr lang="fr-FR" b="1" dirty="0">
                <a:solidFill>
                  <a:schemeClr val="tx1"/>
                </a:solidFill>
              </a:rPr>
              <a:t>et sans limite d’âge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667CE8B6-E4BD-573D-3231-014DEA30576B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EEFE0E87-D736-5EE7-C301-1EC3F0DC7A2F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3" name="Rectangle : coins arrondis 2">
                <a:extLst>
                  <a:ext uri="{FF2B5EF4-FFF2-40B4-BE49-F238E27FC236}">
                    <a16:creationId xmlns:a16="http://schemas.microsoft.com/office/drawing/2014/main" id="{7FF4382F-F447-B488-AEDB-4175D1E1A303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>
                    <a:solidFill>
                      <a:schemeClr val="tx1"/>
                    </a:solidFill>
                  </a:rPr>
                  <a:t>    VITALIA HOSPI+ </a:t>
                </a:r>
                <a:r>
                  <a:rPr lang="fr-FR" sz="1100" b="1" dirty="0">
                    <a:solidFill>
                      <a:schemeClr val="tx1"/>
                    </a:solidFill>
                  </a:rPr>
                  <a:t>FORMULE essentiel   </a:t>
                </a:r>
                <a:r>
                  <a:rPr lang="fr-FR" sz="1600" b="1" dirty="0">
                    <a:solidFill>
                      <a:schemeClr val="tx1"/>
                    </a:solidFill>
                  </a:rPr>
                  <a:t>by                            assuré par                                 </a:t>
                </a:r>
              </a:p>
            </p:txBody>
          </p:sp>
          <p:pic>
            <p:nvPicPr>
              <p:cNvPr id="5" name="Image 4">
                <a:extLst>
                  <a:ext uri="{FF2B5EF4-FFF2-40B4-BE49-F238E27FC236}">
                    <a16:creationId xmlns:a16="http://schemas.microsoft.com/office/drawing/2014/main" id="{3BDFFCEB-7AC5-9858-0932-2DCD1922F57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15722" t="10958" r="8841" b="19178"/>
              <a:stretch/>
            </p:blipFill>
            <p:spPr>
              <a:xfrm>
                <a:off x="3429000" y="178500"/>
                <a:ext cx="1072346" cy="427263"/>
              </a:xfrm>
              <a:prstGeom prst="rect">
                <a:avLst/>
              </a:prstGeom>
            </p:spPr>
          </p:pic>
        </p:grpSp>
        <p:pic>
          <p:nvPicPr>
            <p:cNvPr id="6" name="Picture 2" descr="Animaux Santé | Mutuelle Animaux">
              <a:extLst>
                <a:ext uri="{FF2B5EF4-FFF2-40B4-BE49-F238E27FC236}">
                  <a16:creationId xmlns:a16="http://schemas.microsoft.com/office/drawing/2014/main" id="{3DB9D56A-0F8C-0665-4FB5-F36CF993FF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2443" y="215944"/>
              <a:ext cx="1046194" cy="404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2" descr="Animaux Santé | Mutuelle Animaux">
            <a:extLst>
              <a:ext uri="{FF2B5EF4-FFF2-40B4-BE49-F238E27FC236}">
                <a16:creationId xmlns:a16="http://schemas.microsoft.com/office/drawing/2014/main" id="{78E48810-6AF3-882A-1605-3850AE35E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800" y="1720193"/>
            <a:ext cx="1511989" cy="584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F1D033F-ED1F-EE18-AA9E-0E756D9D66D3}"/>
              </a:ext>
            </a:extLst>
          </p:cNvPr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dirty="0"/>
              <a:t>FICHE PRODUIT MARS 2014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CDD723A-50E9-203B-7382-B4F34E7D7D64}"/>
              </a:ext>
            </a:extLst>
          </p:cNvPr>
          <p:cNvSpPr/>
          <p:nvPr/>
        </p:nvSpPr>
        <p:spPr>
          <a:xfrm>
            <a:off x="1985637" y="7440858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b="1" dirty="0">
              <a:solidFill>
                <a:schemeClr val="tx1"/>
              </a:solidFill>
            </a:endParaRPr>
          </a:p>
          <a:p>
            <a:pPr algn="r"/>
            <a:r>
              <a:rPr lang="fr-FR" b="1" dirty="0">
                <a:solidFill>
                  <a:schemeClr val="tx1"/>
                </a:solidFill>
              </a:rPr>
              <a:t>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Protection juridique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</a:t>
            </a:r>
          </a:p>
          <a:p>
            <a:endParaRPr lang="fr-FR" sz="1600" b="1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     Un accompagnement en cas de litige, </a:t>
            </a:r>
          </a:p>
          <a:p>
            <a:pPr algn="r"/>
            <a:endParaRPr lang="fr-FR" sz="1600" b="1" dirty="0">
              <a:solidFill>
                <a:schemeClr val="tx1"/>
              </a:solidFill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CE8A47FB-7244-ED34-4EAC-AA7B79F03CED}"/>
              </a:ext>
            </a:extLst>
          </p:cNvPr>
          <p:cNvGrpSpPr/>
          <p:nvPr/>
        </p:nvGrpSpPr>
        <p:grpSpPr>
          <a:xfrm>
            <a:off x="2061514" y="7695895"/>
            <a:ext cx="976837" cy="1010393"/>
            <a:chOff x="1963799" y="8142480"/>
            <a:chExt cx="976837" cy="1010393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481DAAE1-207C-9FD4-0D04-623D392BFA7E}"/>
                </a:ext>
              </a:extLst>
            </p:cNvPr>
            <p:cNvSpPr/>
            <p:nvPr/>
          </p:nvSpPr>
          <p:spPr>
            <a:xfrm>
              <a:off x="1963799" y="8142480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23" name="Picture 2" descr="Protection juridique">
              <a:extLst>
                <a:ext uri="{FF2B5EF4-FFF2-40B4-BE49-F238E27FC236}">
                  <a16:creationId xmlns:a16="http://schemas.microsoft.com/office/drawing/2014/main" id="{C907FCA7-F765-0C69-6896-2E0C7D6399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5" r="4387" b="29438"/>
            <a:stretch/>
          </p:blipFill>
          <p:spPr bwMode="auto">
            <a:xfrm>
              <a:off x="2092593" y="8359486"/>
              <a:ext cx="726806" cy="560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2B4C9BE4-0613-F985-57D3-F1CAFC64BA8F}"/>
              </a:ext>
            </a:extLst>
          </p:cNvPr>
          <p:cNvSpPr/>
          <p:nvPr/>
        </p:nvSpPr>
        <p:spPr>
          <a:xfrm>
            <a:off x="2520045" y="5401805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2000" b="1" dirty="0">
                <a:solidFill>
                  <a:schemeClr val="tx1"/>
                </a:solidFill>
              </a:rPr>
              <a:t>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assistance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</a:t>
            </a:r>
          </a:p>
          <a:p>
            <a:pPr algn="r"/>
            <a:endParaRPr lang="fr-FR" sz="1400" b="1" dirty="0">
              <a:solidFill>
                <a:schemeClr val="tx1"/>
              </a:solidFill>
            </a:endParaRPr>
          </a:p>
          <a:p>
            <a:pPr algn="r"/>
            <a:r>
              <a:rPr lang="fr-FR" sz="1600" dirty="0">
                <a:solidFill>
                  <a:schemeClr val="tx1"/>
                </a:solidFill>
              </a:rPr>
              <a:t>                </a:t>
            </a:r>
            <a:r>
              <a:rPr lang="fr-FR" sz="1200" dirty="0">
                <a:solidFill>
                  <a:schemeClr val="tx1"/>
                </a:solidFill>
              </a:rPr>
              <a:t>Un service haut de gamme 24h/24, 7j/7 pour vous accompagner en cas de coup dur</a:t>
            </a:r>
            <a:endParaRPr lang="fr-FR" sz="1600" b="1" dirty="0">
              <a:solidFill>
                <a:schemeClr val="tx1"/>
              </a:solidFill>
            </a:endParaRPr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3D1A8CA0-E868-0DDA-22D4-CC29BB2909C7}"/>
              </a:ext>
            </a:extLst>
          </p:cNvPr>
          <p:cNvGrpSpPr/>
          <p:nvPr/>
        </p:nvGrpSpPr>
        <p:grpSpPr>
          <a:xfrm>
            <a:off x="2600991" y="5646566"/>
            <a:ext cx="976837" cy="1010393"/>
            <a:chOff x="2566518" y="6340968"/>
            <a:chExt cx="976837" cy="1010393"/>
          </a:xfrm>
        </p:grpSpPr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38B541CA-5E96-E9A6-C10A-EDE79B5C6582}"/>
                </a:ext>
              </a:extLst>
            </p:cNvPr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28" name="Picture 8" descr="Assistance and protection logo work people sign Vector Image">
              <a:extLst>
                <a:ext uri="{FF2B5EF4-FFF2-40B4-BE49-F238E27FC236}">
                  <a16:creationId xmlns:a16="http://schemas.microsoft.com/office/drawing/2014/main" id="{D2BB1FEA-84EA-1511-189A-3E28D30912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06" t="9307" r="19154" b="31895"/>
            <a:stretch>
              <a:fillRect/>
            </a:stretch>
          </p:blipFill>
          <p:spPr bwMode="auto">
            <a:xfrm>
              <a:off x="2781449" y="6523581"/>
              <a:ext cx="577433" cy="603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9" name="Image 28" descr="Comment contacter Inter Mutuelles Assistance ?">
            <a:hlinkClick r:id="rId12"/>
            <a:extLst>
              <a:ext uri="{FF2B5EF4-FFF2-40B4-BE49-F238E27FC236}">
                <a16:creationId xmlns:a16="http://schemas.microsoft.com/office/drawing/2014/main" id="{7435C1E0-44B7-8827-D805-5AE9B504C4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25" r="4129" b="23858"/>
          <a:stretch>
            <a:fillRect/>
          </a:stretch>
        </p:blipFill>
        <p:spPr bwMode="auto">
          <a:xfrm>
            <a:off x="4437950" y="5707009"/>
            <a:ext cx="1308959" cy="72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AD73FF71-35DF-93AF-BB0B-E2EE81226E2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22116" y="7948055"/>
            <a:ext cx="955057" cy="52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4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02B7F33-65FE-131C-4919-2C329A23EB0A}"/>
              </a:ext>
            </a:extLst>
          </p:cNvPr>
          <p:cNvSpPr/>
          <p:nvPr/>
        </p:nvSpPr>
        <p:spPr>
          <a:xfrm>
            <a:off x="348343" y="2133601"/>
            <a:ext cx="6198508" cy="79828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Formules renforcées ou recentrées sur les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postes clés pour couvrir tous les besoins &amp; budgets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0E162AE4-139C-BD01-2988-DE899990DAEC}"/>
              </a:ext>
            </a:extLst>
          </p:cNvPr>
          <p:cNvSpPr/>
          <p:nvPr/>
        </p:nvSpPr>
        <p:spPr>
          <a:xfrm>
            <a:off x="329746" y="3054461"/>
            <a:ext cx="6198508" cy="3854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adhésion rapide en ligne avec la signature électronique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411AD06-7738-5C96-7B86-AF3B1A6DA279}"/>
              </a:ext>
            </a:extLst>
          </p:cNvPr>
          <p:cNvSpPr/>
          <p:nvPr/>
        </p:nvSpPr>
        <p:spPr>
          <a:xfrm>
            <a:off x="348343" y="3537057"/>
            <a:ext cx="6198508" cy="54148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reprise à la concurrence facilitée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sz="1400" dirty="0">
                <a:solidFill>
                  <a:schemeClr val="bg1"/>
                </a:solidFill>
              </a:rPr>
              <a:t>avec la prise en charge de l’envoi de la résiliation en cas de RIA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F402B8E-6734-2A19-3272-812721C6F109}"/>
              </a:ext>
            </a:extLst>
          </p:cNvPr>
          <p:cNvSpPr/>
          <p:nvPr/>
        </p:nvSpPr>
        <p:spPr>
          <a:xfrm>
            <a:off x="348343" y="4184096"/>
            <a:ext cx="6198508" cy="27827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Aucun délai d’attente sur les formules Santé 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7397AD4-996B-08A5-5E49-1327F0A5A50E}"/>
              </a:ext>
            </a:extLst>
          </p:cNvPr>
          <p:cNvSpPr/>
          <p:nvPr/>
        </p:nvSpPr>
        <p:spPr>
          <a:xfrm>
            <a:off x="329746" y="4554486"/>
            <a:ext cx="6198508" cy="27827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Réduction DUO </a:t>
            </a:r>
            <a:r>
              <a:rPr lang="fr-FR" dirty="0">
                <a:solidFill>
                  <a:schemeClr val="bg1"/>
                </a:solidFill>
              </a:rPr>
              <a:t>: dès 2 assurés réduction de 10 % par adulte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713EFFF2-864A-4877-4886-9A5855A88DDC}"/>
              </a:ext>
            </a:extLst>
          </p:cNvPr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EE60AE9E-7261-071B-B3E5-A4F8FD7257F9}"/>
                </a:ext>
              </a:extLst>
            </p:cNvPr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800" b="1" dirty="0"/>
                <a:t>Pourquoi choisir FMA </a:t>
              </a:r>
              <a:r>
                <a:rPr lang="fr-FR" sz="2400" b="1" dirty="0"/>
                <a:t>APESIA formules complètes </a:t>
              </a:r>
              <a:r>
                <a:rPr lang="fr-FR" sz="2800" b="1" dirty="0"/>
                <a:t>?</a:t>
              </a:r>
            </a:p>
          </p:txBody>
        </p:sp>
        <p:pic>
          <p:nvPicPr>
            <p:cNvPr id="3074" name="Picture 2" descr="Bonne idée - Icônes commercialisation gratuites">
              <a:extLst>
                <a:ext uri="{FF2B5EF4-FFF2-40B4-BE49-F238E27FC236}">
                  <a16:creationId xmlns:a16="http://schemas.microsoft.com/office/drawing/2014/main" id="{C58FC8EA-8503-2CE3-1B86-5D230745AD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230" y="945460"/>
              <a:ext cx="1035502" cy="1035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206B7D5-B406-10F2-927A-6D0DB27EF17F}"/>
              </a:ext>
            </a:extLst>
          </p:cNvPr>
          <p:cNvSpPr/>
          <p:nvPr/>
        </p:nvSpPr>
        <p:spPr>
          <a:xfrm>
            <a:off x="348343" y="5644952"/>
            <a:ext cx="6198508" cy="101193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Pour les soins courants, optique, vignettes pharmacie, laboratoires, radiologies, auxiliaires médicaux… Pas de distinction avec les signataires de l’OPTAM / OPTAM CO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0B722F03-E4CB-E23F-C5CF-A8585A796E06}"/>
              </a:ext>
            </a:extLst>
          </p:cNvPr>
          <p:cNvSpPr/>
          <p:nvPr/>
        </p:nvSpPr>
        <p:spPr>
          <a:xfrm>
            <a:off x="348343" y="4953000"/>
            <a:ext cx="6198508" cy="5593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Aucune limite d’âge lors de la souscription</a:t>
            </a:r>
            <a:endParaRPr lang="fr-FR" sz="1400" b="1" dirty="0">
              <a:solidFill>
                <a:schemeClr val="bg1"/>
              </a:solidFill>
            </a:endParaRPr>
          </a:p>
        </p:txBody>
      </p:sp>
      <p:grpSp>
        <p:nvGrpSpPr>
          <p:cNvPr id="3072" name="Groupe 3071">
            <a:extLst>
              <a:ext uri="{FF2B5EF4-FFF2-40B4-BE49-F238E27FC236}">
                <a16:creationId xmlns:a16="http://schemas.microsoft.com/office/drawing/2014/main" id="{C545C539-D52F-8D35-8D87-265134ACE650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3073" name="Groupe 3072">
              <a:extLst>
                <a:ext uri="{FF2B5EF4-FFF2-40B4-BE49-F238E27FC236}">
                  <a16:creationId xmlns:a16="http://schemas.microsoft.com/office/drawing/2014/main" id="{4BBE0F11-9E14-74DE-15E7-EBFE940BE5E8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3076" name="Rectangle : coins arrondis 3075">
                <a:extLst>
                  <a:ext uri="{FF2B5EF4-FFF2-40B4-BE49-F238E27FC236}">
                    <a16:creationId xmlns:a16="http://schemas.microsoft.com/office/drawing/2014/main" id="{ED4BE90B-558C-CF98-3CAF-2D61E3AB1ECC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>
                    <a:solidFill>
                      <a:schemeClr val="tx1"/>
                    </a:solidFill>
                  </a:rPr>
                  <a:t>    VITALIA HOSPI+ </a:t>
                </a:r>
                <a:r>
                  <a:rPr lang="fr-FR" sz="1100" b="1" dirty="0">
                    <a:solidFill>
                      <a:schemeClr val="tx1"/>
                    </a:solidFill>
                  </a:rPr>
                  <a:t>FORMULE essentiel   </a:t>
                </a:r>
                <a:r>
                  <a:rPr lang="fr-FR" sz="1600" b="1" dirty="0">
                    <a:solidFill>
                      <a:schemeClr val="tx1"/>
                    </a:solidFill>
                  </a:rPr>
                  <a:t>by                            assuré par                                 </a:t>
                </a:r>
              </a:p>
            </p:txBody>
          </p:sp>
          <p:pic>
            <p:nvPicPr>
              <p:cNvPr id="3077" name="Image 3076">
                <a:extLst>
                  <a:ext uri="{FF2B5EF4-FFF2-40B4-BE49-F238E27FC236}">
                    <a16:creationId xmlns:a16="http://schemas.microsoft.com/office/drawing/2014/main" id="{AA48F5FC-1D03-62A5-4C39-48EC2964116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5722" t="10958" r="8841" b="19178"/>
              <a:stretch/>
            </p:blipFill>
            <p:spPr>
              <a:xfrm>
                <a:off x="3429000" y="178500"/>
                <a:ext cx="1072346" cy="427263"/>
              </a:xfrm>
              <a:prstGeom prst="rect">
                <a:avLst/>
              </a:prstGeom>
            </p:spPr>
          </p:pic>
        </p:grpSp>
        <p:pic>
          <p:nvPicPr>
            <p:cNvPr id="3075" name="Picture 2" descr="Animaux Santé | Mutuelle Animaux">
              <a:extLst>
                <a:ext uri="{FF2B5EF4-FFF2-40B4-BE49-F238E27FC236}">
                  <a16:creationId xmlns:a16="http://schemas.microsoft.com/office/drawing/2014/main" id="{53608300-DC5B-59F9-7DBA-88682C6899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2443" y="215944"/>
              <a:ext cx="1046194" cy="404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4EAA813-286E-0114-5026-9A95A0A723A2}"/>
              </a:ext>
            </a:extLst>
          </p:cNvPr>
          <p:cNvSpPr/>
          <p:nvPr/>
        </p:nvSpPr>
        <p:spPr>
          <a:xfrm>
            <a:off x="348343" y="6789451"/>
            <a:ext cx="6198508" cy="150333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dirty="0">
                <a:solidFill>
                  <a:schemeClr val="bg1"/>
                </a:solidFill>
              </a:rPr>
              <a:t>L’assistance IMA en inclusion </a:t>
            </a:r>
            <a:r>
              <a:rPr lang="fr-FR" dirty="0">
                <a:solidFill>
                  <a:schemeClr val="bg1"/>
                </a:solidFill>
              </a:rPr>
              <a:t>: </a:t>
            </a:r>
            <a:r>
              <a:rPr lang="fr-FR" sz="1400" dirty="0">
                <a:solidFill>
                  <a:schemeClr val="bg1"/>
                </a:solidFill>
              </a:rPr>
              <a:t>un réseau de 10 000 prestataires en France pour un maillage territoriale optimal. Des experts de l’assistance disponibles 7j/7, 24h/24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b="1" dirty="0">
                <a:solidFill>
                  <a:schemeClr val="bg1"/>
                </a:solidFill>
              </a:rPr>
              <a:t>Des garanties haut de gamme </a:t>
            </a:r>
            <a:r>
              <a:rPr lang="fr-FR" sz="1400" dirty="0">
                <a:solidFill>
                  <a:schemeClr val="bg1"/>
                </a:solidFill>
              </a:rPr>
              <a:t>en inclusion sur mesure pour toute la famille: aide ménagère, service de proximité, prise en charge des animaux domestiques, garde et scolarité des enfants,…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45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>
            <a:extLst>
              <a:ext uri="{FF2B5EF4-FFF2-40B4-BE49-F238E27FC236}">
                <a16:creationId xmlns:a16="http://schemas.microsoft.com/office/drawing/2014/main" id="{C2F6C4BB-EA66-D03A-153B-2D61066CD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34" name="Groupe 4333">
            <a:extLst>
              <a:ext uri="{FF2B5EF4-FFF2-40B4-BE49-F238E27FC236}">
                <a16:creationId xmlns:a16="http://schemas.microsoft.com/office/drawing/2014/main" id="{A6510F9E-FADB-6626-14DC-40C2FD42724C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4335" name="Groupe 4334">
              <a:extLst>
                <a:ext uri="{FF2B5EF4-FFF2-40B4-BE49-F238E27FC236}">
                  <a16:creationId xmlns:a16="http://schemas.microsoft.com/office/drawing/2014/main" id="{6A8224A2-271A-8777-8A4A-D2295DFE57BC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4337" name="Rectangle : coins arrondis 4336">
                <a:extLst>
                  <a:ext uri="{FF2B5EF4-FFF2-40B4-BE49-F238E27FC236}">
                    <a16:creationId xmlns:a16="http://schemas.microsoft.com/office/drawing/2014/main" id="{0470E2FC-620D-8C4A-E0C9-0C9BBAC3C3FA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>
                    <a:solidFill>
                      <a:schemeClr val="tx1"/>
                    </a:solidFill>
                  </a:rPr>
                  <a:t>    VITALIA HOSPI+ </a:t>
                </a:r>
                <a:r>
                  <a:rPr lang="fr-FR" sz="1100" b="1" dirty="0">
                    <a:solidFill>
                      <a:schemeClr val="tx1"/>
                    </a:solidFill>
                  </a:rPr>
                  <a:t>FORMULE essentiel   </a:t>
                </a:r>
                <a:r>
                  <a:rPr lang="fr-FR" sz="1600" b="1" dirty="0">
                    <a:solidFill>
                      <a:schemeClr val="tx1"/>
                    </a:solidFill>
                  </a:rPr>
                  <a:t>by                            assuré par                                 </a:t>
                </a:r>
              </a:p>
            </p:txBody>
          </p:sp>
          <p:pic>
            <p:nvPicPr>
              <p:cNvPr id="4338" name="Image 4337">
                <a:extLst>
                  <a:ext uri="{FF2B5EF4-FFF2-40B4-BE49-F238E27FC236}">
                    <a16:creationId xmlns:a16="http://schemas.microsoft.com/office/drawing/2014/main" id="{AE8408DC-619E-3F29-FECB-3E3CFF4770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5722" t="10958" r="8841" b="19178"/>
              <a:stretch/>
            </p:blipFill>
            <p:spPr>
              <a:xfrm>
                <a:off x="3429000" y="178500"/>
                <a:ext cx="1072346" cy="427263"/>
              </a:xfrm>
              <a:prstGeom prst="rect">
                <a:avLst/>
              </a:prstGeom>
            </p:spPr>
          </p:pic>
        </p:grpSp>
        <p:pic>
          <p:nvPicPr>
            <p:cNvPr id="4336" name="Picture 2" descr="Animaux Santé | Mutuelle Animaux">
              <a:extLst>
                <a:ext uri="{FF2B5EF4-FFF2-40B4-BE49-F238E27FC236}">
                  <a16:creationId xmlns:a16="http://schemas.microsoft.com/office/drawing/2014/main" id="{361F7FFE-81D3-3D12-6BA3-99D59427AC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2443" y="215944"/>
              <a:ext cx="1046194" cy="404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Image 1" descr="Comment contacter Inter Mutuelles Assistance ?">
            <a:hlinkClick r:id="rId6"/>
            <a:extLst>
              <a:ext uri="{FF2B5EF4-FFF2-40B4-BE49-F238E27FC236}">
                <a16:creationId xmlns:a16="http://schemas.microsoft.com/office/drawing/2014/main" id="{6C3C429E-D4DD-A3F6-9F65-97084FF701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25" r="4129" b="23858"/>
          <a:stretch>
            <a:fillRect/>
          </a:stretch>
        </p:blipFill>
        <p:spPr bwMode="auto">
          <a:xfrm>
            <a:off x="993948" y="977292"/>
            <a:ext cx="1463258" cy="81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3">
            <a:extLst>
              <a:ext uri="{FF2B5EF4-FFF2-40B4-BE49-F238E27FC236}">
                <a16:creationId xmlns:a16="http://schemas.microsoft.com/office/drawing/2014/main" id="{EF53C0B5-D19C-4E87-CAEC-CE1030409AED}"/>
              </a:ext>
            </a:extLst>
          </p:cNvPr>
          <p:cNvSpPr txBox="1"/>
          <p:nvPr/>
        </p:nvSpPr>
        <p:spPr>
          <a:xfrm>
            <a:off x="1999662" y="953601"/>
            <a:ext cx="46844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800" b="1" dirty="0">
                <a:solidFill>
                  <a:srgbClr val="0070C0"/>
                </a:solidFill>
              </a:rPr>
              <a:t>Pourquoi faire appel à l’assistance IMA ?</a:t>
            </a:r>
          </a:p>
        </p:txBody>
      </p:sp>
      <p:sp>
        <p:nvSpPr>
          <p:cNvPr id="4" name="ZoneTexte 11">
            <a:extLst>
              <a:ext uri="{FF2B5EF4-FFF2-40B4-BE49-F238E27FC236}">
                <a16:creationId xmlns:a16="http://schemas.microsoft.com/office/drawing/2014/main" id="{D349F6D9-4562-67DD-1521-7634934560E3}"/>
              </a:ext>
            </a:extLst>
          </p:cNvPr>
          <p:cNvSpPr txBox="1"/>
          <p:nvPr/>
        </p:nvSpPr>
        <p:spPr>
          <a:xfrm>
            <a:off x="956518" y="2696772"/>
            <a:ext cx="4910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En cas d’hospitalisation ou d’immobilisation, </a:t>
            </a:r>
          </a:p>
          <a:p>
            <a:pPr algn="ctr"/>
            <a:r>
              <a:rPr lang="fr-FR" b="1" dirty="0"/>
              <a:t>IMA vous propose gratuitement: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F3BA7294-BDDD-AFC6-7DFE-7E6AABD6FDB8}"/>
              </a:ext>
            </a:extLst>
          </p:cNvPr>
          <p:cNvGrpSpPr/>
          <p:nvPr/>
        </p:nvGrpSpPr>
        <p:grpSpPr>
          <a:xfrm>
            <a:off x="120105" y="3628345"/>
            <a:ext cx="6020613" cy="811475"/>
            <a:chOff x="400050" y="2786464"/>
            <a:chExt cx="6020613" cy="811475"/>
          </a:xfrm>
        </p:grpSpPr>
        <p:sp>
          <p:nvSpPr>
            <p:cNvPr id="6" name="ZoneTexte 12">
              <a:extLst>
                <a:ext uri="{FF2B5EF4-FFF2-40B4-BE49-F238E27FC236}">
                  <a16:creationId xmlns:a16="http://schemas.microsoft.com/office/drawing/2014/main" id="{4F598CA8-2B6D-38E6-C2A0-C8FF3D50AA82}"/>
                </a:ext>
              </a:extLst>
            </p:cNvPr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 l’aide à domicile: (ménage, repas, vaisselle, course à proximité</a:t>
              </a:r>
            </a:p>
          </p:txBody>
        </p:sp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5582EF84-5A8C-A118-824E-8FABD42A5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0050" y="2786464"/>
              <a:ext cx="591075" cy="811475"/>
            </a:xfrm>
            <a:prstGeom prst="rect">
              <a:avLst/>
            </a:prstGeom>
          </p:spPr>
        </p:pic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7F5FFC24-3FB2-9C4B-E515-EA6329342C79}"/>
              </a:ext>
            </a:extLst>
          </p:cNvPr>
          <p:cNvGrpSpPr/>
          <p:nvPr/>
        </p:nvGrpSpPr>
        <p:grpSpPr>
          <a:xfrm>
            <a:off x="831907" y="4596772"/>
            <a:ext cx="5639929" cy="878816"/>
            <a:chOff x="222327" y="3957748"/>
            <a:chExt cx="6053947" cy="878816"/>
          </a:xfrm>
        </p:grpSpPr>
        <p:sp>
          <p:nvSpPr>
            <p:cNvPr id="9" name="ZoneTexte 16">
              <a:extLst>
                <a:ext uri="{FF2B5EF4-FFF2-40B4-BE49-F238E27FC236}">
                  <a16:creationId xmlns:a16="http://schemas.microsoft.com/office/drawing/2014/main" id="{12BF76A7-3A28-C05C-DA2F-AC2CEE2168F6}"/>
                </a:ext>
              </a:extLst>
            </p:cNvPr>
            <p:cNvSpPr txBox="1"/>
            <p:nvPr/>
          </p:nvSpPr>
          <p:spPr>
            <a:xfrm>
              <a:off x="943701" y="4097900"/>
              <a:ext cx="533257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Des services de proximités: ( livraison des médicaments, Portage des repas, portage d’espèces, livraison des courses,…)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B64409C3-E9B4-C1D7-DE3A-84A106620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22327" y="3957748"/>
              <a:ext cx="768798" cy="662278"/>
            </a:xfrm>
            <a:prstGeom prst="rect">
              <a:avLst/>
            </a:prstGeom>
          </p:spPr>
        </p:pic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2725A8A4-8CE4-FE09-8C49-CA51B4C5817B}"/>
              </a:ext>
            </a:extLst>
          </p:cNvPr>
          <p:cNvGrpSpPr/>
          <p:nvPr/>
        </p:nvGrpSpPr>
        <p:grpSpPr>
          <a:xfrm>
            <a:off x="120105" y="5632575"/>
            <a:ext cx="6198819" cy="733785"/>
            <a:chOff x="222327" y="5188381"/>
            <a:chExt cx="6198819" cy="733785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00799D90-719D-0971-9A33-1C54A71DB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22327" y="5188381"/>
              <a:ext cx="836413" cy="733785"/>
            </a:xfrm>
            <a:prstGeom prst="rect">
              <a:avLst/>
            </a:prstGeom>
          </p:spPr>
        </p:pic>
        <p:sp>
          <p:nvSpPr>
            <p:cNvPr id="13" name="ZoneTexte 4480">
              <a:extLst>
                <a:ext uri="{FF2B5EF4-FFF2-40B4-BE49-F238E27FC236}">
                  <a16:creationId xmlns:a16="http://schemas.microsoft.com/office/drawing/2014/main" id="{58F608B4-DE1F-937E-F0BD-5CBE13109311}"/>
                </a:ext>
              </a:extLst>
            </p:cNvPr>
            <p:cNvSpPr txBox="1"/>
            <p:nvPr/>
          </p:nvSpPr>
          <p:spPr>
            <a:xfrm>
              <a:off x="1088573" y="5248670"/>
              <a:ext cx="533257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La prise en charge l’animal chez l’adhérant, par un pet Sitter </a:t>
              </a:r>
            </a:p>
            <a:p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 (Visite, promenade, garde, …)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105140DF-6FE6-81EB-2E9F-17882C0AAACF}"/>
              </a:ext>
            </a:extLst>
          </p:cNvPr>
          <p:cNvGrpSpPr/>
          <p:nvPr/>
        </p:nvGrpSpPr>
        <p:grpSpPr>
          <a:xfrm>
            <a:off x="956518" y="6583636"/>
            <a:ext cx="5781376" cy="613892"/>
            <a:chOff x="449887" y="6368680"/>
            <a:chExt cx="5781376" cy="613892"/>
          </a:xfrm>
        </p:grpSpPr>
        <p:sp>
          <p:nvSpPr>
            <p:cNvPr id="15" name="ZoneTexte 4507">
              <a:extLst>
                <a:ext uri="{FF2B5EF4-FFF2-40B4-BE49-F238E27FC236}">
                  <a16:creationId xmlns:a16="http://schemas.microsoft.com/office/drawing/2014/main" id="{1BF901BB-0FFD-41D4-19B9-0343B3B1556F}"/>
                </a:ext>
              </a:extLst>
            </p:cNvPr>
            <p:cNvSpPr txBox="1"/>
            <p:nvPr/>
          </p:nvSpPr>
          <p:spPr>
            <a:xfrm>
              <a:off x="1263374" y="6459352"/>
              <a:ext cx="49678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Transport post-hospitalisation: chez un proche, ou aux RDV médicaux</a:t>
              </a:r>
            </a:p>
          </p:txBody>
        </p:sp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9A6F4DC3-E9A1-D3B8-193B-826A084C6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49887" y="6368680"/>
              <a:ext cx="933972" cy="523220"/>
            </a:xfrm>
            <a:prstGeom prst="rect">
              <a:avLst/>
            </a:prstGeom>
          </p:spPr>
        </p:pic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1151B351-1985-748A-87BC-E6C3271C224E}"/>
              </a:ext>
            </a:extLst>
          </p:cNvPr>
          <p:cNvGrpSpPr/>
          <p:nvPr/>
        </p:nvGrpSpPr>
        <p:grpSpPr>
          <a:xfrm>
            <a:off x="338188" y="7397797"/>
            <a:ext cx="5980735" cy="762965"/>
            <a:chOff x="319683" y="6589531"/>
            <a:chExt cx="5980735" cy="762965"/>
          </a:xfrm>
        </p:grpSpPr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CE221DEA-0519-2A6F-9F5F-6AC0D97DB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19683" y="6589531"/>
              <a:ext cx="593986" cy="762965"/>
            </a:xfrm>
            <a:prstGeom prst="rect">
              <a:avLst/>
            </a:prstGeom>
          </p:spPr>
        </p:pic>
        <p:sp>
          <p:nvSpPr>
            <p:cNvPr id="19" name="ZoneTexte 2074">
              <a:extLst>
                <a:ext uri="{FF2B5EF4-FFF2-40B4-BE49-F238E27FC236}">
                  <a16:creationId xmlns:a16="http://schemas.microsoft.com/office/drawing/2014/main" id="{F28845FF-A1EC-6E94-AC8F-02BBBA2D6117}"/>
                </a:ext>
              </a:extLst>
            </p:cNvPr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Prise en charge des enfants: (déplacement d’un proche, transfert, garde, conduite à l’école, soutien scolaire, aide aux devoirs,…)</a:t>
              </a:r>
            </a:p>
          </p:txBody>
        </p:sp>
      </p:grpSp>
      <p:pic>
        <p:nvPicPr>
          <p:cNvPr id="20" name="Image 19">
            <a:extLst>
              <a:ext uri="{FF2B5EF4-FFF2-40B4-BE49-F238E27FC236}">
                <a16:creationId xmlns:a16="http://schemas.microsoft.com/office/drawing/2014/main" id="{8674688A-ED61-3EA8-2A07-EA62131237D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6350" y="8361030"/>
            <a:ext cx="728862" cy="819970"/>
          </a:xfrm>
          <a:prstGeom prst="rect">
            <a:avLst/>
          </a:prstGeom>
        </p:spPr>
      </p:pic>
      <p:sp>
        <p:nvSpPr>
          <p:cNvPr id="21" name="ZoneTexte 2077">
            <a:extLst>
              <a:ext uri="{FF2B5EF4-FFF2-40B4-BE49-F238E27FC236}">
                <a16:creationId xmlns:a16="http://schemas.microsoft.com/office/drawing/2014/main" id="{A8024FC4-32B6-A1D5-15DA-E75CF03CFD07}"/>
              </a:ext>
            </a:extLst>
          </p:cNvPr>
          <p:cNvSpPr txBox="1"/>
          <p:nvPr/>
        </p:nvSpPr>
        <p:spPr>
          <a:xfrm>
            <a:off x="1675618" y="8472132"/>
            <a:ext cx="50085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rgbClr val="161615"/>
                </a:solidFill>
                <a:latin typeface="Source Sans Pro" panose="020B0503030403020204" pitchFamily="34" charset="0"/>
              </a:rPr>
              <a:t>Prise en charge des ascendants: (déplacement d’un proche, transfert, garde,…)</a:t>
            </a:r>
          </a:p>
        </p:txBody>
      </p:sp>
    </p:spTree>
    <p:extLst>
      <p:ext uri="{BB962C8B-B14F-4D97-AF65-F5344CB8AC3E}">
        <p14:creationId xmlns:p14="http://schemas.microsoft.com/office/powerpoint/2010/main" val="4145812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D999A71-A2EA-55BE-76E9-A0C6AC18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>
            <a:extLst>
              <a:ext uri="{FF2B5EF4-FFF2-40B4-BE49-F238E27FC236}">
                <a16:creationId xmlns:a16="http://schemas.microsoft.com/office/drawing/2014/main" id="{4B457C99-CC4D-4D8F-889F-A86849551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34" name="Groupe 4333">
            <a:extLst>
              <a:ext uri="{FF2B5EF4-FFF2-40B4-BE49-F238E27FC236}">
                <a16:creationId xmlns:a16="http://schemas.microsoft.com/office/drawing/2014/main" id="{F78E8F32-90A8-114A-F828-A8603253A920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4335" name="Groupe 4334">
              <a:extLst>
                <a:ext uri="{FF2B5EF4-FFF2-40B4-BE49-F238E27FC236}">
                  <a16:creationId xmlns:a16="http://schemas.microsoft.com/office/drawing/2014/main" id="{FFF6E2E5-F4C3-21AA-5602-3FB6F440B8AB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4337" name="Rectangle : coins arrondis 4336">
                <a:extLst>
                  <a:ext uri="{FF2B5EF4-FFF2-40B4-BE49-F238E27FC236}">
                    <a16:creationId xmlns:a16="http://schemas.microsoft.com/office/drawing/2014/main" id="{EB8D3C3D-CBDC-2676-A076-B87EE546BA2A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600" b="1" dirty="0">
                    <a:solidFill>
                      <a:schemeClr val="tx1"/>
                    </a:solidFill>
                  </a:rPr>
                  <a:t>    VITALIA HOSPI+ </a:t>
                </a:r>
                <a:r>
                  <a:rPr lang="fr-FR" sz="1100" b="1" dirty="0">
                    <a:solidFill>
                      <a:schemeClr val="tx1"/>
                    </a:solidFill>
                  </a:rPr>
                  <a:t>FORMULE essentiel   </a:t>
                </a:r>
                <a:r>
                  <a:rPr lang="fr-FR" sz="1600" b="1" dirty="0">
                    <a:solidFill>
                      <a:schemeClr val="tx1"/>
                    </a:solidFill>
                  </a:rPr>
                  <a:t>by                            assuré par                                 </a:t>
                </a:r>
              </a:p>
            </p:txBody>
          </p:sp>
          <p:pic>
            <p:nvPicPr>
              <p:cNvPr id="4338" name="Image 4337">
                <a:extLst>
                  <a:ext uri="{FF2B5EF4-FFF2-40B4-BE49-F238E27FC236}">
                    <a16:creationId xmlns:a16="http://schemas.microsoft.com/office/drawing/2014/main" id="{FE494B2C-24F0-D3DE-1579-364559B167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5722" t="10958" r="8841" b="19178"/>
              <a:stretch/>
            </p:blipFill>
            <p:spPr>
              <a:xfrm>
                <a:off x="3429000" y="178500"/>
                <a:ext cx="1072346" cy="427263"/>
              </a:xfrm>
              <a:prstGeom prst="rect">
                <a:avLst/>
              </a:prstGeom>
            </p:spPr>
          </p:pic>
        </p:grpSp>
        <p:pic>
          <p:nvPicPr>
            <p:cNvPr id="4336" name="Picture 2" descr="Animaux Santé | Mutuelle Animaux">
              <a:extLst>
                <a:ext uri="{FF2B5EF4-FFF2-40B4-BE49-F238E27FC236}">
                  <a16:creationId xmlns:a16="http://schemas.microsoft.com/office/drawing/2014/main" id="{49631BED-D3EF-3D4D-A54B-1664A8765D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2443" y="215944"/>
              <a:ext cx="1046194" cy="404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2" name="ZoneTexte 1">
            <a:extLst>
              <a:ext uri="{FF2B5EF4-FFF2-40B4-BE49-F238E27FC236}">
                <a16:creationId xmlns:a16="http://schemas.microsoft.com/office/drawing/2014/main" id="{95BBB925-20E8-B604-9348-8D2A8B43F4B8}"/>
              </a:ext>
            </a:extLst>
          </p:cNvPr>
          <p:cNvSpPr txBox="1"/>
          <p:nvPr/>
        </p:nvSpPr>
        <p:spPr>
          <a:xfrm>
            <a:off x="1939650" y="1432443"/>
            <a:ext cx="46844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800" b="1" dirty="0">
                <a:solidFill>
                  <a:srgbClr val="0070C0"/>
                </a:solidFill>
              </a:rPr>
              <a:t>Pourquoi faire appel à La protection juridique CFDP ?</a:t>
            </a:r>
          </a:p>
        </p:txBody>
      </p:sp>
      <p:sp>
        <p:nvSpPr>
          <p:cNvPr id="23" name="ZoneTexte 4">
            <a:extLst>
              <a:ext uri="{FF2B5EF4-FFF2-40B4-BE49-F238E27FC236}">
                <a16:creationId xmlns:a16="http://schemas.microsoft.com/office/drawing/2014/main" id="{90E77E71-7B09-1158-79D2-F889022682F3}"/>
              </a:ext>
            </a:extLst>
          </p:cNvPr>
          <p:cNvSpPr txBox="1"/>
          <p:nvPr/>
        </p:nvSpPr>
        <p:spPr>
          <a:xfrm>
            <a:off x="626125" y="2857751"/>
            <a:ext cx="57184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En cas de litige ou de différend vous opposant à un tiers </a:t>
            </a:r>
          </a:p>
          <a:p>
            <a:r>
              <a:rPr lang="fr-FR" b="1" dirty="0"/>
              <a:t>et résultant d’un accident médical susceptible, </a:t>
            </a:r>
          </a:p>
          <a:p>
            <a:r>
              <a:rPr lang="fr-FR" b="1" dirty="0"/>
              <a:t>La CFDP met à votre disposition gratuitement: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F5954880-7F5E-7CDB-1C4B-4ADCD8D006EE}"/>
              </a:ext>
            </a:extLst>
          </p:cNvPr>
          <p:cNvGrpSpPr/>
          <p:nvPr/>
        </p:nvGrpSpPr>
        <p:grpSpPr>
          <a:xfrm>
            <a:off x="233863" y="4214223"/>
            <a:ext cx="5999299" cy="1253076"/>
            <a:chOff x="282356" y="3892553"/>
            <a:chExt cx="5999299" cy="1253076"/>
          </a:xfrm>
        </p:grpSpPr>
        <p:sp>
          <p:nvSpPr>
            <p:cNvPr id="25" name="ZoneTexte 13">
              <a:extLst>
                <a:ext uri="{FF2B5EF4-FFF2-40B4-BE49-F238E27FC236}">
                  <a16:creationId xmlns:a16="http://schemas.microsoft.com/office/drawing/2014/main" id="{D3312D19-5CC3-3F2F-499C-D150CF5BF5C9}"/>
                </a:ext>
              </a:extLst>
            </p:cNvPr>
            <p:cNvSpPr txBox="1"/>
            <p:nvPr/>
          </p:nvSpPr>
          <p:spPr>
            <a:xfrm>
              <a:off x="1817665" y="3976078"/>
              <a:ext cx="4463990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fr-FR" sz="1400" b="1" dirty="0">
                  <a:solidFill>
                    <a:srgbClr val="000000"/>
                  </a:solidFill>
                  <a:latin typeface="SourceSansPro-Bold"/>
                </a:rPr>
                <a:t>un service d’Assistance Juridique par téléphone</a:t>
              </a:r>
              <a:r>
                <a:rPr lang="fr-FR" sz="1400" dirty="0">
                  <a:solidFill>
                    <a:srgbClr val="000000"/>
                  </a:solidFill>
                  <a:latin typeface="SourceSansPro"/>
                </a:rPr>
                <a:t> qui répond aux questions </a:t>
              </a:r>
              <a:r>
                <a:rPr lang="fr-FR" sz="1400" b="1" dirty="0">
                  <a:solidFill>
                    <a:srgbClr val="000000"/>
                  </a:solidFill>
                  <a:latin typeface="SourceSansPro-Bold"/>
                </a:rPr>
                <a:t>d’ordre juridique </a:t>
              </a:r>
              <a:r>
                <a:rPr lang="fr-FR" sz="1400" dirty="0">
                  <a:solidFill>
                    <a:srgbClr val="000000"/>
                  </a:solidFill>
                  <a:latin typeface="SourceSansPro"/>
                </a:rPr>
                <a:t>que vous vous </a:t>
              </a:r>
              <a:r>
                <a:rPr lang="fr-FR" sz="1400" dirty="0"/>
                <a:t> </a:t>
              </a:r>
              <a:r>
                <a:rPr lang="fr-FR" sz="1400" dirty="0">
                  <a:solidFill>
                    <a:srgbClr val="000000"/>
                  </a:solidFill>
                  <a:latin typeface="SourceSansPro"/>
                </a:rPr>
                <a:t>posez, vous informe sur vos droits, vous apporte une aide </a:t>
              </a:r>
              <a:r>
                <a:rPr lang="fr-FR" sz="1400" dirty="0"/>
                <a:t> </a:t>
              </a:r>
              <a:r>
                <a:rPr lang="fr-FR" sz="1400" dirty="0">
                  <a:solidFill>
                    <a:srgbClr val="000000"/>
                  </a:solidFill>
                  <a:latin typeface="SourceSansPro"/>
                </a:rPr>
                <a:t>afin de prendre une décision et de trouver une solution à vos problèmes, </a:t>
              </a:r>
              <a:endParaRPr lang="fr-FR" sz="1400" dirty="0"/>
            </a:p>
          </p:txBody>
        </p:sp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0CCFA88C-6A81-79F7-C766-3FE6ACCF7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2356" y="3892553"/>
              <a:ext cx="1535008" cy="1213788"/>
            </a:xfrm>
            <a:prstGeom prst="rect">
              <a:avLst/>
            </a:prstGeom>
          </p:spPr>
        </p:pic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5ABF40D1-6898-9A8E-325F-98510A7E23BB}"/>
              </a:ext>
            </a:extLst>
          </p:cNvPr>
          <p:cNvGrpSpPr/>
          <p:nvPr/>
        </p:nvGrpSpPr>
        <p:grpSpPr>
          <a:xfrm>
            <a:off x="1196600" y="6122468"/>
            <a:ext cx="5242236" cy="923330"/>
            <a:chOff x="1295893" y="5584357"/>
            <a:chExt cx="5242236" cy="923330"/>
          </a:xfrm>
        </p:grpSpPr>
        <p:sp>
          <p:nvSpPr>
            <p:cNvPr id="28" name="ZoneTexte 19">
              <a:extLst>
                <a:ext uri="{FF2B5EF4-FFF2-40B4-BE49-F238E27FC236}">
                  <a16:creationId xmlns:a16="http://schemas.microsoft.com/office/drawing/2014/main" id="{5C96AE96-2C81-0924-312C-5F483B435B9B}"/>
                </a:ext>
              </a:extLst>
            </p:cNvPr>
            <p:cNvSpPr txBox="1"/>
            <p:nvPr/>
          </p:nvSpPr>
          <p:spPr>
            <a:xfrm>
              <a:off x="2654300" y="5640155"/>
              <a:ext cx="3883829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fr-FR" sz="1400" b="1" dirty="0">
                  <a:solidFill>
                    <a:srgbClr val="000000"/>
                  </a:solidFill>
                  <a:latin typeface="SourceSansPro-Bold"/>
                </a:rPr>
                <a:t>un service d’Assistance Juridique</a:t>
              </a:r>
              <a:r>
                <a:rPr lang="fr-FR" sz="1400" dirty="0">
                  <a:solidFill>
                    <a:srgbClr val="000000"/>
                  </a:solidFill>
                  <a:latin typeface="SourceSansPro"/>
                </a:rPr>
                <a:t> sur rendez-vous </a:t>
              </a:r>
              <a:endParaRPr lang="fr-FR" sz="1400" dirty="0"/>
            </a:p>
            <a:p>
              <a:pPr>
                <a:buNone/>
              </a:pPr>
              <a:r>
                <a:rPr lang="fr-FR" sz="1400" dirty="0">
                  <a:solidFill>
                    <a:srgbClr val="000000"/>
                  </a:solidFill>
                  <a:latin typeface="SourceSansPro"/>
                </a:rPr>
                <a:t>lorsqu’un examen particulier de votre situation est nécessaire</a:t>
              </a:r>
              <a:endParaRPr lang="fr-FR" sz="1400" dirty="0"/>
            </a:p>
          </p:txBody>
        </p:sp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4EB6455D-1106-A7B6-CF70-334A39947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95893" y="5584357"/>
              <a:ext cx="1358407" cy="923330"/>
            </a:xfrm>
            <a:prstGeom prst="rect">
              <a:avLst/>
            </a:prstGeom>
          </p:spPr>
        </p:pic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8D1EE86D-E945-4DFE-8C6E-3FDA94427150}"/>
              </a:ext>
            </a:extLst>
          </p:cNvPr>
          <p:cNvGrpSpPr/>
          <p:nvPr/>
        </p:nvGrpSpPr>
        <p:grpSpPr>
          <a:xfrm>
            <a:off x="291312" y="7700968"/>
            <a:ext cx="5815469" cy="954107"/>
            <a:chOff x="352505" y="7329255"/>
            <a:chExt cx="5815469" cy="954107"/>
          </a:xfrm>
        </p:grpSpPr>
        <p:sp>
          <p:nvSpPr>
            <p:cNvPr id="31" name="ZoneTexte 22">
              <a:extLst>
                <a:ext uri="{FF2B5EF4-FFF2-40B4-BE49-F238E27FC236}">
                  <a16:creationId xmlns:a16="http://schemas.microsoft.com/office/drawing/2014/main" id="{B2B6BD68-C0D5-7F28-7DAA-383E8F5F319E}"/>
                </a:ext>
              </a:extLst>
            </p:cNvPr>
            <p:cNvSpPr txBox="1"/>
            <p:nvPr/>
          </p:nvSpPr>
          <p:spPr>
            <a:xfrm>
              <a:off x="1830064" y="7329255"/>
              <a:ext cx="4337910" cy="953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fr-FR" sz="1400" b="1" dirty="0">
                  <a:solidFill>
                    <a:srgbClr val="000000"/>
                  </a:solidFill>
                  <a:latin typeface="SourceSansPro-Bold"/>
                </a:rPr>
                <a:t>un service de gestion des sinistres </a:t>
              </a:r>
              <a:r>
                <a:rPr lang="fr-FR" sz="1400" dirty="0">
                  <a:solidFill>
                    <a:srgbClr val="000000"/>
                  </a:solidFill>
                  <a:latin typeface="SourceSansPro"/>
                </a:rPr>
                <a:t>qui prend les mesures utiles afin de faire valoir vos droits à </a:t>
              </a: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l’amiable </a:t>
              </a:r>
              <a:r>
                <a:rPr lang="fr-FR" sz="1400" dirty="0">
                  <a:solidFill>
                    <a:srgbClr val="000000"/>
                  </a:solidFill>
                  <a:latin typeface="SourceSansPro"/>
                </a:rPr>
                <a:t>et, au besoin, vous donne les moyens d’en poursuivre l’exercice en justice</a:t>
              </a:r>
              <a:endParaRPr lang="fr-FR" sz="1400" dirty="0"/>
            </a:p>
          </p:txBody>
        </p:sp>
        <p:pic>
          <p:nvPicPr>
            <p:cNvPr id="4512" name="Image 4511">
              <a:extLst>
                <a:ext uri="{FF2B5EF4-FFF2-40B4-BE49-F238E27FC236}">
                  <a16:creationId xmlns:a16="http://schemas.microsoft.com/office/drawing/2014/main" id="{F66221BA-8759-A4B8-E8E3-E7D11B9A9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2505" y="7458293"/>
              <a:ext cx="1477559" cy="825069"/>
            </a:xfrm>
            <a:prstGeom prst="rect">
              <a:avLst/>
            </a:prstGeom>
          </p:spPr>
        </p:pic>
      </p:grpSp>
      <p:pic>
        <p:nvPicPr>
          <p:cNvPr id="4513" name="Image 4512">
            <a:extLst>
              <a:ext uri="{FF2B5EF4-FFF2-40B4-BE49-F238E27FC236}">
                <a16:creationId xmlns:a16="http://schemas.microsoft.com/office/drawing/2014/main" id="{9D4BCDFF-76A1-D416-3419-C738642BC5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455" y="1357599"/>
            <a:ext cx="1769195" cy="97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6525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1616</TotalTime>
  <Words>547</Words>
  <Application>Microsoft Office PowerPoint</Application>
  <PresentationFormat>Format A4 (210 x 297 mm)</PresentationFormat>
  <Paragraphs>62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2" baseType="lpstr">
      <vt:lpstr>Arial</vt:lpstr>
      <vt:lpstr>Calibri</vt:lpstr>
      <vt:lpstr>Calibri Light</vt:lpstr>
      <vt:lpstr>Source Sans Pro</vt:lpstr>
      <vt:lpstr>SourceSansPro</vt:lpstr>
      <vt:lpstr>SourceSansPro-Bold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Aurelie Racamier</dc:creator>
  <cp:lastModifiedBy>SOFIANE DEKKAK</cp:lastModifiedBy>
  <cp:revision>71</cp:revision>
  <cp:lastPrinted>2024-03-26T10:36:48Z</cp:lastPrinted>
  <dcterms:created xsi:type="dcterms:W3CDTF">2018-01-12T04:36:24Z</dcterms:created>
  <dcterms:modified xsi:type="dcterms:W3CDTF">2025-09-16T09:40:02Z</dcterms:modified>
</cp:coreProperties>
</file>