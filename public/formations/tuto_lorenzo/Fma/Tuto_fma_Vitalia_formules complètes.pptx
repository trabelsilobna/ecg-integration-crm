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AI7g8Un14Z/weBMA9XweBn/sl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6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9'!A1" TargetMode="External"/><Relationship Id="rId10" Type="http://schemas.openxmlformats.org/officeDocument/2006/relationships/image" Target="../media/image21.jpg"/><Relationship Id="rId13" Type="http://schemas.openxmlformats.org/officeDocument/2006/relationships/image" Target="../media/image3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5" Type="http://schemas.openxmlformats.org/officeDocument/2006/relationships/hyperlink" Target="#'6'!A1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15.jp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.png"/><Relationship Id="rId13" Type="http://schemas.openxmlformats.org/officeDocument/2006/relationships/image" Target="../media/image30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hyperlink" Target="#'9'!A1" TargetMode="External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6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9" Type="http://schemas.openxmlformats.org/officeDocument/2006/relationships/image" Target="../media/image6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-117566" y="918463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6 niveaux de garanties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2" name="Google Shape;92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3" name="Google Shape;93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2461807" y="3302726"/>
            <a:ext cx="3759200" cy="1463934"/>
            <a:chOff x="2841625" y="4500433"/>
            <a:chExt cx="3759200" cy="1463934"/>
          </a:xfrm>
        </p:grpSpPr>
        <p:sp>
          <p:nvSpPr>
            <p:cNvPr id="96" name="Google Shape;96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97" name="Google Shape;97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98" name="Google Shape;98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99" name="Google Shape;99;p14"/>
              <p:cNvPicPr preferRelativeResize="0"/>
              <p:nvPr/>
            </p:nvPicPr>
            <p:blipFill rotWithShape="1">
              <a:blip r:embed="rId4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0" name="Google Shape;100;p14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79463" y="4884143"/>
              <a:ext cx="1607012" cy="6534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4"/>
          <p:cNvSpPr/>
          <p:nvPr/>
        </p:nvSpPr>
        <p:spPr>
          <a:xfrm>
            <a:off x="1985637" y="7440858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14"/>
          <p:cNvGrpSpPr/>
          <p:nvPr/>
        </p:nvGrpSpPr>
        <p:grpSpPr>
          <a:xfrm>
            <a:off x="2061514" y="7695895"/>
            <a:ext cx="976837" cy="1010393"/>
            <a:chOff x="1963799" y="8142480"/>
            <a:chExt cx="976837" cy="1010393"/>
          </a:xfrm>
        </p:grpSpPr>
        <p:sp>
          <p:nvSpPr>
            <p:cNvPr id="103" name="Google Shape;103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04" name="Google Shape;104;p14"/>
            <p:cNvPicPr preferRelativeResize="0"/>
            <p:nvPr/>
          </p:nvPicPr>
          <p:blipFill rotWithShape="1">
            <a:blip r:embed="rId7">
              <a:alphaModFix/>
            </a:blip>
            <a:srcRect b="29438" l="4034" r="4386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4"/>
          <p:cNvSpPr/>
          <p:nvPr/>
        </p:nvSpPr>
        <p:spPr>
          <a:xfrm>
            <a:off x="-392704" y="2135826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 ans et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sans limite d’âge</a:t>
            </a:r>
            <a:endParaRPr/>
          </a:p>
        </p:txBody>
      </p:sp>
      <p:grpSp>
        <p:nvGrpSpPr>
          <p:cNvPr id="106" name="Google Shape;106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07" name="Google Shape;107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08" name="Google Shape;108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  assuré par                                 </a:t>
                </a:r>
                <a:endParaRPr/>
              </a:p>
            </p:txBody>
          </p:sp>
          <p:pic>
            <p:nvPicPr>
              <p:cNvPr id="109" name="Google Shape;109;p14"/>
              <p:cNvPicPr preferRelativeResize="0"/>
              <p:nvPr/>
            </p:nvPicPr>
            <p:blipFill rotWithShape="1">
              <a:blip r:embed="rId8">
                <a:alphaModFix/>
              </a:blip>
              <a:srcRect b="19177" l="15722" r="8841" t="10958"/>
              <a:stretch/>
            </p:blipFill>
            <p:spPr>
              <a:xfrm>
                <a:off x="31937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10" name="Google Shape;110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nimaux Santé | Mutuelle Animaux"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87800" y="1720193"/>
            <a:ext cx="1511989" cy="58417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/>
          <p:nvPr/>
        </p:nvSpPr>
        <p:spPr>
          <a:xfrm>
            <a:off x="2520045" y="5401805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 u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0" lang="fr-F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14"/>
          <p:cNvGrpSpPr/>
          <p:nvPr/>
        </p:nvGrpSpPr>
        <p:grpSpPr>
          <a:xfrm>
            <a:off x="2600991" y="5646566"/>
            <a:ext cx="976837" cy="1010393"/>
            <a:chOff x="2566518" y="6340968"/>
            <a:chExt cx="976837" cy="1010393"/>
          </a:xfrm>
        </p:grpSpPr>
        <p:sp>
          <p:nvSpPr>
            <p:cNvPr id="114" name="Google Shape;114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15" name="Google Shape;115;p14"/>
            <p:cNvPicPr preferRelativeResize="0"/>
            <p:nvPr/>
          </p:nvPicPr>
          <p:blipFill rotWithShape="1">
            <a:blip r:embed="rId10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16" name="Google Shape;116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23857" l="0" r="4129" t="28225"/>
          <a:stretch/>
        </p:blipFill>
        <p:spPr>
          <a:xfrm>
            <a:off x="4437950" y="5707009"/>
            <a:ext cx="1308959" cy="72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22116" y="7948055"/>
            <a:ext cx="955057" cy="5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48343" y="2133601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Formules renforcées ou recentrées sur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postes clés pour couvrir tous les besoins &amp; budgets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29746" y="305446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353705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8343" y="4184096"/>
            <a:ext cx="6198508" cy="27827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Aucun délai d’attente sur les formules Santé 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29746" y="5824510"/>
            <a:ext cx="6198508" cy="103028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Tiers payant Almerys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les soins courants, optique, vignettes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pharmacie, laboratoires, radiologies, auxiliaires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médicaux…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29746" y="4554486"/>
            <a:ext cx="6198508" cy="27827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29746" y="4927029"/>
            <a:ext cx="6198508" cy="80321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forfait médecines douces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ostéopathie, chiropractie,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étiopathie, homéopathie, podologie, pédicure, diététicien,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naturopathe, acupuncture.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48343" y="6949440"/>
            <a:ext cx="6198508" cy="96976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Garantie Biens santé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Couvre le montant des réparations ou coût du remplacement des équipements optiques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cas de dommage accidentel</a:t>
            </a:r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1" name="Google Shape;131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FMA </a:t>
              </a:r>
              <a:r>
                <a:rPr b="1" lang="fr-F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Vitalia formule complète </a:t>
              </a: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pic>
          <p:nvPicPr>
            <p:cNvPr descr="Bonne idée - Icônes commercialisation gratuites" id="132" name="Google Shape;13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" name="Google Shape;133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4" name="Google Shape;134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5" name="Google Shape;135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  assuré par                                 </a:t>
                </a:r>
                <a:endParaRPr/>
              </a:p>
            </p:txBody>
          </p:sp>
          <p:pic>
            <p:nvPicPr>
              <p:cNvPr id="136" name="Google Shape;136;p15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1937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37" name="Google Shape;137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15"/>
          <p:cNvSpPr/>
          <p:nvPr/>
        </p:nvSpPr>
        <p:spPr>
          <a:xfrm>
            <a:off x="348343" y="8073999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45" name="Google Shape;145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46" name="Google Shape;146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  assuré par                                 </a:t>
                </a:r>
                <a:endParaRPr/>
              </a:p>
            </p:txBody>
          </p:sp>
          <p:pic>
            <p:nvPicPr>
              <p:cNvPr id="147" name="Google Shape;147;p16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1937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48" name="Google Shape;148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49" name="Google Shape;149;p1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23857" l="0" r="4129" t="28225"/>
          <a:stretch/>
        </p:blipFill>
        <p:spPr>
          <a:xfrm>
            <a:off x="993948" y="977292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1999662" y="953601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56518" y="269677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152" name="Google Shape;152;p16"/>
          <p:cNvGrpSpPr/>
          <p:nvPr/>
        </p:nvGrpSpPr>
        <p:grpSpPr>
          <a:xfrm>
            <a:off x="120105" y="3628345"/>
            <a:ext cx="6020613" cy="811475"/>
            <a:chOff x="400050" y="2786464"/>
            <a:chExt cx="6020613" cy="811475"/>
          </a:xfrm>
        </p:grpSpPr>
        <p:sp>
          <p:nvSpPr>
            <p:cNvPr id="153" name="Google Shape;153;p16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54" name="Google Shape;154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16"/>
          <p:cNvGrpSpPr/>
          <p:nvPr/>
        </p:nvGrpSpPr>
        <p:grpSpPr>
          <a:xfrm>
            <a:off x="831907" y="4596772"/>
            <a:ext cx="5639929" cy="878816"/>
            <a:chOff x="222327" y="3957748"/>
            <a:chExt cx="6053947" cy="878816"/>
          </a:xfrm>
        </p:grpSpPr>
        <p:sp>
          <p:nvSpPr>
            <p:cNvPr id="156" name="Google Shape;156;p16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16"/>
          <p:cNvGrpSpPr/>
          <p:nvPr/>
        </p:nvGrpSpPr>
        <p:grpSpPr>
          <a:xfrm>
            <a:off x="120105" y="5632575"/>
            <a:ext cx="6198819" cy="733785"/>
            <a:chOff x="222327" y="5188381"/>
            <a:chExt cx="6198819" cy="733785"/>
          </a:xfrm>
        </p:grpSpPr>
        <p:pic>
          <p:nvPicPr>
            <p:cNvPr id="159" name="Google Shape;159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6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161" name="Google Shape;161;p16"/>
          <p:cNvGrpSpPr/>
          <p:nvPr/>
        </p:nvGrpSpPr>
        <p:grpSpPr>
          <a:xfrm>
            <a:off x="956518" y="6583636"/>
            <a:ext cx="5781376" cy="613892"/>
            <a:chOff x="449887" y="6368680"/>
            <a:chExt cx="5781376" cy="613892"/>
          </a:xfrm>
        </p:grpSpPr>
        <p:sp>
          <p:nvSpPr>
            <p:cNvPr id="162" name="Google Shape;162;p16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163" name="Google Shape;163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16"/>
          <p:cNvGrpSpPr/>
          <p:nvPr/>
        </p:nvGrpSpPr>
        <p:grpSpPr>
          <a:xfrm>
            <a:off x="338188" y="7397797"/>
            <a:ext cx="5980735" cy="762965"/>
            <a:chOff x="319683" y="6589531"/>
            <a:chExt cx="5980735" cy="762965"/>
          </a:xfrm>
        </p:grpSpPr>
        <p:pic>
          <p:nvPicPr>
            <p:cNvPr id="165" name="Google Shape;165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6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pic>
        <p:nvPicPr>
          <p:cNvPr id="167" name="Google Shape;167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6350" y="8361030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1675618" y="8472132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lang="fr-FR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5" name="Google Shape;175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76" name="Google Shape;176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  assuré par                                 </a:t>
                </a:r>
                <a:endParaRPr/>
              </a:p>
            </p:txBody>
          </p:sp>
          <p:pic>
            <p:nvPicPr>
              <p:cNvPr id="177" name="Google Shape;177;p17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1937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78" name="Google Shape;178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17"/>
          <p:cNvSpPr txBox="1"/>
          <p:nvPr/>
        </p:nvSpPr>
        <p:spPr>
          <a:xfrm>
            <a:off x="1939650" y="1432443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CFDP ?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26125" y="2857751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CFDP met à votre disposition gratuitement:</a:t>
            </a:r>
            <a:endParaRPr/>
          </a:p>
        </p:txBody>
      </p:sp>
      <p:grpSp>
        <p:nvGrpSpPr>
          <p:cNvPr id="181" name="Google Shape;181;p17"/>
          <p:cNvGrpSpPr/>
          <p:nvPr/>
        </p:nvGrpSpPr>
        <p:grpSpPr>
          <a:xfrm>
            <a:off x="233863" y="4214223"/>
            <a:ext cx="5999299" cy="1253076"/>
            <a:chOff x="282356" y="3892553"/>
            <a:chExt cx="5999299" cy="1253076"/>
          </a:xfrm>
        </p:grpSpPr>
        <p:sp>
          <p:nvSpPr>
            <p:cNvPr id="182" name="Google Shape;182;p17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3" name="Google Shape;183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p17"/>
          <p:cNvGrpSpPr/>
          <p:nvPr/>
        </p:nvGrpSpPr>
        <p:grpSpPr>
          <a:xfrm>
            <a:off x="1196600" y="6122468"/>
            <a:ext cx="5242236" cy="923330"/>
            <a:chOff x="1295893" y="5584357"/>
            <a:chExt cx="5242236" cy="923330"/>
          </a:xfrm>
        </p:grpSpPr>
        <p:sp>
          <p:nvSpPr>
            <p:cNvPr id="185" name="Google Shape;185;p17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6" name="Google Shape;186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17"/>
          <p:cNvGrpSpPr/>
          <p:nvPr/>
        </p:nvGrpSpPr>
        <p:grpSpPr>
          <a:xfrm>
            <a:off x="291312" y="7700968"/>
            <a:ext cx="5815469" cy="954107"/>
            <a:chOff x="352505" y="7329255"/>
            <a:chExt cx="5815469" cy="954107"/>
          </a:xfrm>
        </p:grpSpPr>
        <p:sp>
          <p:nvSpPr>
            <p:cNvPr id="188" name="Google Shape;188;p17"/>
            <p:cNvSpPr txBox="1"/>
            <p:nvPr/>
          </p:nvSpPr>
          <p:spPr>
            <a:xfrm>
              <a:off x="1830064" y="7329255"/>
              <a:ext cx="4337910" cy="95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l’amiable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9" name="Google Shape;189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" name="Google Shape;19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0455" y="1357599"/>
            <a:ext cx="1769195" cy="972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196" name="Google Shape;196;p18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04" name="Google Shape;204;p18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18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18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09" name="Google Shape;209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10" name="Google Shape;210;p1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11" name="Google Shape;211;p1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  assuré par                                 </a:t>
                </a:r>
                <a:endParaRPr/>
              </a:p>
            </p:txBody>
          </p:sp>
          <p:pic>
            <p:nvPicPr>
              <p:cNvPr id="212" name="Google Shape;212;p18"/>
              <p:cNvPicPr preferRelativeResize="0"/>
              <p:nvPr/>
            </p:nvPicPr>
            <p:blipFill rotWithShape="1">
              <a:blip r:embed="rId6">
                <a:alphaModFix/>
              </a:blip>
              <a:srcRect b="19177" l="15722" r="8841" t="10958"/>
              <a:stretch/>
            </p:blipFill>
            <p:spPr>
              <a:xfrm>
                <a:off x="31937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213" name="Google Shape;213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18" name="Google Shape;2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9" name="Google Shape;219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1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25" name="Google Shape;225;p19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26" name="Google Shape;226;p19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VITALIA </a:t>
                </a:r>
                <a:r>
                  <a:rPr b="1" lang="fr-FR" sz="1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  assuré par                                 </a:t>
                </a:r>
                <a:endParaRPr/>
              </a:p>
            </p:txBody>
          </p:sp>
          <p:pic>
            <p:nvPicPr>
              <p:cNvPr id="227" name="Google Shape;227;p19"/>
              <p:cNvPicPr preferRelativeResize="0"/>
              <p:nvPr/>
            </p:nvPicPr>
            <p:blipFill rotWithShape="1">
              <a:blip r:embed="rId9">
                <a:alphaModFix/>
              </a:blip>
              <a:srcRect b="19177" l="15722" r="8841" t="10958"/>
              <a:stretch/>
            </p:blipFill>
            <p:spPr>
              <a:xfrm>
                <a:off x="3193715" y="215945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228" name="Google Shape;228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