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9906000" cx="6858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20">
          <p15:clr>
            <a:srgbClr val="A4A3A4"/>
          </p15:clr>
        </p15:guide>
        <p15:guide id="2" pos="2160">
          <p15:clr>
            <a:srgbClr val="A4A3A4"/>
          </p15:clr>
        </p15:guide>
      </p15:sldGuideLst>
    </p:ext>
    <p:ext uri="GoogleSlidesCustomDataVersion2">
      <go:slidesCustomData xmlns:go="http://customooxmlschemas.google.com/" r:id="rId13" roundtripDataSignature="AMtx7mir8j4APXPd5K/A+EPzWc/o4vFO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2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3508"/>
          </a:xfrm>
          <a:prstGeom prst="rect">
            <a:avLst/>
          </a:prstGeom>
          <a:noFill/>
          <a:ln>
            <a:noFill/>
          </a:ln>
        </p:spPr>
        <p:txBody>
          <a:bodyPr anchorCtr="0" anchor="t"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3992" y="0"/>
            <a:ext cx="3078427" cy="513508"/>
          </a:xfrm>
          <a:prstGeom prst="rect">
            <a:avLst/>
          </a:prstGeom>
          <a:noFill/>
          <a:ln>
            <a:noFill/>
          </a:ln>
        </p:spPr>
        <p:txBody>
          <a:bodyPr anchorCtr="0" anchor="t" bIns="49500" lIns="99050" spcFirstLastPara="1" rIns="99050" wrap="square" tIns="49500">
            <a:noAutofit/>
          </a:bodyPr>
          <a:lstStyle>
            <a:lvl1pPr lvl="0" marR="0" rtl="0" algn="r">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1107"/>
            <a:ext cx="3078427" cy="513507"/>
          </a:xfrm>
          <a:prstGeom prst="rect">
            <a:avLst/>
          </a:prstGeom>
          <a:noFill/>
          <a:ln>
            <a:noFill/>
          </a:ln>
        </p:spPr>
        <p:txBody>
          <a:bodyPr anchorCtr="0" anchor="b"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3992" y="9721107"/>
            <a:ext cx="3078427" cy="513507"/>
          </a:xfrm>
          <a:prstGeom prst="rect">
            <a:avLst/>
          </a:prstGeom>
          <a:noFill/>
          <a:ln>
            <a:noFill/>
          </a:ln>
        </p:spPr>
        <p:txBody>
          <a:bodyPr anchorCtr="0" anchor="b" bIns="49500" lIns="99050" spcFirstLastPara="1" rIns="99050" wrap="square" tIns="49500">
            <a:noAutofit/>
          </a:bodyPr>
          <a:lstStyle/>
          <a:p>
            <a:pPr indent="0" lvl="0" marL="0" marR="0" rtl="0" algn="r">
              <a:spcBef>
                <a:spcPts val="0"/>
              </a:spcBef>
              <a:spcAft>
                <a:spcPts val="0"/>
              </a:spcAft>
              <a:buNone/>
            </a:pPr>
            <a:fld id="{00000000-1234-1234-1234-123412341234}" type="slidenum">
              <a:rPr b="0" i="0" lang="fr-FR"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4: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86" name="Google Shape;86;p14: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5: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rPr lang="fr-FR"/>
              <a:t> </a:t>
            </a:r>
            <a:endParaRPr/>
          </a:p>
        </p:txBody>
      </p:sp>
      <p:sp>
        <p:nvSpPr>
          <p:cNvPr id="118" name="Google Shape;118;p15: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ce87faa04_0_0:notes"/>
          <p:cNvSpPr/>
          <p:nvPr>
            <p:ph idx="2" type="sldImg"/>
          </p:nvPr>
        </p:nvSpPr>
        <p:spPr>
          <a:xfrm>
            <a:off x="2357438" y="1279525"/>
            <a:ext cx="2389200" cy="34545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ce87faa04_0_0:notes"/>
          <p:cNvSpPr txBox="1"/>
          <p:nvPr>
            <p:ph idx="1" type="body"/>
          </p:nvPr>
        </p:nvSpPr>
        <p:spPr>
          <a:xfrm>
            <a:off x="710407" y="4925407"/>
            <a:ext cx="5683200" cy="4029900"/>
          </a:xfrm>
          <a:prstGeom prst="rect">
            <a:avLst/>
          </a:prstGeom>
        </p:spPr>
        <p:txBody>
          <a:bodyPr anchorCtr="0" anchor="t" bIns="49500" lIns="99050" spcFirstLastPara="1" rIns="99050" wrap="square" tIns="49500">
            <a:noAutofit/>
          </a:bodyPr>
          <a:lstStyle/>
          <a:p>
            <a:pPr indent="0" lvl="0" marL="0" rtl="0" algn="l">
              <a:spcBef>
                <a:spcPts val="0"/>
              </a:spcBef>
              <a:spcAft>
                <a:spcPts val="0"/>
              </a:spcAft>
              <a:buNone/>
            </a:pPr>
            <a:r>
              <a:t/>
            </a:r>
            <a:endParaRPr/>
          </a:p>
        </p:txBody>
      </p:sp>
      <p:sp>
        <p:nvSpPr>
          <p:cNvPr id="139" name="Google Shape;139;g3cce87faa04_0_0:notes"/>
          <p:cNvSpPr txBox="1"/>
          <p:nvPr>
            <p:ph idx="12" type="sldNum"/>
          </p:nvPr>
        </p:nvSpPr>
        <p:spPr>
          <a:xfrm>
            <a:off x="4023992" y="9721107"/>
            <a:ext cx="3078300" cy="513600"/>
          </a:xfrm>
          <a:prstGeom prst="rect">
            <a:avLst/>
          </a:prstGeom>
        </p:spPr>
        <p:txBody>
          <a:bodyPr anchorCtr="0" anchor="b" bIns="49500" lIns="99050" spcFirstLastPara="1" rIns="99050" wrap="square" tIns="495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6: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44" name="Google Shape;144;p16: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7: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67" name="Google Shape;167;p17: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91" name="Google Shape;191;p18: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213" name="Google Shape;213;p19: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5" name="Shape 15"/>
        <p:cNvGrpSpPr/>
        <p:nvPr/>
      </p:nvGrpSpPr>
      <p:grpSpPr>
        <a:xfrm>
          <a:off x="0" y="0"/>
          <a:ext cx="0" cy="0"/>
          <a:chOff x="0" y="0"/>
          <a:chExt cx="0" cy="0"/>
        </a:xfrm>
      </p:grpSpPr>
      <p:sp>
        <p:nvSpPr>
          <p:cNvPr id="16" name="Google Shape;16;p21"/>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20" name="Shape 20"/>
        <p:cNvGrpSpPr/>
        <p:nvPr/>
      </p:nvGrpSpPr>
      <p:grpSpPr>
        <a:xfrm>
          <a:off x="0" y="0"/>
          <a:ext cx="0" cy="0"/>
          <a:chOff x="0" y="0"/>
          <a:chExt cx="0" cy="0"/>
        </a:xfrm>
      </p:grpSpPr>
      <p:sp>
        <p:nvSpPr>
          <p:cNvPr id="21" name="Google Shape;21;p22"/>
          <p:cNvSpPr txBox="1"/>
          <p:nvPr>
            <p:ph type="ctrTitle"/>
          </p:nvPr>
        </p:nvSpPr>
        <p:spPr>
          <a:xfrm>
            <a:off x="857250" y="1621191"/>
            <a:ext cx="51435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2"/>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563"/>
              </a:spcBef>
              <a:spcAft>
                <a:spcPts val="0"/>
              </a:spcAft>
              <a:buClr>
                <a:schemeClr val="dk1"/>
              </a:buClr>
              <a:buSzPts val="1350"/>
              <a:buNone/>
              <a:defRPr sz="1350"/>
            </a:lvl1pPr>
            <a:lvl2pPr lvl="1" algn="ctr">
              <a:lnSpc>
                <a:spcPct val="90000"/>
              </a:lnSpc>
              <a:spcBef>
                <a:spcPts val="281"/>
              </a:spcBef>
              <a:spcAft>
                <a:spcPts val="0"/>
              </a:spcAft>
              <a:buClr>
                <a:schemeClr val="dk1"/>
              </a:buClr>
              <a:buSzPts val="1125"/>
              <a:buNone/>
              <a:defRPr sz="1125"/>
            </a:lvl2pPr>
            <a:lvl3pPr lvl="2" algn="ctr">
              <a:lnSpc>
                <a:spcPct val="90000"/>
              </a:lnSpc>
              <a:spcBef>
                <a:spcPts val="281"/>
              </a:spcBef>
              <a:spcAft>
                <a:spcPts val="0"/>
              </a:spcAft>
              <a:buClr>
                <a:schemeClr val="dk1"/>
              </a:buClr>
              <a:buSzPts val="1013"/>
              <a:buNone/>
              <a:defRPr sz="1013"/>
            </a:lvl3pPr>
            <a:lvl4pPr lvl="3" algn="ctr">
              <a:lnSpc>
                <a:spcPct val="90000"/>
              </a:lnSpc>
              <a:spcBef>
                <a:spcPts val="281"/>
              </a:spcBef>
              <a:spcAft>
                <a:spcPts val="0"/>
              </a:spcAft>
              <a:buClr>
                <a:schemeClr val="dk1"/>
              </a:buClr>
              <a:buSzPts val="900"/>
              <a:buNone/>
              <a:defRPr sz="900"/>
            </a:lvl4pPr>
            <a:lvl5pPr lvl="4" algn="ctr">
              <a:lnSpc>
                <a:spcPct val="90000"/>
              </a:lnSpc>
              <a:spcBef>
                <a:spcPts val="281"/>
              </a:spcBef>
              <a:spcAft>
                <a:spcPts val="0"/>
              </a:spcAft>
              <a:buClr>
                <a:schemeClr val="dk1"/>
              </a:buClr>
              <a:buSzPts val="90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p:txBody>
      </p:sp>
      <p:sp>
        <p:nvSpPr>
          <p:cNvPr id="23" name="Google Shape;23;p22"/>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2"/>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6" name="Shape 26"/>
        <p:cNvGrpSpPr/>
        <p:nvPr/>
      </p:nvGrpSpPr>
      <p:grpSpPr>
        <a:xfrm>
          <a:off x="0" y="0"/>
          <a:ext cx="0" cy="0"/>
          <a:chOff x="0" y="0"/>
          <a:chExt cx="0" cy="0"/>
        </a:xfrm>
      </p:grpSpPr>
      <p:sp>
        <p:nvSpPr>
          <p:cNvPr id="27" name="Google Shape;27;p23"/>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29" name="Google Shape;29;p23"/>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3"/>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2" name="Shape 32"/>
        <p:cNvGrpSpPr/>
        <p:nvPr/>
      </p:nvGrpSpPr>
      <p:grpSpPr>
        <a:xfrm>
          <a:off x="0" y="0"/>
          <a:ext cx="0" cy="0"/>
          <a:chOff x="0" y="0"/>
          <a:chExt cx="0" cy="0"/>
        </a:xfrm>
      </p:grpSpPr>
      <p:sp>
        <p:nvSpPr>
          <p:cNvPr id="33" name="Google Shape;33;p24"/>
          <p:cNvSpPr txBox="1"/>
          <p:nvPr>
            <p:ph type="title"/>
          </p:nvPr>
        </p:nvSpPr>
        <p:spPr>
          <a:xfrm>
            <a:off x="467916" y="2469622"/>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4"/>
          <p:cNvSpPr txBox="1"/>
          <p:nvPr>
            <p:ph idx="1" type="body"/>
          </p:nvPr>
        </p:nvSpPr>
        <p:spPr>
          <a:xfrm>
            <a:off x="467916" y="6629225"/>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rgbClr val="888888"/>
              </a:buClr>
              <a:buSzPts val="1350"/>
              <a:buNone/>
              <a:defRPr sz="1350">
                <a:solidFill>
                  <a:srgbClr val="888888"/>
                </a:solidFill>
              </a:defRPr>
            </a:lvl1pPr>
            <a:lvl2pPr indent="-228600" lvl="1" marL="914400" algn="l">
              <a:lnSpc>
                <a:spcPct val="90000"/>
              </a:lnSpc>
              <a:spcBef>
                <a:spcPts val="281"/>
              </a:spcBef>
              <a:spcAft>
                <a:spcPts val="0"/>
              </a:spcAft>
              <a:buClr>
                <a:srgbClr val="888888"/>
              </a:buClr>
              <a:buSzPts val="1125"/>
              <a:buNone/>
              <a:defRPr sz="1125">
                <a:solidFill>
                  <a:srgbClr val="888888"/>
                </a:solidFill>
              </a:defRPr>
            </a:lvl2pPr>
            <a:lvl3pPr indent="-228600" lvl="2" marL="1371600" algn="l">
              <a:lnSpc>
                <a:spcPct val="90000"/>
              </a:lnSpc>
              <a:spcBef>
                <a:spcPts val="281"/>
              </a:spcBef>
              <a:spcAft>
                <a:spcPts val="0"/>
              </a:spcAft>
              <a:buClr>
                <a:srgbClr val="888888"/>
              </a:buClr>
              <a:buSzPts val="1013"/>
              <a:buNone/>
              <a:defRPr sz="1013">
                <a:solidFill>
                  <a:srgbClr val="888888"/>
                </a:solidFill>
              </a:defRPr>
            </a:lvl3pPr>
            <a:lvl4pPr indent="-228600" lvl="3" marL="1828800" algn="l">
              <a:lnSpc>
                <a:spcPct val="90000"/>
              </a:lnSpc>
              <a:spcBef>
                <a:spcPts val="281"/>
              </a:spcBef>
              <a:spcAft>
                <a:spcPts val="0"/>
              </a:spcAft>
              <a:buClr>
                <a:srgbClr val="888888"/>
              </a:buClr>
              <a:buSzPts val="900"/>
              <a:buNone/>
              <a:defRPr sz="900">
                <a:solidFill>
                  <a:srgbClr val="888888"/>
                </a:solidFill>
              </a:defRPr>
            </a:lvl4pPr>
            <a:lvl5pPr indent="-228600" lvl="4" marL="2286000" algn="l">
              <a:lnSpc>
                <a:spcPct val="90000"/>
              </a:lnSpc>
              <a:spcBef>
                <a:spcPts val="281"/>
              </a:spcBef>
              <a:spcAft>
                <a:spcPts val="0"/>
              </a:spcAft>
              <a:buClr>
                <a:srgbClr val="888888"/>
              </a:buClr>
              <a:buSzPts val="900"/>
              <a:buNone/>
              <a:defRPr sz="900">
                <a:solidFill>
                  <a:srgbClr val="888888"/>
                </a:solidFill>
              </a:defRPr>
            </a:lvl5pPr>
            <a:lvl6pPr indent="-228600" lvl="5" marL="2743200" algn="l">
              <a:lnSpc>
                <a:spcPct val="90000"/>
              </a:lnSpc>
              <a:spcBef>
                <a:spcPts val="281"/>
              </a:spcBef>
              <a:spcAft>
                <a:spcPts val="0"/>
              </a:spcAft>
              <a:buClr>
                <a:srgbClr val="888888"/>
              </a:buClr>
              <a:buSzPts val="900"/>
              <a:buNone/>
              <a:defRPr sz="900">
                <a:solidFill>
                  <a:srgbClr val="888888"/>
                </a:solidFill>
              </a:defRPr>
            </a:lvl6pPr>
            <a:lvl7pPr indent="-228600" lvl="6" marL="3200400" algn="l">
              <a:lnSpc>
                <a:spcPct val="90000"/>
              </a:lnSpc>
              <a:spcBef>
                <a:spcPts val="281"/>
              </a:spcBef>
              <a:spcAft>
                <a:spcPts val="0"/>
              </a:spcAft>
              <a:buClr>
                <a:srgbClr val="888888"/>
              </a:buClr>
              <a:buSzPts val="900"/>
              <a:buNone/>
              <a:defRPr sz="900">
                <a:solidFill>
                  <a:srgbClr val="888888"/>
                </a:solidFill>
              </a:defRPr>
            </a:lvl7pPr>
            <a:lvl8pPr indent="-228600" lvl="7" marL="3657600" algn="l">
              <a:lnSpc>
                <a:spcPct val="90000"/>
              </a:lnSpc>
              <a:spcBef>
                <a:spcPts val="281"/>
              </a:spcBef>
              <a:spcAft>
                <a:spcPts val="0"/>
              </a:spcAft>
              <a:buClr>
                <a:srgbClr val="888888"/>
              </a:buClr>
              <a:buSzPts val="900"/>
              <a:buNone/>
              <a:defRPr sz="900">
                <a:solidFill>
                  <a:srgbClr val="888888"/>
                </a:solidFill>
              </a:defRPr>
            </a:lvl8pPr>
            <a:lvl9pPr indent="-228600" lvl="8" marL="4114800" algn="l">
              <a:lnSpc>
                <a:spcPct val="90000"/>
              </a:lnSpc>
              <a:spcBef>
                <a:spcPts val="281"/>
              </a:spcBef>
              <a:spcAft>
                <a:spcPts val="0"/>
              </a:spcAft>
              <a:buClr>
                <a:srgbClr val="888888"/>
              </a:buClr>
              <a:buSzPts val="900"/>
              <a:buNone/>
              <a:defRPr sz="900">
                <a:solidFill>
                  <a:srgbClr val="888888"/>
                </a:solidFill>
              </a:defRPr>
            </a:lvl9pPr>
          </a:lstStyle>
          <a:p/>
        </p:txBody>
      </p:sp>
      <p:sp>
        <p:nvSpPr>
          <p:cNvPr id="35" name="Google Shape;35;p24"/>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4"/>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8" name="Shape 38"/>
        <p:cNvGrpSpPr/>
        <p:nvPr/>
      </p:nvGrpSpPr>
      <p:grpSpPr>
        <a:xfrm>
          <a:off x="0" y="0"/>
          <a:ext cx="0" cy="0"/>
          <a:chOff x="0" y="0"/>
          <a:chExt cx="0" cy="0"/>
        </a:xfrm>
      </p:grpSpPr>
      <p:sp>
        <p:nvSpPr>
          <p:cNvPr id="39" name="Google Shape;39;p25"/>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5"/>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1" name="Google Shape;41;p25"/>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2" name="Google Shape;42;p25"/>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5" name="Shape 45"/>
        <p:cNvGrpSpPr/>
        <p:nvPr/>
      </p:nvGrpSpPr>
      <p:grpSpPr>
        <a:xfrm>
          <a:off x="0" y="0"/>
          <a:ext cx="0" cy="0"/>
          <a:chOff x="0" y="0"/>
          <a:chExt cx="0" cy="0"/>
        </a:xfrm>
      </p:grpSpPr>
      <p:sp>
        <p:nvSpPr>
          <p:cNvPr id="46" name="Google Shape;46;p26"/>
          <p:cNvSpPr txBox="1"/>
          <p:nvPr>
            <p:ph type="title"/>
          </p:nvPr>
        </p:nvSpPr>
        <p:spPr>
          <a:xfrm>
            <a:off x="472381"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6"/>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48" name="Google Shape;48;p26"/>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9" name="Google Shape;49;p26"/>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50" name="Google Shape;50;p26"/>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51" name="Google Shape;51;p26"/>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8"/>
          <p:cNvSpPr txBox="1"/>
          <p:nvPr>
            <p:ph idx="1" type="body"/>
          </p:nvPr>
        </p:nvSpPr>
        <p:spPr>
          <a:xfrm>
            <a:off x="2915543" y="1426281"/>
            <a:ext cx="3471863" cy="703968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sz="1800"/>
            </a:lvl1pPr>
            <a:lvl2pPr indent="-328612" lvl="1" marL="914400" algn="l">
              <a:lnSpc>
                <a:spcPct val="90000"/>
              </a:lnSpc>
              <a:spcBef>
                <a:spcPts val="281"/>
              </a:spcBef>
              <a:spcAft>
                <a:spcPts val="0"/>
              </a:spcAft>
              <a:buClr>
                <a:schemeClr val="dk1"/>
              </a:buClr>
              <a:buSzPts val="1575"/>
              <a:buChar char="•"/>
              <a:defRPr sz="1575"/>
            </a:lvl2pPr>
            <a:lvl3pPr indent="-314325" lvl="2" marL="1371600" algn="l">
              <a:lnSpc>
                <a:spcPct val="90000"/>
              </a:lnSpc>
              <a:spcBef>
                <a:spcPts val="281"/>
              </a:spcBef>
              <a:spcAft>
                <a:spcPts val="0"/>
              </a:spcAft>
              <a:buClr>
                <a:schemeClr val="dk1"/>
              </a:buClr>
              <a:buSzPts val="1350"/>
              <a:buChar char="•"/>
              <a:defRPr sz="1350"/>
            </a:lvl3pPr>
            <a:lvl4pPr indent="-300037" lvl="3" marL="1828800" algn="l">
              <a:lnSpc>
                <a:spcPct val="90000"/>
              </a:lnSpc>
              <a:spcBef>
                <a:spcPts val="281"/>
              </a:spcBef>
              <a:spcAft>
                <a:spcPts val="0"/>
              </a:spcAft>
              <a:buClr>
                <a:schemeClr val="dk1"/>
              </a:buClr>
              <a:buSzPts val="1125"/>
              <a:buChar char="•"/>
              <a:defRPr sz="1125"/>
            </a:lvl4pPr>
            <a:lvl5pPr indent="-300037" lvl="4" marL="2286000" algn="l">
              <a:lnSpc>
                <a:spcPct val="90000"/>
              </a:lnSpc>
              <a:spcBef>
                <a:spcPts val="281"/>
              </a:spcBef>
              <a:spcAft>
                <a:spcPts val="0"/>
              </a:spcAft>
              <a:buClr>
                <a:schemeClr val="dk1"/>
              </a:buClr>
              <a:buSzPts val="1125"/>
              <a:buChar char="•"/>
              <a:defRPr sz="1125"/>
            </a:lvl5pPr>
            <a:lvl6pPr indent="-300037" lvl="5" marL="2743200" algn="l">
              <a:lnSpc>
                <a:spcPct val="90000"/>
              </a:lnSpc>
              <a:spcBef>
                <a:spcPts val="281"/>
              </a:spcBef>
              <a:spcAft>
                <a:spcPts val="0"/>
              </a:spcAft>
              <a:buClr>
                <a:schemeClr val="dk1"/>
              </a:buClr>
              <a:buSzPts val="1125"/>
              <a:buChar char="•"/>
              <a:defRPr sz="1125"/>
            </a:lvl6pPr>
            <a:lvl7pPr indent="-300037" lvl="6" marL="3200400" algn="l">
              <a:lnSpc>
                <a:spcPct val="90000"/>
              </a:lnSpc>
              <a:spcBef>
                <a:spcPts val="281"/>
              </a:spcBef>
              <a:spcAft>
                <a:spcPts val="0"/>
              </a:spcAft>
              <a:buClr>
                <a:schemeClr val="dk1"/>
              </a:buClr>
              <a:buSzPts val="1125"/>
              <a:buChar char="•"/>
              <a:defRPr sz="1125"/>
            </a:lvl7pPr>
            <a:lvl8pPr indent="-300037" lvl="7" marL="3657600" algn="l">
              <a:lnSpc>
                <a:spcPct val="90000"/>
              </a:lnSpc>
              <a:spcBef>
                <a:spcPts val="281"/>
              </a:spcBef>
              <a:spcAft>
                <a:spcPts val="0"/>
              </a:spcAft>
              <a:buClr>
                <a:schemeClr val="dk1"/>
              </a:buClr>
              <a:buSzPts val="1125"/>
              <a:buChar char="•"/>
              <a:defRPr sz="1125"/>
            </a:lvl8pPr>
            <a:lvl9pPr indent="-300037" lvl="8" marL="4114800" algn="l">
              <a:lnSpc>
                <a:spcPct val="90000"/>
              </a:lnSpc>
              <a:spcBef>
                <a:spcPts val="281"/>
              </a:spcBef>
              <a:spcAft>
                <a:spcPts val="0"/>
              </a:spcAft>
              <a:buClr>
                <a:schemeClr val="dk1"/>
              </a:buClr>
              <a:buSzPts val="1125"/>
              <a:buChar char="•"/>
              <a:defRPr sz="1125"/>
            </a:lvl9pPr>
          </a:lstStyle>
          <a:p/>
        </p:txBody>
      </p:sp>
      <p:sp>
        <p:nvSpPr>
          <p:cNvPr id="61" name="Google Shape;61;p28"/>
          <p:cNvSpPr txBox="1"/>
          <p:nvPr>
            <p:ph idx="2"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2" name="Google Shape;62;p28"/>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
          <p:cNvSpPr/>
          <p:nvPr>
            <p:ph idx="2" type="pic"/>
          </p:nvPr>
        </p:nvSpPr>
        <p:spPr>
          <a:xfrm>
            <a:off x="2915543" y="1426281"/>
            <a:ext cx="3471863" cy="7039681"/>
          </a:xfrm>
          <a:prstGeom prst="rect">
            <a:avLst/>
          </a:prstGeom>
          <a:noFill/>
          <a:ln>
            <a:noFill/>
          </a:ln>
        </p:spPr>
      </p:sp>
      <p:sp>
        <p:nvSpPr>
          <p:cNvPr id="68" name="Google Shape;68;p29"/>
          <p:cNvSpPr txBox="1"/>
          <p:nvPr>
            <p:ph idx="1"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9" name="Google Shape;69;p29"/>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0"/>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75" name="Google Shape;75;p30"/>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1449695"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81" name="Google Shape;81;p3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475"/>
              <a:buFont typeface="Calibri"/>
              <a:buNone/>
              <a:defRPr b="0" i="0" sz="2475"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28612" lvl="0" marL="457200" marR="0" rtl="0" algn="l">
              <a:lnSpc>
                <a:spcPct val="90000"/>
              </a:lnSpc>
              <a:spcBef>
                <a:spcPts val="563"/>
              </a:spcBef>
              <a:spcAft>
                <a:spcPts val="0"/>
              </a:spcAft>
              <a:buClr>
                <a:schemeClr val="dk1"/>
              </a:buClr>
              <a:buSzPts val="1575"/>
              <a:buFont typeface="Arial"/>
              <a:buChar char="•"/>
              <a:defRPr b="0" i="0" sz="1575" u="none" cap="none" strike="noStrike">
                <a:solidFill>
                  <a:schemeClr val="dk1"/>
                </a:solidFill>
                <a:latin typeface="Calibri"/>
                <a:ea typeface="Calibri"/>
                <a:cs typeface="Calibri"/>
                <a:sym typeface="Calibri"/>
              </a:defRPr>
            </a:lvl1pPr>
            <a:lvl2pPr indent="-314325" lvl="1" marL="914400" marR="0" rtl="0" algn="l">
              <a:lnSpc>
                <a:spcPct val="90000"/>
              </a:lnSpc>
              <a:spcBef>
                <a:spcPts val="281"/>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2pPr>
            <a:lvl3pPr indent="-300037" lvl="2" marL="1371600" marR="0" rtl="0" algn="l">
              <a:lnSpc>
                <a:spcPct val="90000"/>
              </a:lnSpc>
              <a:spcBef>
                <a:spcPts val="281"/>
              </a:spcBef>
              <a:spcAft>
                <a:spcPts val="0"/>
              </a:spcAft>
              <a:buClr>
                <a:schemeClr val="dk1"/>
              </a:buClr>
              <a:buSzPts val="1125"/>
              <a:buFont typeface="Arial"/>
              <a:buChar char="•"/>
              <a:defRPr b="0" i="0" sz="1125" u="none" cap="none" strike="noStrike">
                <a:solidFill>
                  <a:schemeClr val="dk1"/>
                </a:solidFill>
                <a:latin typeface="Calibri"/>
                <a:ea typeface="Calibri"/>
                <a:cs typeface="Calibri"/>
                <a:sym typeface="Calibri"/>
              </a:defRPr>
            </a:lvl3pPr>
            <a:lvl4pPr indent="-292925" lvl="3" marL="1828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4pPr>
            <a:lvl5pPr indent="-292925" lvl="4" marL="22860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5pPr>
            <a:lvl6pPr indent="-292925" lvl="5" marL="27432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6pPr>
            <a:lvl7pPr indent="-292925" lvl="6" marL="32004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7pPr>
            <a:lvl8pPr indent="-292925" lvl="7" marL="36576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8pPr>
            <a:lvl9pPr indent="-292925" lvl="8" marL="4114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1pPr>
            <a:lvl2pPr indent="0" lvl="1"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2pPr>
            <a:lvl3pPr indent="0" lvl="2"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3pPr>
            <a:lvl4pPr indent="0" lvl="3"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4pPr>
            <a:lvl5pPr indent="0" lvl="4"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5pPr>
            <a:lvl6pPr indent="0" lvl="5"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6pPr>
            <a:lvl7pPr indent="0" lvl="6"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7pPr>
            <a:lvl8pPr indent="0" lvl="7"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8pPr>
            <a:lvl9pPr indent="0" lvl="8"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1'!A1" TargetMode="External"/><Relationship Id="rId10" Type="http://schemas.openxmlformats.org/officeDocument/2006/relationships/image" Target="../media/image6.png"/><Relationship Id="rId13" Type="http://schemas.openxmlformats.org/officeDocument/2006/relationships/image" Target="../media/image4.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2.jpg"/><Relationship Id="rId9" Type="http://schemas.openxmlformats.org/officeDocument/2006/relationships/hyperlink" Target="#'9'!A1" TargetMode="External"/><Relationship Id="rId1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30.jpg"/><Relationship Id="rId7" Type="http://schemas.openxmlformats.org/officeDocument/2006/relationships/hyperlink" Target="#'5'!A1" TargetMode="External"/><Relationship Id="rId8"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image" Target="../media/image15.jpg"/><Relationship Id="rId7" Type="http://schemas.openxmlformats.org/officeDocument/2006/relationships/hyperlink" Target="#'1'!A1" TargetMode="External"/><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17.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4.png"/><Relationship Id="rId9" Type="http://schemas.openxmlformats.org/officeDocument/2006/relationships/image" Target="../media/image22.png"/><Relationship Id="rId5" Type="http://schemas.openxmlformats.org/officeDocument/2006/relationships/image" Target="../media/image2.png"/><Relationship Id="rId6" Type="http://schemas.openxmlformats.org/officeDocument/2006/relationships/hyperlink" Target="#'9'!A1" TargetMode="External"/><Relationship Id="rId7" Type="http://schemas.openxmlformats.org/officeDocument/2006/relationships/image" Target="../media/image6.png"/><Relationship Id="rId8"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4.png"/><Relationship Id="rId7" Type="http://schemas.openxmlformats.org/officeDocument/2006/relationships/image" Target="../media/image2.png"/></Relationships>
</file>

<file path=ppt/slides/_rels/slide7.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3.png"/><Relationship Id="rId9"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25.png"/><Relationship Id="rId7" Type="http://schemas.openxmlformats.org/officeDocument/2006/relationships/image" Target="../media/image28.png"/><Relationship Id="rId8"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p:nvPr/>
        </p:nvSpPr>
        <p:spPr>
          <a:xfrm>
            <a:off x="0" y="972075"/>
            <a:ext cx="6732802" cy="8385904"/>
          </a:xfrm>
          <a:prstGeom prst="rect">
            <a:avLst/>
          </a:prstGeom>
          <a:solidFill>
            <a:srgbClr val="2F5496"/>
          </a:solidFill>
          <a:ln cap="flat" cmpd="sng" w="254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4"/>
          <p:cNvSpPr txBox="1"/>
          <p:nvPr/>
        </p:nvSpPr>
        <p:spPr>
          <a:xfrm>
            <a:off x="5461689" y="9642688"/>
            <a:ext cx="1388522" cy="2000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700" u="none" cap="none" strike="noStrike">
                <a:solidFill>
                  <a:schemeClr val="dk1"/>
                </a:solidFill>
                <a:latin typeface="Calibri"/>
                <a:ea typeface="Calibri"/>
                <a:cs typeface="Calibri"/>
                <a:sym typeface="Calibri"/>
              </a:rPr>
              <a:t>FICHE PRODUIT MARS 2014</a:t>
            </a:r>
            <a:endParaRPr/>
          </a:p>
        </p:txBody>
      </p:sp>
      <p:sp>
        <p:nvSpPr>
          <p:cNvPr id="90" name="Google Shape;90;p14"/>
          <p:cNvSpPr/>
          <p:nvPr/>
        </p:nvSpPr>
        <p:spPr>
          <a:xfrm>
            <a:off x="1987886" y="1258563"/>
            <a:ext cx="3759200" cy="1463934"/>
          </a:xfrm>
          <a:prstGeom prst="roundRect">
            <a:avLst>
              <a:gd fmla="val 16667" name="adj"/>
            </a:avLst>
          </a:prstGeom>
          <a:solidFill>
            <a:schemeClr val="lt1"/>
          </a:solidFill>
          <a:ln cap="flat" cmpd="sng" w="254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rPr b="1" lang="fr-FR" sz="2000">
                <a:solidFill>
                  <a:srgbClr val="2F5496"/>
                </a:solidFill>
                <a:latin typeface="Calibri"/>
                <a:ea typeface="Calibri"/>
                <a:cs typeface="Calibri"/>
                <a:sym typeface="Calibri"/>
              </a:rPr>
              <a:t>Une complémentaire santé</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via</a:t>
            </a: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Contrat responsable</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8 formules</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p:txBody>
      </p:sp>
      <p:sp>
        <p:nvSpPr>
          <p:cNvPr id="91" name="Google Shape;91;p14"/>
          <p:cNvSpPr/>
          <p:nvPr/>
        </p:nvSpPr>
        <p:spPr>
          <a:xfrm>
            <a:off x="2447575" y="3295379"/>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16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Un Réseau de soins</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r">
              <a:spcBef>
                <a:spcPts val="0"/>
              </a:spcBef>
              <a:spcAft>
                <a:spcPts val="0"/>
              </a:spcAft>
              <a:buNone/>
            </a:pPr>
            <a:r>
              <a:t/>
            </a:r>
            <a:endParaRPr sz="1200">
              <a:solidFill>
                <a:schemeClr val="dk1"/>
              </a:solidFill>
              <a:latin typeface="Calibri"/>
              <a:ea typeface="Calibri"/>
              <a:cs typeface="Calibri"/>
              <a:sym typeface="Calibri"/>
            </a:endParaRPr>
          </a:p>
        </p:txBody>
      </p:sp>
      <p:sp>
        <p:nvSpPr>
          <p:cNvPr id="92" name="Google Shape;92;p14"/>
          <p:cNvSpPr/>
          <p:nvPr/>
        </p:nvSpPr>
        <p:spPr>
          <a:xfrm>
            <a:off x="2447575" y="5298174"/>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rgbClr val="2F5496"/>
                </a:solidFill>
                <a:latin typeface="Calibri"/>
                <a:ea typeface="Calibri"/>
                <a:cs typeface="Calibri"/>
                <a:sym typeface="Calibri"/>
              </a:rPr>
              <a:t>   Un Tiers payant</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rPr lang="fr-FR" sz="1400">
                <a:solidFill>
                  <a:schemeClr val="dk1"/>
                </a:solidFill>
                <a:latin typeface="Calibri"/>
                <a:ea typeface="Calibri"/>
                <a:cs typeface="Calibri"/>
                <a:sym typeface="Calibri"/>
              </a:rPr>
              <a:t>  </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Un tiers payant national, qui vous évite d’avancer les frais médicaux.</a:t>
            </a:r>
            <a:endParaRPr/>
          </a:p>
        </p:txBody>
      </p:sp>
      <p:sp>
        <p:nvSpPr>
          <p:cNvPr id="93" name="Google Shape;93;p14"/>
          <p:cNvSpPr/>
          <p:nvPr/>
        </p:nvSpPr>
        <p:spPr>
          <a:xfrm>
            <a:off x="1987886" y="7323510"/>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Une assistance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r">
              <a:spcBef>
                <a:spcPts val="0"/>
              </a:spcBef>
              <a:spcAft>
                <a:spcPts val="0"/>
              </a:spcAft>
              <a:buNone/>
            </a:pPr>
            <a:r>
              <a:rPr lang="fr-FR" sz="1600">
                <a:solidFill>
                  <a:schemeClr val="dk1"/>
                </a:solidFill>
                <a:latin typeface="Calibri"/>
                <a:ea typeface="Calibri"/>
                <a:cs typeface="Calibri"/>
                <a:sym typeface="Calibri"/>
              </a:rPr>
              <a:t>                </a:t>
            </a:r>
            <a:r>
              <a:rPr lang="fr-FR" sz="1200">
                <a:solidFill>
                  <a:schemeClr val="dk1"/>
                </a:solidFill>
                <a:latin typeface="Calibri"/>
                <a:ea typeface="Calibri"/>
                <a:cs typeface="Calibri"/>
                <a:sym typeface="Calibri"/>
              </a:rPr>
              <a:t>Un service haut de gamme 24h/24, 7j/7 pour vous accompagner en cas de coup dur</a:t>
            </a:r>
            <a:endParaRPr b="1" sz="1600">
              <a:solidFill>
                <a:schemeClr val="dk1"/>
              </a:solidFill>
              <a:latin typeface="Calibri"/>
              <a:ea typeface="Calibri"/>
              <a:cs typeface="Calibri"/>
              <a:sym typeface="Calibri"/>
            </a:endParaRPr>
          </a:p>
        </p:txBody>
      </p:sp>
      <p:grpSp>
        <p:nvGrpSpPr>
          <p:cNvPr id="94" name="Google Shape;94;p14"/>
          <p:cNvGrpSpPr/>
          <p:nvPr/>
        </p:nvGrpSpPr>
        <p:grpSpPr>
          <a:xfrm>
            <a:off x="2045763" y="1495981"/>
            <a:ext cx="976837" cy="1010393"/>
            <a:chOff x="2109263" y="1465142"/>
            <a:chExt cx="976837" cy="1010393"/>
          </a:xfrm>
        </p:grpSpPr>
        <p:sp>
          <p:nvSpPr>
            <p:cNvPr id="95" name="Google Shape;95;p14"/>
            <p:cNvSpPr/>
            <p:nvPr/>
          </p:nvSpPr>
          <p:spPr>
            <a:xfrm>
              <a:off x="2109263" y="1465142"/>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Modèle Logo Santé Et Forme Physique Logo Médical | PosterMyWall" id="96" name="Google Shape;96;p14"/>
            <p:cNvPicPr preferRelativeResize="0"/>
            <p:nvPr/>
          </p:nvPicPr>
          <p:blipFill rotWithShape="1">
            <a:blip r:embed="rId3">
              <a:alphaModFix/>
            </a:blip>
            <a:srcRect b="24816" l="23299" r="27063" t="11936"/>
            <a:stretch/>
          </p:blipFill>
          <p:spPr>
            <a:xfrm>
              <a:off x="2311520" y="1585367"/>
              <a:ext cx="596138" cy="759582"/>
            </a:xfrm>
            <a:prstGeom prst="rect">
              <a:avLst/>
            </a:prstGeom>
            <a:noFill/>
            <a:ln>
              <a:noFill/>
            </a:ln>
          </p:spPr>
        </p:pic>
      </p:grpSp>
      <p:grpSp>
        <p:nvGrpSpPr>
          <p:cNvPr id="97" name="Google Shape;97;p14"/>
          <p:cNvGrpSpPr/>
          <p:nvPr/>
        </p:nvGrpSpPr>
        <p:grpSpPr>
          <a:xfrm>
            <a:off x="2508660" y="3513533"/>
            <a:ext cx="976837" cy="1010393"/>
            <a:chOff x="2548471" y="3049424"/>
            <a:chExt cx="976837" cy="1010393"/>
          </a:xfrm>
        </p:grpSpPr>
        <p:sp>
          <p:nvSpPr>
            <p:cNvPr id="98" name="Google Shape;98;p14"/>
            <p:cNvSpPr/>
            <p:nvPr/>
          </p:nvSpPr>
          <p:spPr>
            <a:xfrm>
              <a:off x="2548471" y="3049424"/>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Réseaux de soins et de professionnels - Uneoreilleavertie.com" id="99" name="Google Shape;99;p14"/>
            <p:cNvPicPr preferRelativeResize="0"/>
            <p:nvPr/>
          </p:nvPicPr>
          <p:blipFill rotWithShape="1">
            <a:blip r:embed="rId4">
              <a:alphaModFix/>
            </a:blip>
            <a:srcRect b="17480" l="6111" r="8264" t="12370"/>
            <a:stretch/>
          </p:blipFill>
          <p:spPr>
            <a:xfrm>
              <a:off x="2693612" y="3280574"/>
              <a:ext cx="670266" cy="577197"/>
            </a:xfrm>
            <a:prstGeom prst="rect">
              <a:avLst/>
            </a:prstGeom>
            <a:noFill/>
            <a:ln>
              <a:noFill/>
            </a:ln>
          </p:spPr>
        </p:pic>
      </p:grpSp>
      <p:grpSp>
        <p:nvGrpSpPr>
          <p:cNvPr id="100" name="Google Shape;100;p14"/>
          <p:cNvGrpSpPr/>
          <p:nvPr/>
        </p:nvGrpSpPr>
        <p:grpSpPr>
          <a:xfrm>
            <a:off x="2517276" y="5541565"/>
            <a:ext cx="976837" cy="1010393"/>
            <a:chOff x="2693612" y="4712978"/>
            <a:chExt cx="976837" cy="1010393"/>
          </a:xfrm>
        </p:grpSpPr>
        <p:sp>
          <p:nvSpPr>
            <p:cNvPr id="101" name="Google Shape;101;p14"/>
            <p:cNvSpPr/>
            <p:nvPr/>
          </p:nvSpPr>
          <p:spPr>
            <a:xfrm>
              <a:off x="2693612" y="471297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Tiers payant : qu'est-ce que c'est et comment l'obtenir ?" id="102" name="Google Shape;102;p14"/>
            <p:cNvPicPr preferRelativeResize="0"/>
            <p:nvPr/>
          </p:nvPicPr>
          <p:blipFill rotWithShape="1">
            <a:blip r:embed="rId5">
              <a:alphaModFix/>
            </a:blip>
            <a:srcRect b="4849" l="19237" r="29792" t="4849"/>
            <a:stretch/>
          </p:blipFill>
          <p:spPr>
            <a:xfrm>
              <a:off x="2862942" y="4910684"/>
              <a:ext cx="638175" cy="596045"/>
            </a:xfrm>
            <a:prstGeom prst="rect">
              <a:avLst/>
            </a:prstGeom>
            <a:noFill/>
            <a:ln>
              <a:noFill/>
            </a:ln>
          </p:spPr>
        </p:pic>
      </p:grpSp>
      <p:grpSp>
        <p:nvGrpSpPr>
          <p:cNvPr id="103" name="Google Shape;103;p14"/>
          <p:cNvGrpSpPr/>
          <p:nvPr/>
        </p:nvGrpSpPr>
        <p:grpSpPr>
          <a:xfrm>
            <a:off x="2068832" y="7568271"/>
            <a:ext cx="976837" cy="1010393"/>
            <a:chOff x="2566518" y="6340968"/>
            <a:chExt cx="976837" cy="1010393"/>
          </a:xfrm>
        </p:grpSpPr>
        <p:sp>
          <p:nvSpPr>
            <p:cNvPr id="104" name="Google Shape;104;p14"/>
            <p:cNvSpPr/>
            <p:nvPr/>
          </p:nvSpPr>
          <p:spPr>
            <a:xfrm>
              <a:off x="2566518" y="634096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Assistance and protection logo work people sign Vector Image" id="105" name="Google Shape;105;p14"/>
            <p:cNvPicPr preferRelativeResize="0"/>
            <p:nvPr/>
          </p:nvPicPr>
          <p:blipFill rotWithShape="1">
            <a:blip r:embed="rId6">
              <a:alphaModFix/>
            </a:blip>
            <a:srcRect b="31895" l="20106" r="19154" t="9307"/>
            <a:stretch/>
          </p:blipFill>
          <p:spPr>
            <a:xfrm>
              <a:off x="2781449" y="6523581"/>
              <a:ext cx="577433" cy="603735"/>
            </a:xfrm>
            <a:prstGeom prst="rect">
              <a:avLst/>
            </a:prstGeom>
            <a:noFill/>
            <a:ln>
              <a:noFill/>
            </a:ln>
          </p:spPr>
        </p:pic>
      </p:grpSp>
      <p:pic>
        <p:nvPicPr>
          <p:cNvPr id="106" name="Google Shape;106;p14">
            <a:hlinkClick r:id="rId7"/>
          </p:cNvPr>
          <p:cNvPicPr preferRelativeResize="0"/>
          <p:nvPr/>
        </p:nvPicPr>
        <p:blipFill rotWithShape="1">
          <a:blip r:embed="rId8">
            <a:alphaModFix/>
          </a:blip>
          <a:srcRect b="0" l="0" r="0" t="0"/>
          <a:stretch/>
        </p:blipFill>
        <p:spPr>
          <a:xfrm>
            <a:off x="4697418" y="5582724"/>
            <a:ext cx="1264102" cy="711304"/>
          </a:xfrm>
          <a:prstGeom prst="rect">
            <a:avLst/>
          </a:prstGeom>
          <a:noFill/>
          <a:ln>
            <a:noFill/>
          </a:ln>
        </p:spPr>
      </p:pic>
      <p:sp>
        <p:nvSpPr>
          <p:cNvPr id="107" name="Google Shape;107;p14"/>
          <p:cNvSpPr/>
          <p:nvPr/>
        </p:nvSpPr>
        <p:spPr>
          <a:xfrm>
            <a:off x="-4107550" y="953182"/>
            <a:ext cx="6446849" cy="840479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sp>
        <p:nvSpPr>
          <p:cNvPr id="108" name="Google Shape;108;p14"/>
          <p:cNvSpPr/>
          <p:nvPr/>
        </p:nvSpPr>
        <p:spPr>
          <a:xfrm>
            <a:off x="-240074" y="2351314"/>
            <a:ext cx="2488094" cy="550645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3200">
                <a:solidFill>
                  <a:schemeClr val="dk1"/>
                </a:solidFill>
                <a:latin typeface="Calibri"/>
                <a:ea typeface="Calibri"/>
                <a:cs typeface="Calibri"/>
                <a:sym typeface="Calibri"/>
              </a:rPr>
              <a:t>Une </a:t>
            </a:r>
            <a:endParaRPr/>
          </a:p>
          <a:p>
            <a:pPr indent="0" lvl="0" marL="0" marR="0" rtl="0" algn="ctr">
              <a:spcBef>
                <a:spcPts val="0"/>
              </a:spcBef>
              <a:spcAft>
                <a:spcPts val="0"/>
              </a:spcAft>
              <a:buNone/>
            </a:pPr>
            <a:r>
              <a:rPr b="1" lang="fr-FR" sz="3200">
                <a:solidFill>
                  <a:schemeClr val="dk1"/>
                </a:solidFill>
                <a:latin typeface="Calibri"/>
                <a:ea typeface="Calibri"/>
                <a:cs typeface="Calibri"/>
                <a:sym typeface="Calibri"/>
              </a:rPr>
              <a:t>solution intégrale </a:t>
            </a:r>
            <a:r>
              <a:rPr b="1" lang="fr-FR" sz="1800">
                <a:solidFill>
                  <a:schemeClr val="dk1"/>
                </a:solidFill>
                <a:latin typeface="Calibri"/>
                <a:ea typeface="Calibri"/>
                <a:cs typeface="Calibri"/>
                <a:sym typeface="Calibri"/>
              </a:rPr>
              <a:t>Pour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les + 18 ans et sans limite d’âge</a:t>
            </a:r>
            <a:endParaRPr/>
          </a:p>
        </p:txBody>
      </p:sp>
      <p:pic>
        <p:nvPicPr>
          <p:cNvPr descr="Comment contacter Inter Mutuelles Assistance ?" id="109" name="Google Shape;109;p14">
            <a:hlinkClick r:id="rId9"/>
          </p:cNvPr>
          <p:cNvPicPr preferRelativeResize="0"/>
          <p:nvPr/>
        </p:nvPicPr>
        <p:blipFill rotWithShape="1">
          <a:blip r:embed="rId10">
            <a:alphaModFix/>
          </a:blip>
          <a:srcRect b="23858" l="0" r="4129" t="28225"/>
          <a:stretch/>
        </p:blipFill>
        <p:spPr>
          <a:xfrm>
            <a:off x="4142480" y="7576182"/>
            <a:ext cx="1403686" cy="778437"/>
          </a:xfrm>
          <a:prstGeom prst="rect">
            <a:avLst/>
          </a:prstGeom>
          <a:noFill/>
          <a:ln>
            <a:noFill/>
          </a:ln>
        </p:spPr>
      </p:pic>
      <p:pic>
        <p:nvPicPr>
          <p:cNvPr id="110" name="Google Shape;110;p14">
            <a:hlinkClick r:id="rId11"/>
          </p:cNvPr>
          <p:cNvPicPr preferRelativeResize="0"/>
          <p:nvPr/>
        </p:nvPicPr>
        <p:blipFill rotWithShape="1">
          <a:blip r:embed="rId12">
            <a:alphaModFix/>
          </a:blip>
          <a:srcRect b="0" l="0" r="0" t="0"/>
          <a:stretch/>
        </p:blipFill>
        <p:spPr>
          <a:xfrm>
            <a:off x="4609421" y="3786633"/>
            <a:ext cx="976837" cy="930502"/>
          </a:xfrm>
          <a:prstGeom prst="rect">
            <a:avLst/>
          </a:prstGeom>
          <a:noFill/>
          <a:ln>
            <a:noFill/>
          </a:ln>
        </p:spPr>
      </p:pic>
      <p:grpSp>
        <p:nvGrpSpPr>
          <p:cNvPr id="111" name="Google Shape;111;p14"/>
          <p:cNvGrpSpPr/>
          <p:nvPr/>
        </p:nvGrpSpPr>
        <p:grpSpPr>
          <a:xfrm>
            <a:off x="101600" y="93434"/>
            <a:ext cx="6686550" cy="628847"/>
            <a:chOff x="101600" y="93434"/>
            <a:chExt cx="6686550" cy="628847"/>
          </a:xfrm>
        </p:grpSpPr>
        <p:sp>
          <p:nvSpPr>
            <p:cNvPr id="112" name="Google Shape;112;p14"/>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Plénitude   by                               assuré par                                 </a:t>
              </a:r>
              <a:endParaRPr/>
            </a:p>
          </p:txBody>
        </p:sp>
        <p:pic>
          <p:nvPicPr>
            <p:cNvPr descr="Néoliane Santé &amp; Prévoyance" id="113" name="Google Shape;113;p14"/>
            <p:cNvPicPr preferRelativeResize="0"/>
            <p:nvPr/>
          </p:nvPicPr>
          <p:blipFill rotWithShape="1">
            <a:blip r:embed="rId13">
              <a:alphaModFix/>
            </a:blip>
            <a:srcRect b="0" l="0" r="0" t="0"/>
            <a:stretch/>
          </p:blipFill>
          <p:spPr>
            <a:xfrm>
              <a:off x="2495759" y="290464"/>
              <a:ext cx="1206122" cy="234590"/>
            </a:xfrm>
            <a:prstGeom prst="rect">
              <a:avLst/>
            </a:prstGeom>
            <a:noFill/>
            <a:ln>
              <a:noFill/>
            </a:ln>
          </p:spPr>
        </p:pic>
        <p:pic>
          <p:nvPicPr>
            <p:cNvPr descr="Animaux Santé | Mutuelle Animaux" id="114" name="Google Shape;114;p14"/>
            <p:cNvPicPr preferRelativeResize="0"/>
            <p:nvPr/>
          </p:nvPicPr>
          <p:blipFill rotWithShape="1">
            <a:blip r:embed="rId14">
              <a:alphaModFix/>
            </a:blip>
            <a:srcRect b="0" l="0" r="0" t="0"/>
            <a:stretch/>
          </p:blipFill>
          <p:spPr>
            <a:xfrm>
              <a:off x="4996299" y="93434"/>
              <a:ext cx="1627605" cy="628847"/>
            </a:xfrm>
            <a:prstGeom prst="rect">
              <a:avLst/>
            </a:prstGeom>
            <a:noFill/>
            <a:ln>
              <a:noFill/>
            </a:ln>
          </p:spPr>
        </p:pic>
      </p:grpSp>
      <p:pic>
        <p:nvPicPr>
          <p:cNvPr descr="Animaux Santé | Mutuelle Animaux" id="115" name="Google Shape;115;p14"/>
          <p:cNvPicPr preferRelativeResize="0"/>
          <p:nvPr/>
        </p:nvPicPr>
        <p:blipFill rotWithShape="1">
          <a:blip r:embed="rId14">
            <a:alphaModFix/>
          </a:blip>
          <a:srcRect b="0" l="0" r="0" t="0"/>
          <a:stretch/>
        </p:blipFill>
        <p:spPr>
          <a:xfrm>
            <a:off x="3958653" y="1630824"/>
            <a:ext cx="1627605" cy="6288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5"/>
          <p:cNvSpPr/>
          <p:nvPr/>
        </p:nvSpPr>
        <p:spPr>
          <a:xfrm>
            <a:off x="348343" y="2133601"/>
            <a:ext cx="6198508" cy="541483"/>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AUCUNE LIMITE D’ÂGE À L’ADHÉSION</a:t>
            </a:r>
            <a:endParaRPr sz="1400">
              <a:solidFill>
                <a:schemeClr val="lt1"/>
              </a:solidFill>
              <a:latin typeface="Calibri"/>
              <a:ea typeface="Calibri"/>
              <a:cs typeface="Calibri"/>
              <a:sym typeface="Calibri"/>
            </a:endParaRPr>
          </a:p>
        </p:txBody>
      </p:sp>
      <p:sp>
        <p:nvSpPr>
          <p:cNvPr id="121" name="Google Shape;121;p15"/>
          <p:cNvSpPr/>
          <p:nvPr/>
        </p:nvSpPr>
        <p:spPr>
          <a:xfrm>
            <a:off x="329746" y="2825315"/>
            <a:ext cx="6198508" cy="385430"/>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adhésion rapide en ligne avec la signature électronique</a:t>
            </a:r>
            <a:endParaRPr/>
          </a:p>
        </p:txBody>
      </p:sp>
      <p:sp>
        <p:nvSpPr>
          <p:cNvPr id="122" name="Google Shape;122;p15"/>
          <p:cNvSpPr/>
          <p:nvPr/>
        </p:nvSpPr>
        <p:spPr>
          <a:xfrm>
            <a:off x="329746" y="3331538"/>
            <a:ext cx="6198508" cy="5414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reprise à la concurrence facilitée</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avec la prise en charge de l’envoi de la résiliation en cas de RIA</a:t>
            </a:r>
            <a:endParaRPr sz="1800">
              <a:solidFill>
                <a:schemeClr val="lt1"/>
              </a:solidFill>
              <a:latin typeface="Calibri"/>
              <a:ea typeface="Calibri"/>
              <a:cs typeface="Calibri"/>
              <a:sym typeface="Calibri"/>
            </a:endParaRPr>
          </a:p>
        </p:txBody>
      </p:sp>
      <p:sp>
        <p:nvSpPr>
          <p:cNvPr id="123" name="Google Shape;123;p15"/>
          <p:cNvSpPr/>
          <p:nvPr/>
        </p:nvSpPr>
        <p:spPr>
          <a:xfrm>
            <a:off x="348343" y="3993813"/>
            <a:ext cx="6198508" cy="541483"/>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NOMBREUX BONUS FIDÉLITÉ sur plusieurs années </a:t>
            </a:r>
            <a:endParaRPr/>
          </a:p>
          <a:p>
            <a:pPr indent="0" lvl="0" marL="0" marR="0" rtl="0" algn="ctr">
              <a:spcBef>
                <a:spcPts val="0"/>
              </a:spcBef>
              <a:spcAft>
                <a:spcPts val="0"/>
              </a:spcAft>
              <a:buNone/>
            </a:pPr>
            <a:r>
              <a:rPr lang="fr-FR" sz="1800">
                <a:solidFill>
                  <a:schemeClr val="lt1"/>
                </a:solidFill>
                <a:latin typeface="Calibri"/>
                <a:ea typeface="Calibri"/>
                <a:cs typeface="Calibri"/>
                <a:sym typeface="Calibri"/>
              </a:rPr>
              <a:t>(bonus supplémentaires à partir de la 4ème année)</a:t>
            </a:r>
            <a:endParaRPr/>
          </a:p>
        </p:txBody>
      </p:sp>
      <p:sp>
        <p:nvSpPr>
          <p:cNvPr id="124" name="Google Shape;124;p15"/>
          <p:cNvSpPr/>
          <p:nvPr/>
        </p:nvSpPr>
        <p:spPr>
          <a:xfrm>
            <a:off x="348343" y="4662620"/>
            <a:ext cx="6198508" cy="3918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20 professions éligibles pour le poste médecine naturelle</a:t>
            </a:r>
            <a:endParaRPr/>
          </a:p>
        </p:txBody>
      </p:sp>
      <p:sp>
        <p:nvSpPr>
          <p:cNvPr id="125" name="Google Shape;125;p15"/>
          <p:cNvSpPr/>
          <p:nvPr/>
        </p:nvSpPr>
        <p:spPr>
          <a:xfrm>
            <a:off x="329746" y="5169169"/>
            <a:ext cx="6198508" cy="56210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CHAMBRE PARTICULIERE ET FRAIS DE SEJOURS EN CAS D’HOSPITALITATION EN ILLIMITÉ</a:t>
            </a:r>
            <a:endParaRPr sz="1800">
              <a:solidFill>
                <a:schemeClr val="lt1"/>
              </a:solidFill>
              <a:latin typeface="Calibri"/>
              <a:ea typeface="Calibri"/>
              <a:cs typeface="Calibri"/>
              <a:sym typeface="Calibri"/>
            </a:endParaRPr>
          </a:p>
        </p:txBody>
      </p:sp>
      <p:sp>
        <p:nvSpPr>
          <p:cNvPr id="126" name="Google Shape;126;p15"/>
          <p:cNvSpPr/>
          <p:nvPr/>
        </p:nvSpPr>
        <p:spPr>
          <a:xfrm>
            <a:off x="348343" y="5839624"/>
            <a:ext cx="6198508" cy="545837"/>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RÉDUCTION POUR LES COUPLES : 10%</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RÉDUCTION POUR LES FAMILLES : 10%</a:t>
            </a:r>
            <a:endParaRPr sz="1800">
              <a:solidFill>
                <a:schemeClr val="lt1"/>
              </a:solidFill>
              <a:latin typeface="Calibri"/>
              <a:ea typeface="Calibri"/>
              <a:cs typeface="Calibri"/>
              <a:sym typeface="Calibri"/>
            </a:endParaRPr>
          </a:p>
        </p:txBody>
      </p:sp>
      <p:sp>
        <p:nvSpPr>
          <p:cNvPr id="127" name="Google Shape;127;p15"/>
          <p:cNvSpPr/>
          <p:nvPr/>
        </p:nvSpPr>
        <p:spPr>
          <a:xfrm>
            <a:off x="348343" y="7882414"/>
            <a:ext cx="6198508" cy="1503336"/>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L’assistance IMA en inclusion </a:t>
            </a:r>
            <a:r>
              <a:rPr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disponibles 7j/7, 24h/24</a:t>
            </a:r>
            <a:endParaRPr/>
          </a:p>
          <a:p>
            <a:pPr indent="0" lvl="0" marL="0" marR="0" rtl="0" algn="ctr">
              <a:spcBef>
                <a:spcPts val="0"/>
              </a:spcBef>
              <a:spcAft>
                <a:spcPts val="0"/>
              </a:spcAft>
              <a:buNone/>
            </a:pPr>
            <a:r>
              <a:rPr lang="fr-FR" sz="1800">
                <a:solidFill>
                  <a:schemeClr val="lt1"/>
                </a:solidFill>
                <a:latin typeface="Calibri"/>
                <a:ea typeface="Calibri"/>
                <a:cs typeface="Calibri"/>
                <a:sym typeface="Calibri"/>
              </a:rPr>
              <a:t> </a:t>
            </a:r>
            <a:r>
              <a:rPr b="1" lang="fr-FR" sz="1800">
                <a:solidFill>
                  <a:schemeClr val="lt1"/>
                </a:solidFill>
                <a:latin typeface="Calibri"/>
                <a:ea typeface="Calibri"/>
                <a:cs typeface="Calibri"/>
                <a:sym typeface="Calibri"/>
              </a:rPr>
              <a:t>Des garanties haut de gamme </a:t>
            </a:r>
            <a:r>
              <a:rPr lang="fr-FR" sz="1400">
                <a:solidFill>
                  <a:schemeClr val="lt1"/>
                </a:solidFill>
                <a:latin typeface="Calibri"/>
                <a:ea typeface="Calibri"/>
                <a:cs typeface="Calibri"/>
                <a:sym typeface="Calibri"/>
              </a:rPr>
              <a:t>en cas d’hospitalisation ou immobilisation, en cas de décès, en cas déplacement, ….</a:t>
            </a:r>
            <a:endParaRPr sz="1800">
              <a:solidFill>
                <a:schemeClr val="lt1"/>
              </a:solidFill>
              <a:latin typeface="Calibri"/>
              <a:ea typeface="Calibri"/>
              <a:cs typeface="Calibri"/>
              <a:sym typeface="Calibri"/>
            </a:endParaRPr>
          </a:p>
        </p:txBody>
      </p:sp>
      <p:grpSp>
        <p:nvGrpSpPr>
          <p:cNvPr id="128" name="Google Shape;128;p15"/>
          <p:cNvGrpSpPr/>
          <p:nvPr/>
        </p:nvGrpSpPr>
        <p:grpSpPr>
          <a:xfrm>
            <a:off x="1248230" y="945460"/>
            <a:ext cx="5215617" cy="1038433"/>
            <a:chOff x="1248230" y="945460"/>
            <a:chExt cx="5215617" cy="1038433"/>
          </a:xfrm>
        </p:grpSpPr>
        <p:sp>
          <p:nvSpPr>
            <p:cNvPr id="129" name="Google Shape;129;p15"/>
            <p:cNvSpPr txBox="1"/>
            <p:nvPr/>
          </p:nvSpPr>
          <p:spPr>
            <a:xfrm>
              <a:off x="2283732" y="1029786"/>
              <a:ext cx="4180115"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Pourquoi choisir Néoliane</a:t>
              </a:r>
              <a:endParaRPr b="1" sz="2800">
                <a:solidFill>
                  <a:schemeClr val="dk1"/>
                </a:solidFill>
                <a:latin typeface="Calibri"/>
                <a:ea typeface="Calibri"/>
                <a:cs typeface="Calibri"/>
                <a:sym typeface="Calibri"/>
              </a:endParaRPr>
            </a:p>
            <a:p>
              <a:pPr indent="0" lvl="0" marL="0" marR="0" rtl="0" algn="ctr">
                <a:spcBef>
                  <a:spcPts val="0"/>
                </a:spcBef>
                <a:spcAft>
                  <a:spcPts val="0"/>
                </a:spcAft>
                <a:buNone/>
              </a:pPr>
              <a:r>
                <a:rPr b="1" lang="fr-FR" sz="2800">
                  <a:solidFill>
                    <a:schemeClr val="dk1"/>
                  </a:solidFill>
                  <a:latin typeface="Calibri"/>
                  <a:ea typeface="Calibri"/>
                  <a:cs typeface="Calibri"/>
                  <a:sym typeface="Calibri"/>
                </a:rPr>
                <a:t>Plénitude?</a:t>
              </a:r>
              <a:endParaRPr/>
            </a:p>
          </p:txBody>
        </p:sp>
        <p:pic>
          <p:nvPicPr>
            <p:cNvPr descr="Bonne idée - Icônes commercialisation gratuites" id="130" name="Google Shape;130;p15"/>
            <p:cNvPicPr preferRelativeResize="0"/>
            <p:nvPr/>
          </p:nvPicPr>
          <p:blipFill rotWithShape="1">
            <a:blip r:embed="rId3">
              <a:alphaModFix/>
            </a:blip>
            <a:srcRect b="0" l="0" r="0" t="0"/>
            <a:stretch/>
          </p:blipFill>
          <p:spPr>
            <a:xfrm>
              <a:off x="1248230" y="945460"/>
              <a:ext cx="1035502" cy="1035502"/>
            </a:xfrm>
            <a:prstGeom prst="rect">
              <a:avLst/>
            </a:prstGeom>
            <a:noFill/>
            <a:ln>
              <a:noFill/>
            </a:ln>
          </p:spPr>
        </p:pic>
      </p:grpSp>
      <p:sp>
        <p:nvSpPr>
          <p:cNvPr id="131" name="Google Shape;131;p15"/>
          <p:cNvSpPr/>
          <p:nvPr/>
        </p:nvSpPr>
        <p:spPr>
          <a:xfrm>
            <a:off x="348343" y="6492460"/>
            <a:ext cx="6198508" cy="1283048"/>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L’accès au réseau de soins Carte Blanche, 1er réseau de soins de santé de France. </a:t>
            </a:r>
            <a:r>
              <a:rPr lang="fr-FR" sz="1400">
                <a:solidFill>
                  <a:schemeClr val="lt1"/>
                </a:solidFill>
                <a:latin typeface="Calibri"/>
                <a:ea typeface="Calibri"/>
                <a:cs typeface="Calibri"/>
                <a:sym typeface="Calibri"/>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sz="1800">
              <a:solidFill>
                <a:schemeClr val="lt1"/>
              </a:solidFill>
              <a:latin typeface="Calibri"/>
              <a:ea typeface="Calibri"/>
              <a:cs typeface="Calibri"/>
              <a:sym typeface="Calibri"/>
            </a:endParaRPr>
          </a:p>
        </p:txBody>
      </p:sp>
      <p:grpSp>
        <p:nvGrpSpPr>
          <p:cNvPr id="132" name="Google Shape;132;p15"/>
          <p:cNvGrpSpPr/>
          <p:nvPr/>
        </p:nvGrpSpPr>
        <p:grpSpPr>
          <a:xfrm>
            <a:off x="101600" y="93434"/>
            <a:ext cx="6686550" cy="628847"/>
            <a:chOff x="101600" y="93434"/>
            <a:chExt cx="6686550" cy="628847"/>
          </a:xfrm>
        </p:grpSpPr>
        <p:sp>
          <p:nvSpPr>
            <p:cNvPr id="133" name="Google Shape;133;p15"/>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Plénitude   by                               assuré par                                 </a:t>
              </a:r>
              <a:endParaRPr/>
            </a:p>
          </p:txBody>
        </p:sp>
        <p:pic>
          <p:nvPicPr>
            <p:cNvPr descr="Néoliane Santé &amp; Prévoyance" id="134" name="Google Shape;134;p15"/>
            <p:cNvPicPr preferRelativeResize="0"/>
            <p:nvPr/>
          </p:nvPicPr>
          <p:blipFill rotWithShape="1">
            <a:blip r:embed="rId4">
              <a:alphaModFix/>
            </a:blip>
            <a:srcRect b="0" l="0" r="0" t="0"/>
            <a:stretch/>
          </p:blipFill>
          <p:spPr>
            <a:xfrm>
              <a:off x="2495759" y="290464"/>
              <a:ext cx="1206122" cy="234590"/>
            </a:xfrm>
            <a:prstGeom prst="rect">
              <a:avLst/>
            </a:prstGeom>
            <a:noFill/>
            <a:ln>
              <a:noFill/>
            </a:ln>
          </p:spPr>
        </p:pic>
        <p:pic>
          <p:nvPicPr>
            <p:cNvPr descr="Animaux Santé | Mutuelle Animaux" id="135" name="Google Shape;135;p15"/>
            <p:cNvPicPr preferRelativeResize="0"/>
            <p:nvPr/>
          </p:nvPicPr>
          <p:blipFill rotWithShape="1">
            <a:blip r:embed="rId5">
              <a:alphaModFix/>
            </a:blip>
            <a:srcRect b="0" l="0" r="0" t="0"/>
            <a:stretch/>
          </p:blipFill>
          <p:spPr>
            <a:xfrm>
              <a:off x="4996299" y="93434"/>
              <a:ext cx="1627605" cy="628847"/>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cce87faa04_0_0"/>
          <p:cNvSpPr txBox="1"/>
          <p:nvPr>
            <p:ph type="title"/>
          </p:nvPr>
        </p:nvSpPr>
        <p:spPr>
          <a:xfrm>
            <a:off x="471488" y="527404"/>
            <a:ext cx="5915100" cy="191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descr="Bouton Logo Les Dents - Images vectorielles gratuites sur Pixabay - Pixabay" id="146" name="Google Shape;146;p16"/>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sp>
        <p:nvSpPr>
          <p:cNvPr id="147" name="Google Shape;147;p16"/>
          <p:cNvSpPr txBox="1"/>
          <p:nvPr/>
        </p:nvSpPr>
        <p:spPr>
          <a:xfrm>
            <a:off x="1861431" y="1016126"/>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passer par le réseau de soin Carte Blanche ?</a:t>
            </a:r>
            <a:endParaRPr/>
          </a:p>
        </p:txBody>
      </p:sp>
      <p:grpSp>
        <p:nvGrpSpPr>
          <p:cNvPr id="148" name="Google Shape;148;p16"/>
          <p:cNvGrpSpPr/>
          <p:nvPr/>
        </p:nvGrpSpPr>
        <p:grpSpPr>
          <a:xfrm>
            <a:off x="526788" y="2057326"/>
            <a:ext cx="6247576" cy="2677656"/>
            <a:chOff x="343724" y="2264276"/>
            <a:chExt cx="6069776" cy="2677656"/>
          </a:xfrm>
        </p:grpSpPr>
        <p:pic>
          <p:nvPicPr>
            <p:cNvPr descr="Feingeist - Lunette Pour Les Ecran - Free Transparent PNG Clipart Images  Download" id="149" name="Google Shape;149;p16"/>
            <p:cNvPicPr preferRelativeResize="0"/>
            <p:nvPr/>
          </p:nvPicPr>
          <p:blipFill rotWithShape="1">
            <a:blip r:embed="rId4">
              <a:alphaModFix/>
            </a:blip>
            <a:srcRect b="0" l="0" r="0" t="0"/>
            <a:stretch/>
          </p:blipFill>
          <p:spPr>
            <a:xfrm>
              <a:off x="343724" y="2264276"/>
              <a:ext cx="1272560" cy="570377"/>
            </a:xfrm>
            <a:prstGeom prst="rect">
              <a:avLst/>
            </a:prstGeom>
            <a:noFill/>
            <a:ln>
              <a:noFill/>
            </a:ln>
          </p:spPr>
        </p:pic>
        <p:sp>
          <p:nvSpPr>
            <p:cNvPr id="150" name="Google Shape;150;p16"/>
            <p:cNvSpPr txBox="1"/>
            <p:nvPr/>
          </p:nvSpPr>
          <p:spPr>
            <a:xfrm>
              <a:off x="1382902" y="2264276"/>
              <a:ext cx="5030598"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optique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des équipements optique (lentilles et lunettes) : </a:t>
              </a:r>
              <a:r>
                <a:rPr b="1" i="0" lang="fr-FR" sz="1400">
                  <a:solidFill>
                    <a:srgbClr val="161615"/>
                  </a:solidFill>
                  <a:latin typeface="Arial"/>
                  <a:ea typeface="Arial"/>
                  <a:cs typeface="Arial"/>
                  <a:sym typeface="Arial"/>
                </a:rPr>
                <a:t>jusqu’à 40 % </a:t>
              </a:r>
              <a:r>
                <a:rPr b="0" i="0" lang="fr-FR" sz="1400">
                  <a:solidFill>
                    <a:srgbClr val="161615"/>
                  </a:solidFill>
                  <a:latin typeface="Arial"/>
                  <a:ea typeface="Arial"/>
                  <a:cs typeface="Arial"/>
                  <a:sym typeface="Arial"/>
                </a:rPr>
                <a:t>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garanties supplémentaires: comme une protection contre la casse pendant 2 ans, l’adaptation des verres pendant 6 mois, L’entretien et le réajustement des lunettes gratuits chez l’opticien fournisseur.</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large choix grâce à un catalogue de plus de </a:t>
              </a:r>
              <a:r>
                <a:rPr b="1" i="0" lang="fr-FR" sz="1400">
                  <a:solidFill>
                    <a:srgbClr val="161615"/>
                  </a:solidFill>
                  <a:latin typeface="Arial"/>
                  <a:ea typeface="Arial"/>
                  <a:cs typeface="Arial"/>
                  <a:sym typeface="Arial"/>
                </a:rPr>
                <a:t>66 000 </a:t>
              </a:r>
              <a:r>
                <a:rPr b="0" i="0" lang="fr-FR" sz="1400">
                  <a:solidFill>
                    <a:srgbClr val="161615"/>
                  </a:solidFill>
                  <a:latin typeface="Arial"/>
                  <a:ea typeface="Arial"/>
                  <a:cs typeface="Arial"/>
                  <a:sym typeface="Arial"/>
                </a:rPr>
                <a:t>références.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pour ne pas avancer d’argent à l’achat d’une paire de lunettes ou de lentilles.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Deux devis complets avant l’achat d’un équipement optique.</a:t>
              </a:r>
              <a:endParaRPr/>
            </a:p>
          </p:txBody>
        </p:sp>
      </p:grpSp>
      <p:grpSp>
        <p:nvGrpSpPr>
          <p:cNvPr id="151" name="Google Shape;151;p16"/>
          <p:cNvGrpSpPr/>
          <p:nvPr/>
        </p:nvGrpSpPr>
        <p:grpSpPr>
          <a:xfrm>
            <a:off x="1954742" y="4890676"/>
            <a:ext cx="4970666" cy="954107"/>
            <a:chOff x="1730184" y="4376845"/>
            <a:chExt cx="4992359" cy="954107"/>
          </a:xfrm>
        </p:grpSpPr>
        <p:pic>
          <p:nvPicPr>
            <p:cNvPr descr="Icône D'oreille Pour Vos Sites De Conception Et Projets PNG , Audio, Oreille,  Écoutez Licône PNG et vecteur pour téléchargement gratuit" id="152" name="Google Shape;152;p16"/>
            <p:cNvPicPr preferRelativeResize="0"/>
            <p:nvPr/>
          </p:nvPicPr>
          <p:blipFill rotWithShape="1">
            <a:blip r:embed="rId5">
              <a:alphaModFix/>
            </a:blip>
            <a:srcRect b="18906" l="27976" r="29441" t="19011"/>
            <a:stretch/>
          </p:blipFill>
          <p:spPr>
            <a:xfrm>
              <a:off x="1730184" y="4471524"/>
              <a:ext cx="445059" cy="648876"/>
            </a:xfrm>
            <a:prstGeom prst="rect">
              <a:avLst/>
            </a:prstGeom>
            <a:noFill/>
            <a:ln>
              <a:noFill/>
            </a:ln>
          </p:spPr>
        </p:pic>
        <p:sp>
          <p:nvSpPr>
            <p:cNvPr id="153" name="Google Shape;153;p16"/>
            <p:cNvSpPr txBox="1"/>
            <p:nvPr/>
          </p:nvSpPr>
          <p:spPr>
            <a:xfrm>
              <a:off x="2175244" y="4376845"/>
              <a:ext cx="454729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Audio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(jusqu’à 20 % de réduction), une vraie expertise, des facilités de paiement et un suivi régulier pour adapter au mieux vos appareils auditifs.</a:t>
              </a:r>
              <a:endParaRPr/>
            </a:p>
          </p:txBody>
        </p:sp>
      </p:grpSp>
      <p:grpSp>
        <p:nvGrpSpPr>
          <p:cNvPr id="154" name="Google Shape;154;p16"/>
          <p:cNvGrpSpPr/>
          <p:nvPr/>
        </p:nvGrpSpPr>
        <p:grpSpPr>
          <a:xfrm>
            <a:off x="36855" y="6000478"/>
            <a:ext cx="6688442" cy="2462213"/>
            <a:chOff x="521694" y="6041286"/>
            <a:chExt cx="5897889" cy="2462213"/>
          </a:xfrm>
        </p:grpSpPr>
        <p:pic>
          <p:nvPicPr>
            <p:cNvPr descr="Bouton Logo Les Dents - Images vectorielles gratuites sur Pixabay - Pixabay" id="155" name="Google Shape;155;p16"/>
            <p:cNvPicPr preferRelativeResize="0"/>
            <p:nvPr/>
          </p:nvPicPr>
          <p:blipFill rotWithShape="1">
            <a:blip r:embed="rId3">
              <a:alphaModFix/>
            </a:blip>
            <a:srcRect b="0" l="0" r="0" t="0"/>
            <a:stretch/>
          </p:blipFill>
          <p:spPr>
            <a:xfrm>
              <a:off x="521694" y="6128182"/>
              <a:ext cx="665284" cy="665284"/>
            </a:xfrm>
            <a:prstGeom prst="rect">
              <a:avLst/>
            </a:prstGeom>
            <a:noFill/>
            <a:ln>
              <a:noFill/>
            </a:ln>
          </p:spPr>
        </p:pic>
        <p:sp>
          <p:nvSpPr>
            <p:cNvPr id="156" name="Google Shape;156;p16"/>
            <p:cNvSpPr txBox="1"/>
            <p:nvPr/>
          </p:nvSpPr>
          <p:spPr>
            <a:xfrm>
              <a:off x="1144276" y="6041286"/>
              <a:ext cx="5275307"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partenariat Dentaire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les prothèses dentaires : jusqu’à 15 % 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équipement de qualité grâce à la traçabilité des prothèses dentaires (certification des laboratoires choisis et respect des règlements européens).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Une prévention bucco-dentaire favorisée grâce au partenariat avec l’UFSBD (Union Française pour la Santé Bucco Dentaire).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national pour ne pas avancer les frais de vos soins.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annuaire des dentistes partenaires en ligne pour trouver le professionnel le plus proche de vous</a:t>
              </a:r>
              <a:endParaRPr/>
            </a:p>
          </p:txBody>
        </p:sp>
      </p:grpSp>
      <p:grpSp>
        <p:nvGrpSpPr>
          <p:cNvPr id="157" name="Google Shape;157;p16"/>
          <p:cNvGrpSpPr/>
          <p:nvPr/>
        </p:nvGrpSpPr>
        <p:grpSpPr>
          <a:xfrm>
            <a:off x="1425933" y="8618386"/>
            <a:ext cx="5250295" cy="954107"/>
            <a:chOff x="1261356" y="7842852"/>
            <a:chExt cx="5526794" cy="954107"/>
          </a:xfrm>
        </p:grpSpPr>
        <p:pic>
          <p:nvPicPr>
            <p:cNvPr descr="Centre d'ostéopathie - Roxane Gervais St-Amour D.O." id="158" name="Google Shape;158;p16"/>
            <p:cNvPicPr preferRelativeResize="0"/>
            <p:nvPr/>
          </p:nvPicPr>
          <p:blipFill rotWithShape="1">
            <a:blip r:embed="rId6">
              <a:alphaModFix/>
            </a:blip>
            <a:srcRect b="0" l="0" r="0" t="0"/>
            <a:stretch/>
          </p:blipFill>
          <p:spPr>
            <a:xfrm>
              <a:off x="1261356" y="7910070"/>
              <a:ext cx="719680" cy="722893"/>
            </a:xfrm>
            <a:prstGeom prst="rect">
              <a:avLst/>
            </a:prstGeom>
            <a:noFill/>
            <a:ln>
              <a:noFill/>
            </a:ln>
          </p:spPr>
        </p:pic>
        <p:sp>
          <p:nvSpPr>
            <p:cNvPr id="159" name="Google Shape;159;p16"/>
            <p:cNvSpPr txBox="1"/>
            <p:nvPr/>
          </p:nvSpPr>
          <p:spPr>
            <a:xfrm>
              <a:off x="1860500" y="7842852"/>
              <a:ext cx="492765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Prévention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accès à la pratique de certaines médecines douces (chez l’ostéopathe, le diététicien, le pédicure, le podologue…).</a:t>
              </a:r>
              <a:endParaRPr/>
            </a:p>
          </p:txBody>
        </p:sp>
      </p:grpSp>
      <p:pic>
        <p:nvPicPr>
          <p:cNvPr id="160" name="Google Shape;160;p16">
            <a:hlinkClick r:id="rId7"/>
          </p:cNvPr>
          <p:cNvPicPr preferRelativeResize="0"/>
          <p:nvPr/>
        </p:nvPicPr>
        <p:blipFill rotWithShape="1">
          <a:blip r:embed="rId8">
            <a:alphaModFix/>
          </a:blip>
          <a:srcRect b="0" l="0" r="0" t="0"/>
          <a:stretch/>
        </p:blipFill>
        <p:spPr>
          <a:xfrm>
            <a:off x="862202" y="952573"/>
            <a:ext cx="1092540" cy="1040716"/>
          </a:xfrm>
          <a:prstGeom prst="rect">
            <a:avLst/>
          </a:prstGeom>
          <a:noFill/>
          <a:ln>
            <a:noFill/>
          </a:ln>
        </p:spPr>
      </p:pic>
      <p:grpSp>
        <p:nvGrpSpPr>
          <p:cNvPr id="161" name="Google Shape;161;p16"/>
          <p:cNvGrpSpPr/>
          <p:nvPr/>
        </p:nvGrpSpPr>
        <p:grpSpPr>
          <a:xfrm>
            <a:off x="101600" y="93434"/>
            <a:ext cx="6686550" cy="628847"/>
            <a:chOff x="101600" y="93434"/>
            <a:chExt cx="6686550" cy="628847"/>
          </a:xfrm>
        </p:grpSpPr>
        <p:sp>
          <p:nvSpPr>
            <p:cNvPr id="162" name="Google Shape;162;p16"/>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Plénitude   by                               assuré par                                 </a:t>
              </a:r>
              <a:endParaRPr/>
            </a:p>
          </p:txBody>
        </p:sp>
        <p:pic>
          <p:nvPicPr>
            <p:cNvPr descr="Néoliane Santé &amp; Prévoyance" id="163" name="Google Shape;163;p16"/>
            <p:cNvPicPr preferRelativeResize="0"/>
            <p:nvPr/>
          </p:nvPicPr>
          <p:blipFill rotWithShape="1">
            <a:blip r:embed="rId9">
              <a:alphaModFix/>
            </a:blip>
            <a:srcRect b="0" l="0" r="0" t="0"/>
            <a:stretch/>
          </p:blipFill>
          <p:spPr>
            <a:xfrm>
              <a:off x="2495759" y="290464"/>
              <a:ext cx="1206122" cy="234590"/>
            </a:xfrm>
            <a:prstGeom prst="rect">
              <a:avLst/>
            </a:prstGeom>
            <a:noFill/>
            <a:ln>
              <a:noFill/>
            </a:ln>
          </p:spPr>
        </p:pic>
        <p:pic>
          <p:nvPicPr>
            <p:cNvPr descr="Animaux Santé | Mutuelle Animaux" id="164" name="Google Shape;164;p16"/>
            <p:cNvPicPr preferRelativeResize="0"/>
            <p:nvPr/>
          </p:nvPicPr>
          <p:blipFill rotWithShape="1">
            <a:blip r:embed="rId10">
              <a:alphaModFix/>
            </a:blip>
            <a:srcRect b="0" l="0" r="0" t="0"/>
            <a:stretch/>
          </p:blipFill>
          <p:spPr>
            <a:xfrm>
              <a:off x="4996299" y="93434"/>
              <a:ext cx="1627605" cy="628847"/>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Bouton Logo Les Dents - Images vectorielles gratuites sur Pixabay - Pixabay" id="169" name="Google Shape;169;p17"/>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grpSp>
        <p:nvGrpSpPr>
          <p:cNvPr id="170" name="Google Shape;170;p17"/>
          <p:cNvGrpSpPr/>
          <p:nvPr/>
        </p:nvGrpSpPr>
        <p:grpSpPr>
          <a:xfrm>
            <a:off x="101600" y="93434"/>
            <a:ext cx="6686550" cy="628847"/>
            <a:chOff x="101600" y="93434"/>
            <a:chExt cx="6686550" cy="628847"/>
          </a:xfrm>
        </p:grpSpPr>
        <p:sp>
          <p:nvSpPr>
            <p:cNvPr id="171" name="Google Shape;171;p17"/>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Plénitude   by                               assuré par                                 </a:t>
              </a:r>
              <a:endParaRPr/>
            </a:p>
          </p:txBody>
        </p:sp>
        <p:pic>
          <p:nvPicPr>
            <p:cNvPr descr="Néoliane Santé &amp; Prévoyance" id="172" name="Google Shape;172;p17"/>
            <p:cNvPicPr preferRelativeResize="0"/>
            <p:nvPr/>
          </p:nvPicPr>
          <p:blipFill rotWithShape="1">
            <a:blip r:embed="rId4">
              <a:alphaModFix/>
            </a:blip>
            <a:srcRect b="0" l="0" r="0" t="0"/>
            <a:stretch/>
          </p:blipFill>
          <p:spPr>
            <a:xfrm>
              <a:off x="2495759" y="290464"/>
              <a:ext cx="1206122" cy="234590"/>
            </a:xfrm>
            <a:prstGeom prst="rect">
              <a:avLst/>
            </a:prstGeom>
            <a:noFill/>
            <a:ln>
              <a:noFill/>
            </a:ln>
          </p:spPr>
        </p:pic>
        <p:pic>
          <p:nvPicPr>
            <p:cNvPr descr="Animaux Santé | Mutuelle Animaux" id="173" name="Google Shape;173;p17"/>
            <p:cNvPicPr preferRelativeResize="0"/>
            <p:nvPr/>
          </p:nvPicPr>
          <p:blipFill rotWithShape="1">
            <a:blip r:embed="rId5">
              <a:alphaModFix/>
            </a:blip>
            <a:srcRect b="0" l="0" r="0" t="0"/>
            <a:stretch/>
          </p:blipFill>
          <p:spPr>
            <a:xfrm>
              <a:off x="4996299" y="93434"/>
              <a:ext cx="1627605" cy="628847"/>
            </a:xfrm>
            <a:prstGeom prst="rect">
              <a:avLst/>
            </a:prstGeom>
            <a:noFill/>
            <a:ln>
              <a:noFill/>
            </a:ln>
          </p:spPr>
        </p:pic>
      </p:grpSp>
      <p:pic>
        <p:nvPicPr>
          <p:cNvPr descr="Comment contacter Inter Mutuelles Assistance ?" id="174" name="Google Shape;174;p17">
            <a:hlinkClick r:id="rId6"/>
          </p:cNvPr>
          <p:cNvPicPr preferRelativeResize="0"/>
          <p:nvPr/>
        </p:nvPicPr>
        <p:blipFill rotWithShape="1">
          <a:blip r:embed="rId7">
            <a:alphaModFix/>
          </a:blip>
          <a:srcRect b="23858" l="0" r="4129" t="28225"/>
          <a:stretch/>
        </p:blipFill>
        <p:spPr>
          <a:xfrm>
            <a:off x="993948" y="862992"/>
            <a:ext cx="1463258" cy="811474"/>
          </a:xfrm>
          <a:prstGeom prst="rect">
            <a:avLst/>
          </a:prstGeom>
          <a:noFill/>
          <a:ln>
            <a:noFill/>
          </a:ln>
        </p:spPr>
      </p:pic>
      <p:sp>
        <p:nvSpPr>
          <p:cNvPr id="175" name="Google Shape;175;p17"/>
          <p:cNvSpPr txBox="1"/>
          <p:nvPr/>
        </p:nvSpPr>
        <p:spPr>
          <a:xfrm>
            <a:off x="1999662" y="839301"/>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faire appel à l’assistance IMA ?</a:t>
            </a:r>
            <a:endParaRPr/>
          </a:p>
        </p:txBody>
      </p:sp>
      <p:sp>
        <p:nvSpPr>
          <p:cNvPr id="176" name="Google Shape;176;p17"/>
          <p:cNvSpPr txBox="1"/>
          <p:nvPr/>
        </p:nvSpPr>
        <p:spPr>
          <a:xfrm>
            <a:off x="956518" y="2582472"/>
            <a:ext cx="491033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En cas d’hospitalisation ou d’immobilisation,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IMA vous propose gratuitement:</a:t>
            </a:r>
            <a:endParaRPr/>
          </a:p>
        </p:txBody>
      </p:sp>
      <p:grpSp>
        <p:nvGrpSpPr>
          <p:cNvPr id="177" name="Google Shape;177;p17"/>
          <p:cNvGrpSpPr/>
          <p:nvPr/>
        </p:nvGrpSpPr>
        <p:grpSpPr>
          <a:xfrm>
            <a:off x="120105" y="3514045"/>
            <a:ext cx="6020613" cy="811475"/>
            <a:chOff x="400050" y="2786464"/>
            <a:chExt cx="6020613" cy="811475"/>
          </a:xfrm>
        </p:grpSpPr>
        <p:sp>
          <p:nvSpPr>
            <p:cNvPr id="178" name="Google Shape;178;p17"/>
            <p:cNvSpPr txBox="1"/>
            <p:nvPr/>
          </p:nvSpPr>
          <p:spPr>
            <a:xfrm>
              <a:off x="987223" y="2897890"/>
              <a:ext cx="5433440"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 l’aide à domicile: (ménage, repas, vaisselle, course à proximité</a:t>
              </a:r>
              <a:endParaRPr/>
            </a:p>
          </p:txBody>
        </p:sp>
        <p:pic>
          <p:nvPicPr>
            <p:cNvPr id="179" name="Google Shape;179;p17"/>
            <p:cNvPicPr preferRelativeResize="0"/>
            <p:nvPr/>
          </p:nvPicPr>
          <p:blipFill rotWithShape="1">
            <a:blip r:embed="rId8">
              <a:alphaModFix/>
            </a:blip>
            <a:srcRect b="0" l="0" r="0" t="0"/>
            <a:stretch/>
          </p:blipFill>
          <p:spPr>
            <a:xfrm>
              <a:off x="400050" y="2786464"/>
              <a:ext cx="591075" cy="811475"/>
            </a:xfrm>
            <a:prstGeom prst="rect">
              <a:avLst/>
            </a:prstGeom>
            <a:noFill/>
            <a:ln>
              <a:noFill/>
            </a:ln>
          </p:spPr>
        </p:pic>
      </p:grpSp>
      <p:grpSp>
        <p:nvGrpSpPr>
          <p:cNvPr id="180" name="Google Shape;180;p17"/>
          <p:cNvGrpSpPr/>
          <p:nvPr/>
        </p:nvGrpSpPr>
        <p:grpSpPr>
          <a:xfrm>
            <a:off x="993948" y="4589245"/>
            <a:ext cx="5639929" cy="662278"/>
            <a:chOff x="222327" y="3957748"/>
            <a:chExt cx="6053947" cy="662278"/>
          </a:xfrm>
        </p:grpSpPr>
        <p:sp>
          <p:nvSpPr>
            <p:cNvPr id="181" name="Google Shape;181;p17"/>
            <p:cNvSpPr txBox="1"/>
            <p:nvPr/>
          </p:nvSpPr>
          <p:spPr>
            <a:xfrm>
              <a:off x="943701" y="4097900"/>
              <a:ext cx="5332573"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Livraison des médicaments</a:t>
              </a:r>
              <a:endParaRPr b="0" i="0" sz="1400">
                <a:solidFill>
                  <a:srgbClr val="161615"/>
                </a:solidFill>
                <a:latin typeface="Arial"/>
                <a:ea typeface="Arial"/>
                <a:cs typeface="Arial"/>
                <a:sym typeface="Arial"/>
              </a:endParaRPr>
            </a:p>
          </p:txBody>
        </p:sp>
        <p:pic>
          <p:nvPicPr>
            <p:cNvPr id="182" name="Google Shape;182;p17"/>
            <p:cNvPicPr preferRelativeResize="0"/>
            <p:nvPr/>
          </p:nvPicPr>
          <p:blipFill rotWithShape="1">
            <a:blip r:embed="rId9">
              <a:alphaModFix/>
            </a:blip>
            <a:srcRect b="0" l="0" r="0" t="0"/>
            <a:stretch/>
          </p:blipFill>
          <p:spPr>
            <a:xfrm>
              <a:off x="222327" y="3957748"/>
              <a:ext cx="768798" cy="662278"/>
            </a:xfrm>
            <a:prstGeom prst="rect">
              <a:avLst/>
            </a:prstGeom>
            <a:noFill/>
            <a:ln>
              <a:noFill/>
            </a:ln>
          </p:spPr>
        </p:pic>
      </p:grpSp>
      <p:grpSp>
        <p:nvGrpSpPr>
          <p:cNvPr id="183" name="Google Shape;183;p17"/>
          <p:cNvGrpSpPr/>
          <p:nvPr/>
        </p:nvGrpSpPr>
        <p:grpSpPr>
          <a:xfrm>
            <a:off x="273017" y="5847231"/>
            <a:ext cx="6198819" cy="733785"/>
            <a:chOff x="222327" y="5188381"/>
            <a:chExt cx="6198819" cy="733785"/>
          </a:xfrm>
        </p:grpSpPr>
        <p:pic>
          <p:nvPicPr>
            <p:cNvPr id="184" name="Google Shape;184;p17"/>
            <p:cNvPicPr preferRelativeResize="0"/>
            <p:nvPr/>
          </p:nvPicPr>
          <p:blipFill rotWithShape="1">
            <a:blip r:embed="rId10">
              <a:alphaModFix/>
            </a:blip>
            <a:srcRect b="0" l="0" r="0" t="0"/>
            <a:stretch/>
          </p:blipFill>
          <p:spPr>
            <a:xfrm>
              <a:off x="222327" y="5188381"/>
              <a:ext cx="836413" cy="733785"/>
            </a:xfrm>
            <a:prstGeom prst="rect">
              <a:avLst/>
            </a:prstGeom>
            <a:noFill/>
            <a:ln>
              <a:noFill/>
            </a:ln>
          </p:spPr>
        </p:pic>
        <p:sp>
          <p:nvSpPr>
            <p:cNvPr id="185" name="Google Shape;185;p17"/>
            <p:cNvSpPr txBox="1"/>
            <p:nvPr/>
          </p:nvSpPr>
          <p:spPr>
            <a:xfrm>
              <a:off x="1088573" y="5248670"/>
              <a:ext cx="5332573" cy="5232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La prise en charge l’animal chez l’adhérant, par un pet Sitter </a:t>
              </a:r>
              <a:endParaRPr/>
            </a:p>
            <a:p>
              <a:pPr indent="0" lvl="0" marL="0" marR="0" rtl="0" algn="l">
                <a:spcBef>
                  <a:spcPts val="0"/>
                </a:spcBef>
                <a:spcAft>
                  <a:spcPts val="0"/>
                </a:spcAft>
                <a:buNone/>
              </a:pPr>
              <a:r>
                <a:rPr lang="fr-FR" sz="1400">
                  <a:solidFill>
                    <a:srgbClr val="161615"/>
                  </a:solidFill>
                  <a:latin typeface="Arial"/>
                  <a:ea typeface="Arial"/>
                  <a:cs typeface="Arial"/>
                  <a:sym typeface="Arial"/>
                </a:rPr>
                <a:t> (Visite, promenade, garde, …)</a:t>
              </a:r>
              <a:endParaRPr/>
            </a:p>
          </p:txBody>
        </p:sp>
      </p:grpSp>
      <p:grpSp>
        <p:nvGrpSpPr>
          <p:cNvPr id="186" name="Google Shape;186;p17"/>
          <p:cNvGrpSpPr/>
          <p:nvPr/>
        </p:nvGrpSpPr>
        <p:grpSpPr>
          <a:xfrm>
            <a:off x="1109430" y="7419366"/>
            <a:ext cx="5524447" cy="609704"/>
            <a:chOff x="194325" y="7406539"/>
            <a:chExt cx="6214502" cy="609704"/>
          </a:xfrm>
        </p:grpSpPr>
        <p:sp>
          <p:nvSpPr>
            <p:cNvPr id="187" name="Google Shape;187;p17"/>
            <p:cNvSpPr txBox="1"/>
            <p:nvPr/>
          </p:nvSpPr>
          <p:spPr>
            <a:xfrm>
              <a:off x="1076254" y="7449781"/>
              <a:ext cx="5332573" cy="5232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Le déplacement aller et retour, d’un proche et son hébergement pendant 2 nuits</a:t>
              </a:r>
              <a:endParaRPr/>
            </a:p>
          </p:txBody>
        </p:sp>
        <p:pic>
          <p:nvPicPr>
            <p:cNvPr id="188" name="Google Shape;188;p17"/>
            <p:cNvPicPr preferRelativeResize="0"/>
            <p:nvPr/>
          </p:nvPicPr>
          <p:blipFill rotWithShape="1">
            <a:blip r:embed="rId11">
              <a:alphaModFix/>
            </a:blip>
            <a:srcRect b="0" l="0" r="0" t="0"/>
            <a:stretch/>
          </p:blipFill>
          <p:spPr>
            <a:xfrm>
              <a:off x="194325" y="7406539"/>
              <a:ext cx="848744" cy="609704"/>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Bouton Logo Les Dents - Images vectorielles gratuites sur Pixabay - Pixabay" id="193" name="Google Shape;193;p18"/>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194" name="Google Shape;194;p18"/>
          <p:cNvPicPr preferRelativeResize="0"/>
          <p:nvPr/>
        </p:nvPicPr>
        <p:blipFill rotWithShape="1">
          <a:blip r:embed="rId4">
            <a:alphaModFix/>
          </a:blip>
          <a:srcRect b="13073" l="12590" r="12611" t="9007"/>
          <a:stretch/>
        </p:blipFill>
        <p:spPr>
          <a:xfrm>
            <a:off x="2566913" y="1052692"/>
            <a:ext cx="1489221" cy="1060948"/>
          </a:xfrm>
          <a:prstGeom prst="rect">
            <a:avLst/>
          </a:prstGeom>
          <a:noFill/>
          <a:ln>
            <a:noFill/>
          </a:ln>
        </p:spPr>
      </p:pic>
      <p:sp>
        <p:nvSpPr>
          <p:cNvPr id="195" name="Google Shape;195;p18"/>
          <p:cNvSpPr txBox="1"/>
          <p:nvPr/>
        </p:nvSpPr>
        <p:spPr>
          <a:xfrm>
            <a:off x="468231" y="2476003"/>
            <a:ext cx="6078619"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600">
                <a:solidFill>
                  <a:schemeClr val="dk1"/>
                </a:solidFill>
                <a:latin typeface="Calibri"/>
                <a:ea typeface="Calibri"/>
                <a:cs typeface="Calibri"/>
                <a:sym typeface="Calibri"/>
              </a:rPr>
              <a:t>Le 100% Santé vous permet d’accéder à une offre sans reste à charge sur une sélection d’équipements en dentaire, optique et pour les aides auditives. Les paniers 100% Santé seront pris en charge intégralement par la Sécurité Sociale et la complémentaire santé.</a:t>
            </a:r>
            <a:endParaRPr/>
          </a:p>
          <a:p>
            <a:pPr indent="0" lvl="0" marL="0" marR="0" rtl="0" algn="l">
              <a:spcBef>
                <a:spcPts val="0"/>
              </a:spcBef>
              <a:spcAft>
                <a:spcPts val="0"/>
              </a:spcAft>
              <a:buNone/>
            </a:pPr>
            <a:r>
              <a:rPr lang="fr-FR" sz="1600">
                <a:solidFill>
                  <a:schemeClr val="dk1"/>
                </a:solidFill>
                <a:latin typeface="Calibri"/>
                <a:ea typeface="Calibri"/>
                <a:cs typeface="Calibri"/>
                <a:sym typeface="Calibri"/>
              </a:rPr>
              <a:t>Si vous ne souhaitez pas bénéficier des équipements compris dans ces paniers, les remboursements se feront selon le niveau de garanties que vous avez choisi.</a:t>
            </a:r>
            <a:endParaRPr/>
          </a:p>
        </p:txBody>
      </p:sp>
      <p:sp>
        <p:nvSpPr>
          <p:cNvPr id="196" name="Google Shape;196;p18"/>
          <p:cNvSpPr txBox="1"/>
          <p:nvPr/>
        </p:nvSpPr>
        <p:spPr>
          <a:xfrm>
            <a:off x="196387" y="4506949"/>
            <a:ext cx="388067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rgbClr val="0070C0"/>
                </a:solidFill>
                <a:latin typeface="Calibri"/>
                <a:ea typeface="Calibri"/>
                <a:cs typeface="Calibri"/>
                <a:sym typeface="Calibri"/>
              </a:rPr>
              <a:t>QU’EST-CE QUI CHANGE EN PRATIQUE ?</a:t>
            </a:r>
            <a:endParaRPr/>
          </a:p>
        </p:txBody>
      </p:sp>
      <p:pic>
        <p:nvPicPr>
          <p:cNvPr id="197" name="Google Shape;197;p18"/>
          <p:cNvPicPr preferRelativeResize="0"/>
          <p:nvPr/>
        </p:nvPicPr>
        <p:blipFill rotWithShape="1">
          <a:blip r:embed="rId5">
            <a:alphaModFix/>
          </a:blip>
          <a:srcRect b="0" l="0" r="0" t="0"/>
          <a:stretch/>
        </p:blipFill>
        <p:spPr>
          <a:xfrm>
            <a:off x="468231" y="5368177"/>
            <a:ext cx="2158618" cy="1831149"/>
          </a:xfrm>
          <a:prstGeom prst="rect">
            <a:avLst/>
          </a:prstGeom>
          <a:noFill/>
          <a:ln>
            <a:noFill/>
          </a:ln>
        </p:spPr>
      </p:pic>
      <p:sp>
        <p:nvSpPr>
          <p:cNvPr id="198" name="Google Shape;198;p18"/>
          <p:cNvSpPr txBox="1"/>
          <p:nvPr/>
        </p:nvSpPr>
        <p:spPr>
          <a:xfrm>
            <a:off x="3444875" y="4969962"/>
            <a:ext cx="2460289"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600">
                <a:solidFill>
                  <a:schemeClr val="dk1"/>
                </a:solidFill>
                <a:latin typeface="Calibri"/>
                <a:ea typeface="Calibri"/>
                <a:cs typeface="Calibri"/>
                <a:sym typeface="Calibri"/>
              </a:rPr>
              <a:t>Le professionnel de santé </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proposera obligatoirement </a:t>
            </a:r>
            <a:endParaRPr/>
          </a:p>
          <a:p>
            <a:pPr indent="0" lvl="0" marL="0" marR="0" rtl="0" algn="ctr">
              <a:spcBef>
                <a:spcPts val="0"/>
              </a:spcBef>
              <a:spcAft>
                <a:spcPts val="0"/>
              </a:spcAft>
              <a:buNone/>
            </a:pPr>
            <a:r>
              <a:rPr lang="fr-FR" sz="1600">
                <a:solidFill>
                  <a:srgbClr val="0070C0"/>
                </a:solidFill>
                <a:latin typeface="Calibri"/>
                <a:ea typeface="Calibri"/>
                <a:cs typeface="Calibri"/>
                <a:sym typeface="Calibri"/>
              </a:rPr>
              <a:t>2 OFFRES</a:t>
            </a:r>
            <a:endParaRPr/>
          </a:p>
        </p:txBody>
      </p:sp>
      <p:sp>
        <p:nvSpPr>
          <p:cNvPr id="199" name="Google Shape;199;p18"/>
          <p:cNvSpPr txBox="1"/>
          <p:nvPr/>
        </p:nvSpPr>
        <p:spPr>
          <a:xfrm>
            <a:off x="2578219" y="6211555"/>
            <a:ext cx="176005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sans Reste à charge</a:t>
            </a:r>
            <a:endParaRPr/>
          </a:p>
        </p:txBody>
      </p:sp>
      <p:sp>
        <p:nvSpPr>
          <p:cNvPr id="200" name="Google Shape;200;p18"/>
          <p:cNvSpPr txBox="1"/>
          <p:nvPr/>
        </p:nvSpPr>
        <p:spPr>
          <a:xfrm>
            <a:off x="4829920" y="6208601"/>
            <a:ext cx="202808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 Classique »</a:t>
            </a:r>
            <a:endParaRPr/>
          </a:p>
        </p:txBody>
      </p:sp>
      <p:sp>
        <p:nvSpPr>
          <p:cNvPr id="201" name="Google Shape;201;p18"/>
          <p:cNvSpPr txBox="1"/>
          <p:nvPr/>
        </p:nvSpPr>
        <p:spPr>
          <a:xfrm>
            <a:off x="320433" y="7864329"/>
            <a:ext cx="388067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70C0"/>
                </a:solidFill>
                <a:latin typeface="Calibri"/>
                <a:ea typeface="Calibri"/>
                <a:cs typeface="Calibri"/>
                <a:sym typeface="Calibri"/>
              </a:rPr>
              <a:t>Mais aussi:</a:t>
            </a:r>
            <a:endParaRPr/>
          </a:p>
        </p:txBody>
      </p:sp>
      <p:cxnSp>
        <p:nvCxnSpPr>
          <p:cNvPr id="202" name="Google Shape;202;p18"/>
          <p:cNvCxnSpPr/>
          <p:nvPr/>
        </p:nvCxnSpPr>
        <p:spPr>
          <a:xfrm>
            <a:off x="4760070" y="5831736"/>
            <a:ext cx="520276" cy="350519"/>
          </a:xfrm>
          <a:prstGeom prst="straightConnector1">
            <a:avLst/>
          </a:prstGeom>
          <a:noFill/>
          <a:ln cap="flat" cmpd="sng" w="9525">
            <a:solidFill>
              <a:schemeClr val="accent1"/>
            </a:solidFill>
            <a:prstDash val="solid"/>
            <a:miter lim="800000"/>
            <a:headEnd len="sm" w="sm" type="none"/>
            <a:tailEnd len="med" w="med" type="triangle"/>
          </a:ln>
        </p:spPr>
      </p:cxnSp>
      <p:cxnSp>
        <p:nvCxnSpPr>
          <p:cNvPr id="203" name="Google Shape;203;p18"/>
          <p:cNvCxnSpPr/>
          <p:nvPr/>
        </p:nvCxnSpPr>
        <p:spPr>
          <a:xfrm flipH="1">
            <a:off x="4077063" y="5831736"/>
            <a:ext cx="433750" cy="360899"/>
          </a:xfrm>
          <a:prstGeom prst="straightConnector1">
            <a:avLst/>
          </a:prstGeom>
          <a:noFill/>
          <a:ln cap="flat" cmpd="sng" w="9525">
            <a:solidFill>
              <a:schemeClr val="accent1"/>
            </a:solidFill>
            <a:prstDash val="solid"/>
            <a:miter lim="800000"/>
            <a:headEnd len="sm" w="sm" type="none"/>
            <a:tailEnd len="med" w="med" type="triangle"/>
          </a:ln>
        </p:spPr>
      </p:cxnSp>
      <p:sp>
        <p:nvSpPr>
          <p:cNvPr id="204" name="Google Shape;204;p18"/>
          <p:cNvSpPr txBox="1"/>
          <p:nvPr/>
        </p:nvSpPr>
        <p:spPr>
          <a:xfrm>
            <a:off x="2687429" y="6842131"/>
            <a:ext cx="151368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100">
                <a:solidFill>
                  <a:schemeClr val="dk1"/>
                </a:solidFill>
                <a:latin typeface="Calibri"/>
                <a:ea typeface="Calibri"/>
                <a:cs typeface="Calibri"/>
                <a:sym typeface="Calibri"/>
              </a:rPr>
              <a:t>Soin ou équipement entrant dans le</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panier 100% Santé</a:t>
            </a:r>
            <a:endParaRPr/>
          </a:p>
        </p:txBody>
      </p:sp>
      <p:sp>
        <p:nvSpPr>
          <p:cNvPr id="205" name="Google Shape;205;p18"/>
          <p:cNvSpPr txBox="1"/>
          <p:nvPr/>
        </p:nvSpPr>
        <p:spPr>
          <a:xfrm>
            <a:off x="4500683" y="6854932"/>
            <a:ext cx="2385892" cy="6001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100">
                <a:solidFill>
                  <a:schemeClr val="dk1"/>
                </a:solidFill>
                <a:latin typeface="Calibri"/>
                <a:ea typeface="Calibri"/>
                <a:cs typeface="Calibri"/>
                <a:sym typeface="Calibri"/>
              </a:rPr>
              <a:t>Panier à tarif libre et remboursé par</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l’assurance complémentaire dans les</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conditions prévues par le contrat</a:t>
            </a:r>
            <a:endParaRPr/>
          </a:p>
        </p:txBody>
      </p:sp>
      <p:sp>
        <p:nvSpPr>
          <p:cNvPr id="206" name="Google Shape;206;p18"/>
          <p:cNvSpPr txBox="1"/>
          <p:nvPr/>
        </p:nvSpPr>
        <p:spPr>
          <a:xfrm>
            <a:off x="330200" y="8327508"/>
            <a:ext cx="6556375"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&gt; Fixation de prix limites de vente (PLV) imposés aux professionnels de santé</a:t>
            </a:r>
            <a:endParaRPr/>
          </a:p>
          <a:p>
            <a:pPr indent="0" lvl="0" marL="0" marR="0" rtl="0" algn="l">
              <a:spcBef>
                <a:spcPts val="0"/>
              </a:spcBef>
              <a:spcAft>
                <a:spcPts val="0"/>
              </a:spcAft>
              <a:buNone/>
            </a:pPr>
            <a:r>
              <a:rPr lang="fr-FR" sz="1400">
                <a:solidFill>
                  <a:schemeClr val="dk1"/>
                </a:solidFill>
                <a:latin typeface="Calibri"/>
                <a:ea typeface="Calibri"/>
                <a:cs typeface="Calibri"/>
                <a:sym typeface="Calibri"/>
              </a:rPr>
              <a:t>&gt; Augmentation de la base de remboursement (BR) du régime obligatoire (RO) &amp; du remboursement des complémentaires santé</a:t>
            </a:r>
            <a:endParaRPr/>
          </a:p>
        </p:txBody>
      </p:sp>
      <p:grpSp>
        <p:nvGrpSpPr>
          <p:cNvPr id="207" name="Google Shape;207;p18"/>
          <p:cNvGrpSpPr/>
          <p:nvPr/>
        </p:nvGrpSpPr>
        <p:grpSpPr>
          <a:xfrm>
            <a:off x="101600" y="93434"/>
            <a:ext cx="6686550" cy="628847"/>
            <a:chOff x="101600" y="93434"/>
            <a:chExt cx="6686550" cy="628847"/>
          </a:xfrm>
        </p:grpSpPr>
        <p:sp>
          <p:nvSpPr>
            <p:cNvPr id="208" name="Google Shape;208;p18"/>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Plénitude   by                               assuré par                                 </a:t>
              </a:r>
              <a:endParaRPr/>
            </a:p>
          </p:txBody>
        </p:sp>
        <p:pic>
          <p:nvPicPr>
            <p:cNvPr descr="Néoliane Santé &amp; Prévoyance" id="209" name="Google Shape;209;p18"/>
            <p:cNvPicPr preferRelativeResize="0"/>
            <p:nvPr/>
          </p:nvPicPr>
          <p:blipFill rotWithShape="1">
            <a:blip r:embed="rId6">
              <a:alphaModFix/>
            </a:blip>
            <a:srcRect b="0" l="0" r="0" t="0"/>
            <a:stretch/>
          </p:blipFill>
          <p:spPr>
            <a:xfrm>
              <a:off x="2495759" y="290464"/>
              <a:ext cx="1206122" cy="234590"/>
            </a:xfrm>
            <a:prstGeom prst="rect">
              <a:avLst/>
            </a:prstGeom>
            <a:noFill/>
            <a:ln>
              <a:noFill/>
            </a:ln>
          </p:spPr>
        </p:pic>
        <p:pic>
          <p:nvPicPr>
            <p:cNvPr descr="Animaux Santé | Mutuelle Animaux" id="210" name="Google Shape;210;p18"/>
            <p:cNvPicPr preferRelativeResize="0"/>
            <p:nvPr/>
          </p:nvPicPr>
          <p:blipFill rotWithShape="1">
            <a:blip r:embed="rId7">
              <a:alphaModFix/>
            </a:blip>
            <a:srcRect b="0" l="0" r="0" t="0"/>
            <a:stretch/>
          </p:blipFill>
          <p:spPr>
            <a:xfrm>
              <a:off x="4996299" y="93434"/>
              <a:ext cx="1627605" cy="628847"/>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descr="Bouton Logo Les Dents - Images vectorielles gratuites sur Pixabay - Pixabay" id="215" name="Google Shape;215;p19"/>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216" name="Google Shape;216;p19"/>
          <p:cNvPicPr preferRelativeResize="0"/>
          <p:nvPr/>
        </p:nvPicPr>
        <p:blipFill rotWithShape="1">
          <a:blip r:embed="rId4">
            <a:alphaModFix/>
          </a:blip>
          <a:srcRect b="13073" l="12590" r="12611" t="9007"/>
          <a:stretch/>
        </p:blipFill>
        <p:spPr>
          <a:xfrm>
            <a:off x="2566913" y="980122"/>
            <a:ext cx="1489221" cy="1060948"/>
          </a:xfrm>
          <a:prstGeom prst="rect">
            <a:avLst/>
          </a:prstGeom>
          <a:noFill/>
          <a:ln>
            <a:noFill/>
          </a:ln>
        </p:spPr>
      </p:pic>
      <p:pic>
        <p:nvPicPr>
          <p:cNvPr id="217" name="Google Shape;217;p19"/>
          <p:cNvPicPr preferRelativeResize="0"/>
          <p:nvPr/>
        </p:nvPicPr>
        <p:blipFill rotWithShape="1">
          <a:blip r:embed="rId5">
            <a:alphaModFix/>
          </a:blip>
          <a:srcRect b="0" l="0" r="0" t="0"/>
          <a:stretch/>
        </p:blipFill>
        <p:spPr>
          <a:xfrm>
            <a:off x="876398" y="1992003"/>
            <a:ext cx="5911752" cy="7546705"/>
          </a:xfrm>
          <a:prstGeom prst="rect">
            <a:avLst/>
          </a:prstGeom>
          <a:noFill/>
          <a:ln>
            <a:noFill/>
          </a:ln>
        </p:spPr>
      </p:pic>
      <p:pic>
        <p:nvPicPr>
          <p:cNvPr id="218" name="Google Shape;218;p19"/>
          <p:cNvPicPr preferRelativeResize="0"/>
          <p:nvPr/>
        </p:nvPicPr>
        <p:blipFill rotWithShape="1">
          <a:blip r:embed="rId6">
            <a:alphaModFix/>
          </a:blip>
          <a:srcRect b="0" l="0" r="0" t="0"/>
          <a:stretch/>
        </p:blipFill>
        <p:spPr>
          <a:xfrm>
            <a:off x="0" y="2996154"/>
            <a:ext cx="1147989" cy="641789"/>
          </a:xfrm>
          <a:prstGeom prst="rect">
            <a:avLst/>
          </a:prstGeom>
          <a:noFill/>
          <a:ln>
            <a:noFill/>
          </a:ln>
        </p:spPr>
      </p:pic>
      <p:pic>
        <p:nvPicPr>
          <p:cNvPr id="219" name="Google Shape;219;p19"/>
          <p:cNvPicPr preferRelativeResize="0"/>
          <p:nvPr/>
        </p:nvPicPr>
        <p:blipFill rotWithShape="1">
          <a:blip r:embed="rId7">
            <a:alphaModFix/>
          </a:blip>
          <a:srcRect b="0" l="0" r="0" t="0"/>
          <a:stretch/>
        </p:blipFill>
        <p:spPr>
          <a:xfrm>
            <a:off x="-1" y="5446720"/>
            <a:ext cx="1147989" cy="637269"/>
          </a:xfrm>
          <a:prstGeom prst="rect">
            <a:avLst/>
          </a:prstGeom>
          <a:noFill/>
          <a:ln>
            <a:noFill/>
          </a:ln>
        </p:spPr>
      </p:pic>
      <p:pic>
        <p:nvPicPr>
          <p:cNvPr id="220" name="Google Shape;220;p19"/>
          <p:cNvPicPr preferRelativeResize="0"/>
          <p:nvPr/>
        </p:nvPicPr>
        <p:blipFill rotWithShape="1">
          <a:blip r:embed="rId8">
            <a:alphaModFix/>
          </a:blip>
          <a:srcRect b="0" l="0" r="0" t="0"/>
          <a:stretch/>
        </p:blipFill>
        <p:spPr>
          <a:xfrm>
            <a:off x="-1" y="7991398"/>
            <a:ext cx="1138950" cy="601113"/>
          </a:xfrm>
          <a:prstGeom prst="rect">
            <a:avLst/>
          </a:prstGeom>
          <a:noFill/>
          <a:ln>
            <a:noFill/>
          </a:ln>
        </p:spPr>
      </p:pic>
      <p:grpSp>
        <p:nvGrpSpPr>
          <p:cNvPr id="221" name="Google Shape;221;p19"/>
          <p:cNvGrpSpPr/>
          <p:nvPr/>
        </p:nvGrpSpPr>
        <p:grpSpPr>
          <a:xfrm>
            <a:off x="101600" y="93434"/>
            <a:ext cx="6686550" cy="628847"/>
            <a:chOff x="101600" y="93434"/>
            <a:chExt cx="6686550" cy="628847"/>
          </a:xfrm>
        </p:grpSpPr>
        <p:sp>
          <p:nvSpPr>
            <p:cNvPr id="222" name="Google Shape;222;p19"/>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Plénitude   by                               assuré par                                 </a:t>
              </a:r>
              <a:endParaRPr/>
            </a:p>
          </p:txBody>
        </p:sp>
        <p:pic>
          <p:nvPicPr>
            <p:cNvPr descr="Néoliane Santé &amp; Prévoyance" id="223" name="Google Shape;223;p19"/>
            <p:cNvPicPr preferRelativeResize="0"/>
            <p:nvPr/>
          </p:nvPicPr>
          <p:blipFill rotWithShape="1">
            <a:blip r:embed="rId9">
              <a:alphaModFix/>
            </a:blip>
            <a:srcRect b="0" l="0" r="0" t="0"/>
            <a:stretch/>
          </p:blipFill>
          <p:spPr>
            <a:xfrm>
              <a:off x="2495759" y="290464"/>
              <a:ext cx="1206122" cy="234590"/>
            </a:xfrm>
            <a:prstGeom prst="rect">
              <a:avLst/>
            </a:prstGeom>
            <a:noFill/>
            <a:ln>
              <a:noFill/>
            </a:ln>
          </p:spPr>
        </p:pic>
        <p:pic>
          <p:nvPicPr>
            <p:cNvPr descr="Animaux Santé | Mutuelle Animaux" id="224" name="Google Shape;224;p19"/>
            <p:cNvPicPr preferRelativeResize="0"/>
            <p:nvPr/>
          </p:nvPicPr>
          <p:blipFill rotWithShape="1">
            <a:blip r:embed="rId10">
              <a:alphaModFix/>
            </a:blip>
            <a:srcRect b="0" l="0" r="0" t="0"/>
            <a:stretch/>
          </p:blipFill>
          <p:spPr>
            <a:xfrm>
              <a:off x="4996299" y="93434"/>
              <a:ext cx="1627605" cy="628847"/>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2018-01-12T04:36:24Z</dcterms:created>
  <dc:creator>Aurelie Racamier</dc:creator>
</cp:coreProperties>
</file>