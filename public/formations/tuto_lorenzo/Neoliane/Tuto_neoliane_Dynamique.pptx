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8"/>
  </p:notesMasterIdLst>
  <p:sldIdLst>
    <p:sldId id="257" r:id="rId2"/>
    <p:sldId id="258" r:id="rId3"/>
    <p:sldId id="262" r:id="rId4"/>
    <p:sldId id="260" r:id="rId5"/>
    <p:sldId id="263" r:id="rId6"/>
    <p:sldId id="265" r:id="rId7"/>
  </p:sldIdLst>
  <p:sldSz cx="6858000" cy="9906000" type="A4"/>
  <p:notesSz cx="7104063"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 roundtripDataSignature="AMtx7mgRM5g9jOzKvKatFZesqbkETYKt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C65A"/>
    <a:srgbClr val="EDE0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60"/>
  </p:normalViewPr>
  <p:slideViewPr>
    <p:cSldViewPr snapToGrid="0">
      <p:cViewPr varScale="1">
        <p:scale>
          <a:sx n="76" d="100"/>
          <a:sy n="76" d="100"/>
        </p:scale>
        <p:origin x="3450" y="54"/>
      </p:cViewPr>
      <p:guideLst>
        <p:guide orient="horz" pos="31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customschemas.google.com/relationships/presentationmetadata" Target="meta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theme" Target="theme/theme1.xml"/><Relationship Id="rId4" Type="http://schemas.openxmlformats.org/officeDocument/2006/relationships/slide" Target="slides/slide3.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427" cy="513508"/>
          </a:xfrm>
          <a:prstGeom prst="rect">
            <a:avLst/>
          </a:prstGeom>
          <a:noFill/>
          <a:ln>
            <a:noFill/>
          </a:ln>
        </p:spPr>
        <p:txBody>
          <a:bodyPr spcFirstLastPara="1" wrap="square" lIns="99059" tIns="49516" rIns="99059" bIns="49516"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992" y="0"/>
            <a:ext cx="3078427" cy="513508"/>
          </a:xfrm>
          <a:prstGeom prst="rect">
            <a:avLst/>
          </a:prstGeom>
          <a:noFill/>
          <a:ln>
            <a:noFill/>
          </a:ln>
        </p:spPr>
        <p:txBody>
          <a:bodyPr spcFirstLastPara="1" wrap="square" lIns="99059" tIns="49516" rIns="99059" bIns="49516"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407" y="4925407"/>
            <a:ext cx="5683250" cy="4029879"/>
          </a:xfrm>
          <a:prstGeom prst="rect">
            <a:avLst/>
          </a:prstGeom>
          <a:noFill/>
          <a:ln>
            <a:noFill/>
          </a:ln>
        </p:spPr>
        <p:txBody>
          <a:bodyPr spcFirstLastPara="1" wrap="square" lIns="99059" tIns="49516" rIns="99059" bIns="4951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21107"/>
            <a:ext cx="3078427" cy="513507"/>
          </a:xfrm>
          <a:prstGeom prst="rect">
            <a:avLst/>
          </a:prstGeom>
          <a:noFill/>
          <a:ln>
            <a:noFill/>
          </a:ln>
        </p:spPr>
        <p:txBody>
          <a:bodyPr spcFirstLastPara="1" wrap="square" lIns="99059" tIns="49516" rIns="99059" bIns="49516"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992" y="9721107"/>
            <a:ext cx="3078427" cy="513507"/>
          </a:xfrm>
          <a:prstGeom prst="rect">
            <a:avLst/>
          </a:prstGeom>
          <a:noFill/>
          <a:ln>
            <a:noFill/>
          </a:ln>
        </p:spPr>
        <p:txBody>
          <a:bodyPr spcFirstLastPara="1" wrap="square" lIns="99059" tIns="49516" rIns="99059" bIns="49516" anchor="b" anchorCtr="0">
            <a:noAutofit/>
          </a:bodyPr>
          <a:lstStyle/>
          <a:p>
            <a:pPr algn="r"/>
            <a:fld id="{00000000-1234-1234-1234-123412341234}" type="slidenum">
              <a:rPr lang="fr-FR" sz="1300" smtClean="0">
                <a:solidFill>
                  <a:schemeClr val="dk1"/>
                </a:solidFill>
                <a:latin typeface="Calibri"/>
                <a:ea typeface="Calibri"/>
                <a:cs typeface="Calibri"/>
                <a:sym typeface="Calibri"/>
              </a:rPr>
              <a:pPr algn="r"/>
              <a:t>‹N°›</a:t>
            </a:fld>
            <a:endParaRPr lang="fr-FR"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545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3175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3456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0571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0672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10407" y="4925407"/>
            <a:ext cx="5683250" cy="4029879"/>
          </a:xfrm>
          <a:prstGeom prst="rect">
            <a:avLst/>
          </a:prstGeom>
        </p:spPr>
        <p:txBody>
          <a:bodyPr spcFirstLastPara="1" wrap="square" lIns="99059" tIns="49516" rIns="99059" bIns="49516" anchor="t" anchorCtr="0">
            <a:noAutofit/>
          </a:bodyPr>
          <a:lstStyle/>
          <a:p>
            <a:pPr marL="0" indent="0"/>
            <a:endParaRPr dirty="0"/>
          </a:p>
        </p:txBody>
      </p:sp>
      <p:sp>
        <p:nvSpPr>
          <p:cNvPr id="86" name="Google Shape;86;p1:notes"/>
          <p:cNvSpPr>
            <a:spLocks noGrp="1" noRot="1" noChangeAspect="1"/>
          </p:cNvSpPr>
          <p:nvPr>
            <p:ph type="sldImg" idx="2"/>
          </p:nvPr>
        </p:nvSpPr>
        <p:spPr>
          <a:xfrm>
            <a:off x="2357438" y="1279525"/>
            <a:ext cx="2389187"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313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19F93D-8255-6088-978F-25DC269431B0}"/>
              </a:ext>
            </a:extLst>
          </p:cNvPr>
          <p:cNvSpPr>
            <a:spLocks noGrp="1"/>
          </p:cNvSpPr>
          <p:nvPr>
            <p:ph type="ctrTitle"/>
          </p:nvPr>
        </p:nvSpPr>
        <p:spPr>
          <a:xfrm>
            <a:off x="857250" y="1621191"/>
            <a:ext cx="5143500" cy="3448756"/>
          </a:xfrm>
        </p:spPr>
        <p:txBody>
          <a:bodyPr anchor="b"/>
          <a:lstStyle>
            <a:lvl1pPr algn="ctr">
              <a:defRPr sz="3375"/>
            </a:lvl1pPr>
          </a:lstStyle>
          <a:p>
            <a:r>
              <a:rPr lang="fr-FR"/>
              <a:t>Modifiez le style du titre</a:t>
            </a:r>
          </a:p>
        </p:txBody>
      </p:sp>
      <p:sp>
        <p:nvSpPr>
          <p:cNvPr id="3" name="Sous-titre 2">
            <a:extLst>
              <a:ext uri="{FF2B5EF4-FFF2-40B4-BE49-F238E27FC236}">
                <a16:creationId xmlns:a16="http://schemas.microsoft.com/office/drawing/2014/main" id="{2D7BFAE2-4DDA-5CEB-A9B6-7D5458672B2B}"/>
              </a:ext>
            </a:extLst>
          </p:cNvPr>
          <p:cNvSpPr>
            <a:spLocks noGrp="1"/>
          </p:cNvSpPr>
          <p:nvPr>
            <p:ph type="subTitle" idx="1"/>
          </p:nvPr>
        </p:nvSpPr>
        <p:spPr>
          <a:xfrm>
            <a:off x="857250" y="5202944"/>
            <a:ext cx="5143500" cy="2391656"/>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9B73B4B-47A0-53CE-FB4A-AD41B31C67BB}"/>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560C3929-B721-1FD6-6598-B242CD102C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F648CC-6D73-618F-316C-4C34386E49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2041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ED3FED-8441-4FF5-F1F0-A30EF4C44C5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AA4C529-50E2-FFE9-B0D2-5F3CE75A530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E9D8057-FF2B-9856-98BD-4E857A2515E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F4D5ED8A-7AED-E653-D1EF-EE8C96F2431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C3FE8BF-FB84-E3DB-A22B-F46BE7014DB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507619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829AA2-7A23-BF3D-289E-7FF50B55FCAB}"/>
              </a:ext>
            </a:extLst>
          </p:cNvPr>
          <p:cNvSpPr>
            <a:spLocks noGrp="1"/>
          </p:cNvSpPr>
          <p:nvPr>
            <p:ph type="title"/>
          </p:nvPr>
        </p:nvSpPr>
        <p:spPr>
          <a:xfrm>
            <a:off x="467916" y="2469622"/>
            <a:ext cx="5915025" cy="4120620"/>
          </a:xfrm>
        </p:spPr>
        <p:txBody>
          <a:bodyPr anchor="b"/>
          <a:lstStyle>
            <a:lvl1pPr>
              <a:defRPr sz="3375"/>
            </a:lvl1pPr>
          </a:lstStyle>
          <a:p>
            <a:r>
              <a:rPr lang="fr-FR"/>
              <a:t>Modifiez le style du titre</a:t>
            </a:r>
          </a:p>
        </p:txBody>
      </p:sp>
      <p:sp>
        <p:nvSpPr>
          <p:cNvPr id="3" name="Espace réservé du texte 2">
            <a:extLst>
              <a:ext uri="{FF2B5EF4-FFF2-40B4-BE49-F238E27FC236}">
                <a16:creationId xmlns:a16="http://schemas.microsoft.com/office/drawing/2014/main" id="{42421FF2-5439-BF21-C412-685553F9C015}"/>
              </a:ext>
            </a:extLst>
          </p:cNvPr>
          <p:cNvSpPr>
            <a:spLocks noGrp="1"/>
          </p:cNvSpPr>
          <p:nvPr>
            <p:ph type="body" idx="1"/>
          </p:nvPr>
        </p:nvSpPr>
        <p:spPr>
          <a:xfrm>
            <a:off x="467916" y="6629225"/>
            <a:ext cx="5915025" cy="21669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2EB08C0-77FA-5722-A86A-E6D8943D20A3}"/>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CBC8CAD-E33D-AE37-E4CD-E4F3F349C3D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741DF6-21BA-D0FF-118F-31BCAD39528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317469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9CE797-B1F8-954A-2FCD-E1936621A08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756F958-B869-AD5F-5DF5-54B2731DDD31}"/>
              </a:ext>
            </a:extLst>
          </p:cNvPr>
          <p:cNvSpPr>
            <a:spLocks noGrp="1"/>
          </p:cNvSpPr>
          <p:nvPr>
            <p:ph sz="half" idx="1"/>
          </p:nvPr>
        </p:nvSpPr>
        <p:spPr>
          <a:xfrm>
            <a:off x="471488"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29B082-B806-B1EB-76D2-D157D79FD15E}"/>
              </a:ext>
            </a:extLst>
          </p:cNvPr>
          <p:cNvSpPr>
            <a:spLocks noGrp="1"/>
          </p:cNvSpPr>
          <p:nvPr>
            <p:ph sz="half" idx="2"/>
          </p:nvPr>
        </p:nvSpPr>
        <p:spPr>
          <a:xfrm>
            <a:off x="3471863" y="2637014"/>
            <a:ext cx="2914650" cy="628526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A437EF-E1D5-4506-6A95-EB99876C6B53}"/>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19ADE150-0B3E-FAC3-8835-244B419C5EA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75A06BD-CCC0-5601-CE7D-FD57F3F4D8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2725841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2ACAED-B220-DE36-4BC0-07B2E9B28F34}"/>
              </a:ext>
            </a:extLst>
          </p:cNvPr>
          <p:cNvSpPr>
            <a:spLocks noGrp="1"/>
          </p:cNvSpPr>
          <p:nvPr>
            <p:ph type="title"/>
          </p:nvPr>
        </p:nvSpPr>
        <p:spPr>
          <a:xfrm>
            <a:off x="472381" y="527404"/>
            <a:ext cx="5915025" cy="191470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18855D4-99FC-AA15-3986-F50C040E76C5}"/>
              </a:ext>
            </a:extLst>
          </p:cNvPr>
          <p:cNvSpPr>
            <a:spLocks noGrp="1"/>
          </p:cNvSpPr>
          <p:nvPr>
            <p:ph type="body" idx="1"/>
          </p:nvPr>
        </p:nvSpPr>
        <p:spPr>
          <a:xfrm>
            <a:off x="472381" y="2428347"/>
            <a:ext cx="2901255"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79FD663-E006-C456-79A4-4DBB71A9314E}"/>
              </a:ext>
            </a:extLst>
          </p:cNvPr>
          <p:cNvSpPr>
            <a:spLocks noGrp="1"/>
          </p:cNvSpPr>
          <p:nvPr>
            <p:ph sz="half" idx="2"/>
          </p:nvPr>
        </p:nvSpPr>
        <p:spPr>
          <a:xfrm>
            <a:off x="472381" y="3618442"/>
            <a:ext cx="2901255"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CB4238C-0499-8F34-0E58-D0C21C11FAA2}"/>
              </a:ext>
            </a:extLst>
          </p:cNvPr>
          <p:cNvSpPr>
            <a:spLocks noGrp="1"/>
          </p:cNvSpPr>
          <p:nvPr>
            <p:ph type="body" sz="quarter" idx="3"/>
          </p:nvPr>
        </p:nvSpPr>
        <p:spPr>
          <a:xfrm>
            <a:off x="3471863" y="2428347"/>
            <a:ext cx="2915543" cy="1190095"/>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8993611-0F7E-2147-3300-0320286B0EE4}"/>
              </a:ext>
            </a:extLst>
          </p:cNvPr>
          <p:cNvSpPr>
            <a:spLocks noGrp="1"/>
          </p:cNvSpPr>
          <p:nvPr>
            <p:ph sz="quarter" idx="4"/>
          </p:nvPr>
        </p:nvSpPr>
        <p:spPr>
          <a:xfrm>
            <a:off x="3471863" y="3618442"/>
            <a:ext cx="2915543" cy="532218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5D3B29C-0CB3-376F-C603-483F260925F2}"/>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A5484CD4-DFF9-E770-EFAD-46C12CB28F9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D3E3E8C-DEE2-B83F-75FF-B074ED0BB5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94491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740DC6-2906-269F-B67E-ED3941EE4E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8B189EC-D496-3FE3-3760-9959A094908B}"/>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1F702D2E-B2BD-1DED-CF8E-7BA263E377A9}"/>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30F1244-A899-ACD7-B1D9-001617F9E45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73069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D0E38EE-8952-23B4-2E92-2298A4D9FB87}"/>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9FCBACE9-D3DB-9337-7CDA-7B0575CFCDD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75077C4-3BD7-EAF7-C25D-2296B058E2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48610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6D74707-CCCA-1559-2F58-90891138E3CF}"/>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du contenu 2">
            <a:extLst>
              <a:ext uri="{FF2B5EF4-FFF2-40B4-BE49-F238E27FC236}">
                <a16:creationId xmlns:a16="http://schemas.microsoft.com/office/drawing/2014/main" id="{DB13183F-431C-1322-E86E-6C67A3F6BB7B}"/>
              </a:ext>
            </a:extLst>
          </p:cNvPr>
          <p:cNvSpPr>
            <a:spLocks noGrp="1"/>
          </p:cNvSpPr>
          <p:nvPr>
            <p:ph idx="1"/>
          </p:nvPr>
        </p:nvSpPr>
        <p:spPr>
          <a:xfrm>
            <a:off x="2915543" y="1426281"/>
            <a:ext cx="3471863" cy="7039681"/>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FF3E38C-97FB-9E66-E268-AD578DA702EA}"/>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981BB4D-FA63-2DED-8349-6FFDA0AC12C9}"/>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D6312810-EE84-AB7C-4A60-4B3F52D98D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1C8157E-05A9-F6F5-6BA7-0EEBFBD347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34741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7B92C1-B502-80FD-B5FF-7A6FA0D63478}"/>
              </a:ext>
            </a:extLst>
          </p:cNvPr>
          <p:cNvSpPr>
            <a:spLocks noGrp="1"/>
          </p:cNvSpPr>
          <p:nvPr>
            <p:ph type="title"/>
          </p:nvPr>
        </p:nvSpPr>
        <p:spPr>
          <a:xfrm>
            <a:off x="472381" y="660400"/>
            <a:ext cx="2211883" cy="2311400"/>
          </a:xfrm>
        </p:spPr>
        <p:txBody>
          <a:bodyPr anchor="b"/>
          <a:lstStyle>
            <a:lvl1pPr>
              <a:defRPr sz="1800"/>
            </a:lvl1pPr>
          </a:lstStyle>
          <a:p>
            <a:r>
              <a:rPr lang="fr-FR"/>
              <a:t>Modifiez le style du titre</a:t>
            </a:r>
          </a:p>
        </p:txBody>
      </p:sp>
      <p:sp>
        <p:nvSpPr>
          <p:cNvPr id="3" name="Espace réservé pour une image  2">
            <a:extLst>
              <a:ext uri="{FF2B5EF4-FFF2-40B4-BE49-F238E27FC236}">
                <a16:creationId xmlns:a16="http://schemas.microsoft.com/office/drawing/2014/main" id="{A3B1D321-502B-2A13-A328-CBD7F22D8E64}"/>
              </a:ext>
            </a:extLst>
          </p:cNvPr>
          <p:cNvSpPr>
            <a:spLocks noGrp="1"/>
          </p:cNvSpPr>
          <p:nvPr>
            <p:ph type="pic" idx="1"/>
          </p:nvPr>
        </p:nvSpPr>
        <p:spPr>
          <a:xfrm>
            <a:off x="2915543" y="1426281"/>
            <a:ext cx="3471863" cy="7039681"/>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fr-FR"/>
          </a:p>
        </p:txBody>
      </p:sp>
      <p:sp>
        <p:nvSpPr>
          <p:cNvPr id="4" name="Espace réservé du texte 3">
            <a:extLst>
              <a:ext uri="{FF2B5EF4-FFF2-40B4-BE49-F238E27FC236}">
                <a16:creationId xmlns:a16="http://schemas.microsoft.com/office/drawing/2014/main" id="{B65CA632-6A78-36DD-F377-B0EB9AB989FB}"/>
              </a:ext>
            </a:extLst>
          </p:cNvPr>
          <p:cNvSpPr>
            <a:spLocks noGrp="1"/>
          </p:cNvSpPr>
          <p:nvPr>
            <p:ph type="body" sz="half" idx="2"/>
          </p:nvPr>
        </p:nvSpPr>
        <p:spPr>
          <a:xfrm>
            <a:off x="472381" y="2971800"/>
            <a:ext cx="2211883" cy="5505627"/>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BB572ED-A03B-85BE-C65F-84B0A27EBA25}"/>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D29D9F9-E70D-72E5-67B8-A80BD4F3AC5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B85CFCE-6528-3C48-47B9-06997386E6B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63197198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830739-2A53-9F08-296C-9423F03C585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46F5002-EE58-0EED-A9C4-8B5FBB3CEFE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9F764B9-47A1-26C1-28F0-93D21761954F}"/>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AF4C82DA-93DC-2508-A870-F83ABA6901E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579AC2-833F-8B72-F3B1-D753FC7305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345824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D3ABFD9-2C9A-F88B-0765-0D03AE3DEDF2}"/>
              </a:ext>
            </a:extLst>
          </p:cNvPr>
          <p:cNvSpPr>
            <a:spLocks noGrp="1"/>
          </p:cNvSpPr>
          <p:nvPr>
            <p:ph type="title" orient="vert"/>
          </p:nvPr>
        </p:nvSpPr>
        <p:spPr>
          <a:xfrm>
            <a:off x="4907756" y="527403"/>
            <a:ext cx="1478756" cy="8394877"/>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BA08473-EF90-F0DC-EDFA-47E205D2CC7A}"/>
              </a:ext>
            </a:extLst>
          </p:cNvPr>
          <p:cNvSpPr>
            <a:spLocks noGrp="1"/>
          </p:cNvSpPr>
          <p:nvPr>
            <p:ph type="body" orient="vert" idx="1"/>
          </p:nvPr>
        </p:nvSpPr>
        <p:spPr>
          <a:xfrm>
            <a:off x="471487" y="527403"/>
            <a:ext cx="4350544" cy="839487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9FDCA93-AB4F-96F6-DB43-3E42B2D924C9}"/>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8C3099B5-E8F3-C8AF-B427-3888071F655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C7DEFF-A670-934B-2676-17D05B4A61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196348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829D36A-551C-2B63-2C63-7AC113F49F41}"/>
              </a:ext>
            </a:extLst>
          </p:cNvPr>
          <p:cNvSpPr>
            <a:spLocks noGrp="1"/>
          </p:cNvSpPr>
          <p:nvPr>
            <p:ph type="title"/>
          </p:nvPr>
        </p:nvSpPr>
        <p:spPr>
          <a:xfrm>
            <a:off x="471488" y="527404"/>
            <a:ext cx="5915025" cy="191470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E106FF-0729-5625-3E57-62D8BB3417C0}"/>
              </a:ext>
            </a:extLst>
          </p:cNvPr>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BBB5502-3C28-EF77-0F65-3213F96AF96B}"/>
              </a:ext>
            </a:extLst>
          </p:cNvPr>
          <p:cNvSpPr>
            <a:spLocks noGrp="1"/>
          </p:cNvSpPr>
          <p:nvPr>
            <p:ph type="dt" sz="half" idx="2"/>
          </p:nvPr>
        </p:nvSpPr>
        <p:spPr>
          <a:xfrm>
            <a:off x="471488" y="9181395"/>
            <a:ext cx="1543050" cy="527403"/>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FD2A5075-5C48-4796-C2DB-2B2B537115E4}"/>
              </a:ext>
            </a:extLst>
          </p:cNvPr>
          <p:cNvSpPr>
            <a:spLocks noGrp="1"/>
          </p:cNvSpPr>
          <p:nvPr>
            <p:ph type="ftr" sz="quarter" idx="3"/>
          </p:nvPr>
        </p:nvSpPr>
        <p:spPr>
          <a:xfrm>
            <a:off x="2271713" y="9181395"/>
            <a:ext cx="2314575" cy="527403"/>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D8000B2-DD91-18F1-D613-34CC36949C93}"/>
              </a:ext>
            </a:extLst>
          </p:cNvPr>
          <p:cNvSpPr>
            <a:spLocks noGrp="1"/>
          </p:cNvSpPr>
          <p:nvPr>
            <p:ph type="sldNum" sz="quarter" idx="4"/>
          </p:nvPr>
        </p:nvSpPr>
        <p:spPr>
          <a:xfrm>
            <a:off x="4843463" y="9181395"/>
            <a:ext cx="1543050" cy="527403"/>
          </a:xfrm>
          <a:prstGeom prst="rect">
            <a:avLst/>
          </a:prstGeom>
        </p:spPr>
        <p:txBody>
          <a:bodyPr vert="horz" lIns="91440" tIns="45720" rIns="91440" bIns="45720" rtlCol="0" anchor="ctr"/>
          <a:lstStyle>
            <a:lvl1pPr algn="r">
              <a:defRPr sz="675">
                <a:solidFill>
                  <a:schemeClr val="tx1">
                    <a:tint val="75000"/>
                  </a:schemeClr>
                </a:solidFill>
              </a:defRPr>
            </a:lvl1pPr>
          </a:lstStyle>
          <a:p>
            <a:pPr marL="0" lvl="0" indent="0" algn="r" rtl="0">
              <a:spcBef>
                <a:spcPts val="0"/>
              </a:spcBef>
              <a:spcAft>
                <a:spcPts val="0"/>
              </a:spcAft>
              <a:buNone/>
            </a:pPr>
            <a:fld id="{00000000-1234-1234-1234-123412341234}" type="slidenum">
              <a:rPr lang="fr-FR" smtClean="0"/>
              <a:t>‹N°›</a:t>
            </a:fld>
            <a:endParaRPr lang="fr-FR"/>
          </a:p>
        </p:txBody>
      </p:sp>
    </p:spTree>
    <p:extLst>
      <p:ext uri="{BB962C8B-B14F-4D97-AF65-F5344CB8AC3E}">
        <p14:creationId xmlns:p14="http://schemas.microsoft.com/office/powerpoint/2010/main" val="427524758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sldNum="0"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fr-F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5'!A1"/><Relationship Id="rId13" Type="http://schemas.openxmlformats.org/officeDocument/2006/relationships/hyperlink" Target="#'1'!A1"/><Relationship Id="rId3" Type="http://schemas.openxmlformats.org/officeDocument/2006/relationships/image" Target="../media/image1.png"/><Relationship Id="rId7" Type="http://schemas.openxmlformats.org/officeDocument/2006/relationships/image" Target="../media/image4.jpeg"/><Relationship Id="rId12" Type="http://schemas.openxmlformats.org/officeDocument/2006/relationships/image" Target="../media/image6.png"/><Relationship Id="rId2" Type="http://schemas.openxmlformats.org/officeDocument/2006/relationships/notesSlide" Target="../notesSlides/notesSlide1.xml"/><Relationship Id="rId16" Type="http://schemas.openxmlformats.org/officeDocument/2006/relationships/image" Target="../media/image9.png"/><Relationship Id="rId1" Type="http://schemas.openxmlformats.org/officeDocument/2006/relationships/slideLayout" Target="../slideLayouts/slideLayout6.xml"/><Relationship Id="rId6" Type="http://schemas.microsoft.com/office/2007/relationships/hdphoto" Target="../media/hdphoto1.wdp"/><Relationship Id="rId11" Type="http://schemas.openxmlformats.org/officeDocument/2006/relationships/hyperlink" Target="#'9'!A1"/><Relationship Id="rId5" Type="http://schemas.openxmlformats.org/officeDocument/2006/relationships/image" Target="../media/image3.png"/><Relationship Id="rId15" Type="http://schemas.openxmlformats.org/officeDocument/2006/relationships/image" Target="../media/image8.png"/><Relationship Id="rId10" Type="http://schemas.microsoft.com/office/2007/relationships/hdphoto" Target="../media/hdphoto2.wdp"/><Relationship Id="rId4" Type="http://schemas.openxmlformats.org/officeDocument/2006/relationships/image" Target="../media/image2.jpeg"/><Relationship Id="rId9" Type="http://schemas.openxmlformats.org/officeDocument/2006/relationships/image" Target="../media/image5.pn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hyperlink" Target="#'1'!A1"/><Relationship Id="rId3" Type="http://schemas.openxmlformats.org/officeDocument/2006/relationships/image" Target="../media/image11.png"/><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3.jpeg"/><Relationship Id="rId11" Type="http://schemas.openxmlformats.org/officeDocument/2006/relationships/image" Target="../media/image9.png"/><Relationship Id="rId5" Type="http://schemas.microsoft.com/office/2007/relationships/hdphoto" Target="../media/hdphoto3.wdp"/><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9'!A1"/><Relationship Id="rId11" Type="http://schemas.openxmlformats.org/officeDocument/2006/relationships/image" Target="../media/image18.png"/><Relationship Id="rId5" Type="http://schemas.openxmlformats.org/officeDocument/2006/relationships/image" Target="../media/image9.png"/><Relationship Id="rId10"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9.png"/><Relationship Id="rId4" Type="http://schemas.openxmlformats.org/officeDocument/2006/relationships/image" Target="../media/image19.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6" name="Rectangle 15">
            <a:extLst>
              <a:ext uri="{FF2B5EF4-FFF2-40B4-BE49-F238E27FC236}">
                <a16:creationId xmlns:a16="http://schemas.microsoft.com/office/drawing/2014/main" id="{48C5A1A0-D5D0-53B1-3FC3-1CF496B243BA}"/>
              </a:ext>
            </a:extLst>
          </p:cNvPr>
          <p:cNvSpPr/>
          <p:nvPr/>
        </p:nvSpPr>
        <p:spPr>
          <a:xfrm>
            <a:off x="0" y="972075"/>
            <a:ext cx="6732802" cy="8385904"/>
          </a:xfrm>
          <a:prstGeom prst="rect">
            <a:avLst/>
          </a:prstGeom>
          <a:solidFill>
            <a:schemeClr val="accent1">
              <a:lumMod val="75000"/>
            </a:schemeClr>
          </a:solidFill>
          <a:ln w="254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9" name="ZoneTexte 8">
            <a:extLst>
              <a:ext uri="{FF2B5EF4-FFF2-40B4-BE49-F238E27FC236}">
                <a16:creationId xmlns:a16="http://schemas.microsoft.com/office/drawing/2014/main" id="{E089BE9C-A09E-398F-D26D-5B377BEE5F62}"/>
              </a:ext>
            </a:extLst>
          </p:cNvPr>
          <p:cNvSpPr txBox="1"/>
          <p:nvPr/>
        </p:nvSpPr>
        <p:spPr>
          <a:xfrm>
            <a:off x="5461689" y="9642688"/>
            <a:ext cx="1388522" cy="200055"/>
          </a:xfrm>
          <a:prstGeom prst="rect">
            <a:avLst/>
          </a:prstGeom>
          <a:noFill/>
        </p:spPr>
        <p:txBody>
          <a:bodyPr wrap="none" rtlCol="0">
            <a:spAutoFit/>
          </a:bodyPr>
          <a:lstStyle/>
          <a:p>
            <a:r>
              <a:rPr lang="fr-FR" sz="700" dirty="0"/>
              <a:t>FICHE PRODUIT MARS 2014</a:t>
            </a:r>
          </a:p>
        </p:txBody>
      </p:sp>
      <p:sp>
        <p:nvSpPr>
          <p:cNvPr id="1034" name="Rectangle : coins arrondis 1033">
            <a:extLst>
              <a:ext uri="{FF2B5EF4-FFF2-40B4-BE49-F238E27FC236}">
                <a16:creationId xmlns:a16="http://schemas.microsoft.com/office/drawing/2014/main" id="{820F75DD-2243-24D9-F91B-F3FC463E36A2}"/>
              </a:ext>
            </a:extLst>
          </p:cNvPr>
          <p:cNvSpPr/>
          <p:nvPr/>
        </p:nvSpPr>
        <p:spPr>
          <a:xfrm>
            <a:off x="1987886" y="1258563"/>
            <a:ext cx="3759200" cy="1463934"/>
          </a:xfrm>
          <a:prstGeom prst="roundRect">
            <a:avLst/>
          </a:prstGeom>
          <a:solidFill>
            <a:schemeClr val="bg1"/>
          </a:solidFill>
          <a:ln w="254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1600" b="1" dirty="0">
              <a:solidFill>
                <a:schemeClr val="tx1"/>
              </a:solidFill>
            </a:endParaRPr>
          </a:p>
          <a:p>
            <a:pPr algn="r"/>
            <a:r>
              <a:rPr lang="fr-FR" sz="2000" b="1" dirty="0">
                <a:solidFill>
                  <a:schemeClr val="accent1">
                    <a:lumMod val="75000"/>
                  </a:schemeClr>
                </a:solidFill>
              </a:rPr>
              <a:t>Une complémentaire santé</a:t>
            </a:r>
          </a:p>
          <a:p>
            <a:r>
              <a:rPr lang="fr-FR" sz="1600" b="1" dirty="0">
                <a:solidFill>
                  <a:schemeClr val="tx1"/>
                </a:solidFill>
              </a:rPr>
              <a:t>                                            </a:t>
            </a:r>
          </a:p>
          <a:p>
            <a:r>
              <a:rPr lang="fr-FR" sz="1600" b="1" dirty="0">
                <a:solidFill>
                  <a:schemeClr val="tx1"/>
                </a:solidFill>
              </a:rPr>
              <a:t>                              </a:t>
            </a:r>
            <a:r>
              <a:rPr lang="fr-FR" sz="2000" b="1" dirty="0">
                <a:solidFill>
                  <a:schemeClr val="accent1">
                    <a:lumMod val="75000"/>
                  </a:schemeClr>
                </a:solidFill>
              </a:rPr>
              <a:t>via</a:t>
            </a:r>
            <a:r>
              <a:rPr lang="fr-FR" sz="1600" b="1" dirty="0">
                <a:solidFill>
                  <a:schemeClr val="tx1"/>
                </a:solidFill>
              </a:rPr>
              <a:t> </a:t>
            </a:r>
          </a:p>
          <a:p>
            <a:pPr algn="ctr"/>
            <a:endParaRPr lang="fr-FR" sz="1200" dirty="0">
              <a:solidFill>
                <a:schemeClr val="tx1"/>
              </a:solidFill>
            </a:endParaRPr>
          </a:p>
          <a:p>
            <a:pPr algn="r"/>
            <a:r>
              <a:rPr lang="fr-FR" sz="1200" dirty="0">
                <a:solidFill>
                  <a:schemeClr val="tx1"/>
                </a:solidFill>
              </a:rPr>
              <a:t>      Contrat responsable</a:t>
            </a:r>
          </a:p>
          <a:p>
            <a:pPr algn="r"/>
            <a:r>
              <a:rPr lang="fr-FR" sz="1200" dirty="0">
                <a:solidFill>
                  <a:schemeClr val="tx1"/>
                </a:solidFill>
              </a:rPr>
              <a:t>5</a:t>
            </a:r>
            <a:r>
              <a:rPr lang="fr-FR" sz="1200">
                <a:solidFill>
                  <a:schemeClr val="tx1"/>
                </a:solidFill>
              </a:rPr>
              <a:t> </a:t>
            </a:r>
            <a:r>
              <a:rPr lang="fr-FR" sz="1200" dirty="0">
                <a:solidFill>
                  <a:schemeClr val="tx1"/>
                </a:solidFill>
              </a:rPr>
              <a:t>formules</a:t>
            </a:r>
            <a:endParaRPr lang="fr-FR" sz="1600" b="1" dirty="0">
              <a:solidFill>
                <a:schemeClr val="tx1"/>
              </a:solidFill>
            </a:endParaRPr>
          </a:p>
          <a:p>
            <a:pPr algn="r"/>
            <a:endParaRPr lang="fr-FR" sz="1600" b="1" dirty="0">
              <a:solidFill>
                <a:schemeClr val="tx1"/>
              </a:solidFill>
            </a:endParaRPr>
          </a:p>
        </p:txBody>
      </p:sp>
      <p:sp>
        <p:nvSpPr>
          <p:cNvPr id="1035" name="Rectangle : coins arrondis 1034">
            <a:extLst>
              <a:ext uri="{FF2B5EF4-FFF2-40B4-BE49-F238E27FC236}">
                <a16:creationId xmlns:a16="http://schemas.microsoft.com/office/drawing/2014/main" id="{25A7A354-9C6E-790D-9150-6891635EC413}"/>
              </a:ext>
            </a:extLst>
          </p:cNvPr>
          <p:cNvSpPr/>
          <p:nvPr/>
        </p:nvSpPr>
        <p:spPr>
          <a:xfrm>
            <a:off x="2447575" y="3295379"/>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1600" b="1" dirty="0">
                <a:solidFill>
                  <a:schemeClr val="tx1"/>
                </a:solidFill>
              </a:rPr>
              <a:t>           </a:t>
            </a:r>
            <a:r>
              <a:rPr lang="fr-FR" sz="2000" b="1" dirty="0">
                <a:solidFill>
                  <a:schemeClr val="accent1">
                    <a:lumMod val="75000"/>
                  </a:schemeClr>
                </a:solidFill>
              </a:rPr>
              <a:t>Un Réseau de soins</a:t>
            </a:r>
          </a:p>
          <a:p>
            <a:r>
              <a:rPr lang="fr-FR" sz="1600" b="1" dirty="0">
                <a:solidFill>
                  <a:schemeClr val="tx1"/>
                </a:solidFill>
              </a:rPr>
              <a:t>                                            </a:t>
            </a:r>
          </a:p>
          <a:p>
            <a:r>
              <a:rPr lang="fr-FR" sz="1600" b="1" dirty="0">
                <a:solidFill>
                  <a:schemeClr val="tx1"/>
                </a:solidFill>
              </a:rPr>
              <a:t>                                       </a:t>
            </a:r>
          </a:p>
          <a:p>
            <a:pPr algn="r"/>
            <a:endParaRPr lang="fr-FR" sz="1200" dirty="0">
              <a:solidFill>
                <a:schemeClr val="tx1"/>
              </a:solidFill>
            </a:endParaRPr>
          </a:p>
          <a:p>
            <a:pPr algn="r"/>
            <a:endParaRPr lang="fr-FR" sz="1200" dirty="0">
              <a:solidFill>
                <a:schemeClr val="tx1"/>
              </a:solidFill>
            </a:endParaRPr>
          </a:p>
        </p:txBody>
      </p:sp>
      <p:sp>
        <p:nvSpPr>
          <p:cNvPr id="1037" name="Rectangle : coins arrondis 1036">
            <a:extLst>
              <a:ext uri="{FF2B5EF4-FFF2-40B4-BE49-F238E27FC236}">
                <a16:creationId xmlns:a16="http://schemas.microsoft.com/office/drawing/2014/main" id="{2E2C7234-7ACB-651B-0D87-2C363492D917}"/>
              </a:ext>
            </a:extLst>
          </p:cNvPr>
          <p:cNvSpPr/>
          <p:nvPr/>
        </p:nvSpPr>
        <p:spPr>
          <a:xfrm>
            <a:off x="2447575" y="5298174"/>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accent1">
                    <a:lumMod val="75000"/>
                  </a:schemeClr>
                </a:solidFill>
              </a:rPr>
              <a:t>   Un Tiers payant</a:t>
            </a:r>
          </a:p>
          <a:p>
            <a:r>
              <a:rPr lang="fr-FR" sz="1600" b="1" dirty="0">
                <a:solidFill>
                  <a:schemeClr val="tx1"/>
                </a:solidFill>
              </a:rPr>
              <a:t>                                            </a:t>
            </a:r>
          </a:p>
          <a:p>
            <a:r>
              <a:rPr lang="fr-FR" sz="1600" b="1" dirty="0">
                <a:solidFill>
                  <a:schemeClr val="tx1"/>
                </a:solidFill>
              </a:rPr>
              <a:t>                                         </a:t>
            </a:r>
          </a:p>
          <a:p>
            <a:pPr algn="ctr"/>
            <a:r>
              <a:rPr lang="fr-FR" sz="1400" dirty="0">
                <a:solidFill>
                  <a:schemeClr val="tx1"/>
                </a:solidFill>
              </a:rPr>
              <a:t>  </a:t>
            </a:r>
          </a:p>
          <a:p>
            <a:pPr algn="r"/>
            <a:r>
              <a:rPr lang="fr-FR" sz="1200" dirty="0">
                <a:solidFill>
                  <a:schemeClr val="tx1"/>
                </a:solidFill>
              </a:rPr>
              <a:t>                   Un tiers payant national, qui vous évite d’avancer les frais médicaux.</a:t>
            </a:r>
          </a:p>
        </p:txBody>
      </p:sp>
      <p:sp>
        <p:nvSpPr>
          <p:cNvPr id="1039" name="Rectangle : coins arrondis 1038">
            <a:extLst>
              <a:ext uri="{FF2B5EF4-FFF2-40B4-BE49-F238E27FC236}">
                <a16:creationId xmlns:a16="http://schemas.microsoft.com/office/drawing/2014/main" id="{6E0F4B50-B72E-3280-5CE3-3A2DC04BFD4D}"/>
              </a:ext>
            </a:extLst>
          </p:cNvPr>
          <p:cNvSpPr/>
          <p:nvPr/>
        </p:nvSpPr>
        <p:spPr>
          <a:xfrm>
            <a:off x="1987886" y="7323510"/>
            <a:ext cx="3759200" cy="1463934"/>
          </a:xfrm>
          <a:prstGeom prst="round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sz="2000" b="1" dirty="0">
                <a:solidFill>
                  <a:schemeClr val="tx1"/>
                </a:solidFill>
              </a:rPr>
              <a:t>        </a:t>
            </a:r>
            <a:r>
              <a:rPr lang="fr-FR" sz="2000" b="1" dirty="0">
                <a:solidFill>
                  <a:schemeClr val="accent1">
                    <a:lumMod val="75000"/>
                  </a:schemeClr>
                </a:solidFill>
              </a:rPr>
              <a:t>Une assistance </a:t>
            </a:r>
          </a:p>
          <a:p>
            <a:r>
              <a:rPr lang="fr-FR" sz="1600" b="1" dirty="0">
                <a:solidFill>
                  <a:schemeClr val="tx1"/>
                </a:solidFill>
              </a:rPr>
              <a:t>                                            </a:t>
            </a:r>
          </a:p>
          <a:p>
            <a:r>
              <a:rPr lang="fr-FR" sz="1600" b="1" dirty="0">
                <a:solidFill>
                  <a:schemeClr val="tx1"/>
                </a:solidFill>
              </a:rPr>
              <a:t>                                           </a:t>
            </a:r>
          </a:p>
          <a:p>
            <a:pPr algn="r"/>
            <a:endParaRPr lang="fr-FR" sz="1400" b="1" dirty="0">
              <a:solidFill>
                <a:schemeClr val="tx1"/>
              </a:solidFill>
            </a:endParaRPr>
          </a:p>
          <a:p>
            <a:pPr algn="r"/>
            <a:r>
              <a:rPr lang="fr-FR" sz="1600" dirty="0">
                <a:solidFill>
                  <a:schemeClr val="tx1"/>
                </a:solidFill>
              </a:rPr>
              <a:t>                </a:t>
            </a:r>
            <a:r>
              <a:rPr lang="fr-FR" sz="1200" dirty="0">
                <a:solidFill>
                  <a:schemeClr val="tx1"/>
                </a:solidFill>
              </a:rPr>
              <a:t>Un service haut de gamme 24h/24, 7j/7 pour vous accompagner en cas de coup dur</a:t>
            </a:r>
            <a:endParaRPr lang="fr-FR" sz="1600" b="1" dirty="0">
              <a:solidFill>
                <a:schemeClr val="tx1"/>
              </a:solidFill>
            </a:endParaRPr>
          </a:p>
        </p:txBody>
      </p:sp>
      <p:grpSp>
        <p:nvGrpSpPr>
          <p:cNvPr id="1052" name="Groupe 1051">
            <a:extLst>
              <a:ext uri="{FF2B5EF4-FFF2-40B4-BE49-F238E27FC236}">
                <a16:creationId xmlns:a16="http://schemas.microsoft.com/office/drawing/2014/main" id="{1B98BC47-454E-7573-3854-004087E54ABF}"/>
              </a:ext>
            </a:extLst>
          </p:cNvPr>
          <p:cNvGrpSpPr/>
          <p:nvPr/>
        </p:nvGrpSpPr>
        <p:grpSpPr>
          <a:xfrm>
            <a:off x="2045763" y="1495981"/>
            <a:ext cx="976837" cy="1010393"/>
            <a:chOff x="2109263" y="1465142"/>
            <a:chExt cx="976837" cy="1010393"/>
          </a:xfrm>
        </p:grpSpPr>
        <p:sp>
          <p:nvSpPr>
            <p:cNvPr id="1045" name="Ellipse 1044">
              <a:extLst>
                <a:ext uri="{FF2B5EF4-FFF2-40B4-BE49-F238E27FC236}">
                  <a16:creationId xmlns:a16="http://schemas.microsoft.com/office/drawing/2014/main" id="{FD26AE43-9742-47B6-8BDA-2D79D26DE0F8}"/>
                </a:ext>
              </a:extLst>
            </p:cNvPr>
            <p:cNvSpPr/>
            <p:nvPr/>
          </p:nvSpPr>
          <p:spPr>
            <a:xfrm>
              <a:off x="2109263" y="1465142"/>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1" name="Picture 18" descr="Modèle Logo Santé Et Forme Physique Logo Médical | PosterMyWall">
              <a:extLst>
                <a:ext uri="{FF2B5EF4-FFF2-40B4-BE49-F238E27FC236}">
                  <a16:creationId xmlns:a16="http://schemas.microsoft.com/office/drawing/2014/main" id="{5596F68D-AA41-DFE9-E9A2-B9194E9FAFD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299" t="11936" r="27063" b="24816"/>
            <a:stretch/>
          </p:blipFill>
          <p:spPr bwMode="auto">
            <a:xfrm>
              <a:off x="2311520" y="1585367"/>
              <a:ext cx="596138" cy="7595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1" name="Groupe 1050">
            <a:extLst>
              <a:ext uri="{FF2B5EF4-FFF2-40B4-BE49-F238E27FC236}">
                <a16:creationId xmlns:a16="http://schemas.microsoft.com/office/drawing/2014/main" id="{19917A48-6579-23BF-68BB-3305C9CD7759}"/>
              </a:ext>
            </a:extLst>
          </p:cNvPr>
          <p:cNvGrpSpPr/>
          <p:nvPr/>
        </p:nvGrpSpPr>
        <p:grpSpPr>
          <a:xfrm>
            <a:off x="2508660" y="3513533"/>
            <a:ext cx="976837" cy="1010393"/>
            <a:chOff x="2548471" y="3049424"/>
            <a:chExt cx="976837" cy="1010393"/>
          </a:xfrm>
        </p:grpSpPr>
        <p:sp>
          <p:nvSpPr>
            <p:cNvPr id="1047" name="Ellipse 1046">
              <a:extLst>
                <a:ext uri="{FF2B5EF4-FFF2-40B4-BE49-F238E27FC236}">
                  <a16:creationId xmlns:a16="http://schemas.microsoft.com/office/drawing/2014/main" id="{C3E8B297-BFBE-B461-7C3B-64B5339A7D05}"/>
                </a:ext>
              </a:extLst>
            </p:cNvPr>
            <p:cNvSpPr/>
            <p:nvPr/>
          </p:nvSpPr>
          <p:spPr>
            <a:xfrm>
              <a:off x="2548471" y="3049424"/>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3" name="Picture 14" descr="Réseaux de soins et de professionnels - Uneoreilleavertie.com">
              <a:extLst>
                <a:ext uri="{FF2B5EF4-FFF2-40B4-BE49-F238E27FC236}">
                  <a16:creationId xmlns:a16="http://schemas.microsoft.com/office/drawing/2014/main" id="{CB98C6EB-B01A-C73B-FDB4-23B060A3F0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11" t="12370" r="8264" b="17480"/>
            <a:stretch/>
          </p:blipFill>
          <p:spPr bwMode="auto">
            <a:xfrm>
              <a:off x="2693612" y="3280574"/>
              <a:ext cx="670266" cy="5771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0" name="Groupe 1049">
            <a:extLst>
              <a:ext uri="{FF2B5EF4-FFF2-40B4-BE49-F238E27FC236}">
                <a16:creationId xmlns:a16="http://schemas.microsoft.com/office/drawing/2014/main" id="{EE3E8E91-2656-D7E0-F4AE-A7310F23F8C3}"/>
              </a:ext>
            </a:extLst>
          </p:cNvPr>
          <p:cNvGrpSpPr/>
          <p:nvPr/>
        </p:nvGrpSpPr>
        <p:grpSpPr>
          <a:xfrm>
            <a:off x="2517276" y="5541565"/>
            <a:ext cx="976837" cy="1010393"/>
            <a:chOff x="2693612" y="4712978"/>
            <a:chExt cx="976837" cy="1010393"/>
          </a:xfrm>
        </p:grpSpPr>
        <p:sp>
          <p:nvSpPr>
            <p:cNvPr id="1048" name="Ellipse 1047">
              <a:extLst>
                <a:ext uri="{FF2B5EF4-FFF2-40B4-BE49-F238E27FC236}">
                  <a16:creationId xmlns:a16="http://schemas.microsoft.com/office/drawing/2014/main" id="{5EB7E7A5-A185-101D-7EF8-35F0B21685CA}"/>
                </a:ext>
              </a:extLst>
            </p:cNvPr>
            <p:cNvSpPr/>
            <p:nvPr/>
          </p:nvSpPr>
          <p:spPr>
            <a:xfrm>
              <a:off x="2693612" y="471297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44" name="Picture 16" descr="Tiers payant : qu'est-ce que c'est et comment l'obtenir ?">
              <a:extLst>
                <a:ext uri="{FF2B5EF4-FFF2-40B4-BE49-F238E27FC236}">
                  <a16:creationId xmlns:a16="http://schemas.microsoft.com/office/drawing/2014/main" id="{5CDEE249-5D62-70AB-1349-DE31685588A5}"/>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l="19237" t="4849" r="29792" b="4849"/>
            <a:stretch/>
          </p:blipFill>
          <p:spPr bwMode="auto">
            <a:xfrm>
              <a:off x="2862942" y="4910684"/>
              <a:ext cx="638175" cy="59604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4" name="Groupe 1053">
            <a:extLst>
              <a:ext uri="{FF2B5EF4-FFF2-40B4-BE49-F238E27FC236}">
                <a16:creationId xmlns:a16="http://schemas.microsoft.com/office/drawing/2014/main" id="{F550A18B-95EE-2E1E-9130-47CFB6DF9D71}"/>
              </a:ext>
            </a:extLst>
          </p:cNvPr>
          <p:cNvGrpSpPr/>
          <p:nvPr/>
        </p:nvGrpSpPr>
        <p:grpSpPr>
          <a:xfrm>
            <a:off x="2068832" y="7568271"/>
            <a:ext cx="976837" cy="1010393"/>
            <a:chOff x="2566518" y="6340968"/>
            <a:chExt cx="976837" cy="1010393"/>
          </a:xfrm>
        </p:grpSpPr>
        <p:sp>
          <p:nvSpPr>
            <p:cNvPr id="1049" name="Ellipse 1048">
              <a:extLst>
                <a:ext uri="{FF2B5EF4-FFF2-40B4-BE49-F238E27FC236}">
                  <a16:creationId xmlns:a16="http://schemas.microsoft.com/office/drawing/2014/main" id="{730A0AD9-7704-2C4D-8F51-ADBAE8A79602}"/>
                </a:ext>
              </a:extLst>
            </p:cNvPr>
            <p:cNvSpPr/>
            <p:nvPr/>
          </p:nvSpPr>
          <p:spPr>
            <a:xfrm>
              <a:off x="2566518" y="6340968"/>
              <a:ext cx="976837" cy="1010393"/>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a:solidFill>
                  <a:schemeClr val="tx1"/>
                </a:solidFill>
              </a:endParaRPr>
            </a:p>
          </p:txBody>
        </p:sp>
        <p:pic>
          <p:nvPicPr>
            <p:cNvPr id="1053" name="Picture 8" descr="Assistance and protection logo work people sign Vector Image">
              <a:extLst>
                <a:ext uri="{FF2B5EF4-FFF2-40B4-BE49-F238E27FC236}">
                  <a16:creationId xmlns:a16="http://schemas.microsoft.com/office/drawing/2014/main" id="{5AEC9FC8-7B96-4C39-B3A2-834ABE81C9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0106" t="9307" r="19154" b="31895"/>
            <a:stretch/>
          </p:blipFill>
          <p:spPr bwMode="auto">
            <a:xfrm>
              <a:off x="2781449" y="6523581"/>
              <a:ext cx="577433" cy="603735"/>
            </a:xfrm>
            <a:prstGeom prst="rect">
              <a:avLst/>
            </a:prstGeom>
            <a:noFill/>
            <a:extLst>
              <a:ext uri="{909E8E84-426E-40DD-AFC4-6F175D3DCCD1}">
                <a14:hiddenFill xmlns:a14="http://schemas.microsoft.com/office/drawing/2010/main">
                  <a:solidFill>
                    <a:srgbClr val="FFFFFF"/>
                  </a:solidFill>
                </a14:hiddenFill>
              </a:ext>
            </a:extLst>
          </p:spPr>
        </p:pic>
      </p:grpSp>
      <p:pic>
        <p:nvPicPr>
          <p:cNvPr id="1058" name="Image 1057">
            <a:hlinkClick r:id="rId8"/>
            <a:extLst>
              <a:ext uri="{FF2B5EF4-FFF2-40B4-BE49-F238E27FC236}">
                <a16:creationId xmlns:a16="http://schemas.microsoft.com/office/drawing/2014/main" id="{6A24F42E-17D1-A245-B157-7AD52A277F61}"/>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40000"/>
                    </a14:imgEffect>
                  </a14:imgLayer>
                </a14:imgProps>
              </a:ext>
            </a:extLst>
          </a:blip>
          <a:stretch>
            <a:fillRect/>
          </a:stretch>
        </p:blipFill>
        <p:spPr>
          <a:xfrm>
            <a:off x="4697418" y="5582724"/>
            <a:ext cx="1264102" cy="711304"/>
          </a:xfrm>
          <a:prstGeom prst="rect">
            <a:avLst/>
          </a:prstGeom>
        </p:spPr>
      </p:pic>
      <p:sp>
        <p:nvSpPr>
          <p:cNvPr id="1063" name="Ellipse 1062">
            <a:extLst>
              <a:ext uri="{FF2B5EF4-FFF2-40B4-BE49-F238E27FC236}">
                <a16:creationId xmlns:a16="http://schemas.microsoft.com/office/drawing/2014/main" id="{0F42D8DA-AD12-EFA1-5581-09AE50177610}"/>
              </a:ext>
            </a:extLst>
          </p:cNvPr>
          <p:cNvSpPr/>
          <p:nvPr/>
        </p:nvSpPr>
        <p:spPr>
          <a:xfrm>
            <a:off x="-4107550" y="953182"/>
            <a:ext cx="6446849" cy="840479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fr-FR" sz="2800" b="1" dirty="0">
              <a:solidFill>
                <a:schemeClr val="tx1"/>
              </a:solidFill>
            </a:endParaRPr>
          </a:p>
        </p:txBody>
      </p:sp>
      <p:sp>
        <p:nvSpPr>
          <p:cNvPr id="26" name="Ellipse 25">
            <a:extLst>
              <a:ext uri="{FF2B5EF4-FFF2-40B4-BE49-F238E27FC236}">
                <a16:creationId xmlns:a16="http://schemas.microsoft.com/office/drawing/2014/main" id="{75AF282E-3905-B58E-2934-CA8B2EF3B131}"/>
              </a:ext>
            </a:extLst>
          </p:cNvPr>
          <p:cNvSpPr/>
          <p:nvPr/>
        </p:nvSpPr>
        <p:spPr>
          <a:xfrm>
            <a:off x="-240074" y="2351314"/>
            <a:ext cx="2488094" cy="5506457"/>
          </a:xfrm>
          <a:prstGeom prst="ellipse">
            <a:avLst/>
          </a:prstGeom>
          <a:solidFill>
            <a:schemeClr val="bg1"/>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tx1"/>
                </a:solidFill>
              </a:rPr>
              <a:t>Une </a:t>
            </a:r>
          </a:p>
          <a:p>
            <a:pPr algn="ctr"/>
            <a:r>
              <a:rPr lang="fr-FR" sz="3200" b="1" dirty="0">
                <a:solidFill>
                  <a:schemeClr val="tx1"/>
                </a:solidFill>
              </a:rPr>
              <a:t>solution intégrale </a:t>
            </a:r>
            <a:r>
              <a:rPr lang="fr-FR" b="1" dirty="0">
                <a:solidFill>
                  <a:schemeClr val="tx1"/>
                </a:solidFill>
              </a:rPr>
              <a:t>Pour </a:t>
            </a:r>
          </a:p>
          <a:p>
            <a:pPr algn="ctr"/>
            <a:r>
              <a:rPr lang="fr-FR" b="1" dirty="0">
                <a:solidFill>
                  <a:schemeClr val="tx1"/>
                </a:solidFill>
              </a:rPr>
              <a:t>les + 18 ans et sans limite d’âge</a:t>
            </a:r>
          </a:p>
        </p:txBody>
      </p:sp>
      <p:pic>
        <p:nvPicPr>
          <p:cNvPr id="2" name="Image 1" descr="Comment contacter Inter Mutuelles Assistance ?">
            <a:hlinkClick r:id="rId11"/>
            <a:extLst>
              <a:ext uri="{FF2B5EF4-FFF2-40B4-BE49-F238E27FC236}">
                <a16:creationId xmlns:a16="http://schemas.microsoft.com/office/drawing/2014/main" id="{B66E3778-2E4A-4472-AB45-9EB7DFA5B699}"/>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8225" r="4129" b="23858"/>
          <a:stretch/>
        </p:blipFill>
        <p:spPr bwMode="auto">
          <a:xfrm>
            <a:off x="4142480" y="7576182"/>
            <a:ext cx="1403686" cy="778437"/>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hlinkClick r:id="rId13"/>
            <a:extLst>
              <a:ext uri="{FF2B5EF4-FFF2-40B4-BE49-F238E27FC236}">
                <a16:creationId xmlns:a16="http://schemas.microsoft.com/office/drawing/2014/main" id="{9F475C86-5741-40BC-B1F5-52377BDE65D7}"/>
              </a:ext>
            </a:extLst>
          </p:cNvPr>
          <p:cNvPicPr>
            <a:picLocks noChangeAspect="1"/>
          </p:cNvPicPr>
          <p:nvPr/>
        </p:nvPicPr>
        <p:blipFill>
          <a:blip r:embed="rId14"/>
          <a:stretch>
            <a:fillRect/>
          </a:stretch>
        </p:blipFill>
        <p:spPr>
          <a:xfrm>
            <a:off x="4609421" y="3786633"/>
            <a:ext cx="976837" cy="930502"/>
          </a:xfrm>
          <a:prstGeom prst="rect">
            <a:avLst/>
          </a:prstGeom>
        </p:spPr>
      </p:pic>
      <p:grpSp>
        <p:nvGrpSpPr>
          <p:cNvPr id="10" name="Groupe 9">
            <a:extLst>
              <a:ext uri="{FF2B5EF4-FFF2-40B4-BE49-F238E27FC236}">
                <a16:creationId xmlns:a16="http://schemas.microsoft.com/office/drawing/2014/main" id="{96AD3293-528B-6D62-3F9D-AE027BEB15EC}"/>
              </a:ext>
            </a:extLst>
          </p:cNvPr>
          <p:cNvGrpSpPr/>
          <p:nvPr/>
        </p:nvGrpSpPr>
        <p:grpSpPr>
          <a:xfrm>
            <a:off x="101600" y="93434"/>
            <a:ext cx="6686550" cy="628847"/>
            <a:chOff x="101600" y="93434"/>
            <a:chExt cx="6686550" cy="628847"/>
          </a:xfrm>
        </p:grpSpPr>
        <p:sp>
          <p:nvSpPr>
            <p:cNvPr id="3" name="Rectangle : coins arrondis 2">
              <a:extLst>
                <a:ext uri="{FF2B5EF4-FFF2-40B4-BE49-F238E27FC236}">
                  <a16:creationId xmlns:a16="http://schemas.microsoft.com/office/drawing/2014/main" id="{7FF4382F-F447-B488-AEDB-4175D1E1A303}"/>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Dynamique   by                               assuré par                                 </a:t>
              </a:r>
            </a:p>
          </p:txBody>
        </p:sp>
        <p:pic>
          <p:nvPicPr>
            <p:cNvPr id="1026" name="Picture 2" descr="Néoliane Santé &amp; Prévoyance">
              <a:extLst>
                <a:ext uri="{FF2B5EF4-FFF2-40B4-BE49-F238E27FC236}">
                  <a16:creationId xmlns:a16="http://schemas.microsoft.com/office/drawing/2014/main" id="{A09CB52A-E747-9A81-7AD1-125C13582A7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nimaux Santé | Mutuelle Animaux">
              <a:extLst>
                <a:ext uri="{FF2B5EF4-FFF2-40B4-BE49-F238E27FC236}">
                  <a16:creationId xmlns:a16="http://schemas.microsoft.com/office/drawing/2014/main" id="{558427F2-37E7-118C-AF91-8475E2B3C2C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 descr="Animaux Santé | Mutuelle Animaux">
            <a:extLst>
              <a:ext uri="{FF2B5EF4-FFF2-40B4-BE49-F238E27FC236}">
                <a16:creationId xmlns:a16="http://schemas.microsoft.com/office/drawing/2014/main" id="{882DE1FF-0F01-2E2F-2E81-844AD4216FB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58653" y="1630824"/>
            <a:ext cx="1627605" cy="628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84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0" name="Rectangle : coins arrondis 9">
            <a:extLst>
              <a:ext uri="{FF2B5EF4-FFF2-40B4-BE49-F238E27FC236}">
                <a16:creationId xmlns:a16="http://schemas.microsoft.com/office/drawing/2014/main" id="{502B7F33-65FE-131C-4919-2C329A23EB0A}"/>
              </a:ext>
            </a:extLst>
          </p:cNvPr>
          <p:cNvSpPr/>
          <p:nvPr/>
        </p:nvSpPr>
        <p:spPr>
          <a:xfrm>
            <a:off x="348343" y="2133601"/>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AUCUNE LIMITE D’ÂGE À L’ADHÉSION</a:t>
            </a:r>
            <a:endParaRPr lang="fr-FR" sz="1400" dirty="0">
              <a:solidFill>
                <a:schemeClr val="bg1"/>
              </a:solidFill>
            </a:endParaRPr>
          </a:p>
        </p:txBody>
      </p:sp>
      <p:sp>
        <p:nvSpPr>
          <p:cNvPr id="11" name="Rectangle : coins arrondis 10">
            <a:extLst>
              <a:ext uri="{FF2B5EF4-FFF2-40B4-BE49-F238E27FC236}">
                <a16:creationId xmlns:a16="http://schemas.microsoft.com/office/drawing/2014/main" id="{0E162AE4-139C-BD01-2988-DE899990DAEC}"/>
              </a:ext>
            </a:extLst>
          </p:cNvPr>
          <p:cNvSpPr/>
          <p:nvPr/>
        </p:nvSpPr>
        <p:spPr>
          <a:xfrm>
            <a:off x="329746" y="2825315"/>
            <a:ext cx="6198508" cy="385430"/>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adhésion rapide en ligne avec la signature électronique</a:t>
            </a:r>
          </a:p>
        </p:txBody>
      </p:sp>
      <p:sp>
        <p:nvSpPr>
          <p:cNvPr id="12" name="Rectangle : coins arrondis 11">
            <a:extLst>
              <a:ext uri="{FF2B5EF4-FFF2-40B4-BE49-F238E27FC236}">
                <a16:creationId xmlns:a16="http://schemas.microsoft.com/office/drawing/2014/main" id="{D411AD06-7738-5C96-7B86-AF3B1A6DA279}"/>
              </a:ext>
            </a:extLst>
          </p:cNvPr>
          <p:cNvSpPr/>
          <p:nvPr/>
        </p:nvSpPr>
        <p:spPr>
          <a:xfrm>
            <a:off x="329746" y="3331538"/>
            <a:ext cx="6198508" cy="54148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Une reprise à la concurrence facilitée</a:t>
            </a:r>
          </a:p>
          <a:p>
            <a:pPr algn="ctr"/>
            <a:r>
              <a:rPr lang="fr-FR" b="1" dirty="0">
                <a:solidFill>
                  <a:schemeClr val="bg1"/>
                </a:solidFill>
              </a:rPr>
              <a:t> </a:t>
            </a:r>
            <a:r>
              <a:rPr lang="fr-FR" sz="1400" dirty="0">
                <a:solidFill>
                  <a:schemeClr val="bg1"/>
                </a:solidFill>
              </a:rPr>
              <a:t>avec la prise en charge de l’envoi de la résiliation en cas de RIA</a:t>
            </a:r>
            <a:endParaRPr lang="fr-FR" dirty="0">
              <a:solidFill>
                <a:schemeClr val="bg1"/>
              </a:solidFill>
            </a:endParaRPr>
          </a:p>
        </p:txBody>
      </p:sp>
      <p:sp>
        <p:nvSpPr>
          <p:cNvPr id="13" name="Rectangle : coins arrondis 12">
            <a:extLst>
              <a:ext uri="{FF2B5EF4-FFF2-40B4-BE49-F238E27FC236}">
                <a16:creationId xmlns:a16="http://schemas.microsoft.com/office/drawing/2014/main" id="{FF402B8E-6734-2A19-3272-812721C6F109}"/>
              </a:ext>
            </a:extLst>
          </p:cNvPr>
          <p:cNvSpPr/>
          <p:nvPr/>
        </p:nvSpPr>
        <p:spPr>
          <a:xfrm>
            <a:off x="348343" y="3993813"/>
            <a:ext cx="6198508" cy="541483"/>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Des BONUS FIDÉLITÉ en Optique, dentaire et en Hospitalisation dès la 2 année</a:t>
            </a:r>
            <a:endParaRPr lang="fr-FR" dirty="0">
              <a:solidFill>
                <a:schemeClr val="bg1"/>
              </a:solidFill>
            </a:endParaRPr>
          </a:p>
        </p:txBody>
      </p:sp>
      <p:sp>
        <p:nvSpPr>
          <p:cNvPr id="14" name="Rectangle : coins arrondis 13">
            <a:extLst>
              <a:ext uri="{FF2B5EF4-FFF2-40B4-BE49-F238E27FC236}">
                <a16:creationId xmlns:a16="http://schemas.microsoft.com/office/drawing/2014/main" id="{E9C93BDE-EA47-7BB9-5461-311B0E551E51}"/>
              </a:ext>
            </a:extLst>
          </p:cNvPr>
          <p:cNvSpPr/>
          <p:nvPr/>
        </p:nvSpPr>
        <p:spPr>
          <a:xfrm>
            <a:off x="348343" y="4662620"/>
            <a:ext cx="6198508" cy="39188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20 professions éligibles pour le poste médecine naturelle</a:t>
            </a:r>
          </a:p>
        </p:txBody>
      </p:sp>
      <p:sp>
        <p:nvSpPr>
          <p:cNvPr id="15" name="Rectangle : coins arrondis 14">
            <a:extLst>
              <a:ext uri="{FF2B5EF4-FFF2-40B4-BE49-F238E27FC236}">
                <a16:creationId xmlns:a16="http://schemas.microsoft.com/office/drawing/2014/main" id="{F7397AD4-996B-08A5-5E49-1327F0A5A50E}"/>
              </a:ext>
            </a:extLst>
          </p:cNvPr>
          <p:cNvSpPr/>
          <p:nvPr/>
        </p:nvSpPr>
        <p:spPr>
          <a:xfrm>
            <a:off x="329746" y="5169169"/>
            <a:ext cx="6198508" cy="562102"/>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CHAMBRE PARTICULIERE ET FRAIS DE SEJOURS EN CAS D’HOSPITALITATION EN ILLIMITÉ</a:t>
            </a:r>
            <a:endParaRPr lang="fr-FR" dirty="0">
              <a:solidFill>
                <a:schemeClr val="bg1"/>
              </a:solidFill>
            </a:endParaRPr>
          </a:p>
        </p:txBody>
      </p:sp>
      <p:sp>
        <p:nvSpPr>
          <p:cNvPr id="17" name="Rectangle : coins arrondis 16">
            <a:extLst>
              <a:ext uri="{FF2B5EF4-FFF2-40B4-BE49-F238E27FC236}">
                <a16:creationId xmlns:a16="http://schemas.microsoft.com/office/drawing/2014/main" id="{56005021-6921-0F27-EFB5-9EE68CD9ADEE}"/>
              </a:ext>
            </a:extLst>
          </p:cNvPr>
          <p:cNvSpPr/>
          <p:nvPr/>
        </p:nvSpPr>
        <p:spPr>
          <a:xfrm>
            <a:off x="348343" y="5839624"/>
            <a:ext cx="6198508" cy="545837"/>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RÉDUCTION POUR LES COUPLES : 7%</a:t>
            </a:r>
          </a:p>
          <a:p>
            <a:pPr algn="ctr"/>
            <a:r>
              <a:rPr lang="fr-FR" b="1" dirty="0">
                <a:solidFill>
                  <a:schemeClr val="bg1"/>
                </a:solidFill>
              </a:rPr>
              <a:t>RÉDUCTION POUR LES FAMILLES : 10%</a:t>
            </a:r>
            <a:endParaRPr lang="fr-FR" dirty="0">
              <a:solidFill>
                <a:schemeClr val="bg1"/>
              </a:solidFill>
            </a:endParaRPr>
          </a:p>
        </p:txBody>
      </p:sp>
      <p:sp>
        <p:nvSpPr>
          <p:cNvPr id="19" name="Rectangle : coins arrondis 18">
            <a:extLst>
              <a:ext uri="{FF2B5EF4-FFF2-40B4-BE49-F238E27FC236}">
                <a16:creationId xmlns:a16="http://schemas.microsoft.com/office/drawing/2014/main" id="{91AD7C59-6B79-73F3-7478-A8C5539FC0C2}"/>
              </a:ext>
            </a:extLst>
          </p:cNvPr>
          <p:cNvSpPr/>
          <p:nvPr/>
        </p:nvSpPr>
        <p:spPr>
          <a:xfrm>
            <a:off x="348343" y="7882414"/>
            <a:ext cx="6198508" cy="1503336"/>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L’assistance IMA en inclusion </a:t>
            </a:r>
            <a:r>
              <a:rPr lang="fr-FR" dirty="0">
                <a:solidFill>
                  <a:schemeClr val="bg1"/>
                </a:solidFill>
              </a:rPr>
              <a:t>: </a:t>
            </a:r>
            <a:r>
              <a:rPr lang="fr-FR" sz="1400" dirty="0">
                <a:solidFill>
                  <a:schemeClr val="bg1"/>
                </a:solidFill>
              </a:rPr>
              <a:t>disponibles 7j/7, 24h/24</a:t>
            </a:r>
          </a:p>
          <a:p>
            <a:pPr algn="ctr"/>
            <a:r>
              <a:rPr lang="fr-FR" dirty="0">
                <a:solidFill>
                  <a:schemeClr val="bg1"/>
                </a:solidFill>
              </a:rPr>
              <a:t> </a:t>
            </a:r>
            <a:r>
              <a:rPr lang="fr-FR" b="1" dirty="0">
                <a:solidFill>
                  <a:schemeClr val="bg1"/>
                </a:solidFill>
              </a:rPr>
              <a:t>Des garanties haut de gamme </a:t>
            </a:r>
            <a:r>
              <a:rPr lang="fr-FR" sz="1400" dirty="0">
                <a:solidFill>
                  <a:schemeClr val="bg1"/>
                </a:solidFill>
              </a:rPr>
              <a:t>en cas d’hospitalisation ou immobilisation, en cas de décès, en cas déplacement, ….</a:t>
            </a:r>
            <a:endParaRPr lang="fr-FR" dirty="0">
              <a:solidFill>
                <a:schemeClr val="bg1"/>
              </a:solidFill>
            </a:endParaRPr>
          </a:p>
        </p:txBody>
      </p:sp>
      <p:grpSp>
        <p:nvGrpSpPr>
          <p:cNvPr id="20" name="Groupe 19">
            <a:extLst>
              <a:ext uri="{FF2B5EF4-FFF2-40B4-BE49-F238E27FC236}">
                <a16:creationId xmlns:a16="http://schemas.microsoft.com/office/drawing/2014/main" id="{713EFFF2-864A-4877-4886-9A5855A88DDC}"/>
              </a:ext>
            </a:extLst>
          </p:cNvPr>
          <p:cNvGrpSpPr/>
          <p:nvPr/>
        </p:nvGrpSpPr>
        <p:grpSpPr>
          <a:xfrm>
            <a:off x="1248230" y="945460"/>
            <a:ext cx="5215617" cy="1038433"/>
            <a:chOff x="1248230" y="945460"/>
            <a:chExt cx="5215617" cy="1038433"/>
          </a:xfrm>
        </p:grpSpPr>
        <p:sp>
          <p:nvSpPr>
            <p:cNvPr id="5" name="ZoneTexte 4">
              <a:extLst>
                <a:ext uri="{FF2B5EF4-FFF2-40B4-BE49-F238E27FC236}">
                  <a16:creationId xmlns:a16="http://schemas.microsoft.com/office/drawing/2014/main" id="{EE60AE9E-7261-071B-B3E5-A4F8FD7257F9}"/>
                </a:ext>
              </a:extLst>
            </p:cNvPr>
            <p:cNvSpPr txBox="1"/>
            <p:nvPr/>
          </p:nvSpPr>
          <p:spPr>
            <a:xfrm>
              <a:off x="2283732" y="1029786"/>
              <a:ext cx="4180115" cy="954107"/>
            </a:xfrm>
            <a:prstGeom prst="rect">
              <a:avLst/>
            </a:prstGeom>
            <a:noFill/>
          </p:spPr>
          <p:txBody>
            <a:bodyPr wrap="square">
              <a:spAutoFit/>
            </a:bodyPr>
            <a:lstStyle/>
            <a:p>
              <a:pPr algn="ctr"/>
              <a:r>
                <a:rPr lang="fr-FR" sz="2800" b="1" dirty="0"/>
                <a:t>Pourquoi choisir </a:t>
              </a:r>
              <a:r>
                <a:rPr lang="fr-FR" sz="2800" b="1" dirty="0" err="1"/>
                <a:t>Néoliane</a:t>
              </a:r>
              <a:endParaRPr lang="fr-FR" sz="2800" b="1" dirty="0"/>
            </a:p>
            <a:p>
              <a:pPr algn="ctr"/>
              <a:r>
                <a:rPr lang="fr-FR" sz="2800" b="1" dirty="0"/>
                <a:t>Dynamique ?</a:t>
              </a:r>
            </a:p>
          </p:txBody>
        </p:sp>
        <p:pic>
          <p:nvPicPr>
            <p:cNvPr id="3074" name="Picture 2" descr="Bonne idée - Icônes commercialisation gratuites">
              <a:extLst>
                <a:ext uri="{FF2B5EF4-FFF2-40B4-BE49-F238E27FC236}">
                  <a16:creationId xmlns:a16="http://schemas.microsoft.com/office/drawing/2014/main" id="{C58FC8EA-8503-2CE3-1B86-5D230745A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230" y="945460"/>
              <a:ext cx="1035502" cy="1035502"/>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Rectangle : coins arrondis 1">
            <a:extLst>
              <a:ext uri="{FF2B5EF4-FFF2-40B4-BE49-F238E27FC236}">
                <a16:creationId xmlns:a16="http://schemas.microsoft.com/office/drawing/2014/main" id="{4028463F-338E-37AC-5F99-2FC06A65BB23}"/>
              </a:ext>
            </a:extLst>
          </p:cNvPr>
          <p:cNvSpPr/>
          <p:nvPr/>
        </p:nvSpPr>
        <p:spPr>
          <a:xfrm>
            <a:off x="348343" y="6492460"/>
            <a:ext cx="6198508" cy="1283048"/>
          </a:xfrm>
          <a:prstGeom prst="roundRect">
            <a:avLst/>
          </a:prstGeom>
          <a:solidFill>
            <a:schemeClr val="accent1">
              <a:lumMod val="75000"/>
            </a:schemeClr>
          </a:solidFill>
          <a:ln w="254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L’accès au réseau de soins Carte Blanche, 1er réseau de soins de santé de France. </a:t>
            </a:r>
            <a:r>
              <a:rPr lang="fr-FR" sz="1400" dirty="0">
                <a:solidFill>
                  <a:schemeClr val="bg1"/>
                </a:solidFill>
              </a:rPr>
              <a:t>Un tiers payant national, Des tarifs spécialement négociés sur les soins et les équipements des différents réseaux proposés, Un nombre important de professionnels adhérents, Des avantages supplémentaires comme des garanties spéciales pour couvrir la casse par exemple…</a:t>
            </a:r>
            <a:endParaRPr lang="fr-FR" dirty="0">
              <a:solidFill>
                <a:schemeClr val="bg1"/>
              </a:solidFill>
            </a:endParaRPr>
          </a:p>
        </p:txBody>
      </p:sp>
      <p:grpSp>
        <p:nvGrpSpPr>
          <p:cNvPr id="7" name="Groupe 6">
            <a:extLst>
              <a:ext uri="{FF2B5EF4-FFF2-40B4-BE49-F238E27FC236}">
                <a16:creationId xmlns:a16="http://schemas.microsoft.com/office/drawing/2014/main" id="{A42C56C4-65AA-2B19-ED1C-13195F89FB1A}"/>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7A400F66-6E5C-5AD5-4F33-67061165BA3A}"/>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Dynamique   by                               assuré par                                 </a:t>
              </a:r>
            </a:p>
          </p:txBody>
        </p:sp>
        <p:pic>
          <p:nvPicPr>
            <p:cNvPr id="9" name="Picture 2" descr="Néoliane Santé &amp; Prévoyance">
              <a:extLst>
                <a:ext uri="{FF2B5EF4-FFF2-40B4-BE49-F238E27FC236}">
                  <a16:creationId xmlns:a16="http://schemas.microsoft.com/office/drawing/2014/main" id="{E4CE67F1-9BD5-1351-0139-0662DADBE3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Animaux Santé | Mutuelle Animaux">
              <a:extLst>
                <a:ext uri="{FF2B5EF4-FFF2-40B4-BE49-F238E27FC236}">
                  <a16:creationId xmlns:a16="http://schemas.microsoft.com/office/drawing/2014/main" id="{44349B5F-A456-89C2-3BB1-7A8F4C8134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2545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F290D020-D3F6-3AC8-560C-E03ECA886FE2}"/>
              </a:ext>
            </a:extLst>
          </p:cNvPr>
          <p:cNvSpPr txBox="1"/>
          <p:nvPr/>
        </p:nvSpPr>
        <p:spPr>
          <a:xfrm>
            <a:off x="1861431" y="1016126"/>
            <a:ext cx="4684487" cy="954107"/>
          </a:xfrm>
          <a:prstGeom prst="rect">
            <a:avLst/>
          </a:prstGeom>
          <a:noFill/>
        </p:spPr>
        <p:txBody>
          <a:bodyPr wrap="square">
            <a:spAutoFit/>
          </a:bodyPr>
          <a:lstStyle/>
          <a:p>
            <a:pPr algn="ctr"/>
            <a:r>
              <a:rPr lang="fr-FR" sz="2800" b="1" dirty="0">
                <a:solidFill>
                  <a:srgbClr val="0070C0"/>
                </a:solidFill>
              </a:rPr>
              <a:t>Pourquoi passer par le réseau de soin Carte Blanche ?</a:t>
            </a:r>
          </a:p>
        </p:txBody>
      </p:sp>
      <p:grpSp>
        <p:nvGrpSpPr>
          <p:cNvPr id="16" name="Groupe 15">
            <a:extLst>
              <a:ext uri="{FF2B5EF4-FFF2-40B4-BE49-F238E27FC236}">
                <a16:creationId xmlns:a16="http://schemas.microsoft.com/office/drawing/2014/main" id="{986970F1-6D97-4C82-FD3B-98FF944DC481}"/>
              </a:ext>
            </a:extLst>
          </p:cNvPr>
          <p:cNvGrpSpPr/>
          <p:nvPr/>
        </p:nvGrpSpPr>
        <p:grpSpPr>
          <a:xfrm>
            <a:off x="526788" y="2057326"/>
            <a:ext cx="6247576" cy="2677656"/>
            <a:chOff x="343724" y="2264276"/>
            <a:chExt cx="6069776" cy="2677656"/>
          </a:xfrm>
        </p:grpSpPr>
        <p:pic>
          <p:nvPicPr>
            <p:cNvPr id="17" name="Picture 4" descr="Feingeist - Lunette Pour Les Ecran - Free Transparent PNG Clipart Images  Download">
              <a:extLst>
                <a:ext uri="{FF2B5EF4-FFF2-40B4-BE49-F238E27FC236}">
                  <a16:creationId xmlns:a16="http://schemas.microsoft.com/office/drawing/2014/main" id="{D5064011-3930-E022-6779-6DAF08500A43}"/>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343724" y="2264276"/>
              <a:ext cx="1272560" cy="570377"/>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640A10F3-58B4-70D7-8645-59A94C9445B6}"/>
                </a:ext>
              </a:extLst>
            </p:cNvPr>
            <p:cNvSpPr txBox="1"/>
            <p:nvPr/>
          </p:nvSpPr>
          <p:spPr>
            <a:xfrm>
              <a:off x="1382902" y="2264276"/>
              <a:ext cx="5030598" cy="2677656"/>
            </a:xfrm>
            <a:prstGeom prst="rect">
              <a:avLst/>
            </a:prstGeom>
            <a:noFill/>
          </p:spPr>
          <p:txBody>
            <a:bodyPr wrap="square">
              <a:spAutoFit/>
            </a:bodyPr>
            <a:lstStyle/>
            <a:p>
              <a:r>
                <a:rPr lang="fr-FR" sz="1400" b="1" dirty="0"/>
                <a:t>        Le réseau optique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des équipements optique (lentilles et lunettes) : </a:t>
              </a:r>
              <a:r>
                <a:rPr lang="fr-FR" sz="1400" b="1" i="0" dirty="0">
                  <a:solidFill>
                    <a:srgbClr val="161615"/>
                  </a:solidFill>
                  <a:effectLst/>
                  <a:latin typeface="Source Sans Pro" panose="020B0503030403020204" pitchFamily="34" charset="0"/>
                </a:rPr>
                <a:t>jusqu’à 40 % </a:t>
              </a:r>
              <a:r>
                <a:rPr lang="fr-FR" sz="1400" b="0" i="0" dirty="0">
                  <a:solidFill>
                    <a:srgbClr val="161615"/>
                  </a:solidFill>
                  <a:effectLst/>
                  <a:latin typeface="Source Sans Pro" panose="020B0503030403020204" pitchFamily="34" charset="0"/>
                </a:rPr>
                <a:t>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garanties supplémentaires: comme une protection contre la casse pendant 2 ans, l’adaptation des verres pendant 6 mois, L’entretien et le réajustement des lunettes gratuits chez l’opticien fournisseur.</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large choix grâce à un catalogue de plus de </a:t>
              </a:r>
              <a:r>
                <a:rPr lang="fr-FR" sz="1400" b="1" i="0" dirty="0">
                  <a:solidFill>
                    <a:srgbClr val="161615"/>
                  </a:solidFill>
                  <a:effectLst/>
                  <a:latin typeface="Source Sans Pro" panose="020B0503030403020204" pitchFamily="34" charset="0"/>
                </a:rPr>
                <a:t>66 000 </a:t>
              </a:r>
              <a:r>
                <a:rPr lang="fr-FR" sz="1400" b="0" i="0" dirty="0">
                  <a:solidFill>
                    <a:srgbClr val="161615"/>
                  </a:solidFill>
                  <a:effectLst/>
                  <a:latin typeface="Source Sans Pro" panose="020B0503030403020204" pitchFamily="34" charset="0"/>
                </a:rPr>
                <a:t>références.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pour ne pas avancer d’argent à l’achat d’une paire de lunettes ou de lentilles.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Deux devis complets avant l’achat d’un équipement optique.</a:t>
              </a:r>
            </a:p>
          </p:txBody>
        </p:sp>
      </p:grpSp>
      <p:grpSp>
        <p:nvGrpSpPr>
          <p:cNvPr id="20" name="Groupe 19">
            <a:extLst>
              <a:ext uri="{FF2B5EF4-FFF2-40B4-BE49-F238E27FC236}">
                <a16:creationId xmlns:a16="http://schemas.microsoft.com/office/drawing/2014/main" id="{11549840-9907-4F40-3809-C8F37CC5AB69}"/>
              </a:ext>
            </a:extLst>
          </p:cNvPr>
          <p:cNvGrpSpPr/>
          <p:nvPr/>
        </p:nvGrpSpPr>
        <p:grpSpPr>
          <a:xfrm>
            <a:off x="1954742" y="4890676"/>
            <a:ext cx="4970666" cy="954107"/>
            <a:chOff x="1730184" y="4376845"/>
            <a:chExt cx="4992359" cy="954107"/>
          </a:xfrm>
        </p:grpSpPr>
        <p:pic>
          <p:nvPicPr>
            <p:cNvPr id="28" name="Picture 2" descr="Icône D'oreille Pour Vos Sites De Conception Et Projets PNG , Audio, Oreille,  Écoutez Licône PNG et vecteur pour téléchargement gratuit">
              <a:extLst>
                <a:ext uri="{FF2B5EF4-FFF2-40B4-BE49-F238E27FC236}">
                  <a16:creationId xmlns:a16="http://schemas.microsoft.com/office/drawing/2014/main" id="{EC7B1803-39A8-119F-2F87-3038A065D5F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976" t="19011" r="29441" b="18906"/>
            <a:stretch/>
          </p:blipFill>
          <p:spPr bwMode="auto">
            <a:xfrm>
              <a:off x="1730184" y="4471524"/>
              <a:ext cx="445059" cy="648876"/>
            </a:xfrm>
            <a:prstGeom prst="rect">
              <a:avLst/>
            </a:prstGeom>
            <a:noFill/>
            <a:extLst>
              <a:ext uri="{909E8E84-426E-40DD-AFC4-6F175D3DCCD1}">
                <a14:hiddenFill xmlns:a14="http://schemas.microsoft.com/office/drawing/2010/main">
                  <a:solidFill>
                    <a:srgbClr val="FFFFFF"/>
                  </a:solidFill>
                </a14:hiddenFill>
              </a:ext>
            </a:extLst>
          </p:spPr>
        </p:pic>
        <p:sp>
          <p:nvSpPr>
            <p:cNvPr id="29" name="ZoneTexte 28">
              <a:extLst>
                <a:ext uri="{FF2B5EF4-FFF2-40B4-BE49-F238E27FC236}">
                  <a16:creationId xmlns:a16="http://schemas.microsoft.com/office/drawing/2014/main" id="{84A361CB-00FB-99C7-5D96-B36983AA85E9}"/>
                </a:ext>
              </a:extLst>
            </p:cNvPr>
            <p:cNvSpPr txBox="1"/>
            <p:nvPr/>
          </p:nvSpPr>
          <p:spPr>
            <a:xfrm>
              <a:off x="2175244" y="4376845"/>
              <a:ext cx="4547299" cy="954107"/>
            </a:xfrm>
            <a:prstGeom prst="rect">
              <a:avLst/>
            </a:prstGeom>
            <a:noFill/>
          </p:spPr>
          <p:txBody>
            <a:bodyPr wrap="square">
              <a:spAutoFit/>
            </a:bodyPr>
            <a:lstStyle/>
            <a:p>
              <a:r>
                <a:rPr lang="fr-FR" sz="1400" b="1" dirty="0"/>
                <a:t>        Le réseau Audio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(jusqu’à 20 % de réduction), une vraie expertise, des facilités de paiement et un suivi régulier pour adapter au mieux vos appareils auditifs.</a:t>
              </a:r>
            </a:p>
          </p:txBody>
        </p:sp>
      </p:grpSp>
      <p:grpSp>
        <p:nvGrpSpPr>
          <p:cNvPr id="30" name="Groupe 29">
            <a:extLst>
              <a:ext uri="{FF2B5EF4-FFF2-40B4-BE49-F238E27FC236}">
                <a16:creationId xmlns:a16="http://schemas.microsoft.com/office/drawing/2014/main" id="{99090AC4-9B4C-8C36-5491-723803F1C8FE}"/>
              </a:ext>
            </a:extLst>
          </p:cNvPr>
          <p:cNvGrpSpPr/>
          <p:nvPr/>
        </p:nvGrpSpPr>
        <p:grpSpPr>
          <a:xfrm>
            <a:off x="36855" y="6000478"/>
            <a:ext cx="6688442" cy="2462213"/>
            <a:chOff x="521694" y="6041286"/>
            <a:chExt cx="5897889" cy="2462213"/>
          </a:xfrm>
        </p:grpSpPr>
        <p:pic>
          <p:nvPicPr>
            <p:cNvPr id="31" name="Picture 2" descr="Bouton Logo Les Dents - Images vectorielles gratuites sur Pixabay - Pixabay">
              <a:extLst>
                <a:ext uri="{FF2B5EF4-FFF2-40B4-BE49-F238E27FC236}">
                  <a16:creationId xmlns:a16="http://schemas.microsoft.com/office/drawing/2014/main" id="{0D2BAFE8-0CDD-3606-876E-AAF2B5E15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94" y="6128182"/>
              <a:ext cx="665284" cy="665284"/>
            </a:xfrm>
            <a:prstGeom prst="rect">
              <a:avLst/>
            </a:prstGeom>
            <a:noFill/>
            <a:extLst>
              <a:ext uri="{909E8E84-426E-40DD-AFC4-6F175D3DCCD1}">
                <a14:hiddenFill xmlns:a14="http://schemas.microsoft.com/office/drawing/2010/main">
                  <a:solidFill>
                    <a:srgbClr val="FFFFFF"/>
                  </a:solidFill>
                </a14:hiddenFill>
              </a:ext>
            </a:extLst>
          </p:spPr>
        </p:pic>
        <p:sp>
          <p:nvSpPr>
            <p:cNvPr id="4512" name="ZoneTexte 4511">
              <a:extLst>
                <a:ext uri="{FF2B5EF4-FFF2-40B4-BE49-F238E27FC236}">
                  <a16:creationId xmlns:a16="http://schemas.microsoft.com/office/drawing/2014/main" id="{E3E8ED29-38B9-0A13-5B71-53E56AEF1E1F}"/>
                </a:ext>
              </a:extLst>
            </p:cNvPr>
            <p:cNvSpPr txBox="1"/>
            <p:nvPr/>
          </p:nvSpPr>
          <p:spPr>
            <a:xfrm>
              <a:off x="1144276" y="6041286"/>
              <a:ext cx="5275307" cy="2462213"/>
            </a:xfrm>
            <a:prstGeom prst="rect">
              <a:avLst/>
            </a:prstGeom>
            <a:noFill/>
          </p:spPr>
          <p:txBody>
            <a:bodyPr wrap="square">
              <a:spAutoFit/>
            </a:bodyPr>
            <a:lstStyle/>
            <a:p>
              <a:r>
                <a:rPr lang="fr-FR" sz="1400" b="1" dirty="0"/>
                <a:t>       Le partenariat Dentaire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Des tarifs négociés pour les prothèses dentaires : jusqu’à 15 % de réduction.</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équipement de qualité grâce à la traçabilité des prothèses dentaires (certification des laboratoires choisis et respect des règlements européens).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Une prévention bucco-dentaire favorisée grâce au partenariat avec l’UFSBD (Union Française pour la Santé Bucco Dentaire).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tiers payant national pour ne pas avancer les frais de vos soins.</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annuaire des dentistes partenaires en ligne pour trouver le professionnel le plus proche de vous</a:t>
              </a:r>
            </a:p>
          </p:txBody>
        </p:sp>
      </p:grpSp>
      <p:grpSp>
        <p:nvGrpSpPr>
          <p:cNvPr id="4513" name="Groupe 4512">
            <a:extLst>
              <a:ext uri="{FF2B5EF4-FFF2-40B4-BE49-F238E27FC236}">
                <a16:creationId xmlns:a16="http://schemas.microsoft.com/office/drawing/2014/main" id="{AD4D75BD-7A6E-A867-D27B-7826BCE15DB6}"/>
              </a:ext>
            </a:extLst>
          </p:cNvPr>
          <p:cNvGrpSpPr/>
          <p:nvPr/>
        </p:nvGrpSpPr>
        <p:grpSpPr>
          <a:xfrm>
            <a:off x="1425933" y="8618386"/>
            <a:ext cx="5250295" cy="954107"/>
            <a:chOff x="1261356" y="7842852"/>
            <a:chExt cx="5526794" cy="954107"/>
          </a:xfrm>
        </p:grpSpPr>
        <p:pic>
          <p:nvPicPr>
            <p:cNvPr id="4514" name="Picture 4" descr="Centre d'ostéopathie - Roxane Gervais St-Amour D.O.">
              <a:extLst>
                <a:ext uri="{FF2B5EF4-FFF2-40B4-BE49-F238E27FC236}">
                  <a16:creationId xmlns:a16="http://schemas.microsoft.com/office/drawing/2014/main" id="{9560B79A-53DF-9405-B34B-1E2EE02C22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61356" y="7910070"/>
              <a:ext cx="719680" cy="722893"/>
            </a:xfrm>
            <a:prstGeom prst="rect">
              <a:avLst/>
            </a:prstGeom>
            <a:noFill/>
            <a:extLst>
              <a:ext uri="{909E8E84-426E-40DD-AFC4-6F175D3DCCD1}">
                <a14:hiddenFill xmlns:a14="http://schemas.microsoft.com/office/drawing/2010/main">
                  <a:solidFill>
                    <a:srgbClr val="FFFFFF"/>
                  </a:solidFill>
                </a14:hiddenFill>
              </a:ext>
            </a:extLst>
          </p:spPr>
        </p:pic>
        <p:sp>
          <p:nvSpPr>
            <p:cNvPr id="4515" name="ZoneTexte 4514">
              <a:extLst>
                <a:ext uri="{FF2B5EF4-FFF2-40B4-BE49-F238E27FC236}">
                  <a16:creationId xmlns:a16="http://schemas.microsoft.com/office/drawing/2014/main" id="{E0F74C81-477E-6986-22F0-4A583A271F07}"/>
                </a:ext>
              </a:extLst>
            </p:cNvPr>
            <p:cNvSpPr txBox="1"/>
            <p:nvPr/>
          </p:nvSpPr>
          <p:spPr>
            <a:xfrm>
              <a:off x="1860500" y="7842852"/>
              <a:ext cx="4927650" cy="954107"/>
            </a:xfrm>
            <a:prstGeom prst="rect">
              <a:avLst/>
            </a:prstGeom>
            <a:noFill/>
          </p:spPr>
          <p:txBody>
            <a:bodyPr wrap="square">
              <a:spAutoFit/>
            </a:bodyPr>
            <a:lstStyle/>
            <a:p>
              <a:r>
                <a:rPr lang="fr-FR" sz="1400" b="1" dirty="0"/>
                <a:t>        Le réseau Prévention de Carte Blanche vous garantie:</a:t>
              </a:r>
            </a:p>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Un accès à la pratique de certaines médecines douces (chez l’ostéopathe, le diététicien, le pédicure, le podologue…).</a:t>
              </a:r>
            </a:p>
          </p:txBody>
        </p:sp>
      </p:grpSp>
      <p:pic>
        <p:nvPicPr>
          <p:cNvPr id="4516" name="Image 4515">
            <a:hlinkClick r:id="rId8"/>
            <a:extLst>
              <a:ext uri="{FF2B5EF4-FFF2-40B4-BE49-F238E27FC236}">
                <a16:creationId xmlns:a16="http://schemas.microsoft.com/office/drawing/2014/main" id="{1C8B2CA8-44B2-FDCB-CEFF-7EF53668E3D7}"/>
              </a:ext>
            </a:extLst>
          </p:cNvPr>
          <p:cNvPicPr>
            <a:picLocks noChangeAspect="1"/>
          </p:cNvPicPr>
          <p:nvPr/>
        </p:nvPicPr>
        <p:blipFill>
          <a:blip r:embed="rId9"/>
          <a:stretch>
            <a:fillRect/>
          </a:stretch>
        </p:blipFill>
        <p:spPr>
          <a:xfrm>
            <a:off x="862202" y="952573"/>
            <a:ext cx="1092540" cy="1040716"/>
          </a:xfrm>
          <a:prstGeom prst="rect">
            <a:avLst/>
          </a:prstGeom>
        </p:spPr>
      </p:pic>
      <p:grpSp>
        <p:nvGrpSpPr>
          <p:cNvPr id="2" name="Groupe 1">
            <a:extLst>
              <a:ext uri="{FF2B5EF4-FFF2-40B4-BE49-F238E27FC236}">
                <a16:creationId xmlns:a16="http://schemas.microsoft.com/office/drawing/2014/main" id="{2F81EFFB-0397-1F28-E5A7-B9822D1001D9}"/>
              </a:ext>
            </a:extLst>
          </p:cNvPr>
          <p:cNvGrpSpPr/>
          <p:nvPr/>
        </p:nvGrpSpPr>
        <p:grpSpPr>
          <a:xfrm>
            <a:off x="101600" y="93434"/>
            <a:ext cx="6686550" cy="628847"/>
            <a:chOff x="101600" y="93434"/>
            <a:chExt cx="6686550" cy="628847"/>
          </a:xfrm>
        </p:grpSpPr>
        <p:sp>
          <p:nvSpPr>
            <p:cNvPr id="7" name="Rectangle : coins arrondis 6">
              <a:extLst>
                <a:ext uri="{FF2B5EF4-FFF2-40B4-BE49-F238E27FC236}">
                  <a16:creationId xmlns:a16="http://schemas.microsoft.com/office/drawing/2014/main" id="{B50287C9-BE87-5F3F-8783-134AB1D69015}"/>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Dynamique   by                               assuré par                                 </a:t>
              </a:r>
            </a:p>
          </p:txBody>
        </p:sp>
        <p:pic>
          <p:nvPicPr>
            <p:cNvPr id="8" name="Picture 2" descr="Néoliane Santé &amp; Prévoyance">
              <a:extLst>
                <a:ext uri="{FF2B5EF4-FFF2-40B4-BE49-F238E27FC236}">
                  <a16:creationId xmlns:a16="http://schemas.microsoft.com/office/drawing/2014/main" id="{23A66803-196D-A6C8-8815-6BA742C7B1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nimaux Santé | Mutuelle Animaux">
              <a:extLst>
                <a:ext uri="{FF2B5EF4-FFF2-40B4-BE49-F238E27FC236}">
                  <a16:creationId xmlns:a16="http://schemas.microsoft.com/office/drawing/2014/main" id="{0C0D8C2E-D028-FAE8-A543-AC5887713A3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91162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e 6">
            <a:extLst>
              <a:ext uri="{FF2B5EF4-FFF2-40B4-BE49-F238E27FC236}">
                <a16:creationId xmlns:a16="http://schemas.microsoft.com/office/drawing/2014/main" id="{A51F50E4-2548-1813-2052-B9B4CA171189}"/>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46D03BA9-CB79-D705-CEA0-8EE0EFAB935D}"/>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Dynamique   by                               assuré par                                 </a:t>
              </a:r>
            </a:p>
          </p:txBody>
        </p:sp>
        <p:pic>
          <p:nvPicPr>
            <p:cNvPr id="9" name="Picture 2" descr="Néoliane Santé &amp; Prévoyance">
              <a:extLst>
                <a:ext uri="{FF2B5EF4-FFF2-40B4-BE49-F238E27FC236}">
                  <a16:creationId xmlns:a16="http://schemas.microsoft.com/office/drawing/2014/main" id="{7736D136-B068-FD60-1650-48BED117A3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CB12586F-23CF-AFE4-8C12-71EF51730E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Image 2" descr="Comment contacter Inter Mutuelles Assistance ?">
            <a:hlinkClick r:id="rId6"/>
            <a:extLst>
              <a:ext uri="{FF2B5EF4-FFF2-40B4-BE49-F238E27FC236}">
                <a16:creationId xmlns:a16="http://schemas.microsoft.com/office/drawing/2014/main" id="{624767A8-6188-D0C4-B2A4-7FEECF6CBF2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8225" r="4129" b="23858"/>
          <a:stretch>
            <a:fillRect/>
          </a:stretch>
        </p:blipFill>
        <p:spPr bwMode="auto">
          <a:xfrm>
            <a:off x="993948" y="862992"/>
            <a:ext cx="1463258" cy="811474"/>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F9FD6F23-DD33-015E-0BAC-ADF7F39ABD1F}"/>
              </a:ext>
            </a:extLst>
          </p:cNvPr>
          <p:cNvSpPr txBox="1"/>
          <p:nvPr/>
        </p:nvSpPr>
        <p:spPr>
          <a:xfrm>
            <a:off x="1999662" y="839301"/>
            <a:ext cx="4684487" cy="95410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fr-FR" sz="2800" b="1" dirty="0">
                <a:solidFill>
                  <a:srgbClr val="0070C0"/>
                </a:solidFill>
              </a:rPr>
              <a:t>Pourquoi faire appel à l’assistance IMA ?</a:t>
            </a:r>
          </a:p>
        </p:txBody>
      </p:sp>
      <p:sp>
        <p:nvSpPr>
          <p:cNvPr id="6" name="ZoneTexte 11">
            <a:extLst>
              <a:ext uri="{FF2B5EF4-FFF2-40B4-BE49-F238E27FC236}">
                <a16:creationId xmlns:a16="http://schemas.microsoft.com/office/drawing/2014/main" id="{DE430CD9-9FB7-598F-D5FE-7839DFFD8AF7}"/>
              </a:ext>
            </a:extLst>
          </p:cNvPr>
          <p:cNvSpPr txBox="1"/>
          <p:nvPr/>
        </p:nvSpPr>
        <p:spPr>
          <a:xfrm>
            <a:off x="956518" y="2582472"/>
            <a:ext cx="4910337" cy="646331"/>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dirty="0"/>
              <a:t>En cas d’hospitalisation ou d’immobilisation, </a:t>
            </a:r>
          </a:p>
          <a:p>
            <a:pPr algn="ctr"/>
            <a:r>
              <a:rPr lang="fr-FR" b="1" dirty="0"/>
              <a:t>IMA vous propose gratuitement:</a:t>
            </a:r>
          </a:p>
        </p:txBody>
      </p:sp>
      <p:grpSp>
        <p:nvGrpSpPr>
          <p:cNvPr id="12" name="Groupe 11">
            <a:extLst>
              <a:ext uri="{FF2B5EF4-FFF2-40B4-BE49-F238E27FC236}">
                <a16:creationId xmlns:a16="http://schemas.microsoft.com/office/drawing/2014/main" id="{22D58858-7627-8C82-F3C5-109DD82EEFC5}"/>
              </a:ext>
            </a:extLst>
          </p:cNvPr>
          <p:cNvGrpSpPr/>
          <p:nvPr/>
        </p:nvGrpSpPr>
        <p:grpSpPr>
          <a:xfrm>
            <a:off x="120105" y="3514045"/>
            <a:ext cx="6020613" cy="811475"/>
            <a:chOff x="400050" y="2786464"/>
            <a:chExt cx="6020613" cy="811475"/>
          </a:xfrm>
        </p:grpSpPr>
        <p:sp>
          <p:nvSpPr>
            <p:cNvPr id="29" name="ZoneTexte 12">
              <a:extLst>
                <a:ext uri="{FF2B5EF4-FFF2-40B4-BE49-F238E27FC236}">
                  <a16:creationId xmlns:a16="http://schemas.microsoft.com/office/drawing/2014/main" id="{3D64FE4E-895E-756D-07A5-32CCB3C6FBCF}"/>
                </a:ext>
              </a:extLst>
            </p:cNvPr>
            <p:cNvSpPr txBox="1"/>
            <p:nvPr/>
          </p:nvSpPr>
          <p:spPr>
            <a:xfrm>
              <a:off x="987223" y="2897890"/>
              <a:ext cx="5433440"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b="0" i="0" dirty="0">
                  <a:solidFill>
                    <a:srgbClr val="161615"/>
                  </a:solidFill>
                  <a:effectLst/>
                  <a:latin typeface="Source Sans Pro" panose="020B0503030403020204" pitchFamily="34" charset="0"/>
                </a:rPr>
                <a:t>De l’aide à domicile: (ménage, repas, vaisselle, course à proximité</a:t>
              </a:r>
            </a:p>
          </p:txBody>
        </p:sp>
        <p:pic>
          <p:nvPicPr>
            <p:cNvPr id="30" name="Image 29">
              <a:extLst>
                <a:ext uri="{FF2B5EF4-FFF2-40B4-BE49-F238E27FC236}">
                  <a16:creationId xmlns:a16="http://schemas.microsoft.com/office/drawing/2014/main" id="{2B3C4BD8-81C2-DC4F-FE4E-EF812CF7263E}"/>
                </a:ext>
              </a:extLst>
            </p:cNvPr>
            <p:cNvPicPr>
              <a:picLocks noChangeAspect="1"/>
            </p:cNvPicPr>
            <p:nvPr/>
          </p:nvPicPr>
          <p:blipFill>
            <a:blip r:embed="rId8"/>
            <a:stretch>
              <a:fillRect/>
            </a:stretch>
          </p:blipFill>
          <p:spPr>
            <a:xfrm>
              <a:off x="400050" y="2786464"/>
              <a:ext cx="591075" cy="811475"/>
            </a:xfrm>
            <a:prstGeom prst="rect">
              <a:avLst/>
            </a:prstGeom>
          </p:spPr>
        </p:pic>
      </p:grpSp>
      <p:grpSp>
        <p:nvGrpSpPr>
          <p:cNvPr id="13" name="Groupe 12">
            <a:extLst>
              <a:ext uri="{FF2B5EF4-FFF2-40B4-BE49-F238E27FC236}">
                <a16:creationId xmlns:a16="http://schemas.microsoft.com/office/drawing/2014/main" id="{C00B938F-8302-37FA-6C65-95DD43CF26D3}"/>
              </a:ext>
            </a:extLst>
          </p:cNvPr>
          <p:cNvGrpSpPr/>
          <p:nvPr/>
        </p:nvGrpSpPr>
        <p:grpSpPr>
          <a:xfrm>
            <a:off x="993948" y="4589245"/>
            <a:ext cx="5639929" cy="662278"/>
            <a:chOff x="222327" y="3957748"/>
            <a:chExt cx="6053947" cy="662278"/>
          </a:xfrm>
        </p:grpSpPr>
        <p:sp>
          <p:nvSpPr>
            <p:cNvPr id="27" name="ZoneTexte 16">
              <a:extLst>
                <a:ext uri="{FF2B5EF4-FFF2-40B4-BE49-F238E27FC236}">
                  <a16:creationId xmlns:a16="http://schemas.microsoft.com/office/drawing/2014/main" id="{53DAC79F-8EC7-F459-CBA4-2AAC96370A30}"/>
                </a:ext>
              </a:extLst>
            </p:cNvPr>
            <p:cNvSpPr txBox="1"/>
            <p:nvPr/>
          </p:nvSpPr>
          <p:spPr>
            <a:xfrm>
              <a:off x="943701" y="4097900"/>
              <a:ext cx="5332573" cy="307777"/>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Livraison des médicaments</a:t>
              </a:r>
              <a:endParaRPr lang="fr-FR" sz="1400" b="0" i="0" dirty="0">
                <a:solidFill>
                  <a:srgbClr val="161615"/>
                </a:solidFill>
                <a:effectLst/>
                <a:latin typeface="Source Sans Pro" panose="020B0503030403020204" pitchFamily="34" charset="0"/>
              </a:endParaRPr>
            </a:p>
          </p:txBody>
        </p:sp>
        <p:pic>
          <p:nvPicPr>
            <p:cNvPr id="28" name="Image 27">
              <a:extLst>
                <a:ext uri="{FF2B5EF4-FFF2-40B4-BE49-F238E27FC236}">
                  <a16:creationId xmlns:a16="http://schemas.microsoft.com/office/drawing/2014/main" id="{4C0230A3-6779-4758-5BE7-CED0070FCE5F}"/>
                </a:ext>
              </a:extLst>
            </p:cNvPr>
            <p:cNvPicPr>
              <a:picLocks noChangeAspect="1"/>
            </p:cNvPicPr>
            <p:nvPr/>
          </p:nvPicPr>
          <p:blipFill>
            <a:blip r:embed="rId9"/>
            <a:stretch>
              <a:fillRect/>
            </a:stretch>
          </p:blipFill>
          <p:spPr>
            <a:xfrm>
              <a:off x="222327" y="3957748"/>
              <a:ext cx="768798" cy="662278"/>
            </a:xfrm>
            <a:prstGeom prst="rect">
              <a:avLst/>
            </a:prstGeom>
          </p:spPr>
        </p:pic>
      </p:grpSp>
      <p:grpSp>
        <p:nvGrpSpPr>
          <p:cNvPr id="14" name="Groupe 13">
            <a:extLst>
              <a:ext uri="{FF2B5EF4-FFF2-40B4-BE49-F238E27FC236}">
                <a16:creationId xmlns:a16="http://schemas.microsoft.com/office/drawing/2014/main" id="{74FEAE0C-BCD3-CCEC-604F-F103EA6BD77C}"/>
              </a:ext>
            </a:extLst>
          </p:cNvPr>
          <p:cNvGrpSpPr/>
          <p:nvPr/>
        </p:nvGrpSpPr>
        <p:grpSpPr>
          <a:xfrm>
            <a:off x="273017" y="5847231"/>
            <a:ext cx="6198819" cy="733785"/>
            <a:chOff x="222327" y="5188381"/>
            <a:chExt cx="6198819" cy="733785"/>
          </a:xfrm>
        </p:grpSpPr>
        <p:pic>
          <p:nvPicPr>
            <p:cNvPr id="24" name="Image 23">
              <a:extLst>
                <a:ext uri="{FF2B5EF4-FFF2-40B4-BE49-F238E27FC236}">
                  <a16:creationId xmlns:a16="http://schemas.microsoft.com/office/drawing/2014/main" id="{A6665ED6-99C3-C7AA-4E7C-AB542663B798}"/>
                </a:ext>
              </a:extLst>
            </p:cNvPr>
            <p:cNvPicPr>
              <a:picLocks noChangeAspect="1"/>
            </p:cNvPicPr>
            <p:nvPr/>
          </p:nvPicPr>
          <p:blipFill>
            <a:blip r:embed="rId10"/>
            <a:stretch>
              <a:fillRect/>
            </a:stretch>
          </p:blipFill>
          <p:spPr>
            <a:xfrm>
              <a:off x="222327" y="5188381"/>
              <a:ext cx="836413" cy="733785"/>
            </a:xfrm>
            <a:prstGeom prst="rect">
              <a:avLst/>
            </a:prstGeom>
          </p:spPr>
        </p:pic>
        <p:sp>
          <p:nvSpPr>
            <p:cNvPr id="25" name="ZoneTexte 4480">
              <a:extLst>
                <a:ext uri="{FF2B5EF4-FFF2-40B4-BE49-F238E27FC236}">
                  <a16:creationId xmlns:a16="http://schemas.microsoft.com/office/drawing/2014/main" id="{B55ABAC5-8767-B60E-1660-2B6F0A2E7D75}"/>
                </a:ext>
              </a:extLst>
            </p:cNvPr>
            <p:cNvSpPr txBox="1"/>
            <p:nvPr/>
          </p:nvSpPr>
          <p:spPr>
            <a:xfrm>
              <a:off x="1088573" y="5248670"/>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La prise en charge l’animal chez l’adhérant, par un pet Sitter </a:t>
              </a:r>
            </a:p>
            <a:p>
              <a:r>
                <a:rPr lang="fr-FR" sz="1400" dirty="0">
                  <a:solidFill>
                    <a:srgbClr val="161615"/>
                  </a:solidFill>
                  <a:latin typeface="Source Sans Pro" panose="020B0503030403020204" pitchFamily="34" charset="0"/>
                </a:rPr>
                <a:t> (Visite, promenade, garde, …)</a:t>
              </a:r>
            </a:p>
          </p:txBody>
        </p:sp>
      </p:grpSp>
      <p:grpSp>
        <p:nvGrpSpPr>
          <p:cNvPr id="4643" name="Groupe 4642">
            <a:extLst>
              <a:ext uri="{FF2B5EF4-FFF2-40B4-BE49-F238E27FC236}">
                <a16:creationId xmlns:a16="http://schemas.microsoft.com/office/drawing/2014/main" id="{76B9FAFF-7CAB-E9F9-1EE9-2288D0C18F4E}"/>
              </a:ext>
            </a:extLst>
          </p:cNvPr>
          <p:cNvGrpSpPr/>
          <p:nvPr/>
        </p:nvGrpSpPr>
        <p:grpSpPr>
          <a:xfrm>
            <a:off x="1109430" y="7419366"/>
            <a:ext cx="5524447" cy="609704"/>
            <a:chOff x="194325" y="7406539"/>
            <a:chExt cx="6214502" cy="609704"/>
          </a:xfrm>
        </p:grpSpPr>
        <p:sp>
          <p:nvSpPr>
            <p:cNvPr id="21" name="ZoneTexte 2074">
              <a:extLst>
                <a:ext uri="{FF2B5EF4-FFF2-40B4-BE49-F238E27FC236}">
                  <a16:creationId xmlns:a16="http://schemas.microsoft.com/office/drawing/2014/main" id="{18E07B4B-E617-46FB-5E74-5BCA20595A04}"/>
                </a:ext>
              </a:extLst>
            </p:cNvPr>
            <p:cNvSpPr txBox="1"/>
            <p:nvPr/>
          </p:nvSpPr>
          <p:spPr>
            <a:xfrm>
              <a:off x="1076254" y="7449781"/>
              <a:ext cx="5332573" cy="523220"/>
            </a:xfrm>
            <a:prstGeom prst="rect">
              <a:avLst/>
            </a:prstGeom>
            <a:noFill/>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fr-FR" sz="1400" dirty="0">
                  <a:solidFill>
                    <a:srgbClr val="161615"/>
                  </a:solidFill>
                  <a:latin typeface="Source Sans Pro" panose="020B0503030403020204" pitchFamily="34" charset="0"/>
                </a:rPr>
                <a:t>Le déplacement aller et retour, d’un proche et son hébergement pendant 2 nuits</a:t>
              </a:r>
            </a:p>
          </p:txBody>
        </p:sp>
        <p:pic>
          <p:nvPicPr>
            <p:cNvPr id="4640" name="Image 4639">
              <a:extLst>
                <a:ext uri="{FF2B5EF4-FFF2-40B4-BE49-F238E27FC236}">
                  <a16:creationId xmlns:a16="http://schemas.microsoft.com/office/drawing/2014/main" id="{89E1DBEB-F9C0-D697-AE0F-ECD997B92451}"/>
                </a:ext>
              </a:extLst>
            </p:cNvPr>
            <p:cNvPicPr>
              <a:picLocks noChangeAspect="1"/>
            </p:cNvPicPr>
            <p:nvPr/>
          </p:nvPicPr>
          <p:blipFill>
            <a:blip r:embed="rId11"/>
            <a:stretch>
              <a:fillRect/>
            </a:stretch>
          </p:blipFill>
          <p:spPr>
            <a:xfrm>
              <a:off x="194325" y="7406539"/>
              <a:ext cx="848744" cy="609704"/>
            </a:xfrm>
            <a:prstGeom prst="rect">
              <a:avLst/>
            </a:prstGeom>
          </p:spPr>
        </p:pic>
      </p:grpSp>
    </p:spTree>
    <p:extLst>
      <p:ext uri="{BB962C8B-B14F-4D97-AF65-F5344CB8AC3E}">
        <p14:creationId xmlns:p14="http://schemas.microsoft.com/office/powerpoint/2010/main" val="4145812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1052692"/>
            <a:ext cx="1489221" cy="1060948"/>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D70D5DE-DB6D-D176-9CAB-9DB15C044A5C}"/>
              </a:ext>
            </a:extLst>
          </p:cNvPr>
          <p:cNvSpPr txBox="1"/>
          <p:nvPr/>
        </p:nvSpPr>
        <p:spPr>
          <a:xfrm>
            <a:off x="468231" y="2476003"/>
            <a:ext cx="6078619" cy="1815882"/>
          </a:xfrm>
          <a:prstGeom prst="rect">
            <a:avLst/>
          </a:prstGeom>
          <a:noFill/>
        </p:spPr>
        <p:txBody>
          <a:bodyPr wrap="square" rtlCol="0">
            <a:spAutoFit/>
          </a:bodyPr>
          <a:lstStyle/>
          <a:p>
            <a:r>
              <a:rPr lang="fr-FR" sz="1600" dirty="0"/>
              <a:t>Le 100% Santé vous permet d’accéder à une offre sans reste à charge sur une sélection d’équipements en dentaire, optique et pour les aides auditives. Les paniers 100% Santé seront pris en charge intégralement par la Sécurité Sociale et la complémentaire santé.</a:t>
            </a:r>
          </a:p>
          <a:p>
            <a:r>
              <a:rPr lang="fr-FR" sz="1600" dirty="0"/>
              <a:t>Si vous ne souhaitez pas bénéficier des équipements compris dans ces paniers, les remboursements se feront selon le niveau de garanties que vous avez choisi.</a:t>
            </a:r>
          </a:p>
        </p:txBody>
      </p:sp>
      <p:sp>
        <p:nvSpPr>
          <p:cNvPr id="7" name="ZoneTexte 6">
            <a:extLst>
              <a:ext uri="{FF2B5EF4-FFF2-40B4-BE49-F238E27FC236}">
                <a16:creationId xmlns:a16="http://schemas.microsoft.com/office/drawing/2014/main" id="{9ABD2300-AD32-5AA3-5AA3-24E9718EFC61}"/>
              </a:ext>
            </a:extLst>
          </p:cNvPr>
          <p:cNvSpPr txBox="1"/>
          <p:nvPr/>
        </p:nvSpPr>
        <p:spPr>
          <a:xfrm>
            <a:off x="196387" y="4506949"/>
            <a:ext cx="3880676" cy="338554"/>
          </a:xfrm>
          <a:prstGeom prst="rect">
            <a:avLst/>
          </a:prstGeom>
          <a:noFill/>
        </p:spPr>
        <p:txBody>
          <a:bodyPr wrap="square">
            <a:spAutoFit/>
          </a:bodyPr>
          <a:lstStyle>
            <a:defPPr>
              <a:defRPr lang="fr-FR"/>
            </a:defPPr>
            <a:lvl1pPr algn="ctr">
              <a:defRPr sz="2400" b="1">
                <a:solidFill>
                  <a:srgbClr val="0070C0"/>
                </a:solidFill>
              </a:defRPr>
            </a:lvl1pPr>
          </a:lstStyle>
          <a:p>
            <a:r>
              <a:rPr lang="fr-FR" sz="1600" dirty="0"/>
              <a:t>QU’EST-CE QUI CHANGE EN PRATIQUE ?</a:t>
            </a:r>
          </a:p>
        </p:txBody>
      </p:sp>
      <p:pic>
        <p:nvPicPr>
          <p:cNvPr id="12" name="Image 11">
            <a:extLst>
              <a:ext uri="{FF2B5EF4-FFF2-40B4-BE49-F238E27FC236}">
                <a16:creationId xmlns:a16="http://schemas.microsoft.com/office/drawing/2014/main" id="{771E66C1-A306-F7C2-3064-D3A2018F77EE}"/>
              </a:ext>
            </a:extLst>
          </p:cNvPr>
          <p:cNvPicPr>
            <a:picLocks noChangeAspect="1"/>
          </p:cNvPicPr>
          <p:nvPr/>
        </p:nvPicPr>
        <p:blipFill>
          <a:blip r:embed="rId5"/>
          <a:stretch>
            <a:fillRect/>
          </a:stretch>
        </p:blipFill>
        <p:spPr>
          <a:xfrm>
            <a:off x="468231" y="5368177"/>
            <a:ext cx="2158618" cy="1831149"/>
          </a:xfrm>
          <a:prstGeom prst="rect">
            <a:avLst/>
          </a:prstGeom>
        </p:spPr>
      </p:pic>
      <p:sp>
        <p:nvSpPr>
          <p:cNvPr id="14" name="ZoneTexte 13">
            <a:extLst>
              <a:ext uri="{FF2B5EF4-FFF2-40B4-BE49-F238E27FC236}">
                <a16:creationId xmlns:a16="http://schemas.microsoft.com/office/drawing/2014/main" id="{AC47FEA0-F477-562D-7433-360467980C32}"/>
              </a:ext>
            </a:extLst>
          </p:cNvPr>
          <p:cNvSpPr txBox="1"/>
          <p:nvPr/>
        </p:nvSpPr>
        <p:spPr>
          <a:xfrm>
            <a:off x="3444875" y="4969962"/>
            <a:ext cx="2460289" cy="861774"/>
          </a:xfrm>
          <a:prstGeom prst="rect">
            <a:avLst/>
          </a:prstGeom>
          <a:noFill/>
        </p:spPr>
        <p:txBody>
          <a:bodyPr wrap="none" rtlCol="0">
            <a:spAutoFit/>
          </a:bodyPr>
          <a:lstStyle/>
          <a:p>
            <a:pPr algn="ctr"/>
            <a:r>
              <a:rPr lang="fr-FR" sz="1600" dirty="0"/>
              <a:t>Le professionnel de santé </a:t>
            </a:r>
          </a:p>
          <a:p>
            <a:pPr algn="ctr"/>
            <a:r>
              <a:rPr lang="fr-FR" sz="1600" dirty="0"/>
              <a:t>proposera obligatoirement </a:t>
            </a:r>
          </a:p>
          <a:p>
            <a:pPr algn="ctr"/>
            <a:r>
              <a:rPr lang="fr-FR" sz="1600" dirty="0">
                <a:solidFill>
                  <a:srgbClr val="0070C0"/>
                </a:solidFill>
              </a:rPr>
              <a:t>2 OFFRES</a:t>
            </a:r>
          </a:p>
        </p:txBody>
      </p:sp>
      <p:sp>
        <p:nvSpPr>
          <p:cNvPr id="22" name="ZoneTexte 21">
            <a:extLst>
              <a:ext uri="{FF2B5EF4-FFF2-40B4-BE49-F238E27FC236}">
                <a16:creationId xmlns:a16="http://schemas.microsoft.com/office/drawing/2014/main" id="{7A3FF7B1-6127-0BF0-C7E9-3B7C18C3F8BC}"/>
              </a:ext>
            </a:extLst>
          </p:cNvPr>
          <p:cNvSpPr txBox="1"/>
          <p:nvPr/>
        </p:nvSpPr>
        <p:spPr>
          <a:xfrm>
            <a:off x="2578219" y="6211555"/>
            <a:ext cx="1760057" cy="646331"/>
          </a:xfrm>
          <a:prstGeom prst="rect">
            <a:avLst/>
          </a:prstGeom>
          <a:noFill/>
        </p:spPr>
        <p:txBody>
          <a:bodyPr wrap="square">
            <a:spAutoFit/>
          </a:bodyPr>
          <a:lstStyle/>
          <a:p>
            <a:pPr algn="ctr"/>
            <a:r>
              <a:rPr lang="fr-FR" dirty="0">
                <a:solidFill>
                  <a:srgbClr val="00B0F0"/>
                </a:solidFill>
              </a:rPr>
              <a:t>1 Devis sans Reste à charge</a:t>
            </a:r>
          </a:p>
        </p:txBody>
      </p:sp>
      <p:sp>
        <p:nvSpPr>
          <p:cNvPr id="23" name="ZoneTexte 22">
            <a:extLst>
              <a:ext uri="{FF2B5EF4-FFF2-40B4-BE49-F238E27FC236}">
                <a16:creationId xmlns:a16="http://schemas.microsoft.com/office/drawing/2014/main" id="{DF383C17-45A3-6E24-243D-E5B936A664DE}"/>
              </a:ext>
            </a:extLst>
          </p:cNvPr>
          <p:cNvSpPr txBox="1"/>
          <p:nvPr/>
        </p:nvSpPr>
        <p:spPr>
          <a:xfrm>
            <a:off x="4829920" y="6208601"/>
            <a:ext cx="2028080" cy="646331"/>
          </a:xfrm>
          <a:prstGeom prst="rect">
            <a:avLst/>
          </a:prstGeom>
          <a:noFill/>
        </p:spPr>
        <p:txBody>
          <a:bodyPr wrap="square">
            <a:spAutoFit/>
          </a:bodyPr>
          <a:lstStyle/>
          <a:p>
            <a:pPr algn="ctr"/>
            <a:r>
              <a:rPr lang="fr-FR" dirty="0">
                <a:solidFill>
                  <a:srgbClr val="00B0F0"/>
                </a:solidFill>
              </a:rPr>
              <a:t>1 Devis « Classique »</a:t>
            </a:r>
          </a:p>
        </p:txBody>
      </p:sp>
      <p:sp>
        <p:nvSpPr>
          <p:cNvPr id="26" name="ZoneTexte 25">
            <a:extLst>
              <a:ext uri="{FF2B5EF4-FFF2-40B4-BE49-F238E27FC236}">
                <a16:creationId xmlns:a16="http://schemas.microsoft.com/office/drawing/2014/main" id="{D4771CB4-EAF8-8909-5069-505185436213}"/>
              </a:ext>
            </a:extLst>
          </p:cNvPr>
          <p:cNvSpPr txBox="1"/>
          <p:nvPr/>
        </p:nvSpPr>
        <p:spPr>
          <a:xfrm>
            <a:off x="320433" y="7864329"/>
            <a:ext cx="3880676" cy="338554"/>
          </a:xfrm>
          <a:prstGeom prst="rect">
            <a:avLst/>
          </a:prstGeom>
          <a:noFill/>
        </p:spPr>
        <p:txBody>
          <a:bodyPr wrap="square">
            <a:spAutoFit/>
          </a:bodyPr>
          <a:lstStyle>
            <a:defPPr>
              <a:defRPr lang="fr-FR"/>
            </a:defPPr>
            <a:lvl1pPr algn="ctr">
              <a:defRPr sz="2400" b="1">
                <a:solidFill>
                  <a:srgbClr val="0070C0"/>
                </a:solidFill>
              </a:defRPr>
            </a:lvl1pPr>
          </a:lstStyle>
          <a:p>
            <a:pPr algn="l"/>
            <a:r>
              <a:rPr lang="fr-FR" sz="1600" dirty="0"/>
              <a:t>Mais aussi:</a:t>
            </a:r>
          </a:p>
        </p:txBody>
      </p:sp>
      <p:cxnSp>
        <p:nvCxnSpPr>
          <p:cNvPr id="27" name="Connecteur droit avec flèche 26">
            <a:extLst>
              <a:ext uri="{FF2B5EF4-FFF2-40B4-BE49-F238E27FC236}">
                <a16:creationId xmlns:a16="http://schemas.microsoft.com/office/drawing/2014/main" id="{3ADC3DC0-D766-2449-5D66-95CDE9F708A7}"/>
              </a:ext>
            </a:extLst>
          </p:cNvPr>
          <p:cNvCxnSpPr>
            <a:cxnSpLocks/>
          </p:cNvCxnSpPr>
          <p:nvPr/>
        </p:nvCxnSpPr>
        <p:spPr>
          <a:xfrm>
            <a:off x="4760070" y="5831736"/>
            <a:ext cx="520276" cy="350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758842E4-FE74-86E3-440A-096AB8845129}"/>
              </a:ext>
            </a:extLst>
          </p:cNvPr>
          <p:cNvCxnSpPr>
            <a:cxnSpLocks/>
          </p:cNvCxnSpPr>
          <p:nvPr/>
        </p:nvCxnSpPr>
        <p:spPr>
          <a:xfrm flipH="1">
            <a:off x="4077063" y="5831736"/>
            <a:ext cx="433750" cy="360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15" name="ZoneTexte 4514">
            <a:extLst>
              <a:ext uri="{FF2B5EF4-FFF2-40B4-BE49-F238E27FC236}">
                <a16:creationId xmlns:a16="http://schemas.microsoft.com/office/drawing/2014/main" id="{E20EF230-36C6-4E06-1C00-A04090AC41A5}"/>
              </a:ext>
            </a:extLst>
          </p:cNvPr>
          <p:cNvSpPr txBox="1"/>
          <p:nvPr/>
        </p:nvSpPr>
        <p:spPr>
          <a:xfrm>
            <a:off x="2687429" y="6842131"/>
            <a:ext cx="1513680" cy="600164"/>
          </a:xfrm>
          <a:prstGeom prst="rect">
            <a:avLst/>
          </a:prstGeom>
          <a:noFill/>
        </p:spPr>
        <p:txBody>
          <a:bodyPr wrap="square">
            <a:spAutoFit/>
          </a:bodyPr>
          <a:lstStyle/>
          <a:p>
            <a:r>
              <a:rPr lang="fr-FR" sz="1100" dirty="0"/>
              <a:t>Soin ou équipement entrant dans le</a:t>
            </a:r>
          </a:p>
          <a:p>
            <a:r>
              <a:rPr lang="fr-FR" sz="1100" dirty="0"/>
              <a:t>panier 100% Santé</a:t>
            </a:r>
          </a:p>
        </p:txBody>
      </p:sp>
      <p:sp>
        <p:nvSpPr>
          <p:cNvPr id="4517" name="ZoneTexte 4516">
            <a:extLst>
              <a:ext uri="{FF2B5EF4-FFF2-40B4-BE49-F238E27FC236}">
                <a16:creationId xmlns:a16="http://schemas.microsoft.com/office/drawing/2014/main" id="{761E1492-A5E3-9AF6-8C9C-21D6ECB8B178}"/>
              </a:ext>
            </a:extLst>
          </p:cNvPr>
          <p:cNvSpPr txBox="1"/>
          <p:nvPr/>
        </p:nvSpPr>
        <p:spPr>
          <a:xfrm>
            <a:off x="4500683" y="6854932"/>
            <a:ext cx="2385892" cy="600164"/>
          </a:xfrm>
          <a:prstGeom prst="rect">
            <a:avLst/>
          </a:prstGeom>
          <a:noFill/>
        </p:spPr>
        <p:txBody>
          <a:bodyPr wrap="square">
            <a:spAutoFit/>
          </a:bodyPr>
          <a:lstStyle>
            <a:defPPr>
              <a:defRPr lang="fr-FR"/>
            </a:defPPr>
            <a:lvl1pPr>
              <a:defRPr sz="1100"/>
            </a:lvl1pPr>
          </a:lstStyle>
          <a:p>
            <a:pPr algn="ctr"/>
            <a:r>
              <a:rPr lang="fr-FR" dirty="0"/>
              <a:t>Panier à tarif libre et remboursé par</a:t>
            </a:r>
          </a:p>
          <a:p>
            <a:pPr algn="ctr"/>
            <a:r>
              <a:rPr lang="fr-FR" dirty="0"/>
              <a:t>l’assurance complémentaire dans les</a:t>
            </a:r>
          </a:p>
          <a:p>
            <a:pPr algn="ctr"/>
            <a:r>
              <a:rPr lang="fr-FR" dirty="0"/>
              <a:t>conditions prévues par le contrat</a:t>
            </a:r>
          </a:p>
        </p:txBody>
      </p:sp>
      <p:sp>
        <p:nvSpPr>
          <p:cNvPr id="4519" name="ZoneTexte 4518">
            <a:extLst>
              <a:ext uri="{FF2B5EF4-FFF2-40B4-BE49-F238E27FC236}">
                <a16:creationId xmlns:a16="http://schemas.microsoft.com/office/drawing/2014/main" id="{8CFAC478-7838-F018-5E51-DED49538B610}"/>
              </a:ext>
            </a:extLst>
          </p:cNvPr>
          <p:cNvSpPr txBox="1"/>
          <p:nvPr/>
        </p:nvSpPr>
        <p:spPr>
          <a:xfrm>
            <a:off x="330200" y="8327508"/>
            <a:ext cx="6556375" cy="738664"/>
          </a:xfrm>
          <a:prstGeom prst="rect">
            <a:avLst/>
          </a:prstGeom>
          <a:noFill/>
        </p:spPr>
        <p:txBody>
          <a:bodyPr wrap="square" rtlCol="0">
            <a:spAutoFit/>
          </a:bodyPr>
          <a:lstStyle>
            <a:defPPr>
              <a:defRPr lang="fr-FR"/>
            </a:defPPr>
            <a:lvl1pPr>
              <a:defRPr sz="1600"/>
            </a:lvl1pPr>
          </a:lstStyle>
          <a:p>
            <a:r>
              <a:rPr lang="fr-FR" sz="1400" dirty="0"/>
              <a:t>&gt; Fixation de prix limites de vente (PLV) imposés aux professionnels de santé</a:t>
            </a:r>
          </a:p>
          <a:p>
            <a:r>
              <a:rPr lang="fr-FR" sz="1400" dirty="0"/>
              <a:t>&gt; Augmentation de la base de remboursement (BR) du régime obligatoire (RO) &amp; du remboursement des complémentaires santé</a:t>
            </a:r>
          </a:p>
        </p:txBody>
      </p:sp>
      <p:grpSp>
        <p:nvGrpSpPr>
          <p:cNvPr id="5" name="Groupe 4">
            <a:extLst>
              <a:ext uri="{FF2B5EF4-FFF2-40B4-BE49-F238E27FC236}">
                <a16:creationId xmlns:a16="http://schemas.microsoft.com/office/drawing/2014/main" id="{E52143F1-2B94-FC59-9A97-53AA438EBE8C}"/>
              </a:ext>
            </a:extLst>
          </p:cNvPr>
          <p:cNvGrpSpPr/>
          <p:nvPr/>
        </p:nvGrpSpPr>
        <p:grpSpPr>
          <a:xfrm>
            <a:off x="101600" y="93434"/>
            <a:ext cx="6686550" cy="628847"/>
            <a:chOff x="101600" y="93434"/>
            <a:chExt cx="6686550" cy="628847"/>
          </a:xfrm>
        </p:grpSpPr>
        <p:sp>
          <p:nvSpPr>
            <p:cNvPr id="8" name="Rectangle : coins arrondis 7">
              <a:extLst>
                <a:ext uri="{FF2B5EF4-FFF2-40B4-BE49-F238E27FC236}">
                  <a16:creationId xmlns:a16="http://schemas.microsoft.com/office/drawing/2014/main" id="{9FE8C6FE-0FB2-5F4B-87CF-4EAB863D36A2}"/>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Dynamique   by                               assuré par                                 </a:t>
              </a:r>
            </a:p>
          </p:txBody>
        </p:sp>
        <p:pic>
          <p:nvPicPr>
            <p:cNvPr id="9" name="Picture 2" descr="Néoliane Santé &amp; Prévoyance">
              <a:extLst>
                <a:ext uri="{FF2B5EF4-FFF2-40B4-BE49-F238E27FC236}">
                  <a16:creationId xmlns:a16="http://schemas.microsoft.com/office/drawing/2014/main" id="{52F0DB19-3DC4-C0B9-45EC-37388A61C2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nimaux Santé | Mutuelle Animaux">
              <a:extLst>
                <a:ext uri="{FF2B5EF4-FFF2-40B4-BE49-F238E27FC236}">
                  <a16:creationId xmlns:a16="http://schemas.microsoft.com/office/drawing/2014/main" id="{F35BA365-203F-DD97-DE82-9AA4D29716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6794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4530" name="Picture 2" descr="Bouton Logo Les Dents - Images vectorielles gratuites sur Pixabay - Pixabay">
            <a:extLst>
              <a:ext uri="{FF2B5EF4-FFF2-40B4-BE49-F238E27FC236}">
                <a16:creationId xmlns:a16="http://schemas.microsoft.com/office/drawing/2014/main" id="{C2F6C4BB-EA66-D03A-153B-2D61066CD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2" y="14272152"/>
            <a:ext cx="49067" cy="490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100% Santé : des soins pour tous, 100% pris en charge">
            <a:extLst>
              <a:ext uri="{FF2B5EF4-FFF2-40B4-BE49-F238E27FC236}">
                <a16:creationId xmlns:a16="http://schemas.microsoft.com/office/drawing/2014/main" id="{535F1D54-3CF9-96D7-AAF2-E939F78F35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590" t="9007" r="12611" b="13073"/>
          <a:stretch/>
        </p:blipFill>
        <p:spPr bwMode="auto">
          <a:xfrm>
            <a:off x="2566913" y="980122"/>
            <a:ext cx="1489221" cy="1060948"/>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1DC311B0-BB0D-C427-5533-FA4B6E6AB3D1}"/>
              </a:ext>
            </a:extLst>
          </p:cNvPr>
          <p:cNvPicPr>
            <a:picLocks noChangeAspect="1"/>
          </p:cNvPicPr>
          <p:nvPr/>
        </p:nvPicPr>
        <p:blipFill>
          <a:blip r:embed="rId5"/>
          <a:stretch>
            <a:fillRect/>
          </a:stretch>
        </p:blipFill>
        <p:spPr>
          <a:xfrm>
            <a:off x="876398" y="1992003"/>
            <a:ext cx="5911752" cy="7546705"/>
          </a:xfrm>
          <a:prstGeom prst="rect">
            <a:avLst/>
          </a:prstGeom>
        </p:spPr>
      </p:pic>
      <p:pic>
        <p:nvPicPr>
          <p:cNvPr id="4521" name="Image 4520">
            <a:extLst>
              <a:ext uri="{FF2B5EF4-FFF2-40B4-BE49-F238E27FC236}">
                <a16:creationId xmlns:a16="http://schemas.microsoft.com/office/drawing/2014/main" id="{F2436BD2-3577-BD8A-85C5-5DC2CED6D670}"/>
              </a:ext>
            </a:extLst>
          </p:cNvPr>
          <p:cNvPicPr>
            <a:picLocks noChangeAspect="1"/>
          </p:cNvPicPr>
          <p:nvPr/>
        </p:nvPicPr>
        <p:blipFill>
          <a:blip r:embed="rId6"/>
          <a:stretch>
            <a:fillRect/>
          </a:stretch>
        </p:blipFill>
        <p:spPr>
          <a:xfrm>
            <a:off x="0" y="2996154"/>
            <a:ext cx="1147989" cy="641789"/>
          </a:xfrm>
          <a:prstGeom prst="rect">
            <a:avLst/>
          </a:prstGeom>
        </p:spPr>
      </p:pic>
      <p:pic>
        <p:nvPicPr>
          <p:cNvPr id="4523" name="Image 4522">
            <a:extLst>
              <a:ext uri="{FF2B5EF4-FFF2-40B4-BE49-F238E27FC236}">
                <a16:creationId xmlns:a16="http://schemas.microsoft.com/office/drawing/2014/main" id="{8B48A7BA-1DFB-F2BE-DE2C-4BC7F7A60D2E}"/>
              </a:ext>
            </a:extLst>
          </p:cNvPr>
          <p:cNvPicPr>
            <a:picLocks noChangeAspect="1"/>
          </p:cNvPicPr>
          <p:nvPr/>
        </p:nvPicPr>
        <p:blipFill>
          <a:blip r:embed="rId7"/>
          <a:stretch>
            <a:fillRect/>
          </a:stretch>
        </p:blipFill>
        <p:spPr>
          <a:xfrm>
            <a:off x="-1" y="5446720"/>
            <a:ext cx="1147989" cy="637269"/>
          </a:xfrm>
          <a:prstGeom prst="rect">
            <a:avLst/>
          </a:prstGeom>
        </p:spPr>
      </p:pic>
      <p:pic>
        <p:nvPicPr>
          <p:cNvPr id="4525" name="Image 4524">
            <a:extLst>
              <a:ext uri="{FF2B5EF4-FFF2-40B4-BE49-F238E27FC236}">
                <a16:creationId xmlns:a16="http://schemas.microsoft.com/office/drawing/2014/main" id="{1972CFFC-EBC6-164E-87F7-F7B190FCA70F}"/>
              </a:ext>
            </a:extLst>
          </p:cNvPr>
          <p:cNvPicPr>
            <a:picLocks noChangeAspect="1"/>
          </p:cNvPicPr>
          <p:nvPr/>
        </p:nvPicPr>
        <p:blipFill>
          <a:blip r:embed="rId8"/>
          <a:stretch>
            <a:fillRect/>
          </a:stretch>
        </p:blipFill>
        <p:spPr>
          <a:xfrm>
            <a:off x="-1" y="7991398"/>
            <a:ext cx="1138950" cy="601113"/>
          </a:xfrm>
          <a:prstGeom prst="rect">
            <a:avLst/>
          </a:prstGeom>
        </p:spPr>
      </p:pic>
      <p:grpSp>
        <p:nvGrpSpPr>
          <p:cNvPr id="2" name="Groupe 1">
            <a:extLst>
              <a:ext uri="{FF2B5EF4-FFF2-40B4-BE49-F238E27FC236}">
                <a16:creationId xmlns:a16="http://schemas.microsoft.com/office/drawing/2014/main" id="{549149A4-5E73-4442-8EC4-9DBD8B207E68}"/>
              </a:ext>
            </a:extLst>
          </p:cNvPr>
          <p:cNvGrpSpPr/>
          <p:nvPr/>
        </p:nvGrpSpPr>
        <p:grpSpPr>
          <a:xfrm>
            <a:off x="101600" y="93434"/>
            <a:ext cx="6686550" cy="628847"/>
            <a:chOff x="101600" y="93434"/>
            <a:chExt cx="6686550" cy="628847"/>
          </a:xfrm>
        </p:grpSpPr>
        <p:sp>
          <p:nvSpPr>
            <p:cNvPr id="5" name="Rectangle : coins arrondis 4">
              <a:extLst>
                <a:ext uri="{FF2B5EF4-FFF2-40B4-BE49-F238E27FC236}">
                  <a16:creationId xmlns:a16="http://schemas.microsoft.com/office/drawing/2014/main" id="{3CCDB8FE-B51F-D4C2-EBEF-271F72678C17}"/>
                </a:ext>
              </a:extLst>
            </p:cNvPr>
            <p:cNvSpPr/>
            <p:nvPr/>
          </p:nvSpPr>
          <p:spPr>
            <a:xfrm>
              <a:off x="101600" y="93434"/>
              <a:ext cx="6686550" cy="628650"/>
            </a:xfrm>
            <a:prstGeom prst="roundRect">
              <a:avLst/>
            </a:prstGeom>
            <a:solidFill>
              <a:schemeClr val="bg1"/>
            </a:solidFill>
            <a:ln w="44450">
              <a:solidFill>
                <a:schemeClr val="accent1">
                  <a:lumMod val="75000"/>
                </a:schemeClr>
              </a:solidFill>
            </a:ln>
            <a:effectLst>
              <a:innerShdw blurRad="63500" dist="50800" dir="135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b="1" dirty="0">
                  <a:solidFill>
                    <a:schemeClr val="tx1"/>
                  </a:solidFill>
                </a:rPr>
                <a:t>         Dynamique   by                               assuré par                                 </a:t>
              </a:r>
            </a:p>
          </p:txBody>
        </p:sp>
        <p:pic>
          <p:nvPicPr>
            <p:cNvPr id="7" name="Picture 2" descr="Néoliane Santé &amp; Prévoyance">
              <a:extLst>
                <a:ext uri="{FF2B5EF4-FFF2-40B4-BE49-F238E27FC236}">
                  <a16:creationId xmlns:a16="http://schemas.microsoft.com/office/drawing/2014/main" id="{71A4C3ED-22F2-BA21-9556-90734487294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95759" y="290464"/>
              <a:ext cx="1206122" cy="23459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nimaux Santé | Mutuelle Animaux">
              <a:extLst>
                <a:ext uri="{FF2B5EF4-FFF2-40B4-BE49-F238E27FC236}">
                  <a16:creationId xmlns:a16="http://schemas.microsoft.com/office/drawing/2014/main" id="{EA05FD44-98DD-E7C9-FA4A-6899411B2A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6299" y="93434"/>
              <a:ext cx="1627605" cy="62884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02490261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1420</TotalTime>
  <Words>805</Words>
  <Application>Microsoft Office PowerPoint</Application>
  <PresentationFormat>Format A4 (210 x 297 mm)</PresentationFormat>
  <Paragraphs>85</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Calibri</vt:lpstr>
      <vt:lpstr>Calibri Light</vt:lpstr>
      <vt:lpstr>Source Sans Pro</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Aurelie Racamier</dc:creator>
  <cp:lastModifiedBy>SOFIANE DEKKAK</cp:lastModifiedBy>
  <cp:revision>62</cp:revision>
  <cp:lastPrinted>2024-03-26T10:36:48Z</cp:lastPrinted>
  <dcterms:created xsi:type="dcterms:W3CDTF">2018-01-12T04:36:24Z</dcterms:created>
  <dcterms:modified xsi:type="dcterms:W3CDTF">2025-09-08T11:54:33Z</dcterms:modified>
</cp:coreProperties>
</file>