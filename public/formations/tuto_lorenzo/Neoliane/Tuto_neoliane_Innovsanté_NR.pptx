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8"/>
  </p:notesMasterIdLst>
  <p:sldIdLst>
    <p:sldId id="257" r:id="rId2"/>
    <p:sldId id="258" r:id="rId3"/>
    <p:sldId id="262" r:id="rId4"/>
    <p:sldId id="260" r:id="rId5"/>
    <p:sldId id="263" r:id="rId6"/>
    <p:sldId id="265" r:id="rId7"/>
  </p:sldIdLst>
  <p:sldSz cx="6858000" cy="9906000" type="A4"/>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 roundtripDataSignature="AMtx7mgRM5g9jOzKvKatFZesqbkETYKt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C65A"/>
    <a:srgbClr val="EDE0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60"/>
  </p:normalViewPr>
  <p:slideViewPr>
    <p:cSldViewPr snapToGrid="0">
      <p:cViewPr varScale="1">
        <p:scale>
          <a:sx n="76" d="100"/>
          <a:sy n="76" d="100"/>
        </p:scale>
        <p:origin x="3450" y="90"/>
      </p:cViewPr>
      <p:guideLst>
        <p:guide orient="horz" pos="31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4"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427" cy="513508"/>
          </a:xfrm>
          <a:prstGeom prst="rect">
            <a:avLst/>
          </a:prstGeom>
          <a:noFill/>
          <a:ln>
            <a:noFill/>
          </a:ln>
        </p:spPr>
        <p:txBody>
          <a:bodyPr spcFirstLastPara="1" wrap="square" lIns="99059" tIns="49516" rIns="99059" bIns="49516"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3992" y="0"/>
            <a:ext cx="3078427" cy="513508"/>
          </a:xfrm>
          <a:prstGeom prst="rect">
            <a:avLst/>
          </a:prstGeom>
          <a:noFill/>
          <a:ln>
            <a:noFill/>
          </a:ln>
        </p:spPr>
        <p:txBody>
          <a:bodyPr spcFirstLastPara="1" wrap="square" lIns="99059" tIns="49516" rIns="99059" bIns="49516"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107"/>
            <a:ext cx="3078427" cy="513507"/>
          </a:xfrm>
          <a:prstGeom prst="rect">
            <a:avLst/>
          </a:prstGeom>
          <a:noFill/>
          <a:ln>
            <a:noFill/>
          </a:ln>
        </p:spPr>
        <p:txBody>
          <a:bodyPr spcFirstLastPara="1" wrap="square" lIns="99059" tIns="49516" rIns="99059" bIns="49516"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3992" y="9721107"/>
            <a:ext cx="3078427" cy="513507"/>
          </a:xfrm>
          <a:prstGeom prst="rect">
            <a:avLst/>
          </a:prstGeom>
          <a:noFill/>
          <a:ln>
            <a:noFill/>
          </a:ln>
        </p:spPr>
        <p:txBody>
          <a:bodyPr spcFirstLastPara="1" wrap="square" lIns="99059" tIns="49516" rIns="99059" bIns="49516" anchor="b" anchorCtr="0">
            <a:noAutofit/>
          </a:bodyPr>
          <a:lstStyle/>
          <a:p>
            <a:pPr algn="r"/>
            <a:fld id="{00000000-1234-1234-1234-123412341234}" type="slidenum">
              <a:rPr lang="fr-FR" sz="1300" smtClean="0">
                <a:solidFill>
                  <a:schemeClr val="dk1"/>
                </a:solidFill>
                <a:latin typeface="Calibri"/>
                <a:ea typeface="Calibri"/>
                <a:cs typeface="Calibri"/>
                <a:sym typeface="Calibri"/>
              </a:rPr>
              <a:pPr algn="r"/>
              <a:t>‹N°›</a:t>
            </a:fld>
            <a:endParaRPr lang="fr-FR"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545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3175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3456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0571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0672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313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9F93D-8255-6088-978F-25DC269431B0}"/>
              </a:ext>
            </a:extLst>
          </p:cNvPr>
          <p:cNvSpPr>
            <a:spLocks noGrp="1"/>
          </p:cNvSpPr>
          <p:nvPr>
            <p:ph type="ctrTitle"/>
          </p:nvPr>
        </p:nvSpPr>
        <p:spPr>
          <a:xfrm>
            <a:off x="857250" y="1621191"/>
            <a:ext cx="5143500" cy="3448756"/>
          </a:xfrm>
        </p:spPr>
        <p:txBody>
          <a:bodyPr anchor="b"/>
          <a:lstStyle>
            <a:lvl1pPr algn="ctr">
              <a:defRPr sz="3375"/>
            </a:lvl1pPr>
          </a:lstStyle>
          <a:p>
            <a:r>
              <a:rPr lang="fr-FR"/>
              <a:t>Modifiez le style du titre</a:t>
            </a:r>
          </a:p>
        </p:txBody>
      </p:sp>
      <p:sp>
        <p:nvSpPr>
          <p:cNvPr id="3" name="Sous-titre 2">
            <a:extLst>
              <a:ext uri="{FF2B5EF4-FFF2-40B4-BE49-F238E27FC236}">
                <a16:creationId xmlns:a16="http://schemas.microsoft.com/office/drawing/2014/main" id="{2D7BFAE2-4DDA-5CEB-A9B6-7D5458672B2B}"/>
              </a:ext>
            </a:extLst>
          </p:cNvPr>
          <p:cNvSpPr>
            <a:spLocks noGrp="1"/>
          </p:cNvSpPr>
          <p:nvPr>
            <p:ph type="subTitle" idx="1"/>
          </p:nvPr>
        </p:nvSpPr>
        <p:spPr>
          <a:xfrm>
            <a:off x="857250" y="5202944"/>
            <a:ext cx="5143500" cy="2391656"/>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9B73B4B-47A0-53CE-FB4A-AD41B31C67BB}"/>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560C3929-B721-1FD6-6598-B242CD102C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F648CC-6D73-618F-316C-4C34386E498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20410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ED3FED-8441-4FF5-F1F0-A30EF4C44C5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AA4C529-50E2-FFE9-B0D2-5F3CE75A530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E9D8057-FF2B-9856-98BD-4E857A2515E1}"/>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F4D5ED8A-7AED-E653-D1EF-EE8C96F2431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C3FE8BF-FB84-E3DB-A22B-F46BE7014DB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507619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829AA2-7A23-BF3D-289E-7FF50B55FCAB}"/>
              </a:ext>
            </a:extLst>
          </p:cNvPr>
          <p:cNvSpPr>
            <a:spLocks noGrp="1"/>
          </p:cNvSpPr>
          <p:nvPr>
            <p:ph type="title"/>
          </p:nvPr>
        </p:nvSpPr>
        <p:spPr>
          <a:xfrm>
            <a:off x="467916" y="2469622"/>
            <a:ext cx="5915025" cy="4120620"/>
          </a:xfrm>
        </p:spPr>
        <p:txBody>
          <a:bodyPr anchor="b"/>
          <a:lstStyle>
            <a:lvl1pPr>
              <a:defRPr sz="3375"/>
            </a:lvl1pPr>
          </a:lstStyle>
          <a:p>
            <a:r>
              <a:rPr lang="fr-FR"/>
              <a:t>Modifiez le style du titre</a:t>
            </a:r>
          </a:p>
        </p:txBody>
      </p:sp>
      <p:sp>
        <p:nvSpPr>
          <p:cNvPr id="3" name="Espace réservé du texte 2">
            <a:extLst>
              <a:ext uri="{FF2B5EF4-FFF2-40B4-BE49-F238E27FC236}">
                <a16:creationId xmlns:a16="http://schemas.microsoft.com/office/drawing/2014/main" id="{42421FF2-5439-BF21-C412-685553F9C015}"/>
              </a:ext>
            </a:extLst>
          </p:cNvPr>
          <p:cNvSpPr>
            <a:spLocks noGrp="1"/>
          </p:cNvSpPr>
          <p:nvPr>
            <p:ph type="body" idx="1"/>
          </p:nvPr>
        </p:nvSpPr>
        <p:spPr>
          <a:xfrm>
            <a:off x="467916" y="6629225"/>
            <a:ext cx="5915025" cy="21669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2EB08C0-77FA-5722-A86A-E6D8943D20A3}"/>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CBC8CAD-E33D-AE37-E4CD-E4F3F349C3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741DF6-21BA-D0FF-118F-31BCAD3952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317469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9CE797-B1F8-954A-2FCD-E1936621A08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756F958-B869-AD5F-5DF5-54B2731DDD31}"/>
              </a:ext>
            </a:extLst>
          </p:cNvPr>
          <p:cNvSpPr>
            <a:spLocks noGrp="1"/>
          </p:cNvSpPr>
          <p:nvPr>
            <p:ph sz="half" idx="1"/>
          </p:nvPr>
        </p:nvSpPr>
        <p:spPr>
          <a:xfrm>
            <a:off x="471488"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29B082-B806-B1EB-76D2-D157D79FD15E}"/>
              </a:ext>
            </a:extLst>
          </p:cNvPr>
          <p:cNvSpPr>
            <a:spLocks noGrp="1"/>
          </p:cNvSpPr>
          <p:nvPr>
            <p:ph sz="half" idx="2"/>
          </p:nvPr>
        </p:nvSpPr>
        <p:spPr>
          <a:xfrm>
            <a:off x="3471863"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EA437EF-E1D5-4506-6A95-EB99876C6B53}"/>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19ADE150-0B3E-FAC3-8835-244B419C5EA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75A06BD-CCC0-5601-CE7D-FD57F3F4D8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72584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2ACAED-B220-DE36-4BC0-07B2E9B28F34}"/>
              </a:ext>
            </a:extLst>
          </p:cNvPr>
          <p:cNvSpPr>
            <a:spLocks noGrp="1"/>
          </p:cNvSpPr>
          <p:nvPr>
            <p:ph type="title"/>
          </p:nvPr>
        </p:nvSpPr>
        <p:spPr>
          <a:xfrm>
            <a:off x="472381" y="527404"/>
            <a:ext cx="5915025" cy="191470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18855D4-99FC-AA15-3986-F50C040E76C5}"/>
              </a:ext>
            </a:extLst>
          </p:cNvPr>
          <p:cNvSpPr>
            <a:spLocks noGrp="1"/>
          </p:cNvSpPr>
          <p:nvPr>
            <p:ph type="body" idx="1"/>
          </p:nvPr>
        </p:nvSpPr>
        <p:spPr>
          <a:xfrm>
            <a:off x="472381" y="2428347"/>
            <a:ext cx="2901255" cy="1190095"/>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79FD663-E006-C456-79A4-4DBB71A9314E}"/>
              </a:ext>
            </a:extLst>
          </p:cNvPr>
          <p:cNvSpPr>
            <a:spLocks noGrp="1"/>
          </p:cNvSpPr>
          <p:nvPr>
            <p:ph sz="half" idx="2"/>
          </p:nvPr>
        </p:nvSpPr>
        <p:spPr>
          <a:xfrm>
            <a:off x="472381" y="3618442"/>
            <a:ext cx="2901255"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CB4238C-0499-8F34-0E58-D0C21C11FAA2}"/>
              </a:ext>
            </a:extLst>
          </p:cNvPr>
          <p:cNvSpPr>
            <a:spLocks noGrp="1"/>
          </p:cNvSpPr>
          <p:nvPr>
            <p:ph type="body" sz="quarter" idx="3"/>
          </p:nvPr>
        </p:nvSpPr>
        <p:spPr>
          <a:xfrm>
            <a:off x="3471863" y="2428347"/>
            <a:ext cx="2915543" cy="1190095"/>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8993611-0F7E-2147-3300-0320286B0EE4}"/>
              </a:ext>
            </a:extLst>
          </p:cNvPr>
          <p:cNvSpPr>
            <a:spLocks noGrp="1"/>
          </p:cNvSpPr>
          <p:nvPr>
            <p:ph sz="quarter" idx="4"/>
          </p:nvPr>
        </p:nvSpPr>
        <p:spPr>
          <a:xfrm>
            <a:off x="3471863" y="3618442"/>
            <a:ext cx="2915543"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D3B29C-0CB3-376F-C603-483F260925F2}"/>
              </a:ext>
            </a:extLst>
          </p:cNvPr>
          <p:cNvSpPr>
            <a:spLocks noGrp="1"/>
          </p:cNvSpPr>
          <p:nvPr>
            <p:ph type="dt" sz="half" idx="10"/>
          </p:nvPr>
        </p:nvSpPr>
        <p:spPr/>
        <p:txBody>
          <a:bodyPr/>
          <a:lstStyle/>
          <a:p>
            <a:endParaRPr lang="fr-FR"/>
          </a:p>
        </p:txBody>
      </p:sp>
      <p:sp>
        <p:nvSpPr>
          <p:cNvPr id="8" name="Espace réservé du pied de page 7">
            <a:extLst>
              <a:ext uri="{FF2B5EF4-FFF2-40B4-BE49-F238E27FC236}">
                <a16:creationId xmlns:a16="http://schemas.microsoft.com/office/drawing/2014/main" id="{A5484CD4-DFF9-E770-EFAD-46C12CB28F9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D3E3E8C-DEE2-B83F-75FF-B074ED0BB5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4491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40DC6-2906-269F-B67E-ED3941EE4EE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8B189EC-D496-3FE3-3760-9959A094908B}"/>
              </a:ext>
            </a:extLst>
          </p:cNvPr>
          <p:cNvSpPr>
            <a:spLocks noGrp="1"/>
          </p:cNvSpPr>
          <p:nvPr>
            <p:ph type="dt" sz="half" idx="10"/>
          </p:nvPr>
        </p:nvSpPr>
        <p:spPr/>
        <p:txBody>
          <a:bodyPr/>
          <a:lstStyle/>
          <a:p>
            <a:endParaRPr lang="fr-FR"/>
          </a:p>
        </p:txBody>
      </p:sp>
      <p:sp>
        <p:nvSpPr>
          <p:cNvPr id="4" name="Espace réservé du pied de page 3">
            <a:extLst>
              <a:ext uri="{FF2B5EF4-FFF2-40B4-BE49-F238E27FC236}">
                <a16:creationId xmlns:a16="http://schemas.microsoft.com/office/drawing/2014/main" id="{1F702D2E-B2BD-1DED-CF8E-7BA263E377A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30F1244-A899-ACD7-B1D9-001617F9E4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73069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0E38EE-8952-23B4-2E92-2298A4D9FB87}"/>
              </a:ext>
            </a:extLst>
          </p:cNvPr>
          <p:cNvSpPr>
            <a:spLocks noGrp="1"/>
          </p:cNvSpPr>
          <p:nvPr>
            <p:ph type="dt" sz="half" idx="10"/>
          </p:nvPr>
        </p:nvSpPr>
        <p:spPr/>
        <p:txBody>
          <a:bodyPr/>
          <a:lstStyle/>
          <a:p>
            <a:endParaRPr lang="fr-FR"/>
          </a:p>
        </p:txBody>
      </p:sp>
      <p:sp>
        <p:nvSpPr>
          <p:cNvPr id="3" name="Espace réservé du pied de page 2">
            <a:extLst>
              <a:ext uri="{FF2B5EF4-FFF2-40B4-BE49-F238E27FC236}">
                <a16:creationId xmlns:a16="http://schemas.microsoft.com/office/drawing/2014/main" id="{9FCBACE9-D3DB-9337-7CDA-7B0575CFCDD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75077C4-3BD7-EAF7-C25D-2296B058E2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48610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D74707-CCCA-1559-2F58-90891138E3CF}"/>
              </a:ext>
            </a:extLst>
          </p:cNvPr>
          <p:cNvSpPr>
            <a:spLocks noGrp="1"/>
          </p:cNvSpPr>
          <p:nvPr>
            <p:ph type="title"/>
          </p:nvPr>
        </p:nvSpPr>
        <p:spPr>
          <a:xfrm>
            <a:off x="472381" y="660400"/>
            <a:ext cx="2211883" cy="2311400"/>
          </a:xfrm>
        </p:spPr>
        <p:txBody>
          <a:bodyPr anchor="b"/>
          <a:lstStyle>
            <a:lvl1pPr>
              <a:defRPr sz="1800"/>
            </a:lvl1pPr>
          </a:lstStyle>
          <a:p>
            <a:r>
              <a:rPr lang="fr-FR"/>
              <a:t>Modifiez le style du titre</a:t>
            </a:r>
          </a:p>
        </p:txBody>
      </p:sp>
      <p:sp>
        <p:nvSpPr>
          <p:cNvPr id="3" name="Espace réservé du contenu 2">
            <a:extLst>
              <a:ext uri="{FF2B5EF4-FFF2-40B4-BE49-F238E27FC236}">
                <a16:creationId xmlns:a16="http://schemas.microsoft.com/office/drawing/2014/main" id="{DB13183F-431C-1322-E86E-6C67A3F6BB7B}"/>
              </a:ext>
            </a:extLst>
          </p:cNvPr>
          <p:cNvSpPr>
            <a:spLocks noGrp="1"/>
          </p:cNvSpPr>
          <p:nvPr>
            <p:ph idx="1"/>
          </p:nvPr>
        </p:nvSpPr>
        <p:spPr>
          <a:xfrm>
            <a:off x="2915543" y="1426281"/>
            <a:ext cx="3471863" cy="7039681"/>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FF3E38C-97FB-9E66-E268-AD578DA702EA}"/>
              </a:ext>
            </a:extLst>
          </p:cNvPr>
          <p:cNvSpPr>
            <a:spLocks noGrp="1"/>
          </p:cNvSpPr>
          <p:nvPr>
            <p:ph type="body" sz="half" idx="2"/>
          </p:nvPr>
        </p:nvSpPr>
        <p:spPr>
          <a:xfrm>
            <a:off x="472381" y="2971800"/>
            <a:ext cx="2211883" cy="550562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981BB4D-FA63-2DED-8349-6FFDA0AC12C9}"/>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D6312810-EE84-AB7C-4A60-4B3F52D98D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1C8157E-05A9-F6F5-6BA7-0EEBFBD347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347411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7B92C1-B502-80FD-B5FF-7A6FA0D63478}"/>
              </a:ext>
            </a:extLst>
          </p:cNvPr>
          <p:cNvSpPr>
            <a:spLocks noGrp="1"/>
          </p:cNvSpPr>
          <p:nvPr>
            <p:ph type="title"/>
          </p:nvPr>
        </p:nvSpPr>
        <p:spPr>
          <a:xfrm>
            <a:off x="472381" y="660400"/>
            <a:ext cx="2211883" cy="2311400"/>
          </a:xfrm>
        </p:spPr>
        <p:txBody>
          <a:bodyPr anchor="b"/>
          <a:lstStyle>
            <a:lvl1pPr>
              <a:defRPr sz="1800"/>
            </a:lvl1pPr>
          </a:lstStyle>
          <a:p>
            <a:r>
              <a:rPr lang="fr-FR"/>
              <a:t>Modifiez le style du titre</a:t>
            </a:r>
          </a:p>
        </p:txBody>
      </p:sp>
      <p:sp>
        <p:nvSpPr>
          <p:cNvPr id="3" name="Espace réservé pour une image  2">
            <a:extLst>
              <a:ext uri="{FF2B5EF4-FFF2-40B4-BE49-F238E27FC236}">
                <a16:creationId xmlns:a16="http://schemas.microsoft.com/office/drawing/2014/main" id="{A3B1D321-502B-2A13-A328-CBD7F22D8E64}"/>
              </a:ext>
            </a:extLst>
          </p:cNvPr>
          <p:cNvSpPr>
            <a:spLocks noGrp="1"/>
          </p:cNvSpPr>
          <p:nvPr>
            <p:ph type="pic" idx="1"/>
          </p:nvPr>
        </p:nvSpPr>
        <p:spPr>
          <a:xfrm>
            <a:off x="2915543" y="1426281"/>
            <a:ext cx="3471863" cy="7039681"/>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fr-FR"/>
          </a:p>
        </p:txBody>
      </p:sp>
      <p:sp>
        <p:nvSpPr>
          <p:cNvPr id="4" name="Espace réservé du texte 3">
            <a:extLst>
              <a:ext uri="{FF2B5EF4-FFF2-40B4-BE49-F238E27FC236}">
                <a16:creationId xmlns:a16="http://schemas.microsoft.com/office/drawing/2014/main" id="{B65CA632-6A78-36DD-F377-B0EB9AB989FB}"/>
              </a:ext>
            </a:extLst>
          </p:cNvPr>
          <p:cNvSpPr>
            <a:spLocks noGrp="1"/>
          </p:cNvSpPr>
          <p:nvPr>
            <p:ph type="body" sz="half" idx="2"/>
          </p:nvPr>
        </p:nvSpPr>
        <p:spPr>
          <a:xfrm>
            <a:off x="472381" y="2971800"/>
            <a:ext cx="2211883" cy="550562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BB572ED-A03B-85BE-C65F-84B0A27EBA25}"/>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D29D9F9-E70D-72E5-67B8-A80BD4F3AC5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B85CFCE-6528-3C48-47B9-06997386E6B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6319719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830739-2A53-9F08-296C-9423F03C585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46F5002-EE58-0EED-A9C4-8B5FBB3CEFE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F764B9-47A1-26C1-28F0-93D21761954F}"/>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F4C82DA-93DC-2508-A870-F83ABA6901E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579AC2-833F-8B72-F3B1-D753FC7305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45824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D3ABFD9-2C9A-F88B-0765-0D03AE3DEDF2}"/>
              </a:ext>
            </a:extLst>
          </p:cNvPr>
          <p:cNvSpPr>
            <a:spLocks noGrp="1"/>
          </p:cNvSpPr>
          <p:nvPr>
            <p:ph type="title" orient="vert"/>
          </p:nvPr>
        </p:nvSpPr>
        <p:spPr>
          <a:xfrm>
            <a:off x="4907756" y="527403"/>
            <a:ext cx="1478756" cy="8394877"/>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BA08473-EF90-F0DC-EDFA-47E205D2CC7A}"/>
              </a:ext>
            </a:extLst>
          </p:cNvPr>
          <p:cNvSpPr>
            <a:spLocks noGrp="1"/>
          </p:cNvSpPr>
          <p:nvPr>
            <p:ph type="body" orient="vert" idx="1"/>
          </p:nvPr>
        </p:nvSpPr>
        <p:spPr>
          <a:xfrm>
            <a:off x="471487" y="527403"/>
            <a:ext cx="4350544" cy="839487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9FDCA93-AB4F-96F6-DB43-3E42B2D924C9}"/>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8C3099B5-E8F3-C8AF-B427-3888071F655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3C7DEFF-A670-934B-2676-17D05B4A61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96348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829D36A-551C-2B63-2C63-7AC113F49F41}"/>
              </a:ext>
            </a:extLst>
          </p:cNvPr>
          <p:cNvSpPr>
            <a:spLocks noGrp="1"/>
          </p:cNvSpPr>
          <p:nvPr>
            <p:ph type="title"/>
          </p:nvPr>
        </p:nvSpPr>
        <p:spPr>
          <a:xfrm>
            <a:off x="471488" y="527404"/>
            <a:ext cx="5915025" cy="191470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E106FF-0729-5625-3E57-62D8BB3417C0}"/>
              </a:ext>
            </a:extLst>
          </p:cNvPr>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BBB5502-3C28-EF77-0F65-3213F96AF96B}"/>
              </a:ext>
            </a:extLst>
          </p:cNvPr>
          <p:cNvSpPr>
            <a:spLocks noGrp="1"/>
          </p:cNvSpPr>
          <p:nvPr>
            <p:ph type="dt" sz="half" idx="2"/>
          </p:nvPr>
        </p:nvSpPr>
        <p:spPr>
          <a:xfrm>
            <a:off x="471488" y="9181395"/>
            <a:ext cx="1543050" cy="527403"/>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fr-FR"/>
          </a:p>
        </p:txBody>
      </p:sp>
      <p:sp>
        <p:nvSpPr>
          <p:cNvPr id="5" name="Espace réservé du pied de page 4">
            <a:extLst>
              <a:ext uri="{FF2B5EF4-FFF2-40B4-BE49-F238E27FC236}">
                <a16:creationId xmlns:a16="http://schemas.microsoft.com/office/drawing/2014/main" id="{FD2A5075-5C48-4796-C2DB-2B2B537115E4}"/>
              </a:ext>
            </a:extLst>
          </p:cNvPr>
          <p:cNvSpPr>
            <a:spLocks noGrp="1"/>
          </p:cNvSpPr>
          <p:nvPr>
            <p:ph type="ftr" sz="quarter" idx="3"/>
          </p:nvPr>
        </p:nvSpPr>
        <p:spPr>
          <a:xfrm>
            <a:off x="2271713" y="9181395"/>
            <a:ext cx="2314575" cy="527403"/>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D8000B2-DD91-18F1-D613-34CC36949C93}"/>
              </a:ext>
            </a:extLst>
          </p:cNvPr>
          <p:cNvSpPr>
            <a:spLocks noGrp="1"/>
          </p:cNvSpPr>
          <p:nvPr>
            <p:ph type="sldNum" sz="quarter" idx="4"/>
          </p:nvPr>
        </p:nvSpPr>
        <p:spPr>
          <a:xfrm>
            <a:off x="4843463" y="9181395"/>
            <a:ext cx="1543050" cy="527403"/>
          </a:xfrm>
          <a:prstGeom prst="rect">
            <a:avLst/>
          </a:prstGeom>
        </p:spPr>
        <p:txBody>
          <a:bodyPr vert="horz" lIns="91440" tIns="45720" rIns="91440" bIns="45720" rtlCol="0" anchor="ctr"/>
          <a:lstStyle>
            <a:lvl1pPr algn="r">
              <a:defRPr sz="675">
                <a:solidFill>
                  <a:schemeClr val="tx1">
                    <a:tint val="75000"/>
                  </a:schemeClr>
                </a:solidFill>
              </a:defRPr>
            </a:lvl1p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427524758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sldNum="0"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5'!A1"/><Relationship Id="rId13" Type="http://schemas.openxmlformats.org/officeDocument/2006/relationships/hyperlink" Target="#'1'!A1"/><Relationship Id="rId3" Type="http://schemas.openxmlformats.org/officeDocument/2006/relationships/image" Target="../media/image1.png"/><Relationship Id="rId7" Type="http://schemas.openxmlformats.org/officeDocument/2006/relationships/image" Target="../media/image4.jpeg"/><Relationship Id="rId12" Type="http://schemas.openxmlformats.org/officeDocument/2006/relationships/image" Target="../media/image6.png"/><Relationship Id="rId2" Type="http://schemas.openxmlformats.org/officeDocument/2006/relationships/notesSlide" Target="../notesSlides/notesSlide1.xml"/><Relationship Id="rId16" Type="http://schemas.openxmlformats.org/officeDocument/2006/relationships/image" Target="../media/image9.png"/><Relationship Id="rId1" Type="http://schemas.openxmlformats.org/officeDocument/2006/relationships/slideLayout" Target="../slideLayouts/slideLayout6.xml"/><Relationship Id="rId6" Type="http://schemas.microsoft.com/office/2007/relationships/hdphoto" Target="../media/hdphoto1.wdp"/><Relationship Id="rId11" Type="http://schemas.openxmlformats.org/officeDocument/2006/relationships/hyperlink" Target="#'9'!A1"/><Relationship Id="rId5" Type="http://schemas.openxmlformats.org/officeDocument/2006/relationships/image" Target="../media/image3.png"/><Relationship Id="rId15" Type="http://schemas.openxmlformats.org/officeDocument/2006/relationships/image" Target="../media/image8.png"/><Relationship Id="rId10" Type="http://schemas.microsoft.com/office/2007/relationships/hdphoto" Target="../media/hdphoto2.wdp"/><Relationship Id="rId4" Type="http://schemas.openxmlformats.org/officeDocument/2006/relationships/image" Target="../media/image2.jpeg"/><Relationship Id="rId9" Type="http://schemas.openxmlformats.org/officeDocument/2006/relationships/image" Target="../media/image5.pn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hyperlink" Target="#'1'!A1"/><Relationship Id="rId3" Type="http://schemas.openxmlformats.org/officeDocument/2006/relationships/image" Target="../media/image11.png"/><Relationship Id="rId7"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3.jpeg"/><Relationship Id="rId11" Type="http://schemas.openxmlformats.org/officeDocument/2006/relationships/image" Target="../media/image9.png"/><Relationship Id="rId5" Type="http://schemas.microsoft.com/office/2007/relationships/hdphoto" Target="../media/hdphoto3.wdp"/><Relationship Id="rId10"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9'!A1"/><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9.png"/><Relationship Id="rId4" Type="http://schemas.openxmlformats.org/officeDocument/2006/relationships/image" Target="../media/image19.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6" name="Rectangle 15">
            <a:extLst>
              <a:ext uri="{FF2B5EF4-FFF2-40B4-BE49-F238E27FC236}">
                <a16:creationId xmlns:a16="http://schemas.microsoft.com/office/drawing/2014/main" id="{48C5A1A0-D5D0-53B1-3FC3-1CF496B243BA}"/>
              </a:ext>
            </a:extLst>
          </p:cNvPr>
          <p:cNvSpPr/>
          <p:nvPr/>
        </p:nvSpPr>
        <p:spPr>
          <a:xfrm>
            <a:off x="0" y="972075"/>
            <a:ext cx="6732802" cy="8385904"/>
          </a:xfrm>
          <a:prstGeom prst="rect">
            <a:avLst/>
          </a:prstGeom>
          <a:solidFill>
            <a:schemeClr val="accent1">
              <a:lumMod val="75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a:extLst>
              <a:ext uri="{FF2B5EF4-FFF2-40B4-BE49-F238E27FC236}">
                <a16:creationId xmlns:a16="http://schemas.microsoft.com/office/drawing/2014/main" id="{E089BE9C-A09E-398F-D26D-5B377BEE5F62}"/>
              </a:ext>
            </a:extLst>
          </p:cNvPr>
          <p:cNvSpPr txBox="1"/>
          <p:nvPr/>
        </p:nvSpPr>
        <p:spPr>
          <a:xfrm>
            <a:off x="5461689" y="9642688"/>
            <a:ext cx="1388522" cy="200055"/>
          </a:xfrm>
          <a:prstGeom prst="rect">
            <a:avLst/>
          </a:prstGeom>
          <a:noFill/>
        </p:spPr>
        <p:txBody>
          <a:bodyPr wrap="none" rtlCol="0">
            <a:spAutoFit/>
          </a:bodyPr>
          <a:lstStyle/>
          <a:p>
            <a:r>
              <a:rPr lang="fr-FR" sz="700" dirty="0"/>
              <a:t>FICHE PRODUIT MARS 2014</a:t>
            </a:r>
          </a:p>
        </p:txBody>
      </p:sp>
      <p:sp>
        <p:nvSpPr>
          <p:cNvPr id="1034" name="Rectangle : coins arrondis 1033">
            <a:extLst>
              <a:ext uri="{FF2B5EF4-FFF2-40B4-BE49-F238E27FC236}">
                <a16:creationId xmlns:a16="http://schemas.microsoft.com/office/drawing/2014/main" id="{820F75DD-2243-24D9-F91B-F3FC463E36A2}"/>
              </a:ext>
            </a:extLst>
          </p:cNvPr>
          <p:cNvSpPr/>
          <p:nvPr/>
        </p:nvSpPr>
        <p:spPr>
          <a:xfrm>
            <a:off x="1987886" y="1258563"/>
            <a:ext cx="3759200" cy="1463934"/>
          </a:xfrm>
          <a:prstGeom prst="roundRect">
            <a:avLst/>
          </a:prstGeom>
          <a:solidFill>
            <a:schemeClr val="bg1"/>
          </a:solid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1600" b="1" dirty="0">
              <a:solidFill>
                <a:schemeClr val="tx1"/>
              </a:solidFill>
            </a:endParaRPr>
          </a:p>
          <a:p>
            <a:pPr algn="r"/>
            <a:r>
              <a:rPr lang="fr-FR" sz="2000" b="1" dirty="0">
                <a:solidFill>
                  <a:schemeClr val="accent1">
                    <a:lumMod val="75000"/>
                  </a:schemeClr>
                </a:solidFill>
              </a:rPr>
              <a:t>Une complémentaire santé</a:t>
            </a:r>
          </a:p>
          <a:p>
            <a:r>
              <a:rPr lang="fr-FR" sz="1600" b="1" dirty="0">
                <a:solidFill>
                  <a:schemeClr val="tx1"/>
                </a:solidFill>
              </a:rPr>
              <a:t>                                            </a:t>
            </a:r>
          </a:p>
          <a:p>
            <a:r>
              <a:rPr lang="fr-FR" sz="1600" b="1" dirty="0">
                <a:solidFill>
                  <a:schemeClr val="tx1"/>
                </a:solidFill>
              </a:rPr>
              <a:t>                              </a:t>
            </a:r>
            <a:r>
              <a:rPr lang="fr-FR" sz="2000" b="1" dirty="0">
                <a:solidFill>
                  <a:schemeClr val="accent1">
                    <a:lumMod val="75000"/>
                  </a:schemeClr>
                </a:solidFill>
              </a:rPr>
              <a:t>via</a:t>
            </a:r>
            <a:r>
              <a:rPr lang="fr-FR" sz="1600" b="1" dirty="0">
                <a:solidFill>
                  <a:schemeClr val="tx1"/>
                </a:solidFill>
              </a:rPr>
              <a:t> </a:t>
            </a:r>
          </a:p>
          <a:p>
            <a:pPr algn="ctr"/>
            <a:endParaRPr lang="fr-FR" sz="1200" dirty="0">
              <a:solidFill>
                <a:schemeClr val="tx1"/>
              </a:solidFill>
            </a:endParaRPr>
          </a:p>
          <a:p>
            <a:pPr algn="r"/>
            <a:r>
              <a:rPr lang="fr-FR" sz="1200" dirty="0">
                <a:solidFill>
                  <a:schemeClr val="tx1"/>
                </a:solidFill>
              </a:rPr>
              <a:t>      Contrat NON responsable</a:t>
            </a:r>
          </a:p>
          <a:p>
            <a:pPr algn="r"/>
            <a:r>
              <a:rPr lang="fr-FR" sz="1200" dirty="0">
                <a:solidFill>
                  <a:schemeClr val="tx1"/>
                </a:solidFill>
              </a:rPr>
              <a:t>7 formules</a:t>
            </a:r>
            <a:endParaRPr lang="fr-FR" sz="1600" b="1" dirty="0">
              <a:solidFill>
                <a:schemeClr val="tx1"/>
              </a:solidFill>
            </a:endParaRPr>
          </a:p>
          <a:p>
            <a:pPr algn="r"/>
            <a:endParaRPr lang="fr-FR" sz="1600" b="1" dirty="0">
              <a:solidFill>
                <a:schemeClr val="tx1"/>
              </a:solidFill>
            </a:endParaRPr>
          </a:p>
        </p:txBody>
      </p:sp>
      <p:sp>
        <p:nvSpPr>
          <p:cNvPr id="1035" name="Rectangle : coins arrondis 1034">
            <a:extLst>
              <a:ext uri="{FF2B5EF4-FFF2-40B4-BE49-F238E27FC236}">
                <a16:creationId xmlns:a16="http://schemas.microsoft.com/office/drawing/2014/main" id="{25A7A354-9C6E-790D-9150-6891635EC413}"/>
              </a:ext>
            </a:extLst>
          </p:cNvPr>
          <p:cNvSpPr/>
          <p:nvPr/>
        </p:nvSpPr>
        <p:spPr>
          <a:xfrm>
            <a:off x="2447575" y="3295379"/>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1600" b="1" dirty="0">
                <a:solidFill>
                  <a:schemeClr val="tx1"/>
                </a:solidFill>
              </a:rPr>
              <a:t>           </a:t>
            </a:r>
            <a:r>
              <a:rPr lang="fr-FR" sz="2000" b="1" dirty="0">
                <a:solidFill>
                  <a:schemeClr val="accent1">
                    <a:lumMod val="75000"/>
                  </a:schemeClr>
                </a:solidFill>
              </a:rPr>
              <a:t>Un Réseau de soins</a:t>
            </a:r>
          </a:p>
          <a:p>
            <a:r>
              <a:rPr lang="fr-FR" sz="1600" b="1" dirty="0">
                <a:solidFill>
                  <a:schemeClr val="tx1"/>
                </a:solidFill>
              </a:rPr>
              <a:t>                                            </a:t>
            </a:r>
          </a:p>
          <a:p>
            <a:r>
              <a:rPr lang="fr-FR" sz="1600" b="1" dirty="0">
                <a:solidFill>
                  <a:schemeClr val="tx1"/>
                </a:solidFill>
              </a:rPr>
              <a:t>                                       </a:t>
            </a:r>
          </a:p>
          <a:p>
            <a:pPr algn="r"/>
            <a:endParaRPr lang="fr-FR" sz="1200" dirty="0">
              <a:solidFill>
                <a:schemeClr val="tx1"/>
              </a:solidFill>
            </a:endParaRPr>
          </a:p>
          <a:p>
            <a:pPr algn="r"/>
            <a:endParaRPr lang="fr-FR" sz="1200" dirty="0">
              <a:solidFill>
                <a:schemeClr val="tx1"/>
              </a:solidFill>
            </a:endParaRPr>
          </a:p>
        </p:txBody>
      </p:sp>
      <p:sp>
        <p:nvSpPr>
          <p:cNvPr id="1037" name="Rectangle : coins arrondis 1036">
            <a:extLst>
              <a:ext uri="{FF2B5EF4-FFF2-40B4-BE49-F238E27FC236}">
                <a16:creationId xmlns:a16="http://schemas.microsoft.com/office/drawing/2014/main" id="{2E2C7234-7ACB-651B-0D87-2C363492D917}"/>
              </a:ext>
            </a:extLst>
          </p:cNvPr>
          <p:cNvSpPr/>
          <p:nvPr/>
        </p:nvSpPr>
        <p:spPr>
          <a:xfrm>
            <a:off x="2447575" y="5298174"/>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2000" b="1" dirty="0">
                <a:solidFill>
                  <a:schemeClr val="accent1">
                    <a:lumMod val="75000"/>
                  </a:schemeClr>
                </a:solidFill>
              </a:rPr>
              <a:t>   Un Tiers payant</a:t>
            </a:r>
          </a:p>
          <a:p>
            <a:r>
              <a:rPr lang="fr-FR" sz="1600" b="1" dirty="0">
                <a:solidFill>
                  <a:schemeClr val="tx1"/>
                </a:solidFill>
              </a:rPr>
              <a:t>                                            </a:t>
            </a:r>
          </a:p>
          <a:p>
            <a:r>
              <a:rPr lang="fr-FR" sz="1600" b="1" dirty="0">
                <a:solidFill>
                  <a:schemeClr val="tx1"/>
                </a:solidFill>
              </a:rPr>
              <a:t>                                         </a:t>
            </a:r>
          </a:p>
          <a:p>
            <a:pPr algn="ctr"/>
            <a:r>
              <a:rPr lang="fr-FR" sz="1400" dirty="0">
                <a:solidFill>
                  <a:schemeClr val="tx1"/>
                </a:solidFill>
              </a:rPr>
              <a:t>  </a:t>
            </a:r>
          </a:p>
          <a:p>
            <a:pPr algn="r"/>
            <a:r>
              <a:rPr lang="fr-FR" sz="1200" dirty="0">
                <a:solidFill>
                  <a:schemeClr val="tx1"/>
                </a:solidFill>
              </a:rPr>
              <a:t>                   Un tiers payant national, qui vous évite d’avancer les frais médicaux.</a:t>
            </a:r>
          </a:p>
        </p:txBody>
      </p:sp>
      <p:sp>
        <p:nvSpPr>
          <p:cNvPr id="1039" name="Rectangle : coins arrondis 1038">
            <a:extLst>
              <a:ext uri="{FF2B5EF4-FFF2-40B4-BE49-F238E27FC236}">
                <a16:creationId xmlns:a16="http://schemas.microsoft.com/office/drawing/2014/main" id="{6E0F4B50-B72E-3280-5CE3-3A2DC04BFD4D}"/>
              </a:ext>
            </a:extLst>
          </p:cNvPr>
          <p:cNvSpPr/>
          <p:nvPr/>
        </p:nvSpPr>
        <p:spPr>
          <a:xfrm>
            <a:off x="1987886" y="7323510"/>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2000" b="1" dirty="0">
                <a:solidFill>
                  <a:schemeClr val="tx1"/>
                </a:solidFill>
              </a:rPr>
              <a:t>        </a:t>
            </a:r>
            <a:r>
              <a:rPr lang="fr-FR" sz="2000" b="1" dirty="0">
                <a:solidFill>
                  <a:schemeClr val="accent1">
                    <a:lumMod val="75000"/>
                  </a:schemeClr>
                </a:solidFill>
              </a:rPr>
              <a:t>Une assistance </a:t>
            </a:r>
          </a:p>
          <a:p>
            <a:r>
              <a:rPr lang="fr-FR" sz="1600" b="1" dirty="0">
                <a:solidFill>
                  <a:schemeClr val="tx1"/>
                </a:solidFill>
              </a:rPr>
              <a:t>                                            </a:t>
            </a:r>
          </a:p>
          <a:p>
            <a:r>
              <a:rPr lang="fr-FR" sz="1600" b="1" dirty="0">
                <a:solidFill>
                  <a:schemeClr val="tx1"/>
                </a:solidFill>
              </a:rPr>
              <a:t>                                           </a:t>
            </a:r>
          </a:p>
          <a:p>
            <a:pPr algn="r"/>
            <a:endParaRPr lang="fr-FR" sz="1400" b="1" dirty="0">
              <a:solidFill>
                <a:schemeClr val="tx1"/>
              </a:solidFill>
            </a:endParaRPr>
          </a:p>
          <a:p>
            <a:pPr algn="r"/>
            <a:r>
              <a:rPr lang="fr-FR" sz="1600" dirty="0">
                <a:solidFill>
                  <a:schemeClr val="tx1"/>
                </a:solidFill>
              </a:rPr>
              <a:t>                </a:t>
            </a:r>
            <a:r>
              <a:rPr lang="fr-FR" sz="1200" dirty="0">
                <a:solidFill>
                  <a:schemeClr val="tx1"/>
                </a:solidFill>
              </a:rPr>
              <a:t>Un service haut de gamme 24h/24, 7j/7 pour vous accompagner en cas de coup dur</a:t>
            </a:r>
            <a:endParaRPr lang="fr-FR" sz="1600" b="1" dirty="0">
              <a:solidFill>
                <a:schemeClr val="tx1"/>
              </a:solidFill>
            </a:endParaRPr>
          </a:p>
        </p:txBody>
      </p:sp>
      <p:grpSp>
        <p:nvGrpSpPr>
          <p:cNvPr id="1052" name="Groupe 1051">
            <a:extLst>
              <a:ext uri="{FF2B5EF4-FFF2-40B4-BE49-F238E27FC236}">
                <a16:creationId xmlns:a16="http://schemas.microsoft.com/office/drawing/2014/main" id="{1B98BC47-454E-7573-3854-004087E54ABF}"/>
              </a:ext>
            </a:extLst>
          </p:cNvPr>
          <p:cNvGrpSpPr/>
          <p:nvPr/>
        </p:nvGrpSpPr>
        <p:grpSpPr>
          <a:xfrm>
            <a:off x="2045763" y="1495981"/>
            <a:ext cx="976837" cy="1010393"/>
            <a:chOff x="2109263" y="1465142"/>
            <a:chExt cx="976837" cy="1010393"/>
          </a:xfrm>
        </p:grpSpPr>
        <p:sp>
          <p:nvSpPr>
            <p:cNvPr id="1045" name="Ellipse 1044">
              <a:extLst>
                <a:ext uri="{FF2B5EF4-FFF2-40B4-BE49-F238E27FC236}">
                  <a16:creationId xmlns:a16="http://schemas.microsoft.com/office/drawing/2014/main" id="{FD26AE43-9742-47B6-8BDA-2D79D26DE0F8}"/>
                </a:ext>
              </a:extLst>
            </p:cNvPr>
            <p:cNvSpPr/>
            <p:nvPr/>
          </p:nvSpPr>
          <p:spPr>
            <a:xfrm>
              <a:off x="2109263" y="1465142"/>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1" name="Picture 18" descr="Modèle Logo Santé Et Forme Physique Logo Médical | PosterMyWall">
              <a:extLst>
                <a:ext uri="{FF2B5EF4-FFF2-40B4-BE49-F238E27FC236}">
                  <a16:creationId xmlns:a16="http://schemas.microsoft.com/office/drawing/2014/main" id="{5596F68D-AA41-DFE9-E9A2-B9194E9FAF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99" t="11936" r="27063" b="24816"/>
            <a:stretch/>
          </p:blipFill>
          <p:spPr bwMode="auto">
            <a:xfrm>
              <a:off x="2311520" y="1585367"/>
              <a:ext cx="596138" cy="7595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1" name="Groupe 1050">
            <a:extLst>
              <a:ext uri="{FF2B5EF4-FFF2-40B4-BE49-F238E27FC236}">
                <a16:creationId xmlns:a16="http://schemas.microsoft.com/office/drawing/2014/main" id="{19917A48-6579-23BF-68BB-3305C9CD7759}"/>
              </a:ext>
            </a:extLst>
          </p:cNvPr>
          <p:cNvGrpSpPr/>
          <p:nvPr/>
        </p:nvGrpSpPr>
        <p:grpSpPr>
          <a:xfrm>
            <a:off x="2508660" y="3513533"/>
            <a:ext cx="976837" cy="1010393"/>
            <a:chOff x="2548471" y="3049424"/>
            <a:chExt cx="976837" cy="1010393"/>
          </a:xfrm>
        </p:grpSpPr>
        <p:sp>
          <p:nvSpPr>
            <p:cNvPr id="1047" name="Ellipse 1046">
              <a:extLst>
                <a:ext uri="{FF2B5EF4-FFF2-40B4-BE49-F238E27FC236}">
                  <a16:creationId xmlns:a16="http://schemas.microsoft.com/office/drawing/2014/main" id="{C3E8B297-BFBE-B461-7C3B-64B5339A7D05}"/>
                </a:ext>
              </a:extLst>
            </p:cNvPr>
            <p:cNvSpPr/>
            <p:nvPr/>
          </p:nvSpPr>
          <p:spPr>
            <a:xfrm>
              <a:off x="2548471" y="3049424"/>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3" name="Picture 14" descr="Réseaux de soins et de professionnels - Uneoreilleavertie.com">
              <a:extLst>
                <a:ext uri="{FF2B5EF4-FFF2-40B4-BE49-F238E27FC236}">
                  <a16:creationId xmlns:a16="http://schemas.microsoft.com/office/drawing/2014/main" id="{CB98C6EB-B01A-C73B-FDB4-23B060A3F0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11" t="12370" r="8264" b="17480"/>
            <a:stretch/>
          </p:blipFill>
          <p:spPr bwMode="auto">
            <a:xfrm>
              <a:off x="2693612" y="3280574"/>
              <a:ext cx="670266" cy="5771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0" name="Groupe 1049">
            <a:extLst>
              <a:ext uri="{FF2B5EF4-FFF2-40B4-BE49-F238E27FC236}">
                <a16:creationId xmlns:a16="http://schemas.microsoft.com/office/drawing/2014/main" id="{EE3E8E91-2656-D7E0-F4AE-A7310F23F8C3}"/>
              </a:ext>
            </a:extLst>
          </p:cNvPr>
          <p:cNvGrpSpPr/>
          <p:nvPr/>
        </p:nvGrpSpPr>
        <p:grpSpPr>
          <a:xfrm>
            <a:off x="2517276" y="5541565"/>
            <a:ext cx="976837" cy="1010393"/>
            <a:chOff x="2693612" y="4712978"/>
            <a:chExt cx="976837" cy="1010393"/>
          </a:xfrm>
        </p:grpSpPr>
        <p:sp>
          <p:nvSpPr>
            <p:cNvPr id="1048" name="Ellipse 1047">
              <a:extLst>
                <a:ext uri="{FF2B5EF4-FFF2-40B4-BE49-F238E27FC236}">
                  <a16:creationId xmlns:a16="http://schemas.microsoft.com/office/drawing/2014/main" id="{5EB7E7A5-A185-101D-7EF8-35F0B21685CA}"/>
                </a:ext>
              </a:extLst>
            </p:cNvPr>
            <p:cNvSpPr/>
            <p:nvPr/>
          </p:nvSpPr>
          <p:spPr>
            <a:xfrm>
              <a:off x="2693612" y="4712978"/>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4" name="Picture 16" descr="Tiers payant : qu'est-ce que c'est et comment l'obtenir ?">
              <a:extLst>
                <a:ext uri="{FF2B5EF4-FFF2-40B4-BE49-F238E27FC236}">
                  <a16:creationId xmlns:a16="http://schemas.microsoft.com/office/drawing/2014/main" id="{5CDEE249-5D62-70AB-1349-DE31685588A5}"/>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9237" t="4849" r="29792" b="4849"/>
            <a:stretch/>
          </p:blipFill>
          <p:spPr bwMode="auto">
            <a:xfrm>
              <a:off x="2862942" y="4910684"/>
              <a:ext cx="638175" cy="596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4" name="Groupe 1053">
            <a:extLst>
              <a:ext uri="{FF2B5EF4-FFF2-40B4-BE49-F238E27FC236}">
                <a16:creationId xmlns:a16="http://schemas.microsoft.com/office/drawing/2014/main" id="{F550A18B-95EE-2E1E-9130-47CFB6DF9D71}"/>
              </a:ext>
            </a:extLst>
          </p:cNvPr>
          <p:cNvGrpSpPr/>
          <p:nvPr/>
        </p:nvGrpSpPr>
        <p:grpSpPr>
          <a:xfrm>
            <a:off x="2068832" y="7568271"/>
            <a:ext cx="976837" cy="1010393"/>
            <a:chOff x="2566518" y="6340968"/>
            <a:chExt cx="976837" cy="1010393"/>
          </a:xfrm>
        </p:grpSpPr>
        <p:sp>
          <p:nvSpPr>
            <p:cNvPr id="1049" name="Ellipse 1048">
              <a:extLst>
                <a:ext uri="{FF2B5EF4-FFF2-40B4-BE49-F238E27FC236}">
                  <a16:creationId xmlns:a16="http://schemas.microsoft.com/office/drawing/2014/main" id="{730A0AD9-7704-2C4D-8F51-ADBAE8A79602}"/>
                </a:ext>
              </a:extLst>
            </p:cNvPr>
            <p:cNvSpPr/>
            <p:nvPr/>
          </p:nvSpPr>
          <p:spPr>
            <a:xfrm>
              <a:off x="2566518" y="6340968"/>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53" name="Picture 8" descr="Assistance and protection logo work people sign Vector Image">
              <a:extLst>
                <a:ext uri="{FF2B5EF4-FFF2-40B4-BE49-F238E27FC236}">
                  <a16:creationId xmlns:a16="http://schemas.microsoft.com/office/drawing/2014/main" id="{5AEC9FC8-7B96-4C39-B3A2-834ABE81C9F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0106" t="9307" r="19154" b="31895"/>
            <a:stretch/>
          </p:blipFill>
          <p:spPr bwMode="auto">
            <a:xfrm>
              <a:off x="2781449" y="6523581"/>
              <a:ext cx="577433" cy="603735"/>
            </a:xfrm>
            <a:prstGeom prst="rect">
              <a:avLst/>
            </a:prstGeom>
            <a:noFill/>
            <a:extLst>
              <a:ext uri="{909E8E84-426E-40DD-AFC4-6F175D3DCCD1}">
                <a14:hiddenFill xmlns:a14="http://schemas.microsoft.com/office/drawing/2010/main">
                  <a:solidFill>
                    <a:srgbClr val="FFFFFF"/>
                  </a:solidFill>
                </a14:hiddenFill>
              </a:ext>
            </a:extLst>
          </p:spPr>
        </p:pic>
      </p:grpSp>
      <p:pic>
        <p:nvPicPr>
          <p:cNvPr id="1058" name="Image 1057">
            <a:hlinkClick r:id="rId8"/>
            <a:extLst>
              <a:ext uri="{FF2B5EF4-FFF2-40B4-BE49-F238E27FC236}">
                <a16:creationId xmlns:a16="http://schemas.microsoft.com/office/drawing/2014/main" id="{6A24F42E-17D1-A245-B157-7AD52A277F61}"/>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20000" contrast="-40000"/>
                    </a14:imgEffect>
                  </a14:imgLayer>
                </a14:imgProps>
              </a:ext>
            </a:extLst>
          </a:blip>
          <a:stretch>
            <a:fillRect/>
          </a:stretch>
        </p:blipFill>
        <p:spPr>
          <a:xfrm>
            <a:off x="4697418" y="5582724"/>
            <a:ext cx="1264102" cy="711304"/>
          </a:xfrm>
          <a:prstGeom prst="rect">
            <a:avLst/>
          </a:prstGeom>
        </p:spPr>
      </p:pic>
      <p:sp>
        <p:nvSpPr>
          <p:cNvPr id="1063" name="Ellipse 1062">
            <a:extLst>
              <a:ext uri="{FF2B5EF4-FFF2-40B4-BE49-F238E27FC236}">
                <a16:creationId xmlns:a16="http://schemas.microsoft.com/office/drawing/2014/main" id="{0F42D8DA-AD12-EFA1-5581-09AE50177610}"/>
              </a:ext>
            </a:extLst>
          </p:cNvPr>
          <p:cNvSpPr/>
          <p:nvPr/>
        </p:nvSpPr>
        <p:spPr>
          <a:xfrm>
            <a:off x="-4107550" y="953182"/>
            <a:ext cx="6446849" cy="8404797"/>
          </a:xfrm>
          <a:prstGeom prst="ellipse">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dirty="0">
              <a:solidFill>
                <a:schemeClr val="tx1"/>
              </a:solidFill>
            </a:endParaRPr>
          </a:p>
        </p:txBody>
      </p:sp>
      <p:sp>
        <p:nvSpPr>
          <p:cNvPr id="26" name="Ellipse 25">
            <a:extLst>
              <a:ext uri="{FF2B5EF4-FFF2-40B4-BE49-F238E27FC236}">
                <a16:creationId xmlns:a16="http://schemas.microsoft.com/office/drawing/2014/main" id="{75AF282E-3905-B58E-2934-CA8B2EF3B131}"/>
              </a:ext>
            </a:extLst>
          </p:cNvPr>
          <p:cNvSpPr/>
          <p:nvPr/>
        </p:nvSpPr>
        <p:spPr>
          <a:xfrm>
            <a:off x="-417654" y="2351314"/>
            <a:ext cx="2665674" cy="5506457"/>
          </a:xfrm>
          <a:prstGeom prst="ellipse">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Une </a:t>
            </a:r>
          </a:p>
          <a:p>
            <a:pPr algn="ctr"/>
            <a:r>
              <a:rPr lang="fr-FR" sz="3200" b="1" dirty="0">
                <a:solidFill>
                  <a:schemeClr val="tx1"/>
                </a:solidFill>
              </a:rPr>
              <a:t>solution intégrale </a:t>
            </a:r>
            <a:r>
              <a:rPr lang="fr-FR" b="1" dirty="0">
                <a:solidFill>
                  <a:schemeClr val="tx1"/>
                </a:solidFill>
              </a:rPr>
              <a:t>Pour </a:t>
            </a:r>
          </a:p>
          <a:p>
            <a:pPr algn="ctr"/>
            <a:r>
              <a:rPr lang="fr-FR" b="1" dirty="0">
                <a:solidFill>
                  <a:schemeClr val="tx1"/>
                </a:solidFill>
              </a:rPr>
              <a:t>les 55 ans et plus</a:t>
            </a:r>
          </a:p>
          <a:p>
            <a:pPr algn="ctr"/>
            <a:r>
              <a:rPr lang="fr-FR" b="1" dirty="0">
                <a:solidFill>
                  <a:schemeClr val="tx1"/>
                </a:solidFill>
              </a:rPr>
              <a:t> sans limite d’âge</a:t>
            </a:r>
          </a:p>
        </p:txBody>
      </p:sp>
      <p:pic>
        <p:nvPicPr>
          <p:cNvPr id="2" name="Image 1" descr="Comment contacter Inter Mutuelles Assistance ?">
            <a:hlinkClick r:id="rId11"/>
            <a:extLst>
              <a:ext uri="{FF2B5EF4-FFF2-40B4-BE49-F238E27FC236}">
                <a16:creationId xmlns:a16="http://schemas.microsoft.com/office/drawing/2014/main" id="{B66E3778-2E4A-4472-AB45-9EB7DFA5B699}"/>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8225" r="4129" b="23858"/>
          <a:stretch/>
        </p:blipFill>
        <p:spPr bwMode="auto">
          <a:xfrm>
            <a:off x="4142480" y="7576182"/>
            <a:ext cx="1403686" cy="77843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hlinkClick r:id="rId13"/>
            <a:extLst>
              <a:ext uri="{FF2B5EF4-FFF2-40B4-BE49-F238E27FC236}">
                <a16:creationId xmlns:a16="http://schemas.microsoft.com/office/drawing/2014/main" id="{9F475C86-5741-40BC-B1F5-52377BDE65D7}"/>
              </a:ext>
            </a:extLst>
          </p:cNvPr>
          <p:cNvPicPr>
            <a:picLocks noChangeAspect="1"/>
          </p:cNvPicPr>
          <p:nvPr/>
        </p:nvPicPr>
        <p:blipFill>
          <a:blip r:embed="rId14"/>
          <a:stretch>
            <a:fillRect/>
          </a:stretch>
        </p:blipFill>
        <p:spPr>
          <a:xfrm>
            <a:off x="4609421" y="3786633"/>
            <a:ext cx="976837" cy="930502"/>
          </a:xfrm>
          <a:prstGeom prst="rect">
            <a:avLst/>
          </a:prstGeom>
        </p:spPr>
      </p:pic>
      <p:grpSp>
        <p:nvGrpSpPr>
          <p:cNvPr id="10" name="Groupe 9">
            <a:extLst>
              <a:ext uri="{FF2B5EF4-FFF2-40B4-BE49-F238E27FC236}">
                <a16:creationId xmlns:a16="http://schemas.microsoft.com/office/drawing/2014/main" id="{96AD3293-528B-6D62-3F9D-AE027BEB15EC}"/>
              </a:ext>
            </a:extLst>
          </p:cNvPr>
          <p:cNvGrpSpPr/>
          <p:nvPr/>
        </p:nvGrpSpPr>
        <p:grpSpPr>
          <a:xfrm>
            <a:off x="101600" y="93434"/>
            <a:ext cx="6686550" cy="628847"/>
            <a:chOff x="101600" y="93434"/>
            <a:chExt cx="6686550" cy="628847"/>
          </a:xfrm>
        </p:grpSpPr>
        <p:sp>
          <p:nvSpPr>
            <p:cNvPr id="3" name="Rectangle : coins arrondis 2">
              <a:extLst>
                <a:ext uri="{FF2B5EF4-FFF2-40B4-BE49-F238E27FC236}">
                  <a16:creationId xmlns:a16="http://schemas.microsoft.com/office/drawing/2014/main" id="{7FF4382F-F447-B488-AEDB-4175D1E1A303}"/>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a:t>
              </a:r>
              <a:r>
                <a:rPr lang="fr-FR" b="1" dirty="0" err="1">
                  <a:solidFill>
                    <a:schemeClr val="tx1"/>
                  </a:solidFill>
                </a:rPr>
                <a:t>Innov’santé</a:t>
              </a:r>
              <a:r>
                <a:rPr lang="fr-FR" b="1" dirty="0">
                  <a:solidFill>
                    <a:schemeClr val="tx1"/>
                  </a:solidFill>
                </a:rPr>
                <a:t>    by                               assuré par                                 </a:t>
              </a:r>
            </a:p>
          </p:txBody>
        </p:sp>
        <p:pic>
          <p:nvPicPr>
            <p:cNvPr id="1026" name="Picture 2" descr="Néoliane Santé &amp; Prévoyance">
              <a:extLst>
                <a:ext uri="{FF2B5EF4-FFF2-40B4-BE49-F238E27FC236}">
                  <a16:creationId xmlns:a16="http://schemas.microsoft.com/office/drawing/2014/main" id="{A09CB52A-E747-9A81-7AD1-125C13582A7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41097" y="263005"/>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nimaux Santé | Mutuelle Animaux">
              <a:extLst>
                <a:ext uri="{FF2B5EF4-FFF2-40B4-BE49-F238E27FC236}">
                  <a16:creationId xmlns:a16="http://schemas.microsoft.com/office/drawing/2014/main" id="{558427F2-37E7-118C-AF91-8475E2B3C2C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2" descr="Animaux Santé | Mutuelle Animaux">
            <a:extLst>
              <a:ext uri="{FF2B5EF4-FFF2-40B4-BE49-F238E27FC236}">
                <a16:creationId xmlns:a16="http://schemas.microsoft.com/office/drawing/2014/main" id="{882DE1FF-0F01-2E2F-2E81-844AD4216FB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8653" y="1630824"/>
            <a:ext cx="1627605" cy="628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843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0" name="Rectangle : coins arrondis 9">
            <a:extLst>
              <a:ext uri="{FF2B5EF4-FFF2-40B4-BE49-F238E27FC236}">
                <a16:creationId xmlns:a16="http://schemas.microsoft.com/office/drawing/2014/main" id="{502B7F33-65FE-131C-4919-2C329A23EB0A}"/>
              </a:ext>
            </a:extLst>
          </p:cNvPr>
          <p:cNvSpPr/>
          <p:nvPr/>
        </p:nvSpPr>
        <p:spPr>
          <a:xfrm>
            <a:off x="348343" y="2211979"/>
            <a:ext cx="6198508" cy="541483"/>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OFFRE PREMIUM POUR LES SENIORS AVEC UN TARIF COMPÉTITIF</a:t>
            </a:r>
            <a:endParaRPr lang="fr-FR" sz="1400" dirty="0">
              <a:solidFill>
                <a:schemeClr val="bg1"/>
              </a:solidFill>
            </a:endParaRPr>
          </a:p>
        </p:txBody>
      </p:sp>
      <p:sp>
        <p:nvSpPr>
          <p:cNvPr id="11" name="Rectangle : coins arrondis 10">
            <a:extLst>
              <a:ext uri="{FF2B5EF4-FFF2-40B4-BE49-F238E27FC236}">
                <a16:creationId xmlns:a16="http://schemas.microsoft.com/office/drawing/2014/main" id="{0E162AE4-139C-BD01-2988-DE899990DAEC}"/>
              </a:ext>
            </a:extLst>
          </p:cNvPr>
          <p:cNvSpPr/>
          <p:nvPr/>
        </p:nvSpPr>
        <p:spPr>
          <a:xfrm>
            <a:off x="329746" y="2903693"/>
            <a:ext cx="6198508" cy="385430"/>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Une adhésion rapide en ligne avec la signature électronique</a:t>
            </a:r>
          </a:p>
        </p:txBody>
      </p:sp>
      <p:sp>
        <p:nvSpPr>
          <p:cNvPr id="12" name="Rectangle : coins arrondis 11">
            <a:extLst>
              <a:ext uri="{FF2B5EF4-FFF2-40B4-BE49-F238E27FC236}">
                <a16:creationId xmlns:a16="http://schemas.microsoft.com/office/drawing/2014/main" id="{D411AD06-7738-5C96-7B86-AF3B1A6DA279}"/>
              </a:ext>
            </a:extLst>
          </p:cNvPr>
          <p:cNvSpPr/>
          <p:nvPr/>
        </p:nvSpPr>
        <p:spPr>
          <a:xfrm>
            <a:off x="329746" y="3409916"/>
            <a:ext cx="6198508" cy="54148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Une reprise à la concurrence facilitée</a:t>
            </a:r>
          </a:p>
          <a:p>
            <a:pPr algn="ctr"/>
            <a:r>
              <a:rPr lang="fr-FR" b="1" dirty="0">
                <a:solidFill>
                  <a:schemeClr val="bg1"/>
                </a:solidFill>
              </a:rPr>
              <a:t> </a:t>
            </a:r>
            <a:r>
              <a:rPr lang="fr-FR" sz="1400" dirty="0">
                <a:solidFill>
                  <a:schemeClr val="bg1"/>
                </a:solidFill>
              </a:rPr>
              <a:t>avec la prise en charge de l’envoi de la résiliation en cas de RIA</a:t>
            </a:r>
            <a:endParaRPr lang="fr-FR" dirty="0">
              <a:solidFill>
                <a:schemeClr val="bg1"/>
              </a:solidFill>
            </a:endParaRPr>
          </a:p>
        </p:txBody>
      </p:sp>
      <p:sp>
        <p:nvSpPr>
          <p:cNvPr id="13" name="Rectangle : coins arrondis 12">
            <a:extLst>
              <a:ext uri="{FF2B5EF4-FFF2-40B4-BE49-F238E27FC236}">
                <a16:creationId xmlns:a16="http://schemas.microsoft.com/office/drawing/2014/main" id="{FF402B8E-6734-2A19-3272-812721C6F109}"/>
              </a:ext>
            </a:extLst>
          </p:cNvPr>
          <p:cNvSpPr/>
          <p:nvPr/>
        </p:nvSpPr>
        <p:spPr>
          <a:xfrm>
            <a:off x="348343" y="4072191"/>
            <a:ext cx="6198508" cy="541483"/>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NOMBREUX BONUS FIDÉLITÉ sur plusieurs années </a:t>
            </a:r>
          </a:p>
          <a:p>
            <a:pPr algn="ctr"/>
            <a:r>
              <a:rPr lang="fr-FR" dirty="0">
                <a:solidFill>
                  <a:schemeClr val="bg1"/>
                </a:solidFill>
              </a:rPr>
              <a:t>(bonus supplémentaires à partir de la 4ème année)</a:t>
            </a:r>
          </a:p>
        </p:txBody>
      </p:sp>
      <p:sp>
        <p:nvSpPr>
          <p:cNvPr id="14" name="Rectangle : coins arrondis 13">
            <a:extLst>
              <a:ext uri="{FF2B5EF4-FFF2-40B4-BE49-F238E27FC236}">
                <a16:creationId xmlns:a16="http://schemas.microsoft.com/office/drawing/2014/main" id="{E9C93BDE-EA47-7BB9-5461-311B0E551E51}"/>
              </a:ext>
            </a:extLst>
          </p:cNvPr>
          <p:cNvSpPr/>
          <p:nvPr/>
        </p:nvSpPr>
        <p:spPr>
          <a:xfrm>
            <a:off x="348343" y="4740997"/>
            <a:ext cx="6198508" cy="562101"/>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FORFAIT MÉDECINES COMPLÉMENTAIRES : </a:t>
            </a:r>
          </a:p>
          <a:p>
            <a:pPr algn="ctr"/>
            <a:r>
              <a:rPr lang="fr-FR" dirty="0">
                <a:solidFill>
                  <a:schemeClr val="bg1"/>
                </a:solidFill>
              </a:rPr>
              <a:t>gamme étendue de praticiens pris en charge</a:t>
            </a:r>
          </a:p>
        </p:txBody>
      </p:sp>
      <p:sp>
        <p:nvSpPr>
          <p:cNvPr id="15" name="Rectangle : coins arrondis 14">
            <a:extLst>
              <a:ext uri="{FF2B5EF4-FFF2-40B4-BE49-F238E27FC236}">
                <a16:creationId xmlns:a16="http://schemas.microsoft.com/office/drawing/2014/main" id="{F7397AD4-996B-08A5-5E49-1327F0A5A50E}"/>
              </a:ext>
            </a:extLst>
          </p:cNvPr>
          <p:cNvSpPr/>
          <p:nvPr/>
        </p:nvSpPr>
        <p:spPr>
          <a:xfrm>
            <a:off x="329746" y="5399947"/>
            <a:ext cx="6198508" cy="56210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CHAMBRE PARTICULIERE EN CAS D’HOSPITALITATION EN ILLIMITÉ</a:t>
            </a:r>
            <a:endParaRPr lang="fr-FR" dirty="0">
              <a:solidFill>
                <a:schemeClr val="bg1"/>
              </a:solidFill>
            </a:endParaRPr>
          </a:p>
        </p:txBody>
      </p:sp>
      <p:sp>
        <p:nvSpPr>
          <p:cNvPr id="19" name="Rectangle : coins arrondis 18">
            <a:extLst>
              <a:ext uri="{FF2B5EF4-FFF2-40B4-BE49-F238E27FC236}">
                <a16:creationId xmlns:a16="http://schemas.microsoft.com/office/drawing/2014/main" id="{91AD7C59-6B79-73F3-7478-A8C5539FC0C2}"/>
              </a:ext>
            </a:extLst>
          </p:cNvPr>
          <p:cNvSpPr/>
          <p:nvPr/>
        </p:nvSpPr>
        <p:spPr>
          <a:xfrm>
            <a:off x="348343" y="8420100"/>
            <a:ext cx="6198508" cy="1118050"/>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L’assistance IMA en inclusion </a:t>
            </a:r>
            <a:r>
              <a:rPr lang="fr-FR" dirty="0">
                <a:solidFill>
                  <a:schemeClr val="bg1"/>
                </a:solidFill>
              </a:rPr>
              <a:t>: </a:t>
            </a:r>
            <a:r>
              <a:rPr lang="fr-FR" sz="1400" dirty="0">
                <a:solidFill>
                  <a:schemeClr val="bg1"/>
                </a:solidFill>
              </a:rPr>
              <a:t>disponibles 7j/7, 24h/24</a:t>
            </a:r>
          </a:p>
          <a:p>
            <a:pPr algn="ctr"/>
            <a:r>
              <a:rPr lang="fr-FR" dirty="0">
                <a:solidFill>
                  <a:schemeClr val="bg1"/>
                </a:solidFill>
              </a:rPr>
              <a:t> </a:t>
            </a:r>
            <a:r>
              <a:rPr lang="fr-FR" b="1" dirty="0">
                <a:solidFill>
                  <a:schemeClr val="bg1"/>
                </a:solidFill>
              </a:rPr>
              <a:t>Des garanties haut de gamme </a:t>
            </a:r>
            <a:r>
              <a:rPr lang="fr-FR" sz="1400" dirty="0">
                <a:solidFill>
                  <a:schemeClr val="bg1"/>
                </a:solidFill>
              </a:rPr>
              <a:t>en cas d’hospitalisation ou immobilisation, en cas de décès, en cas déplacement, ….</a:t>
            </a:r>
            <a:endParaRPr lang="fr-FR" dirty="0">
              <a:solidFill>
                <a:schemeClr val="bg1"/>
              </a:solidFill>
            </a:endParaRPr>
          </a:p>
        </p:txBody>
      </p:sp>
      <p:grpSp>
        <p:nvGrpSpPr>
          <p:cNvPr id="20" name="Groupe 19">
            <a:extLst>
              <a:ext uri="{FF2B5EF4-FFF2-40B4-BE49-F238E27FC236}">
                <a16:creationId xmlns:a16="http://schemas.microsoft.com/office/drawing/2014/main" id="{713EFFF2-864A-4877-4886-9A5855A88DDC}"/>
              </a:ext>
            </a:extLst>
          </p:cNvPr>
          <p:cNvGrpSpPr/>
          <p:nvPr/>
        </p:nvGrpSpPr>
        <p:grpSpPr>
          <a:xfrm>
            <a:off x="1248230" y="945460"/>
            <a:ext cx="5215617" cy="1038433"/>
            <a:chOff x="1248230" y="945460"/>
            <a:chExt cx="5215617" cy="1038433"/>
          </a:xfrm>
        </p:grpSpPr>
        <p:sp>
          <p:nvSpPr>
            <p:cNvPr id="5" name="ZoneTexte 4">
              <a:extLst>
                <a:ext uri="{FF2B5EF4-FFF2-40B4-BE49-F238E27FC236}">
                  <a16:creationId xmlns:a16="http://schemas.microsoft.com/office/drawing/2014/main" id="{EE60AE9E-7261-071B-B3E5-A4F8FD7257F9}"/>
                </a:ext>
              </a:extLst>
            </p:cNvPr>
            <p:cNvSpPr txBox="1"/>
            <p:nvPr/>
          </p:nvSpPr>
          <p:spPr>
            <a:xfrm>
              <a:off x="2283732" y="1029786"/>
              <a:ext cx="4180115" cy="954107"/>
            </a:xfrm>
            <a:prstGeom prst="rect">
              <a:avLst/>
            </a:prstGeom>
            <a:noFill/>
          </p:spPr>
          <p:txBody>
            <a:bodyPr wrap="square">
              <a:spAutoFit/>
            </a:bodyPr>
            <a:lstStyle/>
            <a:p>
              <a:pPr algn="ctr"/>
              <a:r>
                <a:rPr lang="fr-FR" sz="2800" b="1" dirty="0"/>
                <a:t>Pourquoi choisir </a:t>
              </a:r>
              <a:r>
                <a:rPr lang="fr-FR" sz="2800" b="1" dirty="0" err="1"/>
                <a:t>Néoliane</a:t>
              </a:r>
              <a:r>
                <a:rPr lang="fr-FR" sz="2800" b="1" dirty="0"/>
                <a:t> </a:t>
              </a:r>
              <a:r>
                <a:rPr lang="fr-FR" sz="2800" b="1" dirty="0" err="1"/>
                <a:t>Innov’santé</a:t>
              </a:r>
              <a:r>
                <a:rPr lang="fr-FR" sz="2800" b="1" dirty="0"/>
                <a:t> ?</a:t>
              </a:r>
            </a:p>
          </p:txBody>
        </p:sp>
        <p:pic>
          <p:nvPicPr>
            <p:cNvPr id="3074" name="Picture 2" descr="Bonne idée - Icônes commercialisation gratuites">
              <a:extLst>
                <a:ext uri="{FF2B5EF4-FFF2-40B4-BE49-F238E27FC236}">
                  <a16:creationId xmlns:a16="http://schemas.microsoft.com/office/drawing/2014/main" id="{C58FC8EA-8503-2CE3-1B86-5D230745A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230" y="945460"/>
              <a:ext cx="1035502" cy="1035502"/>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Rectangle : coins arrondis 1">
            <a:extLst>
              <a:ext uri="{FF2B5EF4-FFF2-40B4-BE49-F238E27FC236}">
                <a16:creationId xmlns:a16="http://schemas.microsoft.com/office/drawing/2014/main" id="{4028463F-338E-37AC-5F99-2FC06A65BB23}"/>
              </a:ext>
            </a:extLst>
          </p:cNvPr>
          <p:cNvSpPr/>
          <p:nvPr/>
        </p:nvSpPr>
        <p:spPr>
          <a:xfrm>
            <a:off x="348343" y="7025860"/>
            <a:ext cx="6198508" cy="1283048"/>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L’accès au réseau de soins Carte Blanche, 1er réseau de soins de santé de France. </a:t>
            </a:r>
            <a:r>
              <a:rPr lang="fr-FR" sz="1400" dirty="0">
                <a:solidFill>
                  <a:schemeClr val="bg1"/>
                </a:solidFill>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lang="fr-FR" dirty="0">
              <a:solidFill>
                <a:schemeClr val="bg1"/>
              </a:solidFill>
            </a:endParaRPr>
          </a:p>
        </p:txBody>
      </p:sp>
      <p:sp>
        <p:nvSpPr>
          <p:cNvPr id="3" name="Rectangle : coins arrondis 2">
            <a:extLst>
              <a:ext uri="{FF2B5EF4-FFF2-40B4-BE49-F238E27FC236}">
                <a16:creationId xmlns:a16="http://schemas.microsoft.com/office/drawing/2014/main" id="{E7B5ACAC-0D1A-A04B-DAD2-409F1A69C88B}"/>
              </a:ext>
            </a:extLst>
          </p:cNvPr>
          <p:cNvSpPr/>
          <p:nvPr/>
        </p:nvSpPr>
        <p:spPr>
          <a:xfrm>
            <a:off x="348343" y="6139544"/>
            <a:ext cx="6198508" cy="785066"/>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RÉDUCTION POUR LES COUPLES : 7%</a:t>
            </a:r>
          </a:p>
          <a:p>
            <a:pPr algn="ctr"/>
            <a:r>
              <a:rPr lang="fr-FR" b="1" dirty="0">
                <a:solidFill>
                  <a:schemeClr val="bg1"/>
                </a:solidFill>
              </a:rPr>
              <a:t>RÉDUCTION POUR LES COUPLES : 10%</a:t>
            </a:r>
          </a:p>
        </p:txBody>
      </p:sp>
      <p:grpSp>
        <p:nvGrpSpPr>
          <p:cNvPr id="7" name="Groupe 6">
            <a:extLst>
              <a:ext uri="{FF2B5EF4-FFF2-40B4-BE49-F238E27FC236}">
                <a16:creationId xmlns:a16="http://schemas.microsoft.com/office/drawing/2014/main" id="{729B8771-5CC6-D144-5B59-BC8891E90D15}"/>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94A8559E-4488-CB25-4D6B-35ED91B7BE06}"/>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a:t>
              </a:r>
              <a:r>
                <a:rPr lang="fr-FR" b="1" dirty="0" err="1">
                  <a:solidFill>
                    <a:schemeClr val="tx1"/>
                  </a:solidFill>
                </a:rPr>
                <a:t>Innov’santé</a:t>
              </a:r>
              <a:r>
                <a:rPr lang="fr-FR" b="1" dirty="0">
                  <a:solidFill>
                    <a:schemeClr val="tx1"/>
                  </a:solidFill>
                </a:rPr>
                <a:t>    by                               assuré par                                 </a:t>
              </a:r>
            </a:p>
          </p:txBody>
        </p:sp>
        <p:pic>
          <p:nvPicPr>
            <p:cNvPr id="9" name="Picture 2" descr="Néoliane Santé &amp; Prévoyance">
              <a:extLst>
                <a:ext uri="{FF2B5EF4-FFF2-40B4-BE49-F238E27FC236}">
                  <a16:creationId xmlns:a16="http://schemas.microsoft.com/office/drawing/2014/main" id="{D6D4E048-B630-F414-5876-8B10571B23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1097" y="263005"/>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Animaux Santé | Mutuelle Animaux">
              <a:extLst>
                <a:ext uri="{FF2B5EF4-FFF2-40B4-BE49-F238E27FC236}">
                  <a16:creationId xmlns:a16="http://schemas.microsoft.com/office/drawing/2014/main" id="{E442FA37-CFD5-4F23-4AA0-4A04A85EF5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2545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F290D020-D3F6-3AC8-560C-E03ECA886FE2}"/>
              </a:ext>
            </a:extLst>
          </p:cNvPr>
          <p:cNvSpPr txBox="1"/>
          <p:nvPr/>
        </p:nvSpPr>
        <p:spPr>
          <a:xfrm>
            <a:off x="1861431" y="1016126"/>
            <a:ext cx="4684487" cy="954107"/>
          </a:xfrm>
          <a:prstGeom prst="rect">
            <a:avLst/>
          </a:prstGeom>
          <a:noFill/>
        </p:spPr>
        <p:txBody>
          <a:bodyPr wrap="square">
            <a:spAutoFit/>
          </a:bodyPr>
          <a:lstStyle/>
          <a:p>
            <a:pPr algn="ctr"/>
            <a:r>
              <a:rPr lang="fr-FR" sz="2800" b="1" dirty="0">
                <a:solidFill>
                  <a:srgbClr val="0070C0"/>
                </a:solidFill>
              </a:rPr>
              <a:t>Pourquoi passer par le réseau de soin Carte Blanche ?</a:t>
            </a:r>
          </a:p>
        </p:txBody>
      </p:sp>
      <p:grpSp>
        <p:nvGrpSpPr>
          <p:cNvPr id="16" name="Groupe 15">
            <a:extLst>
              <a:ext uri="{FF2B5EF4-FFF2-40B4-BE49-F238E27FC236}">
                <a16:creationId xmlns:a16="http://schemas.microsoft.com/office/drawing/2014/main" id="{986970F1-6D97-4C82-FD3B-98FF944DC481}"/>
              </a:ext>
            </a:extLst>
          </p:cNvPr>
          <p:cNvGrpSpPr/>
          <p:nvPr/>
        </p:nvGrpSpPr>
        <p:grpSpPr>
          <a:xfrm>
            <a:off x="526788" y="2057326"/>
            <a:ext cx="6247576" cy="2677656"/>
            <a:chOff x="343724" y="2264276"/>
            <a:chExt cx="6069776" cy="2677656"/>
          </a:xfrm>
        </p:grpSpPr>
        <p:pic>
          <p:nvPicPr>
            <p:cNvPr id="17" name="Picture 4" descr="Feingeist - Lunette Pour Les Ecran - Free Transparent PNG Clipart Images  Download">
              <a:extLst>
                <a:ext uri="{FF2B5EF4-FFF2-40B4-BE49-F238E27FC236}">
                  <a16:creationId xmlns:a16="http://schemas.microsoft.com/office/drawing/2014/main" id="{D5064011-3930-E022-6779-6DAF08500A4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43724" y="2264276"/>
              <a:ext cx="1272560" cy="570377"/>
            </a:xfrm>
            <a:prstGeom prst="rect">
              <a:avLst/>
            </a:prstGeom>
            <a:noFill/>
            <a:extLst>
              <a:ext uri="{909E8E84-426E-40DD-AFC4-6F175D3DCCD1}">
                <a14:hiddenFill xmlns:a14="http://schemas.microsoft.com/office/drawing/2010/main">
                  <a:solidFill>
                    <a:srgbClr val="FFFFFF"/>
                  </a:solidFill>
                </a14:hiddenFill>
              </a:ext>
            </a:extLst>
          </p:spPr>
        </p:pic>
        <p:sp>
          <p:nvSpPr>
            <p:cNvPr id="19" name="ZoneTexte 18">
              <a:extLst>
                <a:ext uri="{FF2B5EF4-FFF2-40B4-BE49-F238E27FC236}">
                  <a16:creationId xmlns:a16="http://schemas.microsoft.com/office/drawing/2014/main" id="{640A10F3-58B4-70D7-8645-59A94C9445B6}"/>
                </a:ext>
              </a:extLst>
            </p:cNvPr>
            <p:cNvSpPr txBox="1"/>
            <p:nvPr/>
          </p:nvSpPr>
          <p:spPr>
            <a:xfrm>
              <a:off x="1382902" y="2264276"/>
              <a:ext cx="5030598" cy="2677656"/>
            </a:xfrm>
            <a:prstGeom prst="rect">
              <a:avLst/>
            </a:prstGeom>
            <a:noFill/>
          </p:spPr>
          <p:txBody>
            <a:bodyPr wrap="square">
              <a:spAutoFit/>
            </a:bodyPr>
            <a:lstStyle/>
            <a:p>
              <a:r>
                <a:rPr lang="fr-FR" sz="1400" b="1" dirty="0"/>
                <a:t>        Le réseau optique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pour des équipements optique (lentilles et lunettes) : </a:t>
              </a:r>
              <a:r>
                <a:rPr lang="fr-FR" sz="1400" b="1" i="0" dirty="0">
                  <a:solidFill>
                    <a:srgbClr val="161615"/>
                  </a:solidFill>
                  <a:effectLst/>
                  <a:latin typeface="Source Sans Pro" panose="020B0503030403020204" pitchFamily="34" charset="0"/>
                </a:rPr>
                <a:t>jusqu’à 40 % </a:t>
              </a:r>
              <a:r>
                <a:rPr lang="fr-FR" sz="1400" b="0" i="0" dirty="0">
                  <a:solidFill>
                    <a:srgbClr val="161615"/>
                  </a:solidFill>
                  <a:effectLst/>
                  <a:latin typeface="Source Sans Pro" panose="020B0503030403020204" pitchFamily="34" charset="0"/>
                </a:rPr>
                <a:t>de réduction.</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garanties supplémentaires: comme une protection contre la casse pendant 2 ans, l’adaptation des verres pendant 6 mois, L’entretien et le réajustement des lunettes gratuits chez l’opticien fournisseur.</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large choix grâce à un catalogue de plus de </a:t>
              </a:r>
              <a:r>
                <a:rPr lang="fr-FR" sz="1400" b="1" i="0" dirty="0">
                  <a:solidFill>
                    <a:srgbClr val="161615"/>
                  </a:solidFill>
                  <a:effectLst/>
                  <a:latin typeface="Source Sans Pro" panose="020B0503030403020204" pitchFamily="34" charset="0"/>
                </a:rPr>
                <a:t>66 000 </a:t>
              </a:r>
              <a:r>
                <a:rPr lang="fr-FR" sz="1400" b="0" i="0" dirty="0">
                  <a:solidFill>
                    <a:srgbClr val="161615"/>
                  </a:solidFill>
                  <a:effectLst/>
                  <a:latin typeface="Source Sans Pro" panose="020B0503030403020204" pitchFamily="34" charset="0"/>
                </a:rPr>
                <a:t>références.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tiers payant pour ne pas avancer d’argent à l’achat d’une paire de lunettes ou de lentilles.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Deux devis complets avant l’achat d’un équipement optique.</a:t>
              </a:r>
            </a:p>
          </p:txBody>
        </p:sp>
      </p:grpSp>
      <p:grpSp>
        <p:nvGrpSpPr>
          <p:cNvPr id="20" name="Groupe 19">
            <a:extLst>
              <a:ext uri="{FF2B5EF4-FFF2-40B4-BE49-F238E27FC236}">
                <a16:creationId xmlns:a16="http://schemas.microsoft.com/office/drawing/2014/main" id="{11549840-9907-4F40-3809-C8F37CC5AB69}"/>
              </a:ext>
            </a:extLst>
          </p:cNvPr>
          <p:cNvGrpSpPr/>
          <p:nvPr/>
        </p:nvGrpSpPr>
        <p:grpSpPr>
          <a:xfrm>
            <a:off x="1954742" y="4890676"/>
            <a:ext cx="4970666" cy="954107"/>
            <a:chOff x="1730184" y="4376845"/>
            <a:chExt cx="4992359" cy="954107"/>
          </a:xfrm>
        </p:grpSpPr>
        <p:pic>
          <p:nvPicPr>
            <p:cNvPr id="28" name="Picture 2" descr="Icône D'oreille Pour Vos Sites De Conception Et Projets PNG , Audio, Oreille,  Écoutez Licône PNG et vecteur pour téléchargement gratuit">
              <a:extLst>
                <a:ext uri="{FF2B5EF4-FFF2-40B4-BE49-F238E27FC236}">
                  <a16:creationId xmlns:a16="http://schemas.microsoft.com/office/drawing/2014/main" id="{EC7B1803-39A8-119F-2F87-3038A065D5F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976" t="19011" r="29441" b="18906"/>
            <a:stretch/>
          </p:blipFill>
          <p:spPr bwMode="auto">
            <a:xfrm>
              <a:off x="1730184" y="4471524"/>
              <a:ext cx="445059" cy="648876"/>
            </a:xfrm>
            <a:prstGeom prst="rect">
              <a:avLst/>
            </a:prstGeom>
            <a:noFill/>
            <a:extLst>
              <a:ext uri="{909E8E84-426E-40DD-AFC4-6F175D3DCCD1}">
                <a14:hiddenFill xmlns:a14="http://schemas.microsoft.com/office/drawing/2010/main">
                  <a:solidFill>
                    <a:srgbClr val="FFFFFF"/>
                  </a:solidFill>
                </a14:hiddenFill>
              </a:ext>
            </a:extLst>
          </p:spPr>
        </p:pic>
        <p:sp>
          <p:nvSpPr>
            <p:cNvPr id="29" name="ZoneTexte 28">
              <a:extLst>
                <a:ext uri="{FF2B5EF4-FFF2-40B4-BE49-F238E27FC236}">
                  <a16:creationId xmlns:a16="http://schemas.microsoft.com/office/drawing/2014/main" id="{84A361CB-00FB-99C7-5D96-B36983AA85E9}"/>
                </a:ext>
              </a:extLst>
            </p:cNvPr>
            <p:cNvSpPr txBox="1"/>
            <p:nvPr/>
          </p:nvSpPr>
          <p:spPr>
            <a:xfrm>
              <a:off x="2175244" y="4376845"/>
              <a:ext cx="4547299" cy="954107"/>
            </a:xfrm>
            <a:prstGeom prst="rect">
              <a:avLst/>
            </a:prstGeom>
            <a:noFill/>
          </p:spPr>
          <p:txBody>
            <a:bodyPr wrap="square">
              <a:spAutoFit/>
            </a:bodyPr>
            <a:lstStyle/>
            <a:p>
              <a:r>
                <a:rPr lang="fr-FR" sz="1400" b="1" dirty="0"/>
                <a:t>        Le réseau Audio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(jusqu’à 20 % de réduction), une vraie expertise, des facilités de paiement et un suivi régulier pour adapter au mieux vos appareils auditifs.</a:t>
              </a:r>
            </a:p>
          </p:txBody>
        </p:sp>
      </p:grpSp>
      <p:grpSp>
        <p:nvGrpSpPr>
          <p:cNvPr id="30" name="Groupe 29">
            <a:extLst>
              <a:ext uri="{FF2B5EF4-FFF2-40B4-BE49-F238E27FC236}">
                <a16:creationId xmlns:a16="http://schemas.microsoft.com/office/drawing/2014/main" id="{99090AC4-9B4C-8C36-5491-723803F1C8FE}"/>
              </a:ext>
            </a:extLst>
          </p:cNvPr>
          <p:cNvGrpSpPr/>
          <p:nvPr/>
        </p:nvGrpSpPr>
        <p:grpSpPr>
          <a:xfrm>
            <a:off x="36855" y="6000478"/>
            <a:ext cx="6688442" cy="2462213"/>
            <a:chOff x="521694" y="6041286"/>
            <a:chExt cx="5897889" cy="2462213"/>
          </a:xfrm>
        </p:grpSpPr>
        <p:pic>
          <p:nvPicPr>
            <p:cNvPr id="31" name="Picture 2" descr="Bouton Logo Les Dents - Images vectorielles gratuites sur Pixabay - Pixabay">
              <a:extLst>
                <a:ext uri="{FF2B5EF4-FFF2-40B4-BE49-F238E27FC236}">
                  <a16:creationId xmlns:a16="http://schemas.microsoft.com/office/drawing/2014/main" id="{0D2BAFE8-0CDD-3606-876E-AAF2B5E15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94" y="6128182"/>
              <a:ext cx="665284" cy="665284"/>
            </a:xfrm>
            <a:prstGeom prst="rect">
              <a:avLst/>
            </a:prstGeom>
            <a:noFill/>
            <a:extLst>
              <a:ext uri="{909E8E84-426E-40DD-AFC4-6F175D3DCCD1}">
                <a14:hiddenFill xmlns:a14="http://schemas.microsoft.com/office/drawing/2010/main">
                  <a:solidFill>
                    <a:srgbClr val="FFFFFF"/>
                  </a:solidFill>
                </a14:hiddenFill>
              </a:ext>
            </a:extLst>
          </p:spPr>
        </p:pic>
        <p:sp>
          <p:nvSpPr>
            <p:cNvPr id="4512" name="ZoneTexte 4511">
              <a:extLst>
                <a:ext uri="{FF2B5EF4-FFF2-40B4-BE49-F238E27FC236}">
                  <a16:creationId xmlns:a16="http://schemas.microsoft.com/office/drawing/2014/main" id="{E3E8ED29-38B9-0A13-5B71-53E56AEF1E1F}"/>
                </a:ext>
              </a:extLst>
            </p:cNvPr>
            <p:cNvSpPr txBox="1"/>
            <p:nvPr/>
          </p:nvSpPr>
          <p:spPr>
            <a:xfrm>
              <a:off x="1144276" y="6041286"/>
              <a:ext cx="5275307" cy="2462213"/>
            </a:xfrm>
            <a:prstGeom prst="rect">
              <a:avLst/>
            </a:prstGeom>
            <a:noFill/>
          </p:spPr>
          <p:txBody>
            <a:bodyPr wrap="square">
              <a:spAutoFit/>
            </a:bodyPr>
            <a:lstStyle/>
            <a:p>
              <a:r>
                <a:rPr lang="fr-FR" sz="1400" b="1" dirty="0"/>
                <a:t>       Le partenariat Dentaire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pour les prothèses dentaires : jusqu’à 15 % de réduction.</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équipement de qualité grâce à la traçabilité des prothèses dentaires (certification des laboratoires choisis et respect des règlements européens).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Une prévention bucco-dentaire favorisée grâce au partenariat avec l’UFSBD (Union Française pour la Santé Bucco Dentaire).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tiers payant national pour ne pas avancer les frais de vos soins.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annuaire des dentistes partenaires en ligne pour trouver le professionnel le plus proche de vous</a:t>
              </a:r>
            </a:p>
          </p:txBody>
        </p:sp>
      </p:grpSp>
      <p:grpSp>
        <p:nvGrpSpPr>
          <p:cNvPr id="4513" name="Groupe 4512">
            <a:extLst>
              <a:ext uri="{FF2B5EF4-FFF2-40B4-BE49-F238E27FC236}">
                <a16:creationId xmlns:a16="http://schemas.microsoft.com/office/drawing/2014/main" id="{AD4D75BD-7A6E-A867-D27B-7826BCE15DB6}"/>
              </a:ext>
            </a:extLst>
          </p:cNvPr>
          <p:cNvGrpSpPr/>
          <p:nvPr/>
        </p:nvGrpSpPr>
        <p:grpSpPr>
          <a:xfrm>
            <a:off x="1425933" y="8618386"/>
            <a:ext cx="5250295" cy="954107"/>
            <a:chOff x="1261356" y="7842852"/>
            <a:chExt cx="5526794" cy="954107"/>
          </a:xfrm>
        </p:grpSpPr>
        <p:pic>
          <p:nvPicPr>
            <p:cNvPr id="4514" name="Picture 4" descr="Centre d'ostéopathie - Roxane Gervais St-Amour D.O.">
              <a:extLst>
                <a:ext uri="{FF2B5EF4-FFF2-40B4-BE49-F238E27FC236}">
                  <a16:creationId xmlns:a16="http://schemas.microsoft.com/office/drawing/2014/main" id="{9560B79A-53DF-9405-B34B-1E2EE02C22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1356" y="7910070"/>
              <a:ext cx="719680" cy="722893"/>
            </a:xfrm>
            <a:prstGeom prst="rect">
              <a:avLst/>
            </a:prstGeom>
            <a:noFill/>
            <a:extLst>
              <a:ext uri="{909E8E84-426E-40DD-AFC4-6F175D3DCCD1}">
                <a14:hiddenFill xmlns:a14="http://schemas.microsoft.com/office/drawing/2010/main">
                  <a:solidFill>
                    <a:srgbClr val="FFFFFF"/>
                  </a:solidFill>
                </a14:hiddenFill>
              </a:ext>
            </a:extLst>
          </p:spPr>
        </p:pic>
        <p:sp>
          <p:nvSpPr>
            <p:cNvPr id="4515" name="ZoneTexte 4514">
              <a:extLst>
                <a:ext uri="{FF2B5EF4-FFF2-40B4-BE49-F238E27FC236}">
                  <a16:creationId xmlns:a16="http://schemas.microsoft.com/office/drawing/2014/main" id="{E0F74C81-477E-6986-22F0-4A583A271F07}"/>
                </a:ext>
              </a:extLst>
            </p:cNvPr>
            <p:cNvSpPr txBox="1"/>
            <p:nvPr/>
          </p:nvSpPr>
          <p:spPr>
            <a:xfrm>
              <a:off x="1860500" y="7842852"/>
              <a:ext cx="4927650" cy="954107"/>
            </a:xfrm>
            <a:prstGeom prst="rect">
              <a:avLst/>
            </a:prstGeom>
            <a:noFill/>
          </p:spPr>
          <p:txBody>
            <a:bodyPr wrap="square">
              <a:spAutoFit/>
            </a:bodyPr>
            <a:lstStyle/>
            <a:p>
              <a:r>
                <a:rPr lang="fr-FR" sz="1400" b="1" dirty="0"/>
                <a:t>        Le réseau Prévention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accès à la pratique de certaines médecines douces (chez l’ostéopathe, le diététicien, le pédicure, le podologue…).</a:t>
              </a:r>
            </a:p>
          </p:txBody>
        </p:sp>
      </p:grpSp>
      <p:pic>
        <p:nvPicPr>
          <p:cNvPr id="4516" name="Image 4515">
            <a:hlinkClick r:id="rId8"/>
            <a:extLst>
              <a:ext uri="{FF2B5EF4-FFF2-40B4-BE49-F238E27FC236}">
                <a16:creationId xmlns:a16="http://schemas.microsoft.com/office/drawing/2014/main" id="{1C8B2CA8-44B2-FDCB-CEFF-7EF53668E3D7}"/>
              </a:ext>
            </a:extLst>
          </p:cNvPr>
          <p:cNvPicPr>
            <a:picLocks noChangeAspect="1"/>
          </p:cNvPicPr>
          <p:nvPr/>
        </p:nvPicPr>
        <p:blipFill>
          <a:blip r:embed="rId9"/>
          <a:stretch>
            <a:fillRect/>
          </a:stretch>
        </p:blipFill>
        <p:spPr>
          <a:xfrm>
            <a:off x="862202" y="952573"/>
            <a:ext cx="1092540" cy="1040716"/>
          </a:xfrm>
          <a:prstGeom prst="rect">
            <a:avLst/>
          </a:prstGeom>
        </p:spPr>
      </p:pic>
      <p:grpSp>
        <p:nvGrpSpPr>
          <p:cNvPr id="2" name="Groupe 1">
            <a:extLst>
              <a:ext uri="{FF2B5EF4-FFF2-40B4-BE49-F238E27FC236}">
                <a16:creationId xmlns:a16="http://schemas.microsoft.com/office/drawing/2014/main" id="{70FD2340-70B3-6301-A888-92EFC9427C0B}"/>
              </a:ext>
            </a:extLst>
          </p:cNvPr>
          <p:cNvGrpSpPr/>
          <p:nvPr/>
        </p:nvGrpSpPr>
        <p:grpSpPr>
          <a:xfrm>
            <a:off x="101600" y="93434"/>
            <a:ext cx="6686550" cy="628847"/>
            <a:chOff x="101600" y="93434"/>
            <a:chExt cx="6686550" cy="628847"/>
          </a:xfrm>
        </p:grpSpPr>
        <p:sp>
          <p:nvSpPr>
            <p:cNvPr id="7" name="Rectangle : coins arrondis 6">
              <a:extLst>
                <a:ext uri="{FF2B5EF4-FFF2-40B4-BE49-F238E27FC236}">
                  <a16:creationId xmlns:a16="http://schemas.microsoft.com/office/drawing/2014/main" id="{073F97D5-C400-52B5-FC5A-008452C9079E}"/>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a:t>
              </a:r>
              <a:r>
                <a:rPr lang="fr-FR" b="1" dirty="0" err="1">
                  <a:solidFill>
                    <a:schemeClr val="tx1"/>
                  </a:solidFill>
                </a:rPr>
                <a:t>Innov’santé</a:t>
              </a:r>
              <a:r>
                <a:rPr lang="fr-FR" b="1" dirty="0">
                  <a:solidFill>
                    <a:schemeClr val="tx1"/>
                  </a:solidFill>
                </a:rPr>
                <a:t>    by                               assuré par                                 </a:t>
              </a:r>
            </a:p>
          </p:txBody>
        </p:sp>
        <p:pic>
          <p:nvPicPr>
            <p:cNvPr id="8" name="Picture 2" descr="Néoliane Santé &amp; Prévoyance">
              <a:extLst>
                <a:ext uri="{FF2B5EF4-FFF2-40B4-BE49-F238E27FC236}">
                  <a16:creationId xmlns:a16="http://schemas.microsoft.com/office/drawing/2014/main" id="{A22657B8-0D23-FEFB-18C0-03E19E8AA58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1097" y="263005"/>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nimaux Santé | Mutuelle Animaux">
              <a:extLst>
                <a:ext uri="{FF2B5EF4-FFF2-40B4-BE49-F238E27FC236}">
                  <a16:creationId xmlns:a16="http://schemas.microsoft.com/office/drawing/2014/main" id="{E3BDA000-9320-58E1-0A40-A814CB53C55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91162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e 6">
            <a:extLst>
              <a:ext uri="{FF2B5EF4-FFF2-40B4-BE49-F238E27FC236}">
                <a16:creationId xmlns:a16="http://schemas.microsoft.com/office/drawing/2014/main" id="{865DDCAB-07B8-C5FC-80EA-3D1BB9E5C7BD}"/>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D8AFD159-E303-B705-2A24-D0902A12364B}"/>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a:t>
              </a:r>
              <a:r>
                <a:rPr lang="fr-FR" b="1" dirty="0" err="1">
                  <a:solidFill>
                    <a:schemeClr val="tx1"/>
                  </a:solidFill>
                </a:rPr>
                <a:t>Innov’santé</a:t>
              </a:r>
              <a:r>
                <a:rPr lang="fr-FR" b="1" dirty="0">
                  <a:solidFill>
                    <a:schemeClr val="tx1"/>
                  </a:solidFill>
                </a:rPr>
                <a:t>    by                               assuré par                                 </a:t>
              </a:r>
            </a:p>
          </p:txBody>
        </p:sp>
        <p:pic>
          <p:nvPicPr>
            <p:cNvPr id="9" name="Picture 2" descr="Néoliane Santé &amp; Prévoyance">
              <a:extLst>
                <a:ext uri="{FF2B5EF4-FFF2-40B4-BE49-F238E27FC236}">
                  <a16:creationId xmlns:a16="http://schemas.microsoft.com/office/drawing/2014/main" id="{822DBC82-8F23-B5E1-D3F8-B81E8989AB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1097" y="263005"/>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imaux Santé | Mutuelle Animaux">
              <a:extLst>
                <a:ext uri="{FF2B5EF4-FFF2-40B4-BE49-F238E27FC236}">
                  <a16:creationId xmlns:a16="http://schemas.microsoft.com/office/drawing/2014/main" id="{0B749EFB-824C-5AE4-3645-22DF962E6A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Image 15" descr="Comment contacter Inter Mutuelles Assistance ?">
            <a:hlinkClick r:id="rId6"/>
            <a:extLst>
              <a:ext uri="{FF2B5EF4-FFF2-40B4-BE49-F238E27FC236}">
                <a16:creationId xmlns:a16="http://schemas.microsoft.com/office/drawing/2014/main" id="{9BA0CE15-ABDF-E0D9-5AD2-4DD65CB2A72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8225" r="4129" b="23858"/>
          <a:stretch>
            <a:fillRect/>
          </a:stretch>
        </p:blipFill>
        <p:spPr bwMode="auto">
          <a:xfrm>
            <a:off x="993948" y="862992"/>
            <a:ext cx="1463258" cy="811474"/>
          </a:xfrm>
          <a:prstGeom prst="rect">
            <a:avLst/>
          </a:prstGeom>
          <a:noFill/>
          <a:extLst>
            <a:ext uri="{909E8E84-426E-40DD-AFC4-6F175D3DCCD1}">
              <a14:hiddenFill xmlns:a14="http://schemas.microsoft.com/office/drawing/2010/main">
                <a:solidFill>
                  <a:srgbClr val="FFFFFF"/>
                </a:solidFill>
              </a14:hiddenFill>
            </a:ext>
          </a:extLst>
        </p:spPr>
      </p:pic>
      <p:sp>
        <p:nvSpPr>
          <p:cNvPr id="4646" name="ZoneTexte 4645">
            <a:extLst>
              <a:ext uri="{FF2B5EF4-FFF2-40B4-BE49-F238E27FC236}">
                <a16:creationId xmlns:a16="http://schemas.microsoft.com/office/drawing/2014/main" id="{B9EBAA2E-1038-6ED4-EBDB-47E5D61D57FF}"/>
              </a:ext>
            </a:extLst>
          </p:cNvPr>
          <p:cNvSpPr txBox="1"/>
          <p:nvPr/>
        </p:nvSpPr>
        <p:spPr>
          <a:xfrm>
            <a:off x="1999662" y="839301"/>
            <a:ext cx="4684487" cy="95410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2800" b="1" dirty="0">
                <a:solidFill>
                  <a:srgbClr val="0070C0"/>
                </a:solidFill>
              </a:rPr>
              <a:t>Pourquoi faire appel à l’assistance IMA ?</a:t>
            </a:r>
          </a:p>
        </p:txBody>
      </p:sp>
      <p:sp>
        <p:nvSpPr>
          <p:cNvPr id="4647" name="ZoneTexte 11">
            <a:extLst>
              <a:ext uri="{FF2B5EF4-FFF2-40B4-BE49-F238E27FC236}">
                <a16:creationId xmlns:a16="http://schemas.microsoft.com/office/drawing/2014/main" id="{549C8A48-89C8-915C-5492-403353985CD4}"/>
              </a:ext>
            </a:extLst>
          </p:cNvPr>
          <p:cNvSpPr txBox="1"/>
          <p:nvPr/>
        </p:nvSpPr>
        <p:spPr>
          <a:xfrm>
            <a:off x="956518" y="2582472"/>
            <a:ext cx="4910337" cy="646331"/>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En cas d’hospitalisation ou d’immobilisation, </a:t>
            </a:r>
          </a:p>
          <a:p>
            <a:pPr algn="ctr"/>
            <a:r>
              <a:rPr lang="fr-FR" b="1" dirty="0"/>
              <a:t>IMA vous propose gratuitement:</a:t>
            </a:r>
          </a:p>
        </p:txBody>
      </p:sp>
      <p:grpSp>
        <p:nvGrpSpPr>
          <p:cNvPr id="4648" name="Groupe 4647">
            <a:extLst>
              <a:ext uri="{FF2B5EF4-FFF2-40B4-BE49-F238E27FC236}">
                <a16:creationId xmlns:a16="http://schemas.microsoft.com/office/drawing/2014/main" id="{377105ED-9A53-5BE9-7181-738F3203E93D}"/>
              </a:ext>
            </a:extLst>
          </p:cNvPr>
          <p:cNvGrpSpPr/>
          <p:nvPr/>
        </p:nvGrpSpPr>
        <p:grpSpPr>
          <a:xfrm>
            <a:off x="120105" y="3514045"/>
            <a:ext cx="6020613" cy="811475"/>
            <a:chOff x="400050" y="2786464"/>
            <a:chExt cx="6020613" cy="811475"/>
          </a:xfrm>
        </p:grpSpPr>
        <p:sp>
          <p:nvSpPr>
            <p:cNvPr id="4649" name="ZoneTexte 12">
              <a:extLst>
                <a:ext uri="{FF2B5EF4-FFF2-40B4-BE49-F238E27FC236}">
                  <a16:creationId xmlns:a16="http://schemas.microsoft.com/office/drawing/2014/main" id="{906CB23C-0B0A-F3B0-DA7E-8F017A4714D4}"/>
                </a:ext>
              </a:extLst>
            </p:cNvPr>
            <p:cNvSpPr txBox="1"/>
            <p:nvPr/>
          </p:nvSpPr>
          <p:spPr>
            <a:xfrm>
              <a:off x="987223" y="2897890"/>
              <a:ext cx="5433440" cy="30777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 l’aide à domicile: (ménage, repas, vaisselle, course à proximité</a:t>
              </a:r>
            </a:p>
          </p:txBody>
        </p:sp>
        <p:pic>
          <p:nvPicPr>
            <p:cNvPr id="4650" name="Image 4649">
              <a:extLst>
                <a:ext uri="{FF2B5EF4-FFF2-40B4-BE49-F238E27FC236}">
                  <a16:creationId xmlns:a16="http://schemas.microsoft.com/office/drawing/2014/main" id="{706A75A3-7EE4-13F2-B6F8-C02446898AF0}"/>
                </a:ext>
              </a:extLst>
            </p:cNvPr>
            <p:cNvPicPr>
              <a:picLocks noChangeAspect="1"/>
            </p:cNvPicPr>
            <p:nvPr/>
          </p:nvPicPr>
          <p:blipFill>
            <a:blip r:embed="rId8"/>
            <a:stretch>
              <a:fillRect/>
            </a:stretch>
          </p:blipFill>
          <p:spPr>
            <a:xfrm>
              <a:off x="400050" y="2786464"/>
              <a:ext cx="591075" cy="811475"/>
            </a:xfrm>
            <a:prstGeom prst="rect">
              <a:avLst/>
            </a:prstGeom>
          </p:spPr>
        </p:pic>
      </p:grpSp>
      <p:grpSp>
        <p:nvGrpSpPr>
          <p:cNvPr id="4651" name="Groupe 4650">
            <a:extLst>
              <a:ext uri="{FF2B5EF4-FFF2-40B4-BE49-F238E27FC236}">
                <a16:creationId xmlns:a16="http://schemas.microsoft.com/office/drawing/2014/main" id="{6159631A-8C23-8868-FA9A-51370F9349C7}"/>
              </a:ext>
            </a:extLst>
          </p:cNvPr>
          <p:cNvGrpSpPr/>
          <p:nvPr/>
        </p:nvGrpSpPr>
        <p:grpSpPr>
          <a:xfrm>
            <a:off x="993948" y="4589245"/>
            <a:ext cx="5639929" cy="662278"/>
            <a:chOff x="222327" y="3957748"/>
            <a:chExt cx="6053947" cy="662278"/>
          </a:xfrm>
        </p:grpSpPr>
        <p:sp>
          <p:nvSpPr>
            <p:cNvPr id="4652" name="ZoneTexte 16">
              <a:extLst>
                <a:ext uri="{FF2B5EF4-FFF2-40B4-BE49-F238E27FC236}">
                  <a16:creationId xmlns:a16="http://schemas.microsoft.com/office/drawing/2014/main" id="{B3DC1C0F-C165-26AD-0054-A6A01946C0D0}"/>
                </a:ext>
              </a:extLst>
            </p:cNvPr>
            <p:cNvSpPr txBox="1"/>
            <p:nvPr/>
          </p:nvSpPr>
          <p:spPr>
            <a:xfrm>
              <a:off x="943701" y="4097900"/>
              <a:ext cx="5332573" cy="30777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Livraison des médicaments</a:t>
              </a:r>
              <a:endParaRPr lang="fr-FR" sz="1400" b="0" i="0" dirty="0">
                <a:solidFill>
                  <a:srgbClr val="161615"/>
                </a:solidFill>
                <a:effectLst/>
                <a:latin typeface="Source Sans Pro" panose="020B0503030403020204" pitchFamily="34" charset="0"/>
              </a:endParaRPr>
            </a:p>
          </p:txBody>
        </p:sp>
        <p:pic>
          <p:nvPicPr>
            <p:cNvPr id="4653" name="Image 4652">
              <a:extLst>
                <a:ext uri="{FF2B5EF4-FFF2-40B4-BE49-F238E27FC236}">
                  <a16:creationId xmlns:a16="http://schemas.microsoft.com/office/drawing/2014/main" id="{802DE0C0-DAA0-039E-8071-6B3946FD462F}"/>
                </a:ext>
              </a:extLst>
            </p:cNvPr>
            <p:cNvPicPr>
              <a:picLocks noChangeAspect="1"/>
            </p:cNvPicPr>
            <p:nvPr/>
          </p:nvPicPr>
          <p:blipFill>
            <a:blip r:embed="rId9"/>
            <a:stretch>
              <a:fillRect/>
            </a:stretch>
          </p:blipFill>
          <p:spPr>
            <a:xfrm>
              <a:off x="222327" y="3957748"/>
              <a:ext cx="768798" cy="662278"/>
            </a:xfrm>
            <a:prstGeom prst="rect">
              <a:avLst/>
            </a:prstGeom>
          </p:spPr>
        </p:pic>
      </p:grpSp>
      <p:grpSp>
        <p:nvGrpSpPr>
          <p:cNvPr id="4654" name="Groupe 4653">
            <a:extLst>
              <a:ext uri="{FF2B5EF4-FFF2-40B4-BE49-F238E27FC236}">
                <a16:creationId xmlns:a16="http://schemas.microsoft.com/office/drawing/2014/main" id="{2AB67B85-4DE0-8E90-E0A3-60B581BE01F2}"/>
              </a:ext>
            </a:extLst>
          </p:cNvPr>
          <p:cNvGrpSpPr/>
          <p:nvPr/>
        </p:nvGrpSpPr>
        <p:grpSpPr>
          <a:xfrm>
            <a:off x="273017" y="5847231"/>
            <a:ext cx="6198819" cy="733785"/>
            <a:chOff x="222327" y="5188381"/>
            <a:chExt cx="6198819" cy="733785"/>
          </a:xfrm>
        </p:grpSpPr>
        <p:pic>
          <p:nvPicPr>
            <p:cNvPr id="4655" name="Image 4654">
              <a:extLst>
                <a:ext uri="{FF2B5EF4-FFF2-40B4-BE49-F238E27FC236}">
                  <a16:creationId xmlns:a16="http://schemas.microsoft.com/office/drawing/2014/main" id="{5DC06A71-3F10-9EBC-A4B3-6259BD48B4C1}"/>
                </a:ext>
              </a:extLst>
            </p:cNvPr>
            <p:cNvPicPr>
              <a:picLocks noChangeAspect="1"/>
            </p:cNvPicPr>
            <p:nvPr/>
          </p:nvPicPr>
          <p:blipFill>
            <a:blip r:embed="rId10"/>
            <a:stretch>
              <a:fillRect/>
            </a:stretch>
          </p:blipFill>
          <p:spPr>
            <a:xfrm>
              <a:off x="222327" y="5188381"/>
              <a:ext cx="836413" cy="733785"/>
            </a:xfrm>
            <a:prstGeom prst="rect">
              <a:avLst/>
            </a:prstGeom>
          </p:spPr>
        </p:pic>
        <p:sp>
          <p:nvSpPr>
            <p:cNvPr id="4656" name="ZoneTexte 4480">
              <a:extLst>
                <a:ext uri="{FF2B5EF4-FFF2-40B4-BE49-F238E27FC236}">
                  <a16:creationId xmlns:a16="http://schemas.microsoft.com/office/drawing/2014/main" id="{1E7A09DF-9145-AA65-F45B-141079E31A6C}"/>
                </a:ext>
              </a:extLst>
            </p:cNvPr>
            <p:cNvSpPr txBox="1"/>
            <p:nvPr/>
          </p:nvSpPr>
          <p:spPr>
            <a:xfrm>
              <a:off x="1088573" y="5248670"/>
              <a:ext cx="5332573" cy="523220"/>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La prise en charge l’animal chez l’adhérant, par un pet Sitter </a:t>
              </a:r>
            </a:p>
            <a:p>
              <a:r>
                <a:rPr lang="fr-FR" sz="1400" dirty="0">
                  <a:solidFill>
                    <a:srgbClr val="161615"/>
                  </a:solidFill>
                  <a:latin typeface="Source Sans Pro" panose="020B0503030403020204" pitchFamily="34" charset="0"/>
                </a:rPr>
                <a:t> (Visite, promenade, garde, …)</a:t>
              </a:r>
            </a:p>
          </p:txBody>
        </p:sp>
      </p:grpSp>
      <p:grpSp>
        <p:nvGrpSpPr>
          <p:cNvPr id="4657" name="Groupe 4656">
            <a:extLst>
              <a:ext uri="{FF2B5EF4-FFF2-40B4-BE49-F238E27FC236}">
                <a16:creationId xmlns:a16="http://schemas.microsoft.com/office/drawing/2014/main" id="{DB68E7DF-210E-9C01-35A6-F68AB6674069}"/>
              </a:ext>
            </a:extLst>
          </p:cNvPr>
          <p:cNvGrpSpPr/>
          <p:nvPr/>
        </p:nvGrpSpPr>
        <p:grpSpPr>
          <a:xfrm>
            <a:off x="1109430" y="7419366"/>
            <a:ext cx="5524447" cy="609704"/>
            <a:chOff x="194325" y="7406539"/>
            <a:chExt cx="6214502" cy="609704"/>
          </a:xfrm>
        </p:grpSpPr>
        <p:sp>
          <p:nvSpPr>
            <p:cNvPr id="4658" name="ZoneTexte 2074">
              <a:extLst>
                <a:ext uri="{FF2B5EF4-FFF2-40B4-BE49-F238E27FC236}">
                  <a16:creationId xmlns:a16="http://schemas.microsoft.com/office/drawing/2014/main" id="{FDD674A0-D54A-F96B-4E6E-6B81327D3168}"/>
                </a:ext>
              </a:extLst>
            </p:cNvPr>
            <p:cNvSpPr txBox="1"/>
            <p:nvPr/>
          </p:nvSpPr>
          <p:spPr>
            <a:xfrm>
              <a:off x="1076254" y="7449781"/>
              <a:ext cx="5332573" cy="523220"/>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Le déplacement aller et retour, d’un proche et son hébergement pendant 2 nuits</a:t>
              </a:r>
            </a:p>
          </p:txBody>
        </p:sp>
        <p:pic>
          <p:nvPicPr>
            <p:cNvPr id="4659" name="Image 4658">
              <a:extLst>
                <a:ext uri="{FF2B5EF4-FFF2-40B4-BE49-F238E27FC236}">
                  <a16:creationId xmlns:a16="http://schemas.microsoft.com/office/drawing/2014/main" id="{7FB9F1AB-12E8-AAEF-A5A5-92F05138F6ED}"/>
                </a:ext>
              </a:extLst>
            </p:cNvPr>
            <p:cNvPicPr>
              <a:picLocks noChangeAspect="1"/>
            </p:cNvPicPr>
            <p:nvPr/>
          </p:nvPicPr>
          <p:blipFill>
            <a:blip r:embed="rId11"/>
            <a:stretch>
              <a:fillRect/>
            </a:stretch>
          </p:blipFill>
          <p:spPr>
            <a:xfrm>
              <a:off x="194325" y="7406539"/>
              <a:ext cx="848744" cy="609704"/>
            </a:xfrm>
            <a:prstGeom prst="rect">
              <a:avLst/>
            </a:prstGeom>
          </p:spPr>
        </p:pic>
      </p:grpSp>
    </p:spTree>
    <p:extLst>
      <p:ext uri="{BB962C8B-B14F-4D97-AF65-F5344CB8AC3E}">
        <p14:creationId xmlns:p14="http://schemas.microsoft.com/office/powerpoint/2010/main" val="414581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100% Santé : des soins pour tous, 100% pris en charge">
            <a:extLst>
              <a:ext uri="{FF2B5EF4-FFF2-40B4-BE49-F238E27FC236}">
                <a16:creationId xmlns:a16="http://schemas.microsoft.com/office/drawing/2014/main" id="{535F1D54-3CF9-96D7-AAF2-E939F78F3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90" t="9007" r="12611" b="13073"/>
          <a:stretch/>
        </p:blipFill>
        <p:spPr bwMode="auto">
          <a:xfrm>
            <a:off x="2566913" y="1052692"/>
            <a:ext cx="1489221" cy="1060948"/>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0D70D5DE-DB6D-D176-9CAB-9DB15C044A5C}"/>
              </a:ext>
            </a:extLst>
          </p:cNvPr>
          <p:cNvSpPr txBox="1"/>
          <p:nvPr/>
        </p:nvSpPr>
        <p:spPr>
          <a:xfrm>
            <a:off x="468231" y="2476003"/>
            <a:ext cx="6078619" cy="1815882"/>
          </a:xfrm>
          <a:prstGeom prst="rect">
            <a:avLst/>
          </a:prstGeom>
          <a:noFill/>
        </p:spPr>
        <p:txBody>
          <a:bodyPr wrap="square" rtlCol="0">
            <a:spAutoFit/>
          </a:bodyPr>
          <a:lstStyle/>
          <a:p>
            <a:r>
              <a:rPr lang="fr-FR" sz="1600" dirty="0"/>
              <a:t>Le 100% Santé vous permet d’accéder à une offre sans reste à charge sur une sélection d’équipements en dentaire, optique et pour les aides auditives. Les paniers 100% Santé seront pris en charge intégralement par la Sécurité Sociale et la complémentaire santé.</a:t>
            </a:r>
          </a:p>
          <a:p>
            <a:r>
              <a:rPr lang="fr-FR" sz="1600" dirty="0"/>
              <a:t>Si vous ne souhaitez pas bénéficier des équipements compris dans ces paniers, les remboursements se feront selon le niveau de garanties que vous avez choisi.</a:t>
            </a:r>
          </a:p>
        </p:txBody>
      </p:sp>
      <p:sp>
        <p:nvSpPr>
          <p:cNvPr id="7" name="ZoneTexte 6">
            <a:extLst>
              <a:ext uri="{FF2B5EF4-FFF2-40B4-BE49-F238E27FC236}">
                <a16:creationId xmlns:a16="http://schemas.microsoft.com/office/drawing/2014/main" id="{9ABD2300-AD32-5AA3-5AA3-24E9718EFC61}"/>
              </a:ext>
            </a:extLst>
          </p:cNvPr>
          <p:cNvSpPr txBox="1"/>
          <p:nvPr/>
        </p:nvSpPr>
        <p:spPr>
          <a:xfrm>
            <a:off x="196387" y="4506949"/>
            <a:ext cx="3880676" cy="338554"/>
          </a:xfrm>
          <a:prstGeom prst="rect">
            <a:avLst/>
          </a:prstGeom>
          <a:noFill/>
        </p:spPr>
        <p:txBody>
          <a:bodyPr wrap="square">
            <a:spAutoFit/>
          </a:bodyPr>
          <a:lstStyle>
            <a:defPPr>
              <a:defRPr lang="fr-FR"/>
            </a:defPPr>
            <a:lvl1pPr algn="ctr">
              <a:defRPr sz="2400" b="1">
                <a:solidFill>
                  <a:srgbClr val="0070C0"/>
                </a:solidFill>
              </a:defRPr>
            </a:lvl1pPr>
          </a:lstStyle>
          <a:p>
            <a:r>
              <a:rPr lang="fr-FR" sz="1600" dirty="0"/>
              <a:t>QU’EST-CE QUI CHANGE EN PRATIQUE ?</a:t>
            </a:r>
          </a:p>
        </p:txBody>
      </p:sp>
      <p:pic>
        <p:nvPicPr>
          <p:cNvPr id="12" name="Image 11">
            <a:extLst>
              <a:ext uri="{FF2B5EF4-FFF2-40B4-BE49-F238E27FC236}">
                <a16:creationId xmlns:a16="http://schemas.microsoft.com/office/drawing/2014/main" id="{771E66C1-A306-F7C2-3064-D3A2018F77EE}"/>
              </a:ext>
            </a:extLst>
          </p:cNvPr>
          <p:cNvPicPr>
            <a:picLocks noChangeAspect="1"/>
          </p:cNvPicPr>
          <p:nvPr/>
        </p:nvPicPr>
        <p:blipFill>
          <a:blip r:embed="rId5"/>
          <a:stretch>
            <a:fillRect/>
          </a:stretch>
        </p:blipFill>
        <p:spPr>
          <a:xfrm>
            <a:off x="468231" y="5368177"/>
            <a:ext cx="2158618" cy="1831149"/>
          </a:xfrm>
          <a:prstGeom prst="rect">
            <a:avLst/>
          </a:prstGeom>
        </p:spPr>
      </p:pic>
      <p:sp>
        <p:nvSpPr>
          <p:cNvPr id="14" name="ZoneTexte 13">
            <a:extLst>
              <a:ext uri="{FF2B5EF4-FFF2-40B4-BE49-F238E27FC236}">
                <a16:creationId xmlns:a16="http://schemas.microsoft.com/office/drawing/2014/main" id="{AC47FEA0-F477-562D-7433-360467980C32}"/>
              </a:ext>
            </a:extLst>
          </p:cNvPr>
          <p:cNvSpPr txBox="1"/>
          <p:nvPr/>
        </p:nvSpPr>
        <p:spPr>
          <a:xfrm>
            <a:off x="3444875" y="4969962"/>
            <a:ext cx="2460289" cy="861774"/>
          </a:xfrm>
          <a:prstGeom prst="rect">
            <a:avLst/>
          </a:prstGeom>
          <a:noFill/>
        </p:spPr>
        <p:txBody>
          <a:bodyPr wrap="none" rtlCol="0">
            <a:spAutoFit/>
          </a:bodyPr>
          <a:lstStyle/>
          <a:p>
            <a:pPr algn="ctr"/>
            <a:r>
              <a:rPr lang="fr-FR" sz="1600" dirty="0"/>
              <a:t>Le professionnel de santé </a:t>
            </a:r>
          </a:p>
          <a:p>
            <a:pPr algn="ctr"/>
            <a:r>
              <a:rPr lang="fr-FR" sz="1600" dirty="0"/>
              <a:t>proposera obligatoirement </a:t>
            </a:r>
          </a:p>
          <a:p>
            <a:pPr algn="ctr"/>
            <a:r>
              <a:rPr lang="fr-FR" sz="1600" dirty="0">
                <a:solidFill>
                  <a:srgbClr val="0070C0"/>
                </a:solidFill>
              </a:rPr>
              <a:t>2 OFFRES</a:t>
            </a:r>
          </a:p>
        </p:txBody>
      </p:sp>
      <p:sp>
        <p:nvSpPr>
          <p:cNvPr id="22" name="ZoneTexte 21">
            <a:extLst>
              <a:ext uri="{FF2B5EF4-FFF2-40B4-BE49-F238E27FC236}">
                <a16:creationId xmlns:a16="http://schemas.microsoft.com/office/drawing/2014/main" id="{7A3FF7B1-6127-0BF0-C7E9-3B7C18C3F8BC}"/>
              </a:ext>
            </a:extLst>
          </p:cNvPr>
          <p:cNvSpPr txBox="1"/>
          <p:nvPr/>
        </p:nvSpPr>
        <p:spPr>
          <a:xfrm>
            <a:off x="2578219" y="6211555"/>
            <a:ext cx="1760057" cy="646331"/>
          </a:xfrm>
          <a:prstGeom prst="rect">
            <a:avLst/>
          </a:prstGeom>
          <a:noFill/>
        </p:spPr>
        <p:txBody>
          <a:bodyPr wrap="square">
            <a:spAutoFit/>
          </a:bodyPr>
          <a:lstStyle/>
          <a:p>
            <a:pPr algn="ctr"/>
            <a:r>
              <a:rPr lang="fr-FR" dirty="0">
                <a:solidFill>
                  <a:srgbClr val="00B0F0"/>
                </a:solidFill>
              </a:rPr>
              <a:t>1 Devis sans Reste à charge</a:t>
            </a:r>
          </a:p>
        </p:txBody>
      </p:sp>
      <p:sp>
        <p:nvSpPr>
          <p:cNvPr id="23" name="ZoneTexte 22">
            <a:extLst>
              <a:ext uri="{FF2B5EF4-FFF2-40B4-BE49-F238E27FC236}">
                <a16:creationId xmlns:a16="http://schemas.microsoft.com/office/drawing/2014/main" id="{DF383C17-45A3-6E24-243D-E5B936A664DE}"/>
              </a:ext>
            </a:extLst>
          </p:cNvPr>
          <p:cNvSpPr txBox="1"/>
          <p:nvPr/>
        </p:nvSpPr>
        <p:spPr>
          <a:xfrm>
            <a:off x="4829920" y="6208601"/>
            <a:ext cx="2028080" cy="646331"/>
          </a:xfrm>
          <a:prstGeom prst="rect">
            <a:avLst/>
          </a:prstGeom>
          <a:noFill/>
        </p:spPr>
        <p:txBody>
          <a:bodyPr wrap="square">
            <a:spAutoFit/>
          </a:bodyPr>
          <a:lstStyle/>
          <a:p>
            <a:pPr algn="ctr"/>
            <a:r>
              <a:rPr lang="fr-FR" dirty="0">
                <a:solidFill>
                  <a:srgbClr val="00B0F0"/>
                </a:solidFill>
              </a:rPr>
              <a:t>1 Devis « Classique »</a:t>
            </a:r>
          </a:p>
        </p:txBody>
      </p:sp>
      <p:sp>
        <p:nvSpPr>
          <p:cNvPr id="26" name="ZoneTexte 25">
            <a:extLst>
              <a:ext uri="{FF2B5EF4-FFF2-40B4-BE49-F238E27FC236}">
                <a16:creationId xmlns:a16="http://schemas.microsoft.com/office/drawing/2014/main" id="{D4771CB4-EAF8-8909-5069-505185436213}"/>
              </a:ext>
            </a:extLst>
          </p:cNvPr>
          <p:cNvSpPr txBox="1"/>
          <p:nvPr/>
        </p:nvSpPr>
        <p:spPr>
          <a:xfrm>
            <a:off x="320433" y="7864329"/>
            <a:ext cx="3880676" cy="338554"/>
          </a:xfrm>
          <a:prstGeom prst="rect">
            <a:avLst/>
          </a:prstGeom>
          <a:noFill/>
        </p:spPr>
        <p:txBody>
          <a:bodyPr wrap="square">
            <a:spAutoFit/>
          </a:bodyPr>
          <a:lstStyle>
            <a:defPPr>
              <a:defRPr lang="fr-FR"/>
            </a:defPPr>
            <a:lvl1pPr algn="ctr">
              <a:defRPr sz="2400" b="1">
                <a:solidFill>
                  <a:srgbClr val="0070C0"/>
                </a:solidFill>
              </a:defRPr>
            </a:lvl1pPr>
          </a:lstStyle>
          <a:p>
            <a:pPr algn="l"/>
            <a:r>
              <a:rPr lang="fr-FR" sz="1600" dirty="0"/>
              <a:t>Mais aussi:</a:t>
            </a:r>
          </a:p>
        </p:txBody>
      </p:sp>
      <p:cxnSp>
        <p:nvCxnSpPr>
          <p:cNvPr id="27" name="Connecteur droit avec flèche 26">
            <a:extLst>
              <a:ext uri="{FF2B5EF4-FFF2-40B4-BE49-F238E27FC236}">
                <a16:creationId xmlns:a16="http://schemas.microsoft.com/office/drawing/2014/main" id="{3ADC3DC0-D766-2449-5D66-95CDE9F708A7}"/>
              </a:ext>
            </a:extLst>
          </p:cNvPr>
          <p:cNvCxnSpPr>
            <a:cxnSpLocks/>
          </p:cNvCxnSpPr>
          <p:nvPr/>
        </p:nvCxnSpPr>
        <p:spPr>
          <a:xfrm>
            <a:off x="4760070" y="5831736"/>
            <a:ext cx="520276" cy="350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758842E4-FE74-86E3-440A-096AB8845129}"/>
              </a:ext>
            </a:extLst>
          </p:cNvPr>
          <p:cNvCxnSpPr>
            <a:cxnSpLocks/>
          </p:cNvCxnSpPr>
          <p:nvPr/>
        </p:nvCxnSpPr>
        <p:spPr>
          <a:xfrm flipH="1">
            <a:off x="4077063" y="5831736"/>
            <a:ext cx="433750" cy="360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15" name="ZoneTexte 4514">
            <a:extLst>
              <a:ext uri="{FF2B5EF4-FFF2-40B4-BE49-F238E27FC236}">
                <a16:creationId xmlns:a16="http://schemas.microsoft.com/office/drawing/2014/main" id="{E20EF230-36C6-4E06-1C00-A04090AC41A5}"/>
              </a:ext>
            </a:extLst>
          </p:cNvPr>
          <p:cNvSpPr txBox="1"/>
          <p:nvPr/>
        </p:nvSpPr>
        <p:spPr>
          <a:xfrm>
            <a:off x="2687429" y="6842131"/>
            <a:ext cx="1513680" cy="600164"/>
          </a:xfrm>
          <a:prstGeom prst="rect">
            <a:avLst/>
          </a:prstGeom>
          <a:noFill/>
        </p:spPr>
        <p:txBody>
          <a:bodyPr wrap="square">
            <a:spAutoFit/>
          </a:bodyPr>
          <a:lstStyle/>
          <a:p>
            <a:r>
              <a:rPr lang="fr-FR" sz="1100" dirty="0"/>
              <a:t>Soin ou équipement entrant dans le</a:t>
            </a:r>
          </a:p>
          <a:p>
            <a:r>
              <a:rPr lang="fr-FR" sz="1100" dirty="0"/>
              <a:t>panier 100% Santé</a:t>
            </a:r>
          </a:p>
        </p:txBody>
      </p:sp>
      <p:sp>
        <p:nvSpPr>
          <p:cNvPr id="4517" name="ZoneTexte 4516">
            <a:extLst>
              <a:ext uri="{FF2B5EF4-FFF2-40B4-BE49-F238E27FC236}">
                <a16:creationId xmlns:a16="http://schemas.microsoft.com/office/drawing/2014/main" id="{761E1492-A5E3-9AF6-8C9C-21D6ECB8B178}"/>
              </a:ext>
            </a:extLst>
          </p:cNvPr>
          <p:cNvSpPr txBox="1"/>
          <p:nvPr/>
        </p:nvSpPr>
        <p:spPr>
          <a:xfrm>
            <a:off x="4500683" y="6854932"/>
            <a:ext cx="2385892" cy="600164"/>
          </a:xfrm>
          <a:prstGeom prst="rect">
            <a:avLst/>
          </a:prstGeom>
          <a:noFill/>
        </p:spPr>
        <p:txBody>
          <a:bodyPr wrap="square">
            <a:spAutoFit/>
          </a:bodyPr>
          <a:lstStyle>
            <a:defPPr>
              <a:defRPr lang="fr-FR"/>
            </a:defPPr>
            <a:lvl1pPr>
              <a:defRPr sz="1100"/>
            </a:lvl1pPr>
          </a:lstStyle>
          <a:p>
            <a:pPr algn="ctr"/>
            <a:r>
              <a:rPr lang="fr-FR" dirty="0"/>
              <a:t>Panier à tarif libre et remboursé par</a:t>
            </a:r>
          </a:p>
          <a:p>
            <a:pPr algn="ctr"/>
            <a:r>
              <a:rPr lang="fr-FR" dirty="0"/>
              <a:t>l’assurance complémentaire dans les</a:t>
            </a:r>
          </a:p>
          <a:p>
            <a:pPr algn="ctr"/>
            <a:r>
              <a:rPr lang="fr-FR" dirty="0"/>
              <a:t>conditions prévues par le contrat</a:t>
            </a:r>
          </a:p>
        </p:txBody>
      </p:sp>
      <p:sp>
        <p:nvSpPr>
          <p:cNvPr id="4519" name="ZoneTexte 4518">
            <a:extLst>
              <a:ext uri="{FF2B5EF4-FFF2-40B4-BE49-F238E27FC236}">
                <a16:creationId xmlns:a16="http://schemas.microsoft.com/office/drawing/2014/main" id="{8CFAC478-7838-F018-5E51-DED49538B610}"/>
              </a:ext>
            </a:extLst>
          </p:cNvPr>
          <p:cNvSpPr txBox="1"/>
          <p:nvPr/>
        </p:nvSpPr>
        <p:spPr>
          <a:xfrm>
            <a:off x="330200" y="8327508"/>
            <a:ext cx="6556375" cy="738664"/>
          </a:xfrm>
          <a:prstGeom prst="rect">
            <a:avLst/>
          </a:prstGeom>
          <a:noFill/>
        </p:spPr>
        <p:txBody>
          <a:bodyPr wrap="square" rtlCol="0">
            <a:spAutoFit/>
          </a:bodyPr>
          <a:lstStyle>
            <a:defPPr>
              <a:defRPr lang="fr-FR"/>
            </a:defPPr>
            <a:lvl1pPr>
              <a:defRPr sz="1600"/>
            </a:lvl1pPr>
          </a:lstStyle>
          <a:p>
            <a:r>
              <a:rPr lang="fr-FR" sz="1400" dirty="0"/>
              <a:t>&gt; Fixation de prix limites de vente (PLV) imposés aux professionnels de santé</a:t>
            </a:r>
          </a:p>
          <a:p>
            <a:r>
              <a:rPr lang="fr-FR" sz="1400" dirty="0"/>
              <a:t>&gt; Augmentation de la base de remboursement (BR) du régime obligatoire (RO) &amp; du remboursement des complémentaires santé</a:t>
            </a:r>
          </a:p>
        </p:txBody>
      </p:sp>
      <p:grpSp>
        <p:nvGrpSpPr>
          <p:cNvPr id="5" name="Groupe 4">
            <a:extLst>
              <a:ext uri="{FF2B5EF4-FFF2-40B4-BE49-F238E27FC236}">
                <a16:creationId xmlns:a16="http://schemas.microsoft.com/office/drawing/2014/main" id="{0AE3EC58-2570-24B2-A376-CE30A8170CD2}"/>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048E3B05-1872-FB39-12C7-0CC431543416}"/>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a:t>
              </a:r>
              <a:r>
                <a:rPr lang="fr-FR" b="1" dirty="0" err="1">
                  <a:solidFill>
                    <a:schemeClr val="tx1"/>
                  </a:solidFill>
                </a:rPr>
                <a:t>Innov’santé</a:t>
              </a:r>
              <a:r>
                <a:rPr lang="fr-FR" b="1" dirty="0">
                  <a:solidFill>
                    <a:schemeClr val="tx1"/>
                  </a:solidFill>
                </a:rPr>
                <a:t>    by                               assuré par                                 </a:t>
              </a:r>
            </a:p>
          </p:txBody>
        </p:sp>
        <p:pic>
          <p:nvPicPr>
            <p:cNvPr id="9" name="Picture 2" descr="Néoliane Santé &amp; Prévoyance">
              <a:extLst>
                <a:ext uri="{FF2B5EF4-FFF2-40B4-BE49-F238E27FC236}">
                  <a16:creationId xmlns:a16="http://schemas.microsoft.com/office/drawing/2014/main" id="{139F0CA3-9485-0D9D-564E-2B8CF4D24A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1097" y="263005"/>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imaux Santé | Mutuelle Animaux">
              <a:extLst>
                <a:ext uri="{FF2B5EF4-FFF2-40B4-BE49-F238E27FC236}">
                  <a16:creationId xmlns:a16="http://schemas.microsoft.com/office/drawing/2014/main" id="{E0190685-A496-0469-FC49-F16F92A181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6794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100% Santé : des soins pour tous, 100% pris en charge">
            <a:extLst>
              <a:ext uri="{FF2B5EF4-FFF2-40B4-BE49-F238E27FC236}">
                <a16:creationId xmlns:a16="http://schemas.microsoft.com/office/drawing/2014/main" id="{535F1D54-3CF9-96D7-AAF2-E939F78F3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90" t="9007" r="12611" b="13073"/>
          <a:stretch/>
        </p:blipFill>
        <p:spPr bwMode="auto">
          <a:xfrm>
            <a:off x="2566913" y="980122"/>
            <a:ext cx="1489221" cy="1060948"/>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1DC311B0-BB0D-C427-5533-FA4B6E6AB3D1}"/>
              </a:ext>
            </a:extLst>
          </p:cNvPr>
          <p:cNvPicPr>
            <a:picLocks noChangeAspect="1"/>
          </p:cNvPicPr>
          <p:nvPr/>
        </p:nvPicPr>
        <p:blipFill>
          <a:blip r:embed="rId5"/>
          <a:stretch>
            <a:fillRect/>
          </a:stretch>
        </p:blipFill>
        <p:spPr>
          <a:xfrm>
            <a:off x="876398" y="1992003"/>
            <a:ext cx="5911752" cy="7546705"/>
          </a:xfrm>
          <a:prstGeom prst="rect">
            <a:avLst/>
          </a:prstGeom>
        </p:spPr>
      </p:pic>
      <p:pic>
        <p:nvPicPr>
          <p:cNvPr id="4521" name="Image 4520">
            <a:extLst>
              <a:ext uri="{FF2B5EF4-FFF2-40B4-BE49-F238E27FC236}">
                <a16:creationId xmlns:a16="http://schemas.microsoft.com/office/drawing/2014/main" id="{F2436BD2-3577-BD8A-85C5-5DC2CED6D670}"/>
              </a:ext>
            </a:extLst>
          </p:cNvPr>
          <p:cNvPicPr>
            <a:picLocks noChangeAspect="1"/>
          </p:cNvPicPr>
          <p:nvPr/>
        </p:nvPicPr>
        <p:blipFill>
          <a:blip r:embed="rId6"/>
          <a:stretch>
            <a:fillRect/>
          </a:stretch>
        </p:blipFill>
        <p:spPr>
          <a:xfrm>
            <a:off x="0" y="2996154"/>
            <a:ext cx="1147989" cy="641789"/>
          </a:xfrm>
          <a:prstGeom prst="rect">
            <a:avLst/>
          </a:prstGeom>
        </p:spPr>
      </p:pic>
      <p:pic>
        <p:nvPicPr>
          <p:cNvPr id="4523" name="Image 4522">
            <a:extLst>
              <a:ext uri="{FF2B5EF4-FFF2-40B4-BE49-F238E27FC236}">
                <a16:creationId xmlns:a16="http://schemas.microsoft.com/office/drawing/2014/main" id="{8B48A7BA-1DFB-F2BE-DE2C-4BC7F7A60D2E}"/>
              </a:ext>
            </a:extLst>
          </p:cNvPr>
          <p:cNvPicPr>
            <a:picLocks noChangeAspect="1"/>
          </p:cNvPicPr>
          <p:nvPr/>
        </p:nvPicPr>
        <p:blipFill>
          <a:blip r:embed="rId7"/>
          <a:stretch>
            <a:fillRect/>
          </a:stretch>
        </p:blipFill>
        <p:spPr>
          <a:xfrm>
            <a:off x="-1" y="5446720"/>
            <a:ext cx="1147989" cy="637269"/>
          </a:xfrm>
          <a:prstGeom prst="rect">
            <a:avLst/>
          </a:prstGeom>
        </p:spPr>
      </p:pic>
      <p:pic>
        <p:nvPicPr>
          <p:cNvPr id="4525" name="Image 4524">
            <a:extLst>
              <a:ext uri="{FF2B5EF4-FFF2-40B4-BE49-F238E27FC236}">
                <a16:creationId xmlns:a16="http://schemas.microsoft.com/office/drawing/2014/main" id="{1972CFFC-EBC6-164E-87F7-F7B190FCA70F}"/>
              </a:ext>
            </a:extLst>
          </p:cNvPr>
          <p:cNvPicPr>
            <a:picLocks noChangeAspect="1"/>
          </p:cNvPicPr>
          <p:nvPr/>
        </p:nvPicPr>
        <p:blipFill>
          <a:blip r:embed="rId8"/>
          <a:stretch>
            <a:fillRect/>
          </a:stretch>
        </p:blipFill>
        <p:spPr>
          <a:xfrm>
            <a:off x="-1" y="7991398"/>
            <a:ext cx="1138950" cy="601113"/>
          </a:xfrm>
          <a:prstGeom prst="rect">
            <a:avLst/>
          </a:prstGeom>
        </p:spPr>
      </p:pic>
      <p:grpSp>
        <p:nvGrpSpPr>
          <p:cNvPr id="2" name="Groupe 1">
            <a:extLst>
              <a:ext uri="{FF2B5EF4-FFF2-40B4-BE49-F238E27FC236}">
                <a16:creationId xmlns:a16="http://schemas.microsoft.com/office/drawing/2014/main" id="{822D8EA7-7FFE-62B5-25C0-D97968CE88D9}"/>
              </a:ext>
            </a:extLst>
          </p:cNvPr>
          <p:cNvGrpSpPr/>
          <p:nvPr/>
        </p:nvGrpSpPr>
        <p:grpSpPr>
          <a:xfrm>
            <a:off x="101600" y="93434"/>
            <a:ext cx="6686550" cy="628847"/>
            <a:chOff x="101600" y="93434"/>
            <a:chExt cx="6686550" cy="628847"/>
          </a:xfrm>
        </p:grpSpPr>
        <p:sp>
          <p:nvSpPr>
            <p:cNvPr id="5" name="Rectangle : coins arrondis 4">
              <a:extLst>
                <a:ext uri="{FF2B5EF4-FFF2-40B4-BE49-F238E27FC236}">
                  <a16:creationId xmlns:a16="http://schemas.microsoft.com/office/drawing/2014/main" id="{1FAB22C6-0E21-4251-14B9-CEDFAC377202}"/>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a:t>
              </a:r>
              <a:r>
                <a:rPr lang="fr-FR" b="1" dirty="0" err="1">
                  <a:solidFill>
                    <a:schemeClr val="tx1"/>
                  </a:solidFill>
                </a:rPr>
                <a:t>Innov’santé</a:t>
              </a:r>
              <a:r>
                <a:rPr lang="fr-FR" b="1" dirty="0">
                  <a:solidFill>
                    <a:schemeClr val="tx1"/>
                  </a:solidFill>
                </a:rPr>
                <a:t>    by                               assuré par                                 </a:t>
              </a:r>
            </a:p>
          </p:txBody>
        </p:sp>
        <p:pic>
          <p:nvPicPr>
            <p:cNvPr id="7" name="Picture 2" descr="Néoliane Santé &amp; Prévoyance">
              <a:extLst>
                <a:ext uri="{FF2B5EF4-FFF2-40B4-BE49-F238E27FC236}">
                  <a16:creationId xmlns:a16="http://schemas.microsoft.com/office/drawing/2014/main" id="{CCCF9C82-8B64-B2BA-0A73-0A5B5A5A4F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1097" y="263005"/>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nimaux Santé | Mutuelle Animaux">
              <a:extLst>
                <a:ext uri="{FF2B5EF4-FFF2-40B4-BE49-F238E27FC236}">
                  <a16:creationId xmlns:a16="http://schemas.microsoft.com/office/drawing/2014/main" id="{0BE94FA4-2C45-4B74-E7F9-5F791D57D28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2490261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1428</TotalTime>
  <Words>812</Words>
  <Application>Microsoft Office PowerPoint</Application>
  <PresentationFormat>Format A4 (210 x 297 mm)</PresentationFormat>
  <Paragraphs>87</Paragraphs>
  <Slides>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Calibri</vt:lpstr>
      <vt:lpstr>Calibri Light</vt:lpstr>
      <vt:lpstr>Source Sans Pro</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Aurelie Racamier</dc:creator>
  <cp:lastModifiedBy>SOFIANE DEKKAK</cp:lastModifiedBy>
  <cp:revision>59</cp:revision>
  <cp:lastPrinted>2024-03-26T10:36:48Z</cp:lastPrinted>
  <dcterms:created xsi:type="dcterms:W3CDTF">2018-01-12T04:36:24Z</dcterms:created>
  <dcterms:modified xsi:type="dcterms:W3CDTF">2025-09-08T11:58:24Z</dcterms:modified>
</cp:coreProperties>
</file>