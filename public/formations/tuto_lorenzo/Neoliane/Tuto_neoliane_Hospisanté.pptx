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gMIsxgddgYKi9SdtYnE7TMhvgZ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cee29a0af_0_0:notes"/>
          <p:cNvSpPr/>
          <p:nvPr>
            <p:ph idx="2" type="sldImg"/>
          </p:nvPr>
        </p:nvSpPr>
        <p:spPr>
          <a:xfrm>
            <a:off x="2357438" y="1279525"/>
            <a:ext cx="23892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cee29a0af_0_0:notes"/>
          <p:cNvSpPr txBox="1"/>
          <p:nvPr>
            <p:ph idx="1" type="body"/>
          </p:nvPr>
        </p:nvSpPr>
        <p:spPr>
          <a:xfrm>
            <a:off x="710407" y="4925407"/>
            <a:ext cx="5683200" cy="4029900"/>
          </a:xfrm>
          <a:prstGeom prst="rect">
            <a:avLst/>
          </a:prstGeom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ccee29a0af_0_0:notes"/>
          <p:cNvSpPr txBox="1"/>
          <p:nvPr>
            <p:ph idx="12" type="sldNum"/>
          </p:nvPr>
        </p:nvSpPr>
        <p:spPr>
          <a:xfrm>
            <a:off x="4023992" y="9721107"/>
            <a:ext cx="3078300" cy="513600"/>
          </a:xfrm>
          <a:prstGeom prst="rect">
            <a:avLst/>
          </a:prstGeom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1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23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23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11" Type="http://schemas.openxmlformats.org/officeDocument/2006/relationships/image" Target="../media/image8.png"/><Relationship Id="rId10" Type="http://schemas.openxmlformats.org/officeDocument/2006/relationships/image" Target="../media/image6.png"/><Relationship Id="rId9" Type="http://schemas.openxmlformats.org/officeDocument/2006/relationships/image" Target="../media/image5.png"/><Relationship Id="rId5" Type="http://schemas.openxmlformats.org/officeDocument/2006/relationships/image" Target="../media/image3.jpg"/><Relationship Id="rId6" Type="http://schemas.openxmlformats.org/officeDocument/2006/relationships/hyperlink" Target="#'5'!A1" TargetMode="External"/><Relationship Id="rId7" Type="http://schemas.openxmlformats.org/officeDocument/2006/relationships/image" Target="../media/image4.png"/><Relationship Id="rId8" Type="http://schemas.openxmlformats.org/officeDocument/2006/relationships/hyperlink" Target="#'9'!A1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11" Type="http://schemas.openxmlformats.org/officeDocument/2006/relationships/image" Target="../media/image15.png"/><Relationship Id="rId10" Type="http://schemas.openxmlformats.org/officeDocument/2006/relationships/image" Target="../media/image16.png"/><Relationship Id="rId9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hyperlink" Target="#'9'!A1" TargetMode="External"/><Relationship Id="rId7" Type="http://schemas.openxmlformats.org/officeDocument/2006/relationships/image" Target="../media/image5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2234628" y="1810105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NON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formules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534659" y="4166058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Un Tiers payant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Un tiers payant national, qui vous évite d’avancer les frais médicaux.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2263652" y="665585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14"/>
          <p:cNvGrpSpPr/>
          <p:nvPr/>
        </p:nvGrpSpPr>
        <p:grpSpPr>
          <a:xfrm>
            <a:off x="2292505" y="2047523"/>
            <a:ext cx="976837" cy="1010393"/>
            <a:chOff x="2109263" y="1465142"/>
            <a:chExt cx="976837" cy="1010393"/>
          </a:xfrm>
        </p:grpSpPr>
        <p:sp>
          <p:nvSpPr>
            <p:cNvPr id="94" name="Google Shape;94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5" name="Google Shape;95;p14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" name="Google Shape;96;p14"/>
          <p:cNvGrpSpPr/>
          <p:nvPr/>
        </p:nvGrpSpPr>
        <p:grpSpPr>
          <a:xfrm>
            <a:off x="2604360" y="4409449"/>
            <a:ext cx="976837" cy="1010393"/>
            <a:chOff x="2693612" y="4712978"/>
            <a:chExt cx="976837" cy="1010393"/>
          </a:xfrm>
        </p:grpSpPr>
        <p:sp>
          <p:nvSpPr>
            <p:cNvPr id="97" name="Google Shape;97;p14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iers payant : qu'est-ce que c'est et comment l'obtenir ?" id="98" name="Google Shape;98;p14"/>
            <p:cNvPicPr preferRelativeResize="0"/>
            <p:nvPr/>
          </p:nvPicPr>
          <p:blipFill rotWithShape="1">
            <a:blip r:embed="rId4">
              <a:alphaModFix/>
            </a:blip>
            <a:srcRect b="4849" l="19237" r="29792" t="4849"/>
            <a:stretch/>
          </p:blipFill>
          <p:spPr>
            <a:xfrm>
              <a:off x="2862942" y="4910684"/>
              <a:ext cx="638175" cy="5960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" name="Google Shape;99;p14"/>
          <p:cNvGrpSpPr/>
          <p:nvPr/>
        </p:nvGrpSpPr>
        <p:grpSpPr>
          <a:xfrm>
            <a:off x="2344598" y="6900614"/>
            <a:ext cx="976837" cy="1010393"/>
            <a:chOff x="2566518" y="6340968"/>
            <a:chExt cx="976837" cy="1010393"/>
          </a:xfrm>
        </p:grpSpPr>
        <p:sp>
          <p:nvSpPr>
            <p:cNvPr id="100" name="Google Shape;100;p14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01" name="Google Shape;101;p14"/>
            <p:cNvPicPr preferRelativeResize="0"/>
            <p:nvPr/>
          </p:nvPicPr>
          <p:blipFill rotWithShape="1">
            <a:blip r:embed="rId5">
              <a:alphaModFix/>
            </a:blip>
            <a:srcRect b="31895" l="20106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2" name="Google Shape;102;p14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84502" y="4506830"/>
            <a:ext cx="1209326" cy="68048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55 et +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sans limite d’âge</a:t>
            </a:r>
            <a:endParaRPr/>
          </a:p>
        </p:txBody>
      </p:sp>
      <p:pic>
        <p:nvPicPr>
          <p:cNvPr descr="Comment contacter Inter Mutuelles Assistance ?" id="105" name="Google Shape;105;p14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23858" l="0" r="4129" t="28225"/>
          <a:stretch/>
        </p:blipFill>
        <p:spPr>
          <a:xfrm>
            <a:off x="4418246" y="6908525"/>
            <a:ext cx="1403686" cy="7784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" name="Google Shape;106;p14"/>
          <p:cNvGrpSpPr/>
          <p:nvPr/>
        </p:nvGrpSpPr>
        <p:grpSpPr>
          <a:xfrm>
            <a:off x="101600" y="93434"/>
            <a:ext cx="6686550" cy="628847"/>
            <a:chOff x="101600" y="93434"/>
            <a:chExt cx="6686550" cy="628847"/>
          </a:xfrm>
        </p:grpSpPr>
        <p:sp>
          <p:nvSpPr>
            <p:cNvPr id="107" name="Google Shape;107;p14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Hospisanté   by                               assuré par                                 </a:t>
              </a:r>
              <a:endParaRPr/>
            </a:p>
          </p:txBody>
        </p:sp>
        <p:pic>
          <p:nvPicPr>
            <p:cNvPr descr="Néoliane Santé &amp; Prévoyance" id="108" name="Google Shape;108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495759" y="290464"/>
              <a:ext cx="1206122" cy="234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imaux Santé | Mutuelle Animaux" id="109" name="Google Shape;109;p1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996299" y="93434"/>
              <a:ext cx="1627605" cy="6288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nimaux Santé | Mutuelle Animaux" id="110" name="Google Shape;110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205395" y="2182366"/>
            <a:ext cx="1627605" cy="628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348343" y="2933701"/>
            <a:ext cx="6198508" cy="541483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prise en charge de vos soins hospitaliers et une couverture pour vos soins courants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329746" y="4196915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329746" y="4665038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348343" y="5308263"/>
            <a:ext cx="6198508" cy="541483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Chambre particulière et frais de séjour en cas d’hospitalisation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348343" y="5929445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 de 10% pour les couples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329746" y="2290372"/>
            <a:ext cx="6198508" cy="56210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très bon rapport qualité / prix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348343" y="6414128"/>
            <a:ext cx="6198508" cy="53912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service de téléconsultation, accessible 7/7 de 8h à 23h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348343" y="7644289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IMA en inclusion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disponibles 7j/7, 24h/24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haut de gamme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immobilisation, en cas de décès, en cas déplacement, ….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5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24" name="Google Shape;124;p15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Néoliane</a:t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Hospisanté?</a:t>
              </a:r>
              <a:endParaRPr/>
            </a:p>
          </p:txBody>
        </p:sp>
        <p:pic>
          <p:nvPicPr>
            <p:cNvPr descr="Bonne idée - Icônes commercialisation gratuites" id="125" name="Google Shape;12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6" name="Google Shape;126;p15"/>
          <p:cNvGrpSpPr/>
          <p:nvPr/>
        </p:nvGrpSpPr>
        <p:grpSpPr>
          <a:xfrm>
            <a:off x="101600" y="93434"/>
            <a:ext cx="6686550" cy="628847"/>
            <a:chOff x="101600" y="93434"/>
            <a:chExt cx="6686550" cy="628847"/>
          </a:xfrm>
        </p:grpSpPr>
        <p:sp>
          <p:nvSpPr>
            <p:cNvPr id="127" name="Google Shape;127;p15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Hospisanté   by                               assuré par                                 </a:t>
              </a:r>
              <a:endParaRPr/>
            </a:p>
          </p:txBody>
        </p:sp>
        <p:pic>
          <p:nvPicPr>
            <p:cNvPr descr="Néoliane Santé &amp; Prévoyance" id="128" name="Google Shape;128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95759" y="290464"/>
              <a:ext cx="1206122" cy="234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imaux Santé | Mutuelle Animaux" id="129" name="Google Shape;129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96299" y="93434"/>
              <a:ext cx="1627605" cy="6288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15"/>
          <p:cNvSpPr/>
          <p:nvPr/>
        </p:nvSpPr>
        <p:spPr>
          <a:xfrm>
            <a:off x="345621" y="3559173"/>
            <a:ext cx="6198508" cy="541483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Aucune limite d ’âge à l’adhésion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345621" y="7024952"/>
            <a:ext cx="6198508" cy="53912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service en ligne pour obtenir un deuxième avis médical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Sur plus de 300 pathologies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cee29a0af_0_0"/>
          <p:cNvSpPr txBox="1"/>
          <p:nvPr>
            <p:ph type="title"/>
          </p:nvPr>
        </p:nvSpPr>
        <p:spPr>
          <a:xfrm>
            <a:off x="471488" y="527404"/>
            <a:ext cx="5915100" cy="1914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Google Shape;143;p16"/>
          <p:cNvGrpSpPr/>
          <p:nvPr/>
        </p:nvGrpSpPr>
        <p:grpSpPr>
          <a:xfrm>
            <a:off x="101600" y="93434"/>
            <a:ext cx="6686550" cy="628847"/>
            <a:chOff x="101600" y="93434"/>
            <a:chExt cx="6686550" cy="628847"/>
          </a:xfrm>
        </p:grpSpPr>
        <p:sp>
          <p:nvSpPr>
            <p:cNvPr id="144" name="Google Shape;144;p16"/>
            <p:cNvSpPr/>
            <p:nvPr/>
          </p:nvSpPr>
          <p:spPr>
            <a:xfrm>
              <a:off x="101600" y="93434"/>
              <a:ext cx="6686550" cy="62865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44450">
              <a:solidFill>
                <a:srgbClr val="2F54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Hospisanté   by                               assuré par                                 </a:t>
              </a:r>
              <a:endParaRPr/>
            </a:p>
          </p:txBody>
        </p:sp>
        <p:pic>
          <p:nvPicPr>
            <p:cNvPr descr="Néoliane Santé &amp; Prévoyance" id="145" name="Google Shape;145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95759" y="290464"/>
              <a:ext cx="1206122" cy="2345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imaux Santé | Mutuelle Animaux" id="146" name="Google Shape;146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96299" y="93434"/>
              <a:ext cx="1627605" cy="6288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Comment contacter Inter Mutuelles Assistance ?" id="147" name="Google Shape;147;p16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23858" l="0" r="4129" t="28225"/>
          <a:stretch/>
        </p:blipFill>
        <p:spPr>
          <a:xfrm>
            <a:off x="993948" y="862992"/>
            <a:ext cx="1463258" cy="8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1999662" y="839301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IMA ?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956518" y="2582472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 vous propose gratuitement:</a:t>
            </a:r>
            <a:endParaRPr/>
          </a:p>
        </p:txBody>
      </p:sp>
      <p:grpSp>
        <p:nvGrpSpPr>
          <p:cNvPr id="150" name="Google Shape;150;p16"/>
          <p:cNvGrpSpPr/>
          <p:nvPr/>
        </p:nvGrpSpPr>
        <p:grpSpPr>
          <a:xfrm>
            <a:off x="120105" y="3514045"/>
            <a:ext cx="6020613" cy="811475"/>
            <a:chOff x="400050" y="2786464"/>
            <a:chExt cx="6020613" cy="811475"/>
          </a:xfrm>
        </p:grpSpPr>
        <p:sp>
          <p:nvSpPr>
            <p:cNvPr id="151" name="Google Shape;151;p16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/>
            </a:p>
          </p:txBody>
        </p:sp>
        <p:pic>
          <p:nvPicPr>
            <p:cNvPr id="152" name="Google Shape;152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" name="Google Shape;153;p16"/>
          <p:cNvGrpSpPr/>
          <p:nvPr/>
        </p:nvGrpSpPr>
        <p:grpSpPr>
          <a:xfrm>
            <a:off x="993948" y="4589245"/>
            <a:ext cx="5639929" cy="662278"/>
            <a:chOff x="222327" y="3957748"/>
            <a:chExt cx="6053947" cy="662278"/>
          </a:xfrm>
        </p:grpSpPr>
        <p:sp>
          <p:nvSpPr>
            <p:cNvPr id="154" name="Google Shape;154;p16"/>
            <p:cNvSpPr txBox="1"/>
            <p:nvPr/>
          </p:nvSpPr>
          <p:spPr>
            <a:xfrm>
              <a:off x="943701" y="4097900"/>
              <a:ext cx="533257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Livraison des médicaments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5" name="Google Shape;155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" name="Google Shape;156;p16"/>
          <p:cNvGrpSpPr/>
          <p:nvPr/>
        </p:nvGrpSpPr>
        <p:grpSpPr>
          <a:xfrm>
            <a:off x="273017" y="5847231"/>
            <a:ext cx="6198819" cy="733785"/>
            <a:chOff x="222327" y="5188381"/>
            <a:chExt cx="6198819" cy="733785"/>
          </a:xfrm>
        </p:grpSpPr>
        <p:pic>
          <p:nvPicPr>
            <p:cNvPr id="157" name="Google Shape;157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2327" y="5188381"/>
              <a:ext cx="836413" cy="733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16"/>
            <p:cNvSpPr txBox="1"/>
            <p:nvPr/>
          </p:nvSpPr>
          <p:spPr>
            <a:xfrm>
              <a:off x="1088573" y="5248670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prise en charge l’animal chez l’adhérant, par un pet Sitter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 (Visite, promenade, garde, …)</a:t>
              </a:r>
              <a:endParaRPr/>
            </a:p>
          </p:txBody>
        </p:sp>
      </p:grpSp>
      <p:grpSp>
        <p:nvGrpSpPr>
          <p:cNvPr id="159" name="Google Shape;159;p16"/>
          <p:cNvGrpSpPr/>
          <p:nvPr/>
        </p:nvGrpSpPr>
        <p:grpSpPr>
          <a:xfrm>
            <a:off x="1109430" y="7419366"/>
            <a:ext cx="5524447" cy="609704"/>
            <a:chOff x="194325" y="7406539"/>
            <a:chExt cx="6214502" cy="609704"/>
          </a:xfrm>
        </p:grpSpPr>
        <p:sp>
          <p:nvSpPr>
            <p:cNvPr id="160" name="Google Shape;160;p16"/>
            <p:cNvSpPr txBox="1"/>
            <p:nvPr/>
          </p:nvSpPr>
          <p:spPr>
            <a:xfrm>
              <a:off x="1076254" y="7449781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Le déplacement aller et retour, d’un proche et son hébergement pendant 2 nuits</a:t>
              </a:r>
              <a:endParaRPr/>
            </a:p>
          </p:txBody>
        </p:sp>
        <p:pic>
          <p:nvPicPr>
            <p:cNvPr id="161" name="Google Shape;161;p1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94325" y="7406539"/>
              <a:ext cx="848744" cy="6097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