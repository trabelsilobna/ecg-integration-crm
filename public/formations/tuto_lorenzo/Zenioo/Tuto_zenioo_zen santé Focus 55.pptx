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guyiDTTcXPOY+tBXNYM6wsbd7G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sz="1014"/>
            </a:lvl3pPr>
            <a:lvl4pPr lvl="3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1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015"/>
              <a:buNone/>
              <a:defRPr sz="1014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14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14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3052" lvl="3" marL="1828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3052" lvl="4" marL="22860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3052" lvl="5" marL="27432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3052" lvl="6" marL="3200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3052" lvl="7" marL="3657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3052" lvl="8" marL="4114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hyperlink" Target="#'2'!A1" TargetMode="External"/><Relationship Id="rId13" Type="http://schemas.openxmlformats.org/officeDocument/2006/relationships/image" Target="../media/image6.png"/><Relationship Id="rId12" Type="http://schemas.openxmlformats.org/officeDocument/2006/relationships/hyperlink" Target="#'5'!A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5" Type="http://schemas.openxmlformats.org/officeDocument/2006/relationships/image" Target="../media/image1.png"/><Relationship Id="rId14" Type="http://schemas.openxmlformats.org/officeDocument/2006/relationships/hyperlink" Target="#'17'!A1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30.jpg"/><Relationship Id="rId7" Type="http://schemas.openxmlformats.org/officeDocument/2006/relationships/image" Target="../media/image11.png"/><Relationship Id="rId8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#'2'!A1" TargetMode="External"/><Relationship Id="rId9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8.jpg"/><Relationship Id="rId8" Type="http://schemas.openxmlformats.org/officeDocument/2006/relationships/image" Target="../media/image21.jp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31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#'17'!A1" TargetMode="External"/><Relationship Id="rId9" Type="http://schemas.openxmlformats.org/officeDocument/2006/relationships/image" Target="../media/image23.png"/><Relationship Id="rId5" Type="http://schemas.openxmlformats.org/officeDocument/2006/relationships/image" Target="../media/image1.png"/><Relationship Id="rId6" Type="http://schemas.openxmlformats.org/officeDocument/2006/relationships/image" Target="../media/image29.png"/><Relationship Id="rId7" Type="http://schemas.openxmlformats.org/officeDocument/2006/relationships/image" Target="../media/image20.png"/><Relationship Id="rId8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9" Type="http://schemas.openxmlformats.org/officeDocument/2006/relationships/image" Target="../media/image15.png"/><Relationship Id="rId5" Type="http://schemas.openxmlformats.org/officeDocument/2006/relationships/image" Target="../media/image32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Relationship Id="rId8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grpSp>
        <p:nvGrpSpPr>
          <p:cNvPr id="89" name="Google Shape;89;p1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90" name="Google Shape;90;p1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Focus 55+ by  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91" name="Google Shape;91;p1"/>
            <p:cNvPicPr preferRelativeResize="0"/>
            <p:nvPr/>
          </p:nvPicPr>
          <p:blipFill rotWithShape="1">
            <a:blip r:embed="rId3">
              <a:alphaModFix/>
            </a:blip>
            <a:srcRect b="19333" l="0" r="0" t="26667"/>
            <a:stretch/>
          </p:blipFill>
          <p:spPr>
            <a:xfrm>
              <a:off x="2992459" y="427494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" name="Google Shape;93;p1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formules classiques  3 formules renforcées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2463800" y="284759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16000 professionnels  de santé pour des    équipements de qualité à prix réduit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2841625" y="450043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2463800" y="611616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"/>
          <p:cNvGrpSpPr/>
          <p:nvPr/>
        </p:nvGrpSpPr>
        <p:grpSpPr>
          <a:xfrm>
            <a:off x="2000586" y="1662367"/>
            <a:ext cx="976837" cy="1010393"/>
            <a:chOff x="2109263" y="1465142"/>
            <a:chExt cx="976837" cy="1010393"/>
          </a:xfrm>
        </p:grpSpPr>
        <p:sp>
          <p:nvSpPr>
            <p:cNvPr id="99" name="Google Shape;99;p1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100" name="Google Shape;100;p1"/>
            <p:cNvPicPr preferRelativeResize="0"/>
            <p:nvPr/>
          </p:nvPicPr>
          <p:blipFill rotWithShape="1">
            <a:blip r:embed="rId5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1"/>
          <p:cNvGrpSpPr/>
          <p:nvPr/>
        </p:nvGrpSpPr>
        <p:grpSpPr>
          <a:xfrm>
            <a:off x="2524885" y="3065751"/>
            <a:ext cx="976837" cy="1010393"/>
            <a:chOff x="2548471" y="3049424"/>
            <a:chExt cx="976837" cy="1010393"/>
          </a:xfrm>
        </p:grpSpPr>
        <p:sp>
          <p:nvSpPr>
            <p:cNvPr id="102" name="Google Shape;102;p1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103" name="Google Shape;103;p1"/>
            <p:cNvPicPr preferRelativeResize="0"/>
            <p:nvPr/>
          </p:nvPicPr>
          <p:blipFill rotWithShape="1">
            <a:blip r:embed="rId6">
              <a:alphaModFix/>
            </a:blip>
            <a:srcRect b="17480" l="6110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1"/>
          <p:cNvGrpSpPr/>
          <p:nvPr/>
        </p:nvGrpSpPr>
        <p:grpSpPr>
          <a:xfrm>
            <a:off x="2911326" y="4743824"/>
            <a:ext cx="976837" cy="1010393"/>
            <a:chOff x="2693612" y="4712978"/>
            <a:chExt cx="976837" cy="1010393"/>
          </a:xfrm>
        </p:grpSpPr>
        <p:sp>
          <p:nvSpPr>
            <p:cNvPr id="105" name="Google Shape;105;p1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106" name="Google Shape;106;p1"/>
            <p:cNvPicPr preferRelativeResize="0"/>
            <p:nvPr/>
          </p:nvPicPr>
          <p:blipFill rotWithShape="1">
            <a:blip r:embed="rId7">
              <a:alphaModFix/>
            </a:blip>
            <a:srcRect b="4848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"/>
          <p:cNvGrpSpPr/>
          <p:nvPr/>
        </p:nvGrpSpPr>
        <p:grpSpPr>
          <a:xfrm>
            <a:off x="2544746" y="6360928"/>
            <a:ext cx="976837" cy="1010393"/>
            <a:chOff x="2566518" y="6340968"/>
            <a:chExt cx="976837" cy="1010393"/>
          </a:xfrm>
        </p:grpSpPr>
        <p:sp>
          <p:nvSpPr>
            <p:cNvPr id="108" name="Google Shape;108;p1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09" name="Google Shape;109;p1"/>
            <p:cNvPicPr preferRelativeResize="0"/>
            <p:nvPr/>
          </p:nvPicPr>
          <p:blipFill rotWithShape="1">
            <a:blip r:embed="rId8">
              <a:alphaModFix/>
            </a:blip>
            <a:srcRect b="31895" l="20105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" name="Google Shape;11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69749" y="1854968"/>
            <a:ext cx="1257151" cy="520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54439" y="3170627"/>
            <a:ext cx="640045" cy="687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26900" y="4891693"/>
            <a:ext cx="930612" cy="523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istance : Quatrième semaine de grève chez Filassistance - News  Assurances Pro" id="113" name="Google Shape;113;p1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20179" l="23950" r="28402" t="10714"/>
          <a:stretch/>
        </p:blipFill>
        <p:spPr>
          <a:xfrm>
            <a:off x="5035820" y="6491554"/>
            <a:ext cx="825125" cy="6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+ 55 ans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/>
          <p:nvPr/>
        </p:nvSpPr>
        <p:spPr>
          <a:xfrm>
            <a:off x="348343" y="2316483"/>
            <a:ext cx="6198508" cy="79828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solution qui offre le choix entre une formule classique et une formule renforcée selon les  besoins de vos clients.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329746" y="3237343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348343" y="3719939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348343" y="4362175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 professions éligibles pour le poste médecine naturelle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329746" y="4855661"/>
            <a:ext cx="6198508" cy="56210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économies avec les options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« Éco Dentaire » et « Éco Optique » pour une réduction jusqu’à - 10 %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348343" y="5523315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DUO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dès 2 assurés réduction de 10 % par adulte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348343" y="6020749"/>
            <a:ext cx="6198508" cy="128304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Kalixia, 1er réseau de soins de santé de France.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tarifs négociés auprès 6 700 centres d’optiques, 4 500 chirurgiens-dentistes et orthodontistes, 4500 centres audio partenaires et 450 ostéopathes, répartis sur l’ensemble du territoire.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348343" y="7412150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Filassistance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disponibles 7j/7, 24h/24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haut de gamme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inclusion sur mesure pour les seniors: téléconsultations illimitées, accompagnement maladie chronique,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port de médicaments ...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2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29" name="Google Shape;129;p2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Zen Santé Focus 55 + ?</a:t>
              </a:r>
              <a:endParaRPr/>
            </a:p>
          </p:txBody>
        </p:sp>
        <p:pic>
          <p:nvPicPr>
            <p:cNvPr descr="Bonne idée - Icônes commercialisation gratuites" id="130" name="Google Shape;130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2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132" name="Google Shape;132;p2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Focus 55+ by  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133" name="Google Shape;133;p2"/>
            <p:cNvPicPr preferRelativeResize="0"/>
            <p:nvPr/>
          </p:nvPicPr>
          <p:blipFill rotWithShape="1">
            <a:blip r:embed="rId4">
              <a:alphaModFix/>
            </a:blip>
            <a:srcRect b="19333" l="0" r="0" t="26667"/>
            <a:stretch/>
          </p:blipFill>
          <p:spPr>
            <a:xfrm>
              <a:off x="2992459" y="427494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" name="Google Shape;140;p3"/>
          <p:cNvGrpSpPr/>
          <p:nvPr/>
        </p:nvGrpSpPr>
        <p:grpSpPr>
          <a:xfrm>
            <a:off x="1004728" y="1167723"/>
            <a:ext cx="5099268" cy="1200329"/>
            <a:chOff x="976399" y="1029786"/>
            <a:chExt cx="5099268" cy="1200329"/>
          </a:xfrm>
        </p:grpSpPr>
        <p:pic>
          <p:nvPicPr>
            <p:cNvPr descr="ajuster la conception de l'icône créative 15456496 Art vectoriel chez  Vecteezy" id="141" name="Google Shape;141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63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3"/>
            <p:cNvSpPr txBox="1"/>
            <p:nvPr/>
          </p:nvSpPr>
          <p:spPr>
            <a:xfrm>
              <a:off x="2283733" y="1029786"/>
              <a:ext cx="3791934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Focus 55+, vous donne la possibilité de personnaliser vos garanties</a:t>
              </a:r>
              <a:endParaRPr/>
            </a:p>
          </p:txBody>
        </p:sp>
      </p:grpSp>
      <p:sp>
        <p:nvSpPr>
          <p:cNvPr id="143" name="Google Shape;143;p3"/>
          <p:cNvSpPr txBox="1"/>
          <p:nvPr/>
        </p:nvSpPr>
        <p:spPr>
          <a:xfrm>
            <a:off x="1142267" y="2731663"/>
            <a:ext cx="460521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Avec les formules renforcées, bénéficiez de garanties supplémentaires :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355599" y="4334809"/>
            <a:ext cx="610824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ctr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Calibri"/>
              <a:buAutoNum type="arabicPeriod"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La chambre particulière en cas d’hospitalisation</a:t>
            </a:r>
            <a:endParaRPr/>
          </a:p>
          <a:p>
            <a:pPr indent="-3302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2. La médecine naturelle (avec 20 professions éligibles)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3. La cure thermale (forfait spécifique pour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l’hébergement et les dépassements d’honoraires)</a:t>
            </a:r>
            <a:endParaRPr/>
          </a:p>
        </p:txBody>
      </p:sp>
      <p:grpSp>
        <p:nvGrpSpPr>
          <p:cNvPr id="145" name="Google Shape;145;p3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146" name="Google Shape;146;p3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Focus 55+ by  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147" name="Google Shape;147;p3"/>
            <p:cNvPicPr preferRelativeResize="0"/>
            <p:nvPr/>
          </p:nvPicPr>
          <p:blipFill rotWithShape="1">
            <a:blip r:embed="rId4">
              <a:alphaModFix/>
            </a:blip>
            <a:srcRect b="19333" l="0" r="0" t="26667"/>
            <a:stretch/>
          </p:blipFill>
          <p:spPr>
            <a:xfrm>
              <a:off x="2992459" y="427494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53" name="Google Shape;15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" name="Google Shape;154;p4"/>
          <p:cNvGrpSpPr/>
          <p:nvPr/>
        </p:nvGrpSpPr>
        <p:grpSpPr>
          <a:xfrm>
            <a:off x="1286084" y="873089"/>
            <a:ext cx="4823750" cy="1068608"/>
            <a:chOff x="1640097" y="967319"/>
            <a:chExt cx="4823750" cy="1068608"/>
          </a:xfrm>
        </p:grpSpPr>
        <p:pic>
          <p:nvPicPr>
            <p:cNvPr id="155" name="Google Shape;155;p4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0097" y="967319"/>
              <a:ext cx="995362" cy="1068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4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Pourquoi passer par le réseau de soin Kalixia ?</a:t>
              </a:r>
              <a:endParaRPr/>
            </a:p>
          </p:txBody>
        </p:sp>
      </p:grpSp>
      <p:grpSp>
        <p:nvGrpSpPr>
          <p:cNvPr id="157" name="Google Shape;157;p4"/>
          <p:cNvGrpSpPr/>
          <p:nvPr/>
        </p:nvGrpSpPr>
        <p:grpSpPr>
          <a:xfrm>
            <a:off x="13524" y="2264276"/>
            <a:ext cx="6247576" cy="1384995"/>
            <a:chOff x="343724" y="2264276"/>
            <a:chExt cx="6069776" cy="1384995"/>
          </a:xfrm>
        </p:grpSpPr>
        <p:pic>
          <p:nvPicPr>
            <p:cNvPr descr="Feingeist - Lunette Pour Les Ecran - Free Transparent PNG Clipart Images  Download" id="158" name="Google Shape;158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4"/>
            <p:cNvSpPr txBox="1"/>
            <p:nvPr/>
          </p:nvSpPr>
          <p:spPr>
            <a:xfrm>
              <a:off x="1382902" y="2264276"/>
              <a:ext cx="5030598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libre choix au sein d’un référentiel verres / lentilles très complet de verriers rigoureusement sélectionnés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40 % sur les verres de classe B, – 30 % sur les lentilles; – 20% sur les montures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prestations de qualité : garanties casse verres et monture</a:t>
              </a:r>
              <a:endParaRPr/>
            </a:p>
          </p:txBody>
        </p:sp>
      </p:grpSp>
      <p:grpSp>
        <p:nvGrpSpPr>
          <p:cNvPr id="160" name="Google Shape;160;p4"/>
          <p:cNvGrpSpPr/>
          <p:nvPr/>
        </p:nvGrpSpPr>
        <p:grpSpPr>
          <a:xfrm>
            <a:off x="1286084" y="3930046"/>
            <a:ext cx="5409936" cy="1600438"/>
            <a:chOff x="1730184" y="4376845"/>
            <a:chExt cx="4992359" cy="1600438"/>
          </a:xfrm>
        </p:grpSpPr>
        <p:pic>
          <p:nvPicPr>
            <p:cNvPr descr="Icône D'oreille Pour Vos Sites De Conception Et Projets PNG , Audio, Oreille,  Écoutez Licône PNG et vecteur pour téléchargement gratuit" id="161" name="Google Shape;161;p4"/>
            <p:cNvPicPr preferRelativeResize="0"/>
            <p:nvPr/>
          </p:nvPicPr>
          <p:blipFill rotWithShape="1">
            <a:blip r:embed="rId7">
              <a:alphaModFix/>
            </a:blip>
            <a:srcRect b="18905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4"/>
            <p:cNvSpPr txBox="1"/>
            <p:nvPr/>
          </p:nvSpPr>
          <p:spPr>
            <a:xfrm>
              <a:off x="2175244" y="4376845"/>
              <a:ext cx="4547299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– 500 € en moyenne pour un double appareillage de classe 2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prestation « tout en un » : aide auditive prête à l’emploi avec piles et kit d’entretien pour 6 mois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prestations accessibles aux ascendants directs des assurés bénéficiaires</a:t>
              </a: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descr="Bouton Logo Les Dents - Images vectorielles gratuites sur Pixabay - Pixabay" id="164" name="Google Shape;164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4"/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renforcement de l’accès aux actes de prothèse, d’orthodontie, d’implantologie, de parodontologie, et de prévention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amélioration de la prise en charge complémentaire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Le respect de plafonds d’honoraires, au niveau des pratiques moyennes du département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10 ans sur les couronnes</a:t>
              </a:r>
              <a:endParaRPr/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1261356" y="7858144"/>
            <a:ext cx="5406144" cy="1384995"/>
            <a:chOff x="1261356" y="7832744"/>
            <a:chExt cx="5406144" cy="1384995"/>
          </a:xfrm>
        </p:grpSpPr>
        <p:pic>
          <p:nvPicPr>
            <p:cNvPr descr="Centre d'ostéopathie - Roxane Gervais St-Amour D.O." id="167" name="Google Shape;167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4"/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Ostéopathie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des ostéopathes sélectionnés sur des critères de qualité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normalisation et une dématérialisation de la note d’honoraires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modération tarifaire</a:t>
              </a:r>
              <a:endParaRPr/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170" name="Google Shape;170;p4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Focus 55+ by  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171" name="Google Shape;171;p4"/>
            <p:cNvPicPr preferRelativeResize="0"/>
            <p:nvPr/>
          </p:nvPicPr>
          <p:blipFill rotWithShape="1">
            <a:blip r:embed="rId9">
              <a:alphaModFix/>
            </a:blip>
            <a:srcRect b="19333" l="0" r="0" t="26667"/>
            <a:stretch/>
          </p:blipFill>
          <p:spPr>
            <a:xfrm>
              <a:off x="2992459" y="427494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77" name="Google Shape;17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istance : Quatrième semaine de grève chez Filassistance - News  Assurances Pro" id="178" name="Google Shape;178;p5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20179" l="23950" r="28402" t="10714"/>
          <a:stretch/>
        </p:blipFill>
        <p:spPr>
          <a:xfrm>
            <a:off x="755920" y="1233754"/>
            <a:ext cx="1081442" cy="86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5"/>
          <p:cNvSpPr txBox="1"/>
          <p:nvPr/>
        </p:nvSpPr>
        <p:spPr>
          <a:xfrm>
            <a:off x="1423642" y="1233754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FIL ?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956518" y="2650686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 Assistance, vous propose gratuitement:</a:t>
            </a:r>
            <a:endParaRPr/>
          </a:p>
        </p:txBody>
      </p:sp>
      <p:grpSp>
        <p:nvGrpSpPr>
          <p:cNvPr id="181" name="Google Shape;181;p5"/>
          <p:cNvGrpSpPr/>
          <p:nvPr/>
        </p:nvGrpSpPr>
        <p:grpSpPr>
          <a:xfrm>
            <a:off x="120105" y="3582259"/>
            <a:ext cx="6020613" cy="811475"/>
            <a:chOff x="400050" y="2786464"/>
            <a:chExt cx="6020613" cy="811475"/>
          </a:xfrm>
        </p:grpSpPr>
        <p:sp>
          <p:nvSpPr>
            <p:cNvPr id="182" name="Google Shape;182;p5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183" name="Google Shape;183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5"/>
          <p:cNvGrpSpPr/>
          <p:nvPr/>
        </p:nvGrpSpPr>
        <p:grpSpPr>
          <a:xfrm>
            <a:off x="831907" y="4550686"/>
            <a:ext cx="5639929" cy="878816"/>
            <a:chOff x="222327" y="3957748"/>
            <a:chExt cx="6053947" cy="878816"/>
          </a:xfrm>
        </p:grpSpPr>
        <p:sp>
          <p:nvSpPr>
            <p:cNvPr id="185" name="Google Shape;185;p5"/>
            <p:cNvSpPr txBox="1"/>
            <p:nvPr/>
          </p:nvSpPr>
          <p:spPr>
            <a:xfrm>
              <a:off x="943701" y="4097900"/>
              <a:ext cx="5332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services de proximités: ( livraison des médicaments, Portage des repas, portage d’espèces, livraison des courses,…)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6" name="Google Shape;186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" name="Google Shape;187;p5"/>
          <p:cNvGrpSpPr/>
          <p:nvPr/>
        </p:nvGrpSpPr>
        <p:grpSpPr>
          <a:xfrm>
            <a:off x="162224" y="5824600"/>
            <a:ext cx="5781376" cy="613892"/>
            <a:chOff x="449887" y="6368680"/>
            <a:chExt cx="5781376" cy="613892"/>
          </a:xfrm>
        </p:grpSpPr>
        <p:sp>
          <p:nvSpPr>
            <p:cNvPr id="188" name="Google Shape;188;p5"/>
            <p:cNvSpPr txBox="1"/>
            <p:nvPr/>
          </p:nvSpPr>
          <p:spPr>
            <a:xfrm>
              <a:off x="1263374" y="6459352"/>
              <a:ext cx="496788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Transport post-hospitalisation: chez un proche, ou aux RDV médicaux</a:t>
              </a:r>
              <a:endParaRPr/>
            </a:p>
          </p:txBody>
        </p:sp>
        <p:pic>
          <p:nvPicPr>
            <p:cNvPr id="189" name="Google Shape;189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9887" y="6368680"/>
              <a:ext cx="933972" cy="5232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0" name="Google Shape;190;p5"/>
          <p:cNvGrpSpPr/>
          <p:nvPr/>
        </p:nvGrpSpPr>
        <p:grpSpPr>
          <a:xfrm>
            <a:off x="956519" y="6727106"/>
            <a:ext cx="5590332" cy="762965"/>
            <a:chOff x="319683" y="6589531"/>
            <a:chExt cx="5980735" cy="762965"/>
          </a:xfrm>
        </p:grpSpPr>
        <p:pic>
          <p:nvPicPr>
            <p:cNvPr id="191" name="Google Shape;191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5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enfants: (déplacement d’un proche, transfert, garde, conduite à l’école, soutien scolaire, aide aux devoirs,…)</a:t>
              </a:r>
              <a:endParaRPr/>
            </a:p>
          </p:txBody>
        </p:sp>
      </p:grpSp>
      <p:grpSp>
        <p:nvGrpSpPr>
          <p:cNvPr id="193" name="Google Shape;193;p5"/>
          <p:cNvGrpSpPr/>
          <p:nvPr/>
        </p:nvGrpSpPr>
        <p:grpSpPr>
          <a:xfrm>
            <a:off x="226808" y="7760973"/>
            <a:ext cx="5697799" cy="819970"/>
            <a:chOff x="1036606" y="7676952"/>
            <a:chExt cx="5697799" cy="819970"/>
          </a:xfrm>
        </p:grpSpPr>
        <p:pic>
          <p:nvPicPr>
            <p:cNvPr id="194" name="Google Shape;194;p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036606" y="7676952"/>
              <a:ext cx="728862" cy="8199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5"/>
            <p:cNvSpPr txBox="1"/>
            <p:nvPr/>
          </p:nvSpPr>
          <p:spPr>
            <a:xfrm>
              <a:off x="1725874" y="7788054"/>
              <a:ext cx="500853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ascendants: (déplacement d’un proche, transfert, garde,…)</a:t>
              </a:r>
              <a:endParaRPr/>
            </a:p>
          </p:txBody>
        </p:sp>
      </p:grpSp>
      <p:grpSp>
        <p:nvGrpSpPr>
          <p:cNvPr id="196" name="Google Shape;196;p5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197" name="Google Shape;197;p5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Focus 55+ by  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198" name="Google Shape;198;p5"/>
            <p:cNvPicPr preferRelativeResize="0"/>
            <p:nvPr/>
          </p:nvPicPr>
          <p:blipFill rotWithShape="1">
            <a:blip r:embed="rId11">
              <a:alphaModFix/>
            </a:blip>
            <a:srcRect b="19333" l="0" r="0" t="26667"/>
            <a:stretch/>
          </p:blipFill>
          <p:spPr>
            <a:xfrm>
              <a:off x="2992459" y="427494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04" name="Google Shape;2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05" name="Google Shape;205;p6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208" name="Google Shape;20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6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213" name="Google Shape;213;p6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4" name="Google Shape;214;p6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5" name="Google Shape;215;p6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218" name="Google Shape;218;p6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219" name="Google Shape;219;p6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Focus 55+ by  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220" name="Google Shape;220;p6"/>
            <p:cNvPicPr preferRelativeResize="0"/>
            <p:nvPr/>
          </p:nvPicPr>
          <p:blipFill rotWithShape="1">
            <a:blip r:embed="rId6">
              <a:alphaModFix/>
            </a:blip>
            <a:srcRect b="19333" l="0" r="0" t="26667"/>
            <a:stretch/>
          </p:blipFill>
          <p:spPr>
            <a:xfrm>
              <a:off x="2992459" y="427494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26" name="Google Shape;2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27" name="Google Shape;227;p7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7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233" name="Google Shape;233;p7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Focus 55+ by  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234" name="Google Shape;234;p7"/>
            <p:cNvPicPr preferRelativeResize="0"/>
            <p:nvPr/>
          </p:nvPicPr>
          <p:blipFill rotWithShape="1">
            <a:blip r:embed="rId9">
              <a:alphaModFix/>
            </a:blip>
            <a:srcRect b="19333" l="0" r="0" t="26667"/>
            <a:stretch/>
          </p:blipFill>
          <p:spPr>
            <a:xfrm>
              <a:off x="2992459" y="427494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2018-01-12T04:36:00Z</dcterms:created>
  <dc:creator>Aurelie Racamier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290B8819C0EE4E6BAC2BEE4478750968_12</vt:lpwstr>
  </property>
  <property fmtid="{D5CDD505-2E9C-101B-9397-08002B2CF9AE}" pid="3" name="KSOProductBuildVer">
    <vt:lpwstr>1036-12.2.0.22549</vt:lpwstr>
  </property>
</Properties>
</file>