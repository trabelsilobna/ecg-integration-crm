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9906000" cx="6858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gGQBGaxpdgxYbVnJPm6g91zfrx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4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15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16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17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8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19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20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3"/>
          <p:cNvSpPr txBox="1"/>
          <p:nvPr>
            <p:ph type="ctrTitle"/>
          </p:nvPr>
        </p:nvSpPr>
        <p:spPr>
          <a:xfrm>
            <a:off x="857250" y="1621191"/>
            <a:ext cx="51435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" name="Google Shape;23;p2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4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/>
          <p:nvPr>
            <p:ph type="title"/>
          </p:nvPr>
        </p:nvSpPr>
        <p:spPr>
          <a:xfrm>
            <a:off x="467916" y="2469622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/>
          <p:nvPr>
            <p:ph idx="1" type="body"/>
          </p:nvPr>
        </p:nvSpPr>
        <p:spPr>
          <a:xfrm>
            <a:off x="467916" y="6629225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125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013"/>
              <a:buNone/>
              <a:defRPr sz="101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5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6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/>
          <p:nvPr>
            <p:ph type="title"/>
          </p:nvPr>
        </p:nvSpPr>
        <p:spPr>
          <a:xfrm>
            <a:off x="472381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48" name="Google Shape;48;p2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50" name="Google Shape;50;p2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8612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75"/>
              <a:buChar char="•"/>
              <a:defRPr sz="1575"/>
            </a:lvl2pPr>
            <a:lvl3pPr indent="-314325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0037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4pPr>
            <a:lvl5pPr indent="-300037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1449695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Calibri"/>
              <a:buNone/>
              <a:defRPr b="0" i="0" sz="24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612" lvl="0" marL="4572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0037" lvl="2" marL="1371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925" lvl="3" marL="1828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925" lvl="4" marL="22860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925" lvl="5" marL="27432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925" lvl="6" marL="3200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925" lvl="7" marL="3657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925" lvl="8" marL="4114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hyperlink" Target="#'2'!A1" TargetMode="External"/><Relationship Id="rId13" Type="http://schemas.openxmlformats.org/officeDocument/2006/relationships/image" Target="../media/image15.png"/><Relationship Id="rId12" Type="http://schemas.openxmlformats.org/officeDocument/2006/relationships/hyperlink" Target="#'5'!A1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image" Target="../media/image22.png"/><Relationship Id="rId15" Type="http://schemas.openxmlformats.org/officeDocument/2006/relationships/image" Target="../media/image14.png"/><Relationship Id="rId14" Type="http://schemas.openxmlformats.org/officeDocument/2006/relationships/hyperlink" Target="#'17'!A1" TargetMode="External"/><Relationship Id="rId5" Type="http://schemas.openxmlformats.org/officeDocument/2006/relationships/image" Target="../media/image9.png"/><Relationship Id="rId6" Type="http://schemas.openxmlformats.org/officeDocument/2006/relationships/image" Target="../media/image2.jpg"/><Relationship Id="rId7" Type="http://schemas.openxmlformats.org/officeDocument/2006/relationships/image" Target="../media/image5.png"/><Relationship Id="rId8" Type="http://schemas.openxmlformats.org/officeDocument/2006/relationships/image" Target="../media/image1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jp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hyperlink" Target="#'2'!A1" TargetMode="External"/><Relationship Id="rId9" Type="http://schemas.openxmlformats.org/officeDocument/2006/relationships/image" Target="../media/image10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.jpg"/><Relationship Id="rId8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30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hyperlink" Target="#'17'!A1" TargetMode="External"/><Relationship Id="rId9" Type="http://schemas.openxmlformats.org/officeDocument/2006/relationships/image" Target="../media/image29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Relationship Id="rId7" Type="http://schemas.openxmlformats.org/officeDocument/2006/relationships/image" Target="../media/image26.png"/><Relationship Id="rId8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1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1.png"/><Relationship Id="rId9" Type="http://schemas.openxmlformats.org/officeDocument/2006/relationships/image" Target="../media/image10.png"/><Relationship Id="rId5" Type="http://schemas.openxmlformats.org/officeDocument/2006/relationships/image" Target="../media/image28.png"/><Relationship Id="rId6" Type="http://schemas.openxmlformats.org/officeDocument/2006/relationships/image" Target="../media/image25.png"/><Relationship Id="rId7" Type="http://schemas.openxmlformats.org/officeDocument/2006/relationships/image" Target="../media/image27.png"/><Relationship Id="rId8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/>
          <p:nvPr/>
        </p:nvSpPr>
        <p:spPr>
          <a:xfrm>
            <a:off x="0" y="972075"/>
            <a:ext cx="6732802" cy="8385904"/>
          </a:xfrm>
          <a:prstGeom prst="rect">
            <a:avLst/>
          </a:prstGeom>
          <a:solidFill>
            <a:srgbClr val="2F5496"/>
          </a:solidFill>
          <a:ln cap="flat" cmpd="sng" w="25400">
            <a:solidFill>
              <a:srgbClr val="8DA9D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²</a:t>
            </a:r>
            <a:endParaRPr/>
          </a:p>
        </p:txBody>
      </p:sp>
      <p:grpSp>
        <p:nvGrpSpPr>
          <p:cNvPr id="89" name="Google Shape;89;p14"/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90" name="Google Shape;90;p14"/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fr-FR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Zen Santé Focus Famille by                       assuré par                                 </a:t>
              </a:r>
              <a:endParaRPr/>
            </a:p>
          </p:txBody>
        </p:sp>
        <p:pic>
          <p:nvPicPr>
            <p:cNvPr descr="Zenioo : spécialiste de la mutuelle santé" id="91" name="Google Shape;91;p14"/>
            <p:cNvPicPr preferRelativeResize="0"/>
            <p:nvPr/>
          </p:nvPicPr>
          <p:blipFill rotWithShape="1">
            <a:blip r:embed="rId3">
              <a:alphaModFix/>
            </a:blip>
            <a:srcRect b="19333" l="0" r="0" t="26667"/>
            <a:stretch/>
          </p:blipFill>
          <p:spPr>
            <a:xfrm>
              <a:off x="3339073" y="374495"/>
              <a:ext cx="908724" cy="4016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3" name="Google Shape;93;p14"/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FICHE PRODUIT MARS 2014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1987886" y="125856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323F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complémentaire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via</a:t>
            </a: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Contrat responsable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options Éco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2463800" y="2847597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 Réseau de soins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16000 professionnels  de santé pour des    équipements de qualité à prix réduit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2841625" y="450043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  Un Tiers payant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Un tiers payant national, qui vous évite d’avancer les frais médicaux.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2463800" y="6116167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assistance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</a:t>
            </a: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service haut de gamme 24h/24, 7j/7 pour vous accompagner en cas de coup dur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" name="Google Shape;98;p14"/>
          <p:cNvGrpSpPr/>
          <p:nvPr/>
        </p:nvGrpSpPr>
        <p:grpSpPr>
          <a:xfrm>
            <a:off x="2045763" y="1495981"/>
            <a:ext cx="976837" cy="1010393"/>
            <a:chOff x="2109263" y="1465142"/>
            <a:chExt cx="976837" cy="1010393"/>
          </a:xfrm>
        </p:grpSpPr>
        <p:sp>
          <p:nvSpPr>
            <p:cNvPr id="99" name="Google Shape;99;p14"/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Modèle Logo Santé Et Forme Physique Logo Médical | PosterMyWall" id="100" name="Google Shape;100;p14"/>
            <p:cNvPicPr preferRelativeResize="0"/>
            <p:nvPr/>
          </p:nvPicPr>
          <p:blipFill rotWithShape="1">
            <a:blip r:embed="rId5">
              <a:alphaModFix/>
            </a:blip>
            <a:srcRect b="24816" l="23299" r="27063" t="11936"/>
            <a:stretch/>
          </p:blipFill>
          <p:spPr>
            <a:xfrm>
              <a:off x="2311520" y="1585367"/>
              <a:ext cx="596138" cy="75958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1" name="Google Shape;101;p14"/>
          <p:cNvGrpSpPr/>
          <p:nvPr/>
        </p:nvGrpSpPr>
        <p:grpSpPr>
          <a:xfrm>
            <a:off x="2524885" y="3065751"/>
            <a:ext cx="976837" cy="1010393"/>
            <a:chOff x="2548471" y="3049424"/>
            <a:chExt cx="976837" cy="1010393"/>
          </a:xfrm>
        </p:grpSpPr>
        <p:sp>
          <p:nvSpPr>
            <p:cNvPr id="102" name="Google Shape;102;p14"/>
            <p:cNvSpPr/>
            <p:nvPr/>
          </p:nvSpPr>
          <p:spPr>
            <a:xfrm>
              <a:off x="2548471" y="3049424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Réseaux de soins et de professionnels - Uneoreilleavertie.com" id="103" name="Google Shape;103;p14"/>
            <p:cNvPicPr preferRelativeResize="0"/>
            <p:nvPr/>
          </p:nvPicPr>
          <p:blipFill rotWithShape="1">
            <a:blip r:embed="rId6">
              <a:alphaModFix/>
            </a:blip>
            <a:srcRect b="17480" l="6110" r="8264" t="12370"/>
            <a:stretch/>
          </p:blipFill>
          <p:spPr>
            <a:xfrm>
              <a:off x="2693612" y="3280574"/>
              <a:ext cx="670266" cy="57719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" name="Google Shape;104;p14"/>
          <p:cNvGrpSpPr/>
          <p:nvPr/>
        </p:nvGrpSpPr>
        <p:grpSpPr>
          <a:xfrm>
            <a:off x="2911326" y="4743824"/>
            <a:ext cx="976837" cy="1010393"/>
            <a:chOff x="2693612" y="4712978"/>
            <a:chExt cx="976837" cy="1010393"/>
          </a:xfrm>
        </p:grpSpPr>
        <p:sp>
          <p:nvSpPr>
            <p:cNvPr id="105" name="Google Shape;105;p14"/>
            <p:cNvSpPr/>
            <p:nvPr/>
          </p:nvSpPr>
          <p:spPr>
            <a:xfrm>
              <a:off x="2693612" y="471297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Tiers payant : qu'est-ce que c'est et comment l'obtenir ?" id="106" name="Google Shape;106;p14"/>
            <p:cNvPicPr preferRelativeResize="0"/>
            <p:nvPr/>
          </p:nvPicPr>
          <p:blipFill rotWithShape="1">
            <a:blip r:embed="rId7">
              <a:alphaModFix/>
            </a:blip>
            <a:srcRect b="4848" l="19237" r="29792" t="4849"/>
            <a:stretch/>
          </p:blipFill>
          <p:spPr>
            <a:xfrm>
              <a:off x="2862942" y="4910684"/>
              <a:ext cx="638175" cy="5960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" name="Google Shape;107;p14"/>
          <p:cNvGrpSpPr/>
          <p:nvPr/>
        </p:nvGrpSpPr>
        <p:grpSpPr>
          <a:xfrm>
            <a:off x="2544746" y="6360928"/>
            <a:ext cx="976837" cy="1010393"/>
            <a:chOff x="2566518" y="6340968"/>
            <a:chExt cx="976837" cy="1010393"/>
          </a:xfrm>
        </p:grpSpPr>
        <p:sp>
          <p:nvSpPr>
            <p:cNvPr id="108" name="Google Shape;108;p14"/>
            <p:cNvSpPr/>
            <p:nvPr/>
          </p:nvSpPr>
          <p:spPr>
            <a:xfrm>
              <a:off x="2566518" y="634096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ssistance and protection logo work people sign Vector Image" id="109" name="Google Shape;109;p14"/>
            <p:cNvPicPr preferRelativeResize="0"/>
            <p:nvPr/>
          </p:nvPicPr>
          <p:blipFill rotWithShape="1">
            <a:blip r:embed="rId8">
              <a:alphaModFix/>
            </a:blip>
            <a:srcRect b="31895" l="20105" r="19154" t="9307"/>
            <a:stretch/>
          </p:blipFill>
          <p:spPr>
            <a:xfrm>
              <a:off x="2781449" y="6523581"/>
              <a:ext cx="577433" cy="6037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0" name="Google Shape;110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11749" y="1706693"/>
            <a:ext cx="1257151" cy="520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>
            <a:hlinkClick r:id="rId10"/>
          </p:cNvPr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54439" y="3170627"/>
            <a:ext cx="640045" cy="687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>
            <a:hlinkClick r:id="rId12"/>
          </p:cNvPr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326900" y="4891693"/>
            <a:ext cx="930612" cy="523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istance : Quatrième semaine de grève chez Filassistance - News  Assurances Pro" id="113" name="Google Shape;113;p14">
            <a:hlinkClick r:id="rId14"/>
          </p:cNvPr>
          <p:cNvPicPr preferRelativeResize="0"/>
          <p:nvPr/>
        </p:nvPicPr>
        <p:blipFill rotWithShape="1">
          <a:blip r:embed="rId15">
            <a:alphaModFix/>
          </a:blip>
          <a:srcRect b="20179" l="23950" r="28402" t="10714"/>
          <a:stretch/>
        </p:blipFill>
        <p:spPr>
          <a:xfrm>
            <a:off x="5035820" y="6491554"/>
            <a:ext cx="825125" cy="6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-240074" y="2351314"/>
            <a:ext cx="2488094" cy="550645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intégrale 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familles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18 à 67 ans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/>
          <p:nvPr/>
        </p:nvSpPr>
        <p:spPr>
          <a:xfrm>
            <a:off x="329746" y="3407162"/>
            <a:ext cx="6198508" cy="38543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adhésion rapide en ligne avec la signature électronique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348343" y="3889758"/>
            <a:ext cx="6198508" cy="5414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reprise à la concurrence facilitée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avec la prise en charge de l’envoi de la résiliation en cas de RIA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348343" y="4531991"/>
            <a:ext cx="6198508" cy="3918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 professions éligibles pour le poste médecine naturelle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329746" y="5025477"/>
            <a:ext cx="6198508" cy="56210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économies avec les options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« Éco Dentaire » et « Éco Optique » pour une réduction jusqu’à - 10 %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348343" y="5693131"/>
            <a:ext cx="6198508" cy="3918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Réduction DUO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dès 2 assurés réduction de 10 % par adulte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348343" y="6190565"/>
            <a:ext cx="6198508" cy="1283048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L’accès au réseau de soins Kalixia, 1er réseau de soins de santé de France.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tarifs négociés auprès 6 700 centres d’optiques, 4 500 chirurgiens-dentistes et orthodontistes, 4500 centres audio partenaires et 450 ostéopathes, répartis sur l’ensemble du territoire.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348343" y="7581966"/>
            <a:ext cx="6198508" cy="1503336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L’assistance Filassistance en inclusion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réseau de 10 000 prestataires en France pour un maillage territoriale optimal. Des experts de l’assistance disponibles 7j/7, 24h/24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garanties haut de gamme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inclusion sur mesure pour les seniors: téléconsultations illimitées, accompagnement maladie chronique,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port de médicaments ...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Google Shape;127;p15"/>
          <p:cNvGrpSpPr/>
          <p:nvPr/>
        </p:nvGrpSpPr>
        <p:grpSpPr>
          <a:xfrm>
            <a:off x="1248230" y="945460"/>
            <a:ext cx="5215617" cy="1038433"/>
            <a:chOff x="1248230" y="945460"/>
            <a:chExt cx="5215617" cy="1038433"/>
          </a:xfrm>
        </p:grpSpPr>
        <p:sp>
          <p:nvSpPr>
            <p:cNvPr id="128" name="Google Shape;128;p15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Pourquoi choisir Zen Santé Focus Famille ?</a:t>
              </a:r>
              <a:endParaRPr/>
            </a:p>
          </p:txBody>
        </p:sp>
        <p:pic>
          <p:nvPicPr>
            <p:cNvPr descr="Bonne idée - Icônes commercialisation gratuites" id="129" name="Google Shape;129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48230" y="945460"/>
              <a:ext cx="1035502" cy="10355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" name="Google Shape;130;p15"/>
          <p:cNvSpPr/>
          <p:nvPr/>
        </p:nvSpPr>
        <p:spPr>
          <a:xfrm>
            <a:off x="348343" y="2507273"/>
            <a:ext cx="6198508" cy="798285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solution qui offre le choix entre une formule classique et une formule renforcée selon les  besoins de vos clients.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" name="Google Shape;131;p15"/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132" name="Google Shape;132;p15"/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Zen Santé Focus Famille by                       assuré par                                 </a:t>
              </a:r>
              <a:endParaRPr/>
            </a:p>
          </p:txBody>
        </p:sp>
        <p:pic>
          <p:nvPicPr>
            <p:cNvPr descr="Zenioo : spécialiste de la mutuelle santé" id="133" name="Google Shape;133;p15"/>
            <p:cNvPicPr preferRelativeResize="0"/>
            <p:nvPr/>
          </p:nvPicPr>
          <p:blipFill rotWithShape="1">
            <a:blip r:embed="rId4">
              <a:alphaModFix/>
            </a:blip>
            <a:srcRect b="19333" l="0" r="0" t="26667"/>
            <a:stretch/>
          </p:blipFill>
          <p:spPr>
            <a:xfrm>
              <a:off x="3339073" y="374495"/>
              <a:ext cx="908724" cy="4016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" name="Google Shape;134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 txBox="1"/>
          <p:nvPr/>
        </p:nvSpPr>
        <p:spPr>
          <a:xfrm>
            <a:off x="2283732" y="1029786"/>
            <a:ext cx="418011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2199130" y="1440107"/>
            <a:ext cx="418011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1" name="Google Shape;141;p16"/>
          <p:cNvGrpSpPr/>
          <p:nvPr/>
        </p:nvGrpSpPr>
        <p:grpSpPr>
          <a:xfrm>
            <a:off x="920126" y="1578044"/>
            <a:ext cx="5099268" cy="1200329"/>
            <a:chOff x="976399" y="1029786"/>
            <a:chExt cx="5099268" cy="1200329"/>
          </a:xfrm>
        </p:grpSpPr>
        <p:pic>
          <p:nvPicPr>
            <p:cNvPr descr="ajuster la conception de l'icône créative 15456496 Art vectoriel chez  Vecteezy" id="142" name="Google Shape;142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6399" y="1152972"/>
              <a:ext cx="1408933" cy="10325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" name="Google Shape;143;p16"/>
            <p:cNvSpPr txBox="1"/>
            <p:nvPr/>
          </p:nvSpPr>
          <p:spPr>
            <a:xfrm>
              <a:off x="2283733" y="1029786"/>
              <a:ext cx="3791934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4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Focus Famille, vous donne la possibilité de personnaliser vos garanties</a:t>
              </a:r>
              <a:endParaRPr/>
            </a:p>
          </p:txBody>
        </p:sp>
      </p:grpSp>
      <p:sp>
        <p:nvSpPr>
          <p:cNvPr id="144" name="Google Shape;144;p16"/>
          <p:cNvSpPr txBox="1"/>
          <p:nvPr/>
        </p:nvSpPr>
        <p:spPr>
          <a:xfrm>
            <a:off x="1225271" y="4039763"/>
            <a:ext cx="460521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Avec les formules renforcées, bénéficiez de garanties supplémentaires :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438603" y="5642909"/>
            <a:ext cx="6108247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ctr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Calibri"/>
              <a:buAutoNum type="arabicPeriod"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La chambre particulière en cas d’hospitalisation</a:t>
            </a:r>
            <a:endParaRPr/>
          </a:p>
          <a:p>
            <a:pPr indent="-3302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sz="20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2. La médecine naturelle (avec 20 professions éligibles)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3. La cure thermale (forfait spécifique pour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l’hébergement et les dépassements d’honoraires)</a:t>
            </a:r>
            <a:endParaRPr/>
          </a:p>
        </p:txBody>
      </p:sp>
      <p:grpSp>
        <p:nvGrpSpPr>
          <p:cNvPr id="146" name="Google Shape;146;p16"/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147" name="Google Shape;147;p16"/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Zen Santé Focus Famille by                       assuré par                                 </a:t>
              </a:r>
              <a:endParaRPr/>
            </a:p>
          </p:txBody>
        </p:sp>
        <p:pic>
          <p:nvPicPr>
            <p:cNvPr descr="Zenioo : spécialiste de la mutuelle santé" id="148" name="Google Shape;148;p16"/>
            <p:cNvPicPr preferRelativeResize="0"/>
            <p:nvPr/>
          </p:nvPicPr>
          <p:blipFill rotWithShape="1">
            <a:blip r:embed="rId4">
              <a:alphaModFix/>
            </a:blip>
            <a:srcRect b="19333" l="0" r="0" t="26667"/>
            <a:stretch/>
          </p:blipFill>
          <p:spPr>
            <a:xfrm>
              <a:off x="3339073" y="374495"/>
              <a:ext cx="908724" cy="4016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" name="Google Shape;155;p17"/>
          <p:cNvGrpSpPr/>
          <p:nvPr/>
        </p:nvGrpSpPr>
        <p:grpSpPr>
          <a:xfrm>
            <a:off x="1286084" y="873089"/>
            <a:ext cx="4823750" cy="1068608"/>
            <a:chOff x="1640097" y="967319"/>
            <a:chExt cx="4823750" cy="1068608"/>
          </a:xfrm>
        </p:grpSpPr>
        <p:pic>
          <p:nvPicPr>
            <p:cNvPr id="156" name="Google Shape;156;p17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40097" y="967319"/>
              <a:ext cx="995362" cy="10686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17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Pourquoi passer par le réseau de soin Kalixia ?</a:t>
              </a:r>
              <a:endParaRPr/>
            </a:p>
          </p:txBody>
        </p:sp>
      </p:grpSp>
      <p:grpSp>
        <p:nvGrpSpPr>
          <p:cNvPr id="158" name="Google Shape;158;p17"/>
          <p:cNvGrpSpPr/>
          <p:nvPr/>
        </p:nvGrpSpPr>
        <p:grpSpPr>
          <a:xfrm>
            <a:off x="13524" y="2264276"/>
            <a:ext cx="6247576" cy="1384995"/>
            <a:chOff x="343724" y="2264276"/>
            <a:chExt cx="6069776" cy="1384995"/>
          </a:xfrm>
        </p:grpSpPr>
        <p:pic>
          <p:nvPicPr>
            <p:cNvPr descr="Feingeist - Lunette Pour Les Ecran - Free Transparent PNG Clipart Images  Download" id="159" name="Google Shape;159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43724" y="2264276"/>
              <a:ext cx="1272560" cy="5703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17"/>
            <p:cNvSpPr txBox="1"/>
            <p:nvPr/>
          </p:nvSpPr>
          <p:spPr>
            <a:xfrm>
              <a:off x="1382902" y="2264276"/>
              <a:ext cx="5030598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optique de Kalixia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libre choix au sein d’un référentiel verres / lentilles très complet de verriers rigoureusement sélectionnés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avantageux : jusqu’à – 40 % sur les verres de classe B, – 30 % sur les lentilles; – 20% sur les montures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prestations de qualité : garanties casse verres et monture</a:t>
              </a:r>
              <a:endParaRPr/>
            </a:p>
          </p:txBody>
        </p:sp>
      </p:grpSp>
      <p:grpSp>
        <p:nvGrpSpPr>
          <p:cNvPr id="161" name="Google Shape;161;p17"/>
          <p:cNvGrpSpPr/>
          <p:nvPr/>
        </p:nvGrpSpPr>
        <p:grpSpPr>
          <a:xfrm>
            <a:off x="1286084" y="3930046"/>
            <a:ext cx="5409936" cy="1600438"/>
            <a:chOff x="1730184" y="4376845"/>
            <a:chExt cx="4992359" cy="1600438"/>
          </a:xfrm>
        </p:grpSpPr>
        <p:pic>
          <p:nvPicPr>
            <p:cNvPr descr="Icône D'oreille Pour Vos Sites De Conception Et Projets PNG , Audio, Oreille,  Écoutez Licône PNG et vecteur pour téléchargement gratuit" id="162" name="Google Shape;162;p17"/>
            <p:cNvPicPr preferRelativeResize="0"/>
            <p:nvPr/>
          </p:nvPicPr>
          <p:blipFill rotWithShape="1">
            <a:blip r:embed="rId7">
              <a:alphaModFix/>
            </a:blip>
            <a:srcRect b="18905" l="27976" r="29441" t="19011"/>
            <a:stretch/>
          </p:blipFill>
          <p:spPr>
            <a:xfrm>
              <a:off x="1730184" y="4471524"/>
              <a:ext cx="445059" cy="64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17"/>
            <p:cNvSpPr txBox="1"/>
            <p:nvPr/>
          </p:nvSpPr>
          <p:spPr>
            <a:xfrm>
              <a:off x="2175244" y="4376845"/>
              <a:ext cx="4547299" cy="1600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Audio de Kalixia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avantageux : – 500 € en moyenne pour un double appareillage de classe 2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prestation « tout en un » : aide auditive prête à l’emploi avec piles et kit d’entretien pour 6 mois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prestations accessibles aux ascendants directs des assurés bénéficiaires</a:t>
              </a:r>
              <a:endParaRPr/>
            </a:p>
          </p:txBody>
        </p:sp>
      </p:grpSp>
      <p:grpSp>
        <p:nvGrpSpPr>
          <p:cNvPr id="164" name="Google Shape;164;p17"/>
          <p:cNvGrpSpPr/>
          <p:nvPr/>
        </p:nvGrpSpPr>
        <p:grpSpPr>
          <a:xfrm>
            <a:off x="239620" y="5760973"/>
            <a:ext cx="5653180" cy="1815882"/>
            <a:chOff x="521694" y="6041286"/>
            <a:chExt cx="5653180" cy="1815882"/>
          </a:xfrm>
        </p:grpSpPr>
        <p:pic>
          <p:nvPicPr>
            <p:cNvPr descr="Bouton Logo Les Dents - Images vectorielles gratuites sur Pixabay - Pixabay" id="165" name="Google Shape;165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1694" y="6128182"/>
              <a:ext cx="665284" cy="6652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17"/>
            <p:cNvSpPr txBox="1"/>
            <p:nvPr/>
          </p:nvSpPr>
          <p:spPr>
            <a:xfrm>
              <a:off x="1144276" y="6041286"/>
              <a:ext cx="5030598" cy="1815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Le partenariat Dentaire de Kalixia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renforcement de l’accès aux actes de prothèse, d’orthodontie, d’implantologie, de parodontologie, et de prévention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amélioration de la prise en charge complémentaire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Le respect de plafonds d’honoraires, au niveau des pratiques moyennes du département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garantie 10 ans sur les couronnes</a:t>
              </a:r>
              <a:endParaRPr/>
            </a:p>
          </p:txBody>
        </p:sp>
      </p:grpSp>
      <p:grpSp>
        <p:nvGrpSpPr>
          <p:cNvPr id="167" name="Google Shape;167;p17"/>
          <p:cNvGrpSpPr/>
          <p:nvPr/>
        </p:nvGrpSpPr>
        <p:grpSpPr>
          <a:xfrm>
            <a:off x="1261356" y="7858144"/>
            <a:ext cx="5406144" cy="1384995"/>
            <a:chOff x="1261356" y="7832744"/>
            <a:chExt cx="5406144" cy="1384995"/>
          </a:xfrm>
        </p:grpSpPr>
        <p:pic>
          <p:nvPicPr>
            <p:cNvPr descr="Centre d'ostéopathie - Roxane Gervais St-Amour D.O." id="168" name="Google Shape;168;p1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261356" y="7910070"/>
              <a:ext cx="719680" cy="7228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Google Shape;169;p17"/>
            <p:cNvSpPr txBox="1"/>
            <p:nvPr/>
          </p:nvSpPr>
          <p:spPr>
            <a:xfrm>
              <a:off x="1739850" y="7832744"/>
              <a:ext cx="492765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Ostéopathie de Kalixia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accès à des ostéopathes sélectionnés sur des critères de qualité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normalisation et une dématérialisation de la note d’honoraires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modération tarifaire</a:t>
              </a:r>
              <a:endParaRPr/>
            </a:p>
          </p:txBody>
        </p:sp>
      </p:grpSp>
      <p:grpSp>
        <p:nvGrpSpPr>
          <p:cNvPr id="170" name="Google Shape;170;p17"/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171" name="Google Shape;171;p17"/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Zen Santé Focus Famille by                       assuré par                                 </a:t>
              </a:r>
              <a:endParaRPr/>
            </a:p>
          </p:txBody>
        </p:sp>
        <p:pic>
          <p:nvPicPr>
            <p:cNvPr descr="Zenioo : spécialiste de la mutuelle santé" id="172" name="Google Shape;172;p17"/>
            <p:cNvPicPr preferRelativeResize="0"/>
            <p:nvPr/>
          </p:nvPicPr>
          <p:blipFill rotWithShape="1">
            <a:blip r:embed="rId9">
              <a:alphaModFix/>
            </a:blip>
            <a:srcRect b="19333" l="0" r="0" t="26667"/>
            <a:stretch/>
          </p:blipFill>
          <p:spPr>
            <a:xfrm>
              <a:off x="3339073" y="374495"/>
              <a:ext cx="908724" cy="4016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1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78" name="Google Shape;17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ssistance : Quatrième semaine de grève chez Filassistance - News  Assurances Pro" id="179" name="Google Shape;179;p18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20179" l="23950" r="28402" t="10714"/>
          <a:stretch/>
        </p:blipFill>
        <p:spPr>
          <a:xfrm>
            <a:off x="851442" y="1279405"/>
            <a:ext cx="1081442" cy="86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1519164" y="1279405"/>
            <a:ext cx="46844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l’assistance FIL ?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1052040" y="2696337"/>
            <a:ext cx="49103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d’hospitalisation ou d’immobilisation,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 Assistance, vous propose gratuitement:</a:t>
            </a:r>
            <a:endParaRPr/>
          </a:p>
        </p:txBody>
      </p:sp>
      <p:grpSp>
        <p:nvGrpSpPr>
          <p:cNvPr id="182" name="Google Shape;182;p18"/>
          <p:cNvGrpSpPr/>
          <p:nvPr/>
        </p:nvGrpSpPr>
        <p:grpSpPr>
          <a:xfrm>
            <a:off x="215627" y="3627910"/>
            <a:ext cx="6020613" cy="811475"/>
            <a:chOff x="400050" y="2786464"/>
            <a:chExt cx="6020613" cy="811475"/>
          </a:xfrm>
        </p:grpSpPr>
        <p:sp>
          <p:nvSpPr>
            <p:cNvPr id="183" name="Google Shape;183;p18"/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 l’aide à domicile: (ménage, repas, vaisselle, course à proximité</a:t>
              </a:r>
              <a:endParaRPr/>
            </a:p>
          </p:txBody>
        </p:sp>
        <p:pic>
          <p:nvPicPr>
            <p:cNvPr id="184" name="Google Shape;184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00050" y="2786464"/>
              <a:ext cx="591075" cy="811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5" name="Google Shape;185;p18"/>
          <p:cNvGrpSpPr/>
          <p:nvPr/>
        </p:nvGrpSpPr>
        <p:grpSpPr>
          <a:xfrm>
            <a:off x="927429" y="4596337"/>
            <a:ext cx="5639929" cy="878816"/>
            <a:chOff x="222327" y="3957748"/>
            <a:chExt cx="6053947" cy="878816"/>
          </a:xfrm>
        </p:grpSpPr>
        <p:sp>
          <p:nvSpPr>
            <p:cNvPr id="186" name="Google Shape;186;p18"/>
            <p:cNvSpPr txBox="1"/>
            <p:nvPr/>
          </p:nvSpPr>
          <p:spPr>
            <a:xfrm>
              <a:off x="943701" y="4097900"/>
              <a:ext cx="5332573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services de proximités: ( livraison des médicaments, Portage des repas, portage d’espèces, livraison des courses,…)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7" name="Google Shape;187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2327" y="3957748"/>
              <a:ext cx="768798" cy="6622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8" name="Google Shape;188;p18"/>
          <p:cNvGrpSpPr/>
          <p:nvPr/>
        </p:nvGrpSpPr>
        <p:grpSpPr>
          <a:xfrm>
            <a:off x="257746" y="5870251"/>
            <a:ext cx="5781376" cy="613892"/>
            <a:chOff x="449887" y="6368680"/>
            <a:chExt cx="5781376" cy="613892"/>
          </a:xfrm>
        </p:grpSpPr>
        <p:sp>
          <p:nvSpPr>
            <p:cNvPr id="189" name="Google Shape;189;p18"/>
            <p:cNvSpPr txBox="1"/>
            <p:nvPr/>
          </p:nvSpPr>
          <p:spPr>
            <a:xfrm>
              <a:off x="1263374" y="6459352"/>
              <a:ext cx="496788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Transport post-hospitalisation: chez un proche, ou aux RDV médicaux</a:t>
              </a:r>
              <a:endParaRPr/>
            </a:p>
          </p:txBody>
        </p:sp>
        <p:pic>
          <p:nvPicPr>
            <p:cNvPr id="190" name="Google Shape;190;p1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49887" y="6368680"/>
              <a:ext cx="933972" cy="5232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1" name="Google Shape;191;p18"/>
          <p:cNvGrpSpPr/>
          <p:nvPr/>
        </p:nvGrpSpPr>
        <p:grpSpPr>
          <a:xfrm>
            <a:off x="1052041" y="6772757"/>
            <a:ext cx="5590337" cy="762965"/>
            <a:chOff x="319683" y="6589531"/>
            <a:chExt cx="5980735" cy="762965"/>
          </a:xfrm>
        </p:grpSpPr>
        <p:pic>
          <p:nvPicPr>
            <p:cNvPr id="192" name="Google Shape;192;p1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19683" y="6589531"/>
              <a:ext cx="593986" cy="7629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" name="Google Shape;193;p18"/>
            <p:cNvSpPr txBox="1"/>
            <p:nvPr/>
          </p:nvSpPr>
          <p:spPr>
            <a:xfrm>
              <a:off x="967845" y="6709403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Prise en charge des enfants: (déplacement d’un proche, transfert, garde, conduite à l’école, soutien scolaire, aide aux devoirs,…)</a:t>
              </a:r>
              <a:endParaRPr/>
            </a:p>
          </p:txBody>
        </p:sp>
      </p:grpSp>
      <p:grpSp>
        <p:nvGrpSpPr>
          <p:cNvPr id="194" name="Google Shape;194;p18"/>
          <p:cNvGrpSpPr/>
          <p:nvPr/>
        </p:nvGrpSpPr>
        <p:grpSpPr>
          <a:xfrm>
            <a:off x="322330" y="7806624"/>
            <a:ext cx="5697799" cy="819970"/>
            <a:chOff x="1036606" y="7676952"/>
            <a:chExt cx="5697799" cy="819970"/>
          </a:xfrm>
        </p:grpSpPr>
        <p:pic>
          <p:nvPicPr>
            <p:cNvPr id="195" name="Google Shape;195;p1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036606" y="7676952"/>
              <a:ext cx="728862" cy="8199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18"/>
            <p:cNvSpPr txBox="1"/>
            <p:nvPr/>
          </p:nvSpPr>
          <p:spPr>
            <a:xfrm>
              <a:off x="1725874" y="7788054"/>
              <a:ext cx="500853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Prise en charge des ascendants: (déplacement d’un proche, transfert, garde,…)</a:t>
              </a:r>
              <a:endParaRPr/>
            </a:p>
          </p:txBody>
        </p:sp>
      </p:grpSp>
      <p:grpSp>
        <p:nvGrpSpPr>
          <p:cNvPr id="197" name="Google Shape;197;p18"/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198" name="Google Shape;198;p18"/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Zen Santé Focus Famille by                       assuré par                                 </a:t>
              </a:r>
              <a:endParaRPr/>
            </a:p>
          </p:txBody>
        </p:sp>
        <p:pic>
          <p:nvPicPr>
            <p:cNvPr descr="Zenioo : spécialiste de la mutuelle santé" id="199" name="Google Shape;199;p18"/>
            <p:cNvPicPr preferRelativeResize="0"/>
            <p:nvPr/>
          </p:nvPicPr>
          <p:blipFill rotWithShape="1">
            <a:blip r:embed="rId11">
              <a:alphaModFix/>
            </a:blip>
            <a:srcRect b="19333" l="0" r="0" t="26667"/>
            <a:stretch/>
          </p:blipFill>
          <p:spPr>
            <a:xfrm>
              <a:off x="3339073" y="374495"/>
              <a:ext cx="908724" cy="4016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1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05" name="Google Shape;20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206" name="Google Shape;206;p19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1052692"/>
            <a:ext cx="1489221" cy="106094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9"/>
          <p:cNvSpPr txBox="1"/>
          <p:nvPr/>
        </p:nvSpPr>
        <p:spPr>
          <a:xfrm>
            <a:off x="468231" y="2476003"/>
            <a:ext cx="6078619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100% Santé vous permet d’accéder à une offre sans reste à charge sur une sélection d’équipements en dentaire, optique et pour les aides auditives. Les paniers 100% Santé seront pris en charge intégralement par la Sécurité Sociale et la complémentaire santé.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vous ne souhaitez pas bénéficier des équipements compris dans ces paniers, les remboursements se feront selon le niveau de garanties que vous avez choisi.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196387" y="450694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QU’EST-CE QUI CHANGE EN PRATIQUE ?</a:t>
            </a:r>
            <a:endParaRPr/>
          </a:p>
        </p:txBody>
      </p:sp>
      <p:pic>
        <p:nvPicPr>
          <p:cNvPr id="209" name="Google Shape;20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231" y="5368177"/>
            <a:ext cx="2158618" cy="1831149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 txBox="1"/>
          <p:nvPr/>
        </p:nvSpPr>
        <p:spPr>
          <a:xfrm>
            <a:off x="3444875" y="4969962"/>
            <a:ext cx="246028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professionnel de santé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proposera obligatoirement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 OFFRES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2578219" y="6211555"/>
            <a:ext cx="1760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sans Reste à charge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4829920" y="6208601"/>
            <a:ext cx="20280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« Classique »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320433" y="786432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Mais aussi:</a:t>
            </a:r>
            <a:endParaRPr/>
          </a:p>
        </p:txBody>
      </p:sp>
      <p:cxnSp>
        <p:nvCxnSpPr>
          <p:cNvPr id="214" name="Google Shape;214;p19"/>
          <p:cNvCxnSpPr/>
          <p:nvPr/>
        </p:nvCxnSpPr>
        <p:spPr>
          <a:xfrm>
            <a:off x="4760070" y="5831736"/>
            <a:ext cx="520276" cy="35051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5" name="Google Shape;215;p19"/>
          <p:cNvCxnSpPr/>
          <p:nvPr/>
        </p:nvCxnSpPr>
        <p:spPr>
          <a:xfrm flipH="1">
            <a:off x="4077063" y="5831736"/>
            <a:ext cx="433750" cy="3608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6" name="Google Shape;216;p19"/>
          <p:cNvSpPr txBox="1"/>
          <p:nvPr/>
        </p:nvSpPr>
        <p:spPr>
          <a:xfrm>
            <a:off x="2687429" y="6842131"/>
            <a:ext cx="1513680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Soin ou équipement entrant dans 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100% Santé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4500683" y="6854932"/>
            <a:ext cx="2385892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à tarif libre et remboursé par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l’assurance complémentaire dans 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conditions prévues par le contrat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330200" y="8327508"/>
            <a:ext cx="65563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Fixation de prix limites de vente (PLV) imposés aux professionnels de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Augmentation de la base de remboursement (BR) du régime obligatoire (RO) &amp; du remboursement des complémentaires santé</a:t>
            </a:r>
            <a:endParaRPr/>
          </a:p>
        </p:txBody>
      </p:sp>
      <p:grpSp>
        <p:nvGrpSpPr>
          <p:cNvPr id="219" name="Google Shape;219;p19"/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220" name="Google Shape;220;p19"/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Zen Santé Focus Famille by                       assuré par                                 </a:t>
              </a:r>
              <a:endParaRPr/>
            </a:p>
          </p:txBody>
        </p:sp>
        <p:pic>
          <p:nvPicPr>
            <p:cNvPr descr="Zenioo : spécialiste de la mutuelle santé" id="221" name="Google Shape;221;p19"/>
            <p:cNvPicPr preferRelativeResize="0"/>
            <p:nvPr/>
          </p:nvPicPr>
          <p:blipFill rotWithShape="1">
            <a:blip r:embed="rId6">
              <a:alphaModFix/>
            </a:blip>
            <a:srcRect b="19333" l="0" r="0" t="26667"/>
            <a:stretch/>
          </p:blipFill>
          <p:spPr>
            <a:xfrm>
              <a:off x="3339073" y="374495"/>
              <a:ext cx="908724" cy="4016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27" name="Google Shape;2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228" name="Google Shape;228;p20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980122"/>
            <a:ext cx="1489221" cy="1060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98" y="1992003"/>
            <a:ext cx="5911752" cy="7546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996154"/>
            <a:ext cx="1147989" cy="641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" y="5446720"/>
            <a:ext cx="1147989" cy="637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1" y="7991398"/>
            <a:ext cx="1138950" cy="601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" name="Google Shape;233;p20"/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234" name="Google Shape;234;p20"/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Zen Santé Focus Famille by                       assuré par                                 </a:t>
              </a:r>
              <a:endParaRPr/>
            </a:p>
          </p:txBody>
        </p:sp>
        <p:pic>
          <p:nvPicPr>
            <p:cNvPr descr="Zenioo : spécialiste de la mutuelle santé" id="235" name="Google Shape;235;p20"/>
            <p:cNvPicPr preferRelativeResize="0"/>
            <p:nvPr/>
          </p:nvPicPr>
          <p:blipFill rotWithShape="1">
            <a:blip r:embed="rId9">
              <a:alphaModFix/>
            </a:blip>
            <a:srcRect b="19333" l="0" r="0" t="26667"/>
            <a:stretch/>
          </p:blipFill>
          <p:spPr>
            <a:xfrm>
              <a:off x="3339073" y="374495"/>
              <a:ext cx="908724" cy="4016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2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2018-01-12T04:36:24Z</dcterms:created>
  <dc:creator>Aurelie Racamier</dc:creator>
</cp:coreProperties>
</file>