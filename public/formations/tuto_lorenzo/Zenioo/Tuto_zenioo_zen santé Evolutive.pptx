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8"/>
  </p:notesMasterIdLst>
  <p:sldIdLst>
    <p:sldId id="257" r:id="rId2"/>
    <p:sldId id="258" r:id="rId3"/>
    <p:sldId id="262" r:id="rId4"/>
    <p:sldId id="260" r:id="rId5"/>
    <p:sldId id="263" r:id="rId6"/>
    <p:sldId id="265" r:id="rId7"/>
  </p:sldIdLst>
  <p:sldSz cx="6858000" cy="9906000" type="A4"/>
  <p:notesSz cx="7104063" cy="10234613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2C65A"/>
    <a:srgbClr val="EDE0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67" autoAdjust="0"/>
    <p:restoredTop sz="94660"/>
  </p:normalViewPr>
  <p:slideViewPr>
    <p:cSldViewPr snapToGrid="0" showGuides="1">
      <p:cViewPr varScale="1">
        <p:scale>
          <a:sx n="76" d="100"/>
          <a:sy n="76" d="100"/>
        </p:scale>
        <p:origin x="3450" y="54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78427" cy="513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9" tIns="49516" rIns="99059" bIns="49516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 dirty="0"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023992" y="0"/>
            <a:ext cx="3078427" cy="513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9" tIns="49516" rIns="99059" bIns="49516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 dirty="0"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357438" y="1279525"/>
            <a:ext cx="2389187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9" tIns="49516" rIns="99059" bIns="49516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721107"/>
            <a:ext cx="3078427" cy="513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9" tIns="49516" rIns="99059" bIns="49516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 dirty="0"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9" tIns="49516" rIns="99059" bIns="49516" anchor="b" anchorCtr="0">
            <a:noAutofit/>
          </a:bodyPr>
          <a:lstStyle/>
          <a:p>
            <a:pPr algn="r"/>
            <a:fld id="{00000000-1234-1234-1234-123412341234}" type="slidenum">
              <a:rPr lang="fr-FR" sz="1300" smtClean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‹N°›</a:t>
            </a:fld>
            <a:endParaRPr lang="fr-FR" sz="1300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spcFirstLastPara="1" wrap="square" lIns="99059" tIns="49516" rIns="99059" bIns="49516" anchor="t" anchorCtr="0">
            <a:noAutofit/>
          </a:bodyPr>
          <a:lstStyle/>
          <a:p>
            <a:pPr marL="0" indent="0"/>
            <a:endParaRPr dirty="0"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57438" y="1279525"/>
            <a:ext cx="2389187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spcFirstLastPara="1" wrap="square" lIns="99059" tIns="49516" rIns="99059" bIns="49516" anchor="t" anchorCtr="0">
            <a:noAutofit/>
          </a:bodyPr>
          <a:lstStyle/>
          <a:p>
            <a:pPr marL="0" indent="0"/>
            <a:endParaRPr dirty="0"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57438" y="1279525"/>
            <a:ext cx="2389187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spcFirstLastPara="1" wrap="square" lIns="99059" tIns="49516" rIns="99059" bIns="49516" anchor="t" anchorCtr="0">
            <a:noAutofit/>
          </a:bodyPr>
          <a:lstStyle/>
          <a:p>
            <a:pPr marL="0" indent="0"/>
            <a:endParaRPr dirty="0"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57438" y="1279525"/>
            <a:ext cx="2389187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spcFirstLastPara="1" wrap="square" lIns="99059" tIns="49516" rIns="99059" bIns="49516" anchor="t" anchorCtr="0">
            <a:noAutofit/>
          </a:bodyPr>
          <a:lstStyle/>
          <a:p>
            <a:pPr marL="0" indent="0"/>
            <a:endParaRPr dirty="0"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57438" y="1279525"/>
            <a:ext cx="2389187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spcFirstLastPara="1" wrap="square" lIns="99059" tIns="49516" rIns="99059" bIns="49516" anchor="t" anchorCtr="0">
            <a:noAutofit/>
          </a:bodyPr>
          <a:lstStyle/>
          <a:p>
            <a:pPr marL="0" indent="0"/>
            <a:endParaRPr dirty="0"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57438" y="1279525"/>
            <a:ext cx="2389187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spcFirstLastPara="1" wrap="square" lIns="99059" tIns="49516" rIns="99059" bIns="49516" anchor="t" anchorCtr="0">
            <a:noAutofit/>
          </a:bodyPr>
          <a:lstStyle/>
          <a:p>
            <a:pPr marL="0" indent="0"/>
            <a:endParaRPr dirty="0"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57438" y="1279525"/>
            <a:ext cx="2389187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857250" y="1621191"/>
            <a:ext cx="5143500" cy="3448756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5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7916" y="2469622"/>
            <a:ext cx="5915025" cy="4120620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467916" y="6629225"/>
            <a:ext cx="5915025" cy="2166937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5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 hasCustomPrompt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72381" y="527404"/>
            <a:ext cx="5915025" cy="1914702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5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 hasCustomPrompt="1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5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 hasCustomPrompt="1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3" cy="23114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2915543" y="1426281"/>
            <a:ext cx="3471863" cy="7039681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472381" y="2971800"/>
            <a:ext cx="2211883" cy="5505627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90"/>
            </a:lvl2pPr>
            <a:lvl3pPr marL="514350" indent="0">
              <a:buNone/>
              <a:defRPr sz="675"/>
            </a:lvl3pPr>
            <a:lvl4pPr marL="771525" indent="0">
              <a:buNone/>
              <a:defRPr sz="565"/>
            </a:lvl4pPr>
            <a:lvl5pPr marL="1028700" indent="0">
              <a:buNone/>
              <a:defRPr sz="565"/>
            </a:lvl5pPr>
            <a:lvl6pPr marL="1285875" indent="0">
              <a:buNone/>
              <a:defRPr sz="565"/>
            </a:lvl6pPr>
            <a:lvl7pPr marL="1543050" indent="0">
              <a:buNone/>
              <a:defRPr sz="565"/>
            </a:lvl7pPr>
            <a:lvl8pPr marL="1800225" indent="0">
              <a:buNone/>
              <a:defRPr sz="565"/>
            </a:lvl8pPr>
            <a:lvl9pPr marL="2057400" indent="0">
              <a:buNone/>
              <a:defRPr sz="565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3" cy="23114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915543" y="1426281"/>
            <a:ext cx="3471863" cy="7039681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lang="fr-FR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472381" y="2971800"/>
            <a:ext cx="2211883" cy="5505627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90"/>
            </a:lvl2pPr>
            <a:lvl3pPr marL="514350" indent="0">
              <a:buNone/>
              <a:defRPr sz="675"/>
            </a:lvl3pPr>
            <a:lvl4pPr marL="771525" indent="0">
              <a:buNone/>
              <a:defRPr sz="565"/>
            </a:lvl4pPr>
            <a:lvl5pPr marL="1028700" indent="0">
              <a:buNone/>
              <a:defRPr sz="565"/>
            </a:lvl5pPr>
            <a:lvl6pPr marL="1285875" indent="0">
              <a:buNone/>
              <a:defRPr sz="565"/>
            </a:lvl6pPr>
            <a:lvl7pPr marL="1543050" indent="0">
              <a:buNone/>
              <a:defRPr sz="565"/>
            </a:lvl7pPr>
            <a:lvl8pPr marL="1800225" indent="0">
              <a:buNone/>
              <a:defRPr sz="565"/>
            </a:lvl8pPr>
            <a:lvl9pPr marL="2057400" indent="0">
              <a:buNone/>
              <a:defRPr sz="565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 dirty="0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4907756" y="527403"/>
            <a:ext cx="1478756" cy="8394877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471487" y="527403"/>
            <a:ext cx="4350544" cy="8394877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‹N°›</a:t>
            </a:fld>
            <a:endParaRPr lang="fr-F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905" indent="-128905" algn="l" defTabSz="514350" rtl="0" eaLnBrk="1" latinLnBrk="0" hangingPunct="1">
        <a:lnSpc>
          <a:spcPct val="90000"/>
        </a:lnSpc>
        <a:spcBef>
          <a:spcPts val="565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6080" indent="-128905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3255" indent="-128905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430" indent="-128905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4pPr>
      <a:lvl5pPr marL="1157605" indent="-128905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5pPr>
      <a:lvl6pPr marL="1414780" indent="-128905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6pPr>
      <a:lvl7pPr marL="1671955" indent="-128905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7pPr>
      <a:lvl8pPr marL="1929130" indent="-128905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8pPr>
      <a:lvl9pPr marL="2186305" indent="-128905" algn="l" defTabSz="514350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101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8.png"/><Relationship Id="rId1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4.jpeg"/><Relationship Id="rId12" Type="http://schemas.openxmlformats.org/officeDocument/2006/relationships/hyperlink" Target="#'2'!A1"/><Relationship Id="rId17" Type="http://schemas.openxmlformats.org/officeDocument/2006/relationships/hyperlink" Target="#'17'!A1"/><Relationship Id="rId2" Type="http://schemas.openxmlformats.org/officeDocument/2006/relationships/notesSlide" Target="../notesSlides/notesSlide1.xml"/><Relationship Id="rId16" Type="http://schemas.microsoft.com/office/2007/relationships/hdphoto" Target="../media/hdphoto3.wdp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.png"/><Relationship Id="rId11" Type="http://schemas.openxmlformats.org/officeDocument/2006/relationships/image" Target="../media/image7.png"/><Relationship Id="rId5" Type="http://schemas.microsoft.com/office/2007/relationships/hdphoto" Target="../media/hdphoto1.wdp"/><Relationship Id="rId15" Type="http://schemas.openxmlformats.org/officeDocument/2006/relationships/image" Target="../media/image9.png"/><Relationship Id="rId10" Type="http://schemas.openxmlformats.org/officeDocument/2006/relationships/image" Target="../media/image6.jpeg"/><Relationship Id="rId4" Type="http://schemas.openxmlformats.org/officeDocument/2006/relationships/image" Target="../media/image2.png"/><Relationship Id="rId9" Type="http://schemas.microsoft.com/office/2007/relationships/hdphoto" Target="../media/hdphoto2.wdp"/><Relationship Id="rId14" Type="http://schemas.openxmlformats.org/officeDocument/2006/relationships/hyperlink" Target="#'5'!A1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microsoft.com/office/2007/relationships/hdphoto" Target="../media/hdphoto1.wdp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3" Type="http://schemas.openxmlformats.org/officeDocument/2006/relationships/image" Target="../media/image12.png"/><Relationship Id="rId7" Type="http://schemas.microsoft.com/office/2007/relationships/hdphoto" Target="../media/hdphoto4.wdp"/><Relationship Id="rId12" Type="http://schemas.microsoft.com/office/2007/relationships/hdphoto" Target="../media/hdphoto1.wdp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png"/><Relationship Id="rId11" Type="http://schemas.openxmlformats.org/officeDocument/2006/relationships/image" Target="../media/image2.png"/><Relationship Id="rId5" Type="http://schemas.openxmlformats.org/officeDocument/2006/relationships/image" Target="../media/image8.png"/><Relationship Id="rId10" Type="http://schemas.openxmlformats.org/officeDocument/2006/relationships/image" Target="../media/image1.png"/><Relationship Id="rId4" Type="http://schemas.openxmlformats.org/officeDocument/2006/relationships/hyperlink" Target="#'2'!A1"/><Relationship Id="rId9" Type="http://schemas.openxmlformats.org/officeDocument/2006/relationships/image" Target="../media/image15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microsoft.com/office/2007/relationships/hdphoto" Target="../media/hdphoto1.wdp"/><Relationship Id="rId3" Type="http://schemas.openxmlformats.org/officeDocument/2006/relationships/image" Target="../media/image12.png"/><Relationship Id="rId7" Type="http://schemas.openxmlformats.org/officeDocument/2006/relationships/image" Target="../media/image17.png"/><Relationship Id="rId12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6.png"/><Relationship Id="rId11" Type="http://schemas.openxmlformats.org/officeDocument/2006/relationships/image" Target="../media/image1.png"/><Relationship Id="rId5" Type="http://schemas.openxmlformats.org/officeDocument/2006/relationships/image" Target="../media/image10.png"/><Relationship Id="rId10" Type="http://schemas.openxmlformats.org/officeDocument/2006/relationships/image" Target="../media/image20.png"/><Relationship Id="rId4" Type="http://schemas.openxmlformats.org/officeDocument/2006/relationships/hyperlink" Target="#'17'!A1"/><Relationship Id="rId9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12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2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4.png"/><Relationship Id="rId11" Type="http://schemas.microsoft.com/office/2007/relationships/hdphoto" Target="../media/hdphoto1.wdp"/><Relationship Id="rId5" Type="http://schemas.openxmlformats.org/officeDocument/2006/relationships/image" Target="../media/image23.png"/><Relationship Id="rId10" Type="http://schemas.openxmlformats.org/officeDocument/2006/relationships/image" Target="../media/image2.png"/><Relationship Id="rId4" Type="http://schemas.openxmlformats.org/officeDocument/2006/relationships/image" Target="../media/image21.png"/><Relationship Id="rId9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972075"/>
            <a:ext cx="6732802" cy="8385904"/>
          </a:xfrm>
          <a:prstGeom prst="rect">
            <a:avLst/>
          </a:prstGeom>
          <a:solidFill>
            <a:schemeClr val="accent1">
              <a:lumMod val="75000"/>
            </a:schemeClr>
          </a:solidFill>
          <a:ln w="254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²</a:t>
            </a:r>
          </a:p>
        </p:txBody>
      </p:sp>
      <p:grpSp>
        <p:nvGrpSpPr>
          <p:cNvPr id="25" name="Groupe 24"/>
          <p:cNvGrpSpPr/>
          <p:nvPr/>
        </p:nvGrpSpPr>
        <p:grpSpPr>
          <a:xfrm>
            <a:off x="101600" y="93434"/>
            <a:ext cx="6686550" cy="628650"/>
            <a:chOff x="88900" y="285750"/>
            <a:chExt cx="6686550" cy="628650"/>
          </a:xfrm>
        </p:grpSpPr>
        <p:sp>
          <p:nvSpPr>
            <p:cNvPr id="3" name="Rectangle : coins arrondis 2"/>
            <p:cNvSpPr/>
            <p:nvPr/>
          </p:nvSpPr>
          <p:spPr>
            <a:xfrm>
              <a:off x="88900" y="285750"/>
              <a:ext cx="6686550" cy="628650"/>
            </a:xfrm>
            <a:prstGeom prst="roundRect">
              <a:avLst/>
            </a:prstGeom>
            <a:solidFill>
              <a:schemeClr val="bg1"/>
            </a:solidFill>
            <a:ln w="44450">
              <a:solidFill>
                <a:schemeClr val="accent1">
                  <a:lumMod val="75000"/>
                </a:schemeClr>
              </a:solidFill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fr-FR" b="1" dirty="0">
                  <a:solidFill>
                    <a:schemeClr val="tx1"/>
                  </a:solidFill>
                </a:rPr>
                <a:t>        Zen Santé Evolutive    by                       assuré par                                 </a:t>
              </a:r>
            </a:p>
          </p:txBody>
        </p:sp>
        <p:pic>
          <p:nvPicPr>
            <p:cNvPr id="4" name="Image 3" descr="Zenioo : spécialiste de la mutuelle santé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6667" b="19333"/>
            <a:stretch>
              <a:fillRect/>
            </a:stretch>
          </p:blipFill>
          <p:spPr bwMode="auto">
            <a:xfrm>
              <a:off x="3054521" y="427494"/>
              <a:ext cx="908724" cy="40163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Image 5"/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20000" contrast="-2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327650" y="350157"/>
              <a:ext cx="1206500" cy="499836"/>
            </a:xfrm>
            <a:prstGeom prst="rect">
              <a:avLst/>
            </a:prstGeom>
          </p:spPr>
        </p:pic>
      </p:grpSp>
      <p:sp>
        <p:nvSpPr>
          <p:cNvPr id="9" name="ZoneTexte 8"/>
          <p:cNvSpPr txBox="1"/>
          <p:nvPr/>
        </p:nvSpPr>
        <p:spPr>
          <a:xfrm>
            <a:off x="5461689" y="9642688"/>
            <a:ext cx="138852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700" dirty="0"/>
              <a:t>FICHE PRODUIT MARS 2014</a:t>
            </a:r>
          </a:p>
        </p:txBody>
      </p:sp>
      <p:sp>
        <p:nvSpPr>
          <p:cNvPr id="1034" name="Rectangle : coins arrondis 1033"/>
          <p:cNvSpPr/>
          <p:nvPr/>
        </p:nvSpPr>
        <p:spPr>
          <a:xfrm>
            <a:off x="1987886" y="1258563"/>
            <a:ext cx="3759200" cy="1463934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fr-FR" sz="1600" b="1" dirty="0">
              <a:solidFill>
                <a:schemeClr val="tx1"/>
              </a:solidFill>
            </a:endParaRPr>
          </a:p>
          <a:p>
            <a:pPr algn="r"/>
            <a:r>
              <a:rPr lang="fr-FR" sz="2000" b="1" dirty="0">
                <a:solidFill>
                  <a:schemeClr val="accent1">
                    <a:lumMod val="75000"/>
                  </a:schemeClr>
                </a:solidFill>
              </a:rPr>
              <a:t>Une complémentaire santé</a:t>
            </a:r>
          </a:p>
          <a:p>
            <a:r>
              <a:rPr lang="fr-FR" sz="1600" b="1" dirty="0">
                <a:solidFill>
                  <a:schemeClr val="tx1"/>
                </a:solidFill>
              </a:rPr>
              <a:t>                                            </a:t>
            </a:r>
          </a:p>
          <a:p>
            <a:r>
              <a:rPr lang="fr-FR" sz="1600" b="1" dirty="0">
                <a:solidFill>
                  <a:schemeClr val="tx1"/>
                </a:solidFill>
              </a:rPr>
              <a:t>                              </a:t>
            </a:r>
            <a:r>
              <a:rPr lang="fr-FR" sz="2000" b="1" dirty="0">
                <a:solidFill>
                  <a:schemeClr val="accent1">
                    <a:lumMod val="75000"/>
                  </a:schemeClr>
                </a:solidFill>
              </a:rPr>
              <a:t>via</a:t>
            </a:r>
            <a:r>
              <a:rPr lang="fr-FR" sz="1600" b="1" dirty="0">
                <a:solidFill>
                  <a:schemeClr val="tx1"/>
                </a:solidFill>
              </a:rPr>
              <a:t> </a:t>
            </a:r>
          </a:p>
          <a:p>
            <a:pPr algn="ctr"/>
            <a:endParaRPr lang="fr-FR" sz="1200" dirty="0">
              <a:solidFill>
                <a:schemeClr val="tx1"/>
              </a:solidFill>
            </a:endParaRPr>
          </a:p>
          <a:p>
            <a:pPr algn="r"/>
            <a:r>
              <a:rPr lang="fr-FR" sz="1200" dirty="0">
                <a:solidFill>
                  <a:schemeClr val="tx1"/>
                </a:solidFill>
              </a:rPr>
              <a:t>      Contrat responsable</a:t>
            </a:r>
          </a:p>
          <a:p>
            <a:pPr algn="r"/>
            <a:r>
              <a:rPr lang="fr-FR" sz="1200" dirty="0">
                <a:solidFill>
                  <a:schemeClr val="tx1"/>
                </a:solidFill>
              </a:rPr>
              <a:t>1 formule NR, 6 formules responsables</a:t>
            </a:r>
            <a:endParaRPr lang="fr-FR" sz="1600" b="1" dirty="0">
              <a:solidFill>
                <a:schemeClr val="tx1"/>
              </a:solidFill>
            </a:endParaRPr>
          </a:p>
          <a:p>
            <a:pPr algn="r"/>
            <a:endParaRPr lang="fr-FR" sz="1600" b="1" dirty="0">
              <a:solidFill>
                <a:schemeClr val="tx1"/>
              </a:solidFill>
            </a:endParaRPr>
          </a:p>
        </p:txBody>
      </p:sp>
      <p:sp>
        <p:nvSpPr>
          <p:cNvPr id="1035" name="Rectangle : coins arrondis 1034"/>
          <p:cNvSpPr/>
          <p:nvPr/>
        </p:nvSpPr>
        <p:spPr>
          <a:xfrm>
            <a:off x="2463800" y="2847597"/>
            <a:ext cx="3759200" cy="1463934"/>
          </a:xfrm>
          <a:prstGeom prst="roundRect">
            <a:avLst/>
          </a:prstGeom>
          <a:solidFill>
            <a:schemeClr val="bg1"/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fr-FR" sz="1600" b="1" dirty="0">
                <a:solidFill>
                  <a:schemeClr val="tx1"/>
                </a:solidFill>
              </a:rPr>
              <a:t>           </a:t>
            </a:r>
            <a:r>
              <a:rPr lang="fr-FR" sz="2000" b="1" dirty="0">
                <a:solidFill>
                  <a:schemeClr val="accent1">
                    <a:lumMod val="75000"/>
                  </a:schemeClr>
                </a:solidFill>
              </a:rPr>
              <a:t>Un Réseau de soins</a:t>
            </a:r>
          </a:p>
          <a:p>
            <a:r>
              <a:rPr lang="fr-FR" sz="1600" b="1" dirty="0">
                <a:solidFill>
                  <a:schemeClr val="tx1"/>
                </a:solidFill>
              </a:rPr>
              <a:t>                                            </a:t>
            </a:r>
          </a:p>
          <a:p>
            <a:r>
              <a:rPr lang="fr-FR" sz="1600" b="1" dirty="0">
                <a:solidFill>
                  <a:schemeClr val="tx1"/>
                </a:solidFill>
              </a:rPr>
              <a:t>                                       </a:t>
            </a:r>
          </a:p>
          <a:p>
            <a:pPr algn="r"/>
            <a:endParaRPr lang="fr-FR" sz="1200" dirty="0">
              <a:solidFill>
                <a:schemeClr val="tx1"/>
              </a:solidFill>
            </a:endParaRPr>
          </a:p>
          <a:p>
            <a:pPr algn="r"/>
            <a:r>
              <a:rPr lang="fr-FR" sz="1200" dirty="0">
                <a:solidFill>
                  <a:schemeClr val="tx1"/>
                </a:solidFill>
              </a:rPr>
              <a:t>                       16000 professionnels  de santé pour des    équipements de qualité à prix réduit</a:t>
            </a:r>
          </a:p>
        </p:txBody>
      </p:sp>
      <p:sp>
        <p:nvSpPr>
          <p:cNvPr id="1037" name="Rectangle : coins arrondis 1036"/>
          <p:cNvSpPr/>
          <p:nvPr/>
        </p:nvSpPr>
        <p:spPr>
          <a:xfrm>
            <a:off x="2841625" y="4500433"/>
            <a:ext cx="3759200" cy="1463934"/>
          </a:xfrm>
          <a:prstGeom prst="roundRect">
            <a:avLst/>
          </a:prstGeom>
          <a:solidFill>
            <a:schemeClr val="bg1"/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fr-FR" sz="2000" b="1" dirty="0">
                <a:solidFill>
                  <a:schemeClr val="accent1">
                    <a:lumMod val="75000"/>
                  </a:schemeClr>
                </a:solidFill>
              </a:rPr>
              <a:t>   Un Tiers payant</a:t>
            </a:r>
          </a:p>
          <a:p>
            <a:r>
              <a:rPr lang="fr-FR" sz="1600" b="1" dirty="0">
                <a:solidFill>
                  <a:schemeClr val="tx1"/>
                </a:solidFill>
              </a:rPr>
              <a:t>                                            </a:t>
            </a:r>
          </a:p>
          <a:p>
            <a:r>
              <a:rPr lang="fr-FR" sz="1600" b="1" dirty="0">
                <a:solidFill>
                  <a:schemeClr val="tx1"/>
                </a:solidFill>
              </a:rPr>
              <a:t>                                         </a:t>
            </a:r>
          </a:p>
          <a:p>
            <a:pPr algn="ctr"/>
            <a:r>
              <a:rPr lang="fr-FR" sz="1400" dirty="0">
                <a:solidFill>
                  <a:schemeClr val="tx1"/>
                </a:solidFill>
              </a:rPr>
              <a:t>  </a:t>
            </a:r>
          </a:p>
          <a:p>
            <a:pPr algn="r"/>
            <a:r>
              <a:rPr lang="fr-FR" sz="1200" dirty="0">
                <a:solidFill>
                  <a:schemeClr val="tx1"/>
                </a:solidFill>
              </a:rPr>
              <a:t>                   Un tiers payant national, qui vous évite d’avancer les frais médicaux.</a:t>
            </a:r>
          </a:p>
        </p:txBody>
      </p:sp>
      <p:sp>
        <p:nvSpPr>
          <p:cNvPr id="1039" name="Rectangle : coins arrondis 1038"/>
          <p:cNvSpPr/>
          <p:nvPr/>
        </p:nvSpPr>
        <p:spPr>
          <a:xfrm>
            <a:off x="2463800" y="6116167"/>
            <a:ext cx="3759200" cy="1463934"/>
          </a:xfrm>
          <a:prstGeom prst="roundRect">
            <a:avLst/>
          </a:prstGeom>
          <a:solidFill>
            <a:schemeClr val="bg1"/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fr-FR" sz="2000" b="1" dirty="0">
                <a:solidFill>
                  <a:schemeClr val="tx1"/>
                </a:solidFill>
              </a:rPr>
              <a:t>        </a:t>
            </a:r>
            <a:r>
              <a:rPr lang="fr-FR" sz="2000" b="1" dirty="0">
                <a:solidFill>
                  <a:schemeClr val="accent1">
                    <a:lumMod val="75000"/>
                  </a:schemeClr>
                </a:solidFill>
              </a:rPr>
              <a:t>Une assistance </a:t>
            </a:r>
          </a:p>
          <a:p>
            <a:r>
              <a:rPr lang="fr-FR" sz="1600" b="1" dirty="0">
                <a:solidFill>
                  <a:schemeClr val="tx1"/>
                </a:solidFill>
              </a:rPr>
              <a:t>                                            </a:t>
            </a:r>
          </a:p>
          <a:p>
            <a:r>
              <a:rPr lang="fr-FR" sz="1600" b="1" dirty="0">
                <a:solidFill>
                  <a:schemeClr val="tx1"/>
                </a:solidFill>
              </a:rPr>
              <a:t>                                           </a:t>
            </a:r>
          </a:p>
          <a:p>
            <a:pPr algn="r"/>
            <a:endParaRPr lang="fr-FR" sz="1400" b="1" dirty="0">
              <a:solidFill>
                <a:schemeClr val="tx1"/>
              </a:solidFill>
            </a:endParaRPr>
          </a:p>
          <a:p>
            <a:pPr algn="r"/>
            <a:r>
              <a:rPr lang="fr-FR" sz="1600" dirty="0">
                <a:solidFill>
                  <a:schemeClr val="tx1"/>
                </a:solidFill>
              </a:rPr>
              <a:t>                </a:t>
            </a:r>
            <a:r>
              <a:rPr lang="fr-FR" sz="1200" dirty="0">
                <a:solidFill>
                  <a:schemeClr val="tx1"/>
                </a:solidFill>
              </a:rPr>
              <a:t>Un service haut de gamme 24h/24, 7j/7 pour vous accompagner en cas de coup dur</a:t>
            </a:r>
            <a:endParaRPr lang="fr-FR" sz="1600" b="1" dirty="0">
              <a:solidFill>
                <a:schemeClr val="tx1"/>
              </a:solidFill>
            </a:endParaRPr>
          </a:p>
        </p:txBody>
      </p:sp>
      <p:grpSp>
        <p:nvGrpSpPr>
          <p:cNvPr id="1052" name="Groupe 1051"/>
          <p:cNvGrpSpPr/>
          <p:nvPr/>
        </p:nvGrpSpPr>
        <p:grpSpPr>
          <a:xfrm>
            <a:off x="2045763" y="1495981"/>
            <a:ext cx="976837" cy="1010393"/>
            <a:chOff x="2109263" y="1465142"/>
            <a:chExt cx="976837" cy="1010393"/>
          </a:xfrm>
        </p:grpSpPr>
        <p:sp>
          <p:nvSpPr>
            <p:cNvPr id="1045" name="Ellipse 1044"/>
            <p:cNvSpPr/>
            <p:nvPr/>
          </p:nvSpPr>
          <p:spPr>
            <a:xfrm>
              <a:off x="2109263" y="1465142"/>
              <a:ext cx="976837" cy="1010393"/>
            </a:xfrm>
            <a:prstGeom prst="ellipse">
              <a:avLst/>
            </a:prstGeom>
            <a:solidFill>
              <a:schemeClr val="bg1"/>
            </a:solidFill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fr-FR" sz="2800" b="1" dirty="0">
                <a:solidFill>
                  <a:schemeClr val="tx1"/>
                </a:solidFill>
              </a:endParaRPr>
            </a:p>
          </p:txBody>
        </p:sp>
        <p:pic>
          <p:nvPicPr>
            <p:cNvPr id="1041" name="Picture 18" descr="Modèle Logo Santé Et Forme Physique Logo Médical | PosterMyWall"/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299" t="11936" r="27063" b="24816"/>
            <a:stretch>
              <a:fillRect/>
            </a:stretch>
          </p:blipFill>
          <p:spPr bwMode="auto">
            <a:xfrm>
              <a:off x="2311520" y="1585367"/>
              <a:ext cx="596138" cy="7595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51" name="Groupe 1050"/>
          <p:cNvGrpSpPr/>
          <p:nvPr/>
        </p:nvGrpSpPr>
        <p:grpSpPr>
          <a:xfrm>
            <a:off x="2524885" y="3065751"/>
            <a:ext cx="976837" cy="1010393"/>
            <a:chOff x="2548471" y="3049424"/>
            <a:chExt cx="976837" cy="1010393"/>
          </a:xfrm>
        </p:grpSpPr>
        <p:sp>
          <p:nvSpPr>
            <p:cNvPr id="1047" name="Ellipse 1046"/>
            <p:cNvSpPr/>
            <p:nvPr/>
          </p:nvSpPr>
          <p:spPr>
            <a:xfrm>
              <a:off x="2548471" y="3049424"/>
              <a:ext cx="976837" cy="1010393"/>
            </a:xfrm>
            <a:prstGeom prst="ellipse">
              <a:avLst/>
            </a:prstGeom>
            <a:solidFill>
              <a:schemeClr val="bg1"/>
            </a:solidFill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fr-FR" sz="2800" b="1" dirty="0">
                <a:solidFill>
                  <a:schemeClr val="tx1"/>
                </a:solidFill>
              </a:endParaRPr>
            </a:p>
          </p:txBody>
        </p:sp>
        <p:pic>
          <p:nvPicPr>
            <p:cNvPr id="1043" name="Picture 14" descr="Réseaux de soins et de professionnels - Uneoreilleavertie.com"/>
            <p:cNvPicPr>
              <a:picLocks noChangeAspect="1" noChangeArrowheads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111" t="12370" r="8264" b="17480"/>
            <a:stretch>
              <a:fillRect/>
            </a:stretch>
          </p:blipFill>
          <p:spPr bwMode="auto">
            <a:xfrm>
              <a:off x="2693612" y="3280574"/>
              <a:ext cx="670266" cy="5771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50" name="Groupe 1049"/>
          <p:cNvGrpSpPr/>
          <p:nvPr/>
        </p:nvGrpSpPr>
        <p:grpSpPr>
          <a:xfrm>
            <a:off x="2911326" y="4743824"/>
            <a:ext cx="976837" cy="1010393"/>
            <a:chOff x="2693612" y="4712978"/>
            <a:chExt cx="976837" cy="1010393"/>
          </a:xfrm>
        </p:grpSpPr>
        <p:sp>
          <p:nvSpPr>
            <p:cNvPr id="1048" name="Ellipse 1047"/>
            <p:cNvSpPr/>
            <p:nvPr/>
          </p:nvSpPr>
          <p:spPr>
            <a:xfrm>
              <a:off x="2693612" y="4712978"/>
              <a:ext cx="976837" cy="1010393"/>
            </a:xfrm>
            <a:prstGeom prst="ellipse">
              <a:avLst/>
            </a:prstGeom>
            <a:solidFill>
              <a:schemeClr val="bg1"/>
            </a:solidFill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fr-FR" sz="2800" b="1" dirty="0">
                <a:solidFill>
                  <a:schemeClr val="tx1"/>
                </a:solidFill>
              </a:endParaRPr>
            </a:p>
          </p:txBody>
        </p:sp>
        <p:pic>
          <p:nvPicPr>
            <p:cNvPr id="1044" name="Picture 16" descr="Tiers payant : qu'est-ce que c'est et comment l'obtenir ?"/>
            <p:cNvPicPr>
              <a:picLocks noChangeAspect="1" noChangeArrowheads="1"/>
            </p:cNvPicPr>
            <p:nvPr/>
          </p:nvPicPr>
          <p:blipFill rotWithShape="1">
            <a:blip r:embed="rId8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rightnessContrast bright="4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237" t="4849" r="29792" b="4849"/>
            <a:stretch>
              <a:fillRect/>
            </a:stretch>
          </p:blipFill>
          <p:spPr bwMode="auto">
            <a:xfrm>
              <a:off x="2862942" y="4910684"/>
              <a:ext cx="638175" cy="5960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54" name="Groupe 1053"/>
          <p:cNvGrpSpPr/>
          <p:nvPr/>
        </p:nvGrpSpPr>
        <p:grpSpPr>
          <a:xfrm>
            <a:off x="2544746" y="6360928"/>
            <a:ext cx="976837" cy="1010393"/>
            <a:chOff x="2566518" y="6340968"/>
            <a:chExt cx="976837" cy="1010393"/>
          </a:xfrm>
        </p:grpSpPr>
        <p:sp>
          <p:nvSpPr>
            <p:cNvPr id="1049" name="Ellipse 1048"/>
            <p:cNvSpPr/>
            <p:nvPr/>
          </p:nvSpPr>
          <p:spPr>
            <a:xfrm>
              <a:off x="2566518" y="6340968"/>
              <a:ext cx="976837" cy="1010393"/>
            </a:xfrm>
            <a:prstGeom prst="ellipse">
              <a:avLst/>
            </a:prstGeom>
            <a:solidFill>
              <a:schemeClr val="bg1"/>
            </a:solidFill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fr-FR" sz="2800" b="1" dirty="0">
                <a:solidFill>
                  <a:schemeClr val="tx1"/>
                </a:solidFill>
              </a:endParaRPr>
            </a:p>
          </p:txBody>
        </p:sp>
        <p:pic>
          <p:nvPicPr>
            <p:cNvPr id="1053" name="Picture 8" descr="Assistance and protection logo work people sign Vector Image"/>
            <p:cNvPicPr>
              <a:picLocks noChangeAspect="1" noChangeArrowheads="1"/>
            </p:cNvPicPr>
            <p:nvPr/>
          </p:nvPicPr>
          <p:blipFill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106" t="9307" r="19154" b="31895"/>
            <a:stretch>
              <a:fillRect/>
            </a:stretch>
          </p:blipFill>
          <p:spPr bwMode="auto">
            <a:xfrm>
              <a:off x="2781449" y="6523581"/>
              <a:ext cx="577433" cy="6037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56" name="Image 105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911749" y="1706693"/>
            <a:ext cx="1257151" cy="520820"/>
          </a:xfrm>
          <a:prstGeom prst="rect">
            <a:avLst/>
          </a:prstGeom>
        </p:spPr>
      </p:pic>
      <p:pic>
        <p:nvPicPr>
          <p:cNvPr id="1057" name="Image 1056">
            <a:hlinkClick r:id="rId12"/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954439" y="3170627"/>
            <a:ext cx="640045" cy="687144"/>
          </a:xfrm>
          <a:prstGeom prst="rect">
            <a:avLst/>
          </a:prstGeom>
        </p:spPr>
      </p:pic>
      <p:pic>
        <p:nvPicPr>
          <p:cNvPr id="1058" name="Image 1057">
            <a:hlinkClick r:id="rId14"/>
          </p:cNvPr>
          <p:cNvPicPr>
            <a:picLocks noChangeAspect="1"/>
          </p:cNvPicPr>
          <p:nvPr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rightnessContrast bright="2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26900" y="4891693"/>
            <a:ext cx="930612" cy="523651"/>
          </a:xfrm>
          <a:prstGeom prst="rect">
            <a:avLst/>
          </a:prstGeom>
        </p:spPr>
      </p:pic>
      <p:pic>
        <p:nvPicPr>
          <p:cNvPr id="1061" name="Image 1060" descr="Assistance : Quatrième semaine de grève chez Filassistance - News  Assurances Pro">
            <a:hlinkClick r:id="rId17"/>
          </p:cNvPr>
          <p:cNvPicPr>
            <a:picLocks noChangeAspect="1" noChangeArrowheads="1"/>
          </p:cNvPicPr>
          <p:nvPr/>
        </p:nvPicPr>
        <p:blipFill rotWithShape="1"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50" t="10714" r="28403" b="20179"/>
          <a:stretch>
            <a:fillRect/>
          </a:stretch>
        </p:blipFill>
        <p:spPr bwMode="auto">
          <a:xfrm>
            <a:off x="5035820" y="6491554"/>
            <a:ext cx="825125" cy="6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63" name="Ellipse 1062"/>
          <p:cNvSpPr/>
          <p:nvPr/>
        </p:nvSpPr>
        <p:spPr>
          <a:xfrm>
            <a:off x="-4107550" y="953182"/>
            <a:ext cx="6446849" cy="8404797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fr-FR" sz="2800" b="1" dirty="0">
              <a:solidFill>
                <a:schemeClr val="tx1"/>
              </a:solidFill>
            </a:endParaRPr>
          </a:p>
        </p:txBody>
      </p:sp>
      <p:sp>
        <p:nvSpPr>
          <p:cNvPr id="26" name="Ellipse 25"/>
          <p:cNvSpPr/>
          <p:nvPr/>
        </p:nvSpPr>
        <p:spPr>
          <a:xfrm>
            <a:off x="-240074" y="2351314"/>
            <a:ext cx="2488094" cy="5506457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b="1" dirty="0">
                <a:solidFill>
                  <a:schemeClr val="tx1"/>
                </a:solidFill>
              </a:rPr>
              <a:t>Une </a:t>
            </a:r>
          </a:p>
          <a:p>
            <a:pPr algn="ctr"/>
            <a:r>
              <a:rPr lang="fr-FR" sz="3200" b="1" dirty="0">
                <a:solidFill>
                  <a:schemeClr val="tx1"/>
                </a:solidFill>
              </a:rPr>
              <a:t>solution intégrale </a:t>
            </a:r>
            <a:r>
              <a:rPr lang="fr-FR" b="1" dirty="0">
                <a:solidFill>
                  <a:schemeClr val="tx1"/>
                </a:solidFill>
              </a:rPr>
              <a:t>Pour </a:t>
            </a:r>
          </a:p>
          <a:p>
            <a:pPr algn="ctr"/>
            <a:r>
              <a:rPr lang="fr-FR" b="1" dirty="0">
                <a:solidFill>
                  <a:schemeClr val="tx1"/>
                </a:solidFill>
              </a:rPr>
              <a:t>les  50 - 85 ans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 : coins arrondis 9"/>
          <p:cNvSpPr/>
          <p:nvPr/>
        </p:nvSpPr>
        <p:spPr>
          <a:xfrm>
            <a:off x="348343" y="2268489"/>
            <a:ext cx="6198508" cy="1405585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Une solution qui s’adapte à tous les besoins et à tous les budgets :</a:t>
            </a:r>
          </a:p>
          <a:p>
            <a:pPr algn="ctr"/>
            <a:r>
              <a:rPr lang="fr-FR" sz="1400" b="1" dirty="0">
                <a:solidFill>
                  <a:schemeClr val="bg1"/>
                </a:solidFill>
              </a:rPr>
              <a:t>1/ Une formule </a:t>
            </a:r>
            <a:r>
              <a:rPr lang="fr-FR" sz="1400" b="1" dirty="0" err="1">
                <a:solidFill>
                  <a:schemeClr val="bg1"/>
                </a:solidFill>
              </a:rPr>
              <a:t>Hospi</a:t>
            </a:r>
            <a:r>
              <a:rPr lang="fr-FR" sz="1400" b="1" dirty="0">
                <a:solidFill>
                  <a:schemeClr val="bg1"/>
                </a:solidFill>
              </a:rPr>
              <a:t> Soins Pharma  « NON responsable »</a:t>
            </a:r>
          </a:p>
          <a:p>
            <a:pPr algn="ctr"/>
            <a:r>
              <a:rPr lang="fr-FR" sz="1400" b="1" dirty="0">
                <a:solidFill>
                  <a:schemeClr val="bg1"/>
                </a:solidFill>
              </a:rPr>
              <a:t>2/ Des formules Classiques</a:t>
            </a:r>
          </a:p>
          <a:p>
            <a:pPr algn="ctr"/>
            <a:r>
              <a:rPr lang="fr-FR" sz="1400" b="1" dirty="0">
                <a:solidFill>
                  <a:schemeClr val="bg1"/>
                </a:solidFill>
              </a:rPr>
              <a:t>3/ Des formules renforcées</a:t>
            </a:r>
            <a:endParaRPr lang="fr-FR" sz="1400" dirty="0">
              <a:solidFill>
                <a:schemeClr val="bg1"/>
              </a:solidFill>
            </a:endParaRPr>
          </a:p>
        </p:txBody>
      </p:sp>
      <p:sp>
        <p:nvSpPr>
          <p:cNvPr id="11" name="Rectangle : coins arrondis 10"/>
          <p:cNvSpPr/>
          <p:nvPr/>
        </p:nvSpPr>
        <p:spPr>
          <a:xfrm>
            <a:off x="329746" y="3846943"/>
            <a:ext cx="6198508" cy="38543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Une adhésion rapide en ligne avec la signature électronique</a:t>
            </a:r>
          </a:p>
        </p:txBody>
      </p:sp>
      <p:sp>
        <p:nvSpPr>
          <p:cNvPr id="12" name="Rectangle : coins arrondis 11"/>
          <p:cNvSpPr/>
          <p:nvPr/>
        </p:nvSpPr>
        <p:spPr>
          <a:xfrm>
            <a:off x="348343" y="4329539"/>
            <a:ext cx="6198508" cy="541482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Une reprise à la concurrence facilitée</a:t>
            </a:r>
          </a:p>
          <a:p>
            <a:pPr algn="ctr"/>
            <a:r>
              <a:rPr lang="fr-FR" b="1" dirty="0">
                <a:solidFill>
                  <a:schemeClr val="bg1"/>
                </a:solidFill>
              </a:rPr>
              <a:t> </a:t>
            </a:r>
            <a:r>
              <a:rPr lang="fr-FR" sz="1400" dirty="0">
                <a:solidFill>
                  <a:schemeClr val="bg1"/>
                </a:solidFill>
              </a:rPr>
              <a:t>avec la prise en charge de l’envoi de la résiliation en cas de RIA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14" name="Rectangle : coins arrondis 13"/>
          <p:cNvSpPr/>
          <p:nvPr/>
        </p:nvSpPr>
        <p:spPr>
          <a:xfrm>
            <a:off x="348343" y="4971775"/>
            <a:ext cx="6198508" cy="391882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20 professions éligibles pour le poste médecine naturelle</a:t>
            </a:r>
          </a:p>
        </p:txBody>
      </p:sp>
      <p:sp>
        <p:nvSpPr>
          <p:cNvPr id="15" name="Rectangle : coins arrondis 14"/>
          <p:cNvSpPr/>
          <p:nvPr/>
        </p:nvSpPr>
        <p:spPr>
          <a:xfrm>
            <a:off x="329746" y="5465261"/>
            <a:ext cx="6198508" cy="562102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chemeClr val="bg1"/>
                </a:solidFill>
              </a:rPr>
              <a:t>Une offre inédite ultra-fidélisante avec des garanties qui évoluent dès 10 mois d'adhésion et pendant 3 ans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17" name="Rectangle : coins arrondis 16"/>
          <p:cNvSpPr/>
          <p:nvPr/>
        </p:nvSpPr>
        <p:spPr>
          <a:xfrm>
            <a:off x="348343" y="6132915"/>
            <a:ext cx="6198508" cy="391882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Réduction DUO </a:t>
            </a:r>
            <a:r>
              <a:rPr lang="fr-FR" dirty="0">
                <a:solidFill>
                  <a:schemeClr val="bg1"/>
                </a:solidFill>
              </a:rPr>
              <a:t>: dès 2 assurés réduction de 10 % par adulte</a:t>
            </a:r>
          </a:p>
        </p:txBody>
      </p:sp>
      <p:sp>
        <p:nvSpPr>
          <p:cNvPr id="18" name="Rectangle : coins arrondis 17"/>
          <p:cNvSpPr/>
          <p:nvPr/>
        </p:nvSpPr>
        <p:spPr>
          <a:xfrm>
            <a:off x="348343" y="6630349"/>
            <a:ext cx="6198508" cy="1283048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L’accès au réseau de soins Kalixia, 1er réseau de soins de santé de France. </a:t>
            </a:r>
            <a:r>
              <a:rPr lang="fr-FR" sz="1400" dirty="0">
                <a:solidFill>
                  <a:schemeClr val="bg1"/>
                </a:solidFill>
              </a:rPr>
              <a:t>Des tarifs négociés auprès 6 700 centres d’optiques, 4 500 chirurgiens-dentistes et orthodontistes, 4500 centres audio partenaires et 450 ostéopathes, répartis sur l’ensemble du territoire.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19" name="Rectangle : coins arrondis 18"/>
          <p:cNvSpPr/>
          <p:nvPr/>
        </p:nvSpPr>
        <p:spPr>
          <a:xfrm>
            <a:off x="348343" y="8021750"/>
            <a:ext cx="6198508" cy="1503336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L’assistance Filassistance en inclusion </a:t>
            </a:r>
            <a:r>
              <a:rPr lang="fr-FR" dirty="0">
                <a:solidFill>
                  <a:schemeClr val="bg1"/>
                </a:solidFill>
              </a:rPr>
              <a:t>: </a:t>
            </a:r>
            <a:r>
              <a:rPr lang="fr-FR" sz="1400" dirty="0">
                <a:solidFill>
                  <a:schemeClr val="bg1"/>
                </a:solidFill>
              </a:rPr>
              <a:t>un réseau de 10 000 prestataires en France pour un maillage territoriale optimal. Des experts de l’assistance disponibles 7j/7, 24h/24</a:t>
            </a:r>
          </a:p>
          <a:p>
            <a:pPr algn="ctr"/>
            <a:r>
              <a:rPr lang="fr-FR" dirty="0">
                <a:solidFill>
                  <a:schemeClr val="bg1"/>
                </a:solidFill>
              </a:rPr>
              <a:t> </a:t>
            </a:r>
            <a:r>
              <a:rPr lang="fr-FR" b="1" dirty="0">
                <a:solidFill>
                  <a:schemeClr val="bg1"/>
                </a:solidFill>
              </a:rPr>
              <a:t>Des garanties haut de gamme </a:t>
            </a:r>
            <a:r>
              <a:rPr lang="fr-FR" sz="1400" dirty="0">
                <a:solidFill>
                  <a:schemeClr val="bg1"/>
                </a:solidFill>
              </a:rPr>
              <a:t>en inclusion sur mesure pour les seniors: téléconsultations illimitées, accompagnement maladie chronique, </a:t>
            </a:r>
          </a:p>
          <a:p>
            <a:pPr algn="ctr"/>
            <a:r>
              <a:rPr lang="fr-FR" sz="1400" dirty="0">
                <a:solidFill>
                  <a:schemeClr val="bg1"/>
                </a:solidFill>
              </a:rPr>
              <a:t>port de médicaments ...</a:t>
            </a:r>
            <a:endParaRPr lang="fr-FR" dirty="0">
              <a:solidFill>
                <a:schemeClr val="bg1"/>
              </a:solidFill>
            </a:endParaRPr>
          </a:p>
        </p:txBody>
      </p:sp>
      <p:grpSp>
        <p:nvGrpSpPr>
          <p:cNvPr id="20" name="Groupe 19"/>
          <p:cNvGrpSpPr/>
          <p:nvPr/>
        </p:nvGrpSpPr>
        <p:grpSpPr>
          <a:xfrm>
            <a:off x="1248230" y="945460"/>
            <a:ext cx="5215617" cy="1038433"/>
            <a:chOff x="1248230" y="945460"/>
            <a:chExt cx="5215617" cy="1038433"/>
          </a:xfrm>
        </p:grpSpPr>
        <p:sp>
          <p:nvSpPr>
            <p:cNvPr id="5" name="ZoneTexte 4"/>
            <p:cNvSpPr txBox="1"/>
            <p:nvPr/>
          </p:nvSpPr>
          <p:spPr>
            <a:xfrm>
              <a:off x="2283732" y="1029786"/>
              <a:ext cx="4180115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FR" sz="2800" b="1" dirty="0"/>
                <a:t>Pourquoi choisir Zen Santé Evolutive ?</a:t>
              </a:r>
            </a:p>
          </p:txBody>
        </p:sp>
        <p:pic>
          <p:nvPicPr>
            <p:cNvPr id="3074" name="Picture 2" descr="Bonne idée - Icônes commercialisation gratuites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8230" y="945460"/>
              <a:ext cx="1035502" cy="10355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" name="Groupe 1">
            <a:extLst>
              <a:ext uri="{FF2B5EF4-FFF2-40B4-BE49-F238E27FC236}">
                <a16:creationId xmlns:a16="http://schemas.microsoft.com/office/drawing/2014/main" id="{3396FA8F-2D59-5084-3E4D-FD9BCBF93E84}"/>
              </a:ext>
            </a:extLst>
          </p:cNvPr>
          <p:cNvGrpSpPr/>
          <p:nvPr/>
        </p:nvGrpSpPr>
        <p:grpSpPr>
          <a:xfrm>
            <a:off x="101600" y="93434"/>
            <a:ext cx="6686550" cy="628650"/>
            <a:chOff x="88900" y="285750"/>
            <a:chExt cx="6686550" cy="628650"/>
          </a:xfrm>
        </p:grpSpPr>
        <p:sp>
          <p:nvSpPr>
            <p:cNvPr id="7" name="Rectangle : coins arrondis 6">
              <a:extLst>
                <a:ext uri="{FF2B5EF4-FFF2-40B4-BE49-F238E27FC236}">
                  <a16:creationId xmlns:a16="http://schemas.microsoft.com/office/drawing/2014/main" id="{56D504B7-D7A7-49CB-F8D8-A36A46E67186}"/>
                </a:ext>
              </a:extLst>
            </p:cNvPr>
            <p:cNvSpPr/>
            <p:nvPr/>
          </p:nvSpPr>
          <p:spPr>
            <a:xfrm>
              <a:off x="88900" y="285750"/>
              <a:ext cx="6686550" cy="628650"/>
            </a:xfrm>
            <a:prstGeom prst="roundRect">
              <a:avLst/>
            </a:prstGeom>
            <a:solidFill>
              <a:schemeClr val="bg1"/>
            </a:solidFill>
            <a:ln w="44450">
              <a:solidFill>
                <a:schemeClr val="accent1">
                  <a:lumMod val="75000"/>
                </a:schemeClr>
              </a:solidFill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fr-FR" b="1" dirty="0">
                  <a:solidFill>
                    <a:schemeClr val="tx1"/>
                  </a:solidFill>
                </a:rPr>
                <a:t>        Zen Santé Evolutive    by                       assuré par                                 </a:t>
              </a:r>
            </a:p>
          </p:txBody>
        </p:sp>
        <p:pic>
          <p:nvPicPr>
            <p:cNvPr id="8" name="Image 7" descr="Zenioo : spécialiste de la mutuelle santé">
              <a:extLst>
                <a:ext uri="{FF2B5EF4-FFF2-40B4-BE49-F238E27FC236}">
                  <a16:creationId xmlns:a16="http://schemas.microsoft.com/office/drawing/2014/main" id="{3835A4A4-5915-F7F8-8C9B-3D702A36B9A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6667" b="19333"/>
            <a:stretch>
              <a:fillRect/>
            </a:stretch>
          </p:blipFill>
          <p:spPr bwMode="auto">
            <a:xfrm>
              <a:off x="3054521" y="427494"/>
              <a:ext cx="908724" cy="40163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Image 8">
              <a:extLst>
                <a:ext uri="{FF2B5EF4-FFF2-40B4-BE49-F238E27FC236}">
                  <a16:creationId xmlns:a16="http://schemas.microsoft.com/office/drawing/2014/main" id="{1C859DD0-0AA3-67B0-B0ED-A888629E36E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20000" contrast="-2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327650" y="350157"/>
              <a:ext cx="1206500" cy="49983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30" name="Picture 2" descr="Bouton Logo Les Dents - Images vectorielles gratuites sur Pixabay - Pixaba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9462" y="14272152"/>
            <a:ext cx="49067" cy="49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e 10"/>
          <p:cNvGrpSpPr/>
          <p:nvPr/>
        </p:nvGrpSpPr>
        <p:grpSpPr>
          <a:xfrm>
            <a:off x="1286084" y="873089"/>
            <a:ext cx="4823750" cy="1068608"/>
            <a:chOff x="1640097" y="967319"/>
            <a:chExt cx="4823750" cy="1068608"/>
          </a:xfrm>
        </p:grpSpPr>
        <p:pic>
          <p:nvPicPr>
            <p:cNvPr id="5" name="Image 4">
              <a:hlinkClick r:id="rId4"/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640097" y="967319"/>
              <a:ext cx="995362" cy="1068608"/>
            </a:xfrm>
            <a:prstGeom prst="rect">
              <a:avLst/>
            </a:prstGeom>
          </p:spPr>
        </p:pic>
        <p:sp>
          <p:nvSpPr>
            <p:cNvPr id="9" name="ZoneTexte 8"/>
            <p:cNvSpPr txBox="1"/>
            <p:nvPr/>
          </p:nvSpPr>
          <p:spPr>
            <a:xfrm>
              <a:off x="2283732" y="1029786"/>
              <a:ext cx="4180115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FR" sz="2800" b="1" dirty="0">
                  <a:solidFill>
                    <a:srgbClr val="0070C0"/>
                  </a:solidFill>
                </a:rPr>
                <a:t>Pourquoi passer par le réseau de soin Kalixia ?</a:t>
              </a:r>
            </a:p>
          </p:txBody>
        </p:sp>
      </p:grpSp>
      <p:grpSp>
        <p:nvGrpSpPr>
          <p:cNvPr id="15" name="Groupe 14"/>
          <p:cNvGrpSpPr/>
          <p:nvPr/>
        </p:nvGrpSpPr>
        <p:grpSpPr>
          <a:xfrm>
            <a:off x="13524" y="2264276"/>
            <a:ext cx="6247576" cy="1384995"/>
            <a:chOff x="343724" y="2264276"/>
            <a:chExt cx="6069776" cy="1384995"/>
          </a:xfrm>
        </p:grpSpPr>
        <p:pic>
          <p:nvPicPr>
            <p:cNvPr id="12" name="Picture 4" descr="Feingeist - Lunette Pour Les Ecran - Free Transparent PNG Clipart Images  Download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3724" y="2264276"/>
              <a:ext cx="1272560" cy="5703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" name="ZoneTexte 13"/>
            <p:cNvSpPr txBox="1"/>
            <p:nvPr/>
          </p:nvSpPr>
          <p:spPr>
            <a:xfrm>
              <a:off x="1382902" y="2264276"/>
              <a:ext cx="5030598" cy="1384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1400" b="1" dirty="0"/>
                <a:t>        Le réseau optique de Kalixia vous garantie:</a:t>
              </a: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fr-FR" sz="1400" b="0" i="0" dirty="0">
                  <a:solidFill>
                    <a:srgbClr val="161615"/>
                  </a:solidFill>
                  <a:effectLst/>
                  <a:latin typeface="Source Sans Pro" panose="020B0503030403020204" pitchFamily="34" charset="0"/>
                </a:rPr>
                <a:t>Un libre choix au sein d’un référentiel verres / lentilles très complet de verriers rigoureusement sélectionnés</a:t>
              </a: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fr-FR" sz="1400" b="0" i="0" dirty="0">
                  <a:solidFill>
                    <a:srgbClr val="161615"/>
                  </a:solidFill>
                  <a:effectLst/>
                  <a:latin typeface="Source Sans Pro" panose="020B0503030403020204" pitchFamily="34" charset="0"/>
                </a:rPr>
                <a:t>Des tarifs avantageux : jusqu’à – 40 % sur les verres de classe B, – 30 % sur les lentilles; – 20% sur les montures</a:t>
              </a: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fr-FR" sz="1400" b="0" i="0" dirty="0">
                  <a:solidFill>
                    <a:srgbClr val="161615"/>
                  </a:solidFill>
                  <a:effectLst/>
                  <a:latin typeface="Source Sans Pro" panose="020B0503030403020204" pitchFamily="34" charset="0"/>
                </a:rPr>
                <a:t>Des prestations de qualité : garanties casse verres et monture</a:t>
              </a:r>
            </a:p>
          </p:txBody>
        </p:sp>
      </p:grpSp>
      <p:grpSp>
        <p:nvGrpSpPr>
          <p:cNvPr id="24" name="Groupe 23"/>
          <p:cNvGrpSpPr/>
          <p:nvPr/>
        </p:nvGrpSpPr>
        <p:grpSpPr>
          <a:xfrm>
            <a:off x="1286084" y="3930046"/>
            <a:ext cx="5409936" cy="1600438"/>
            <a:chOff x="1730184" y="4376845"/>
            <a:chExt cx="4992359" cy="1600438"/>
          </a:xfrm>
        </p:grpSpPr>
        <p:pic>
          <p:nvPicPr>
            <p:cNvPr id="1026" name="Picture 2" descr="Icône D'oreille Pour Vos Sites De Conception Et Projets PNG , Audio, Oreille,  Écoutez Licône PNG et vecteur pour téléchargement gratuit"/>
            <p:cNvPicPr>
              <a:picLocks noChangeAspect="1" noChangeArrowheads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976" t="19011" r="29441" b="18906"/>
            <a:stretch>
              <a:fillRect/>
            </a:stretch>
          </p:blipFill>
          <p:spPr bwMode="auto">
            <a:xfrm>
              <a:off x="1730184" y="4471524"/>
              <a:ext cx="445059" cy="6488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8" name="ZoneTexte 17"/>
            <p:cNvSpPr txBox="1"/>
            <p:nvPr/>
          </p:nvSpPr>
          <p:spPr>
            <a:xfrm>
              <a:off x="2175244" y="4376845"/>
              <a:ext cx="4547299" cy="160043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1400" b="1" dirty="0"/>
                <a:t>        Le réseau Audio de Kalixia vous garantie:</a:t>
              </a: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fr-FR" sz="1400" b="0" i="0" dirty="0">
                  <a:solidFill>
                    <a:srgbClr val="161615"/>
                  </a:solidFill>
                  <a:effectLst/>
                  <a:latin typeface="Source Sans Pro" panose="020B0503030403020204" pitchFamily="34" charset="0"/>
                </a:rPr>
                <a:t>Des tarifs avantageux : – 500 € en moyenne pour un double appareillage de classe 2</a:t>
              </a: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fr-FR" sz="1400" b="0" i="0" dirty="0">
                  <a:solidFill>
                    <a:srgbClr val="161615"/>
                  </a:solidFill>
                  <a:effectLst/>
                  <a:latin typeface="Source Sans Pro" panose="020B0503030403020204" pitchFamily="34" charset="0"/>
                </a:rPr>
                <a:t>Une prestation « tout en un » : aide auditive prête à l’emploi avec piles et kit d’entretien pour 6 mois</a:t>
              </a: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fr-FR" sz="1400" b="0" i="0" dirty="0">
                  <a:solidFill>
                    <a:srgbClr val="161615"/>
                  </a:solidFill>
                  <a:effectLst/>
                  <a:latin typeface="Source Sans Pro" panose="020B0503030403020204" pitchFamily="34" charset="0"/>
                </a:rPr>
                <a:t>Des prestations accessibles aux ascendants directs des assurés bénéficiaires</a:t>
              </a:r>
            </a:p>
          </p:txBody>
        </p:sp>
      </p:grpSp>
      <p:grpSp>
        <p:nvGrpSpPr>
          <p:cNvPr id="23" name="Groupe 22"/>
          <p:cNvGrpSpPr/>
          <p:nvPr/>
        </p:nvGrpSpPr>
        <p:grpSpPr>
          <a:xfrm>
            <a:off x="239620" y="5760973"/>
            <a:ext cx="5653180" cy="1815882"/>
            <a:chOff x="521694" y="6041286"/>
            <a:chExt cx="5653180" cy="1815882"/>
          </a:xfrm>
        </p:grpSpPr>
        <p:pic>
          <p:nvPicPr>
            <p:cNvPr id="22" name="Picture 2" descr="Bouton Logo Les Dents - Images vectorielles gratuites sur Pixabay - Pixabay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1694" y="6128182"/>
              <a:ext cx="665284" cy="6652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1" name="ZoneTexte 20"/>
            <p:cNvSpPr txBox="1"/>
            <p:nvPr/>
          </p:nvSpPr>
          <p:spPr>
            <a:xfrm>
              <a:off x="1144276" y="6041286"/>
              <a:ext cx="5030598" cy="18158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1400" b="1" dirty="0"/>
                <a:t>       Le partenariat Dentaire de Kalixia vous garantie:</a:t>
              </a: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fr-FR" sz="1400" b="0" i="0" dirty="0">
                  <a:solidFill>
                    <a:srgbClr val="161615"/>
                  </a:solidFill>
                  <a:effectLst/>
                  <a:latin typeface="Source Sans Pro" panose="020B0503030403020204" pitchFamily="34" charset="0"/>
                </a:rPr>
                <a:t>Un renforcement de l’accès aux actes de prothèse, d’orthodontie, d’implantologie, de parodontologie, et de prévention</a:t>
              </a: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fr-FR" sz="1400" b="0" i="0" dirty="0">
                  <a:solidFill>
                    <a:srgbClr val="161615"/>
                  </a:solidFill>
                  <a:effectLst/>
                  <a:latin typeface="Source Sans Pro" panose="020B0503030403020204" pitchFamily="34" charset="0"/>
                </a:rPr>
                <a:t>Une amélioration de la prise en charge complémentaire</a:t>
              </a: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fr-FR" sz="1400" b="0" i="0" dirty="0">
                  <a:solidFill>
                    <a:srgbClr val="161615"/>
                  </a:solidFill>
                  <a:effectLst/>
                  <a:latin typeface="Source Sans Pro" panose="020B0503030403020204" pitchFamily="34" charset="0"/>
                </a:rPr>
                <a:t>Le respect de plafonds d’honoraires, au niveau des pratiques moyennes du département</a:t>
              </a: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fr-FR" sz="1400" b="0" i="0" dirty="0">
                  <a:solidFill>
                    <a:srgbClr val="161615"/>
                  </a:solidFill>
                  <a:effectLst/>
                  <a:latin typeface="Source Sans Pro" panose="020B0503030403020204" pitchFamily="34" charset="0"/>
                </a:rPr>
                <a:t>Une garantie 10 ans sur les couronnes</a:t>
              </a:r>
            </a:p>
          </p:txBody>
        </p:sp>
      </p:grpSp>
      <p:grpSp>
        <p:nvGrpSpPr>
          <p:cNvPr id="27" name="Groupe 26"/>
          <p:cNvGrpSpPr/>
          <p:nvPr/>
        </p:nvGrpSpPr>
        <p:grpSpPr>
          <a:xfrm>
            <a:off x="1261356" y="7858144"/>
            <a:ext cx="5406144" cy="1384995"/>
            <a:chOff x="1261356" y="7832744"/>
            <a:chExt cx="5406144" cy="1384995"/>
          </a:xfrm>
        </p:grpSpPr>
        <p:pic>
          <p:nvPicPr>
            <p:cNvPr id="1028" name="Picture 4" descr="Centre d'ostéopathie - Roxane Gervais St-Amour D.O.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61356" y="7910070"/>
              <a:ext cx="719680" cy="72289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6" name="ZoneTexte 25"/>
            <p:cNvSpPr txBox="1"/>
            <p:nvPr/>
          </p:nvSpPr>
          <p:spPr>
            <a:xfrm>
              <a:off x="1739850" y="7832744"/>
              <a:ext cx="4927650" cy="1384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1400" b="1" dirty="0"/>
                <a:t>        Le réseau Ostéopathie de Kalixia vous garantie:</a:t>
              </a: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fr-FR" sz="1400" b="0" i="0" dirty="0">
                  <a:solidFill>
                    <a:srgbClr val="161615"/>
                  </a:solidFill>
                  <a:effectLst/>
                  <a:latin typeface="Source Sans Pro" panose="020B0503030403020204" pitchFamily="34" charset="0"/>
                </a:rPr>
                <a:t>Un accès à des ostéopathes sélectionnés sur des critères de qualité</a:t>
              </a: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fr-FR" sz="1400" b="0" i="0" dirty="0">
                  <a:solidFill>
                    <a:srgbClr val="161615"/>
                  </a:solidFill>
                  <a:effectLst/>
                  <a:latin typeface="Source Sans Pro" panose="020B0503030403020204" pitchFamily="34" charset="0"/>
                </a:rPr>
                <a:t>Une normalisation et une dématérialisation de la note d’honoraires</a:t>
              </a: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fr-FR" sz="1400" b="0" i="0" dirty="0">
                  <a:solidFill>
                    <a:srgbClr val="161615"/>
                  </a:solidFill>
                  <a:effectLst/>
                  <a:latin typeface="Source Sans Pro" panose="020B0503030403020204" pitchFamily="34" charset="0"/>
                </a:rPr>
                <a:t>Une modération tarifaire</a:t>
              </a:r>
            </a:p>
          </p:txBody>
        </p:sp>
      </p:grpSp>
      <p:grpSp>
        <p:nvGrpSpPr>
          <p:cNvPr id="2" name="Groupe 1">
            <a:extLst>
              <a:ext uri="{FF2B5EF4-FFF2-40B4-BE49-F238E27FC236}">
                <a16:creationId xmlns:a16="http://schemas.microsoft.com/office/drawing/2014/main" id="{2E7C7C08-BC59-7635-1392-22CBF7FEB150}"/>
              </a:ext>
            </a:extLst>
          </p:cNvPr>
          <p:cNvGrpSpPr/>
          <p:nvPr/>
        </p:nvGrpSpPr>
        <p:grpSpPr>
          <a:xfrm>
            <a:off x="101600" y="93434"/>
            <a:ext cx="6686550" cy="628650"/>
            <a:chOff x="88900" y="285750"/>
            <a:chExt cx="6686550" cy="628650"/>
          </a:xfrm>
        </p:grpSpPr>
        <p:sp>
          <p:nvSpPr>
            <p:cNvPr id="7" name="Rectangle : coins arrondis 6">
              <a:extLst>
                <a:ext uri="{FF2B5EF4-FFF2-40B4-BE49-F238E27FC236}">
                  <a16:creationId xmlns:a16="http://schemas.microsoft.com/office/drawing/2014/main" id="{443D1494-00C3-5D6A-28D0-B537C40B9CC2}"/>
                </a:ext>
              </a:extLst>
            </p:cNvPr>
            <p:cNvSpPr/>
            <p:nvPr/>
          </p:nvSpPr>
          <p:spPr>
            <a:xfrm>
              <a:off x="88900" y="285750"/>
              <a:ext cx="6686550" cy="628650"/>
            </a:xfrm>
            <a:prstGeom prst="roundRect">
              <a:avLst/>
            </a:prstGeom>
            <a:solidFill>
              <a:schemeClr val="bg1"/>
            </a:solidFill>
            <a:ln w="44450">
              <a:solidFill>
                <a:schemeClr val="accent1">
                  <a:lumMod val="75000"/>
                </a:schemeClr>
              </a:solidFill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fr-FR" b="1" dirty="0">
                  <a:solidFill>
                    <a:schemeClr val="tx1"/>
                  </a:solidFill>
                </a:rPr>
                <a:t>        Zen Santé Evolutive    by                       assuré par                                 </a:t>
              </a:r>
            </a:p>
          </p:txBody>
        </p:sp>
        <p:pic>
          <p:nvPicPr>
            <p:cNvPr id="8" name="Image 7" descr="Zenioo : spécialiste de la mutuelle santé">
              <a:extLst>
                <a:ext uri="{FF2B5EF4-FFF2-40B4-BE49-F238E27FC236}">
                  <a16:creationId xmlns:a16="http://schemas.microsoft.com/office/drawing/2014/main" id="{B022E52E-7942-7A78-0A60-88830D77CC1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6667" b="19333"/>
            <a:stretch>
              <a:fillRect/>
            </a:stretch>
          </p:blipFill>
          <p:spPr bwMode="auto">
            <a:xfrm>
              <a:off x="3054521" y="427494"/>
              <a:ext cx="908724" cy="40163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Image 9">
              <a:extLst>
                <a:ext uri="{FF2B5EF4-FFF2-40B4-BE49-F238E27FC236}">
                  <a16:creationId xmlns:a16="http://schemas.microsoft.com/office/drawing/2014/main" id="{B8B2868A-DCF3-DC7D-80F3-1E0E262F6B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BEBA8EAE-BF5A-486C-A8C5-ECC9F3942E4B}">
                  <a14:imgProps xmlns:a14="http://schemas.microsoft.com/office/drawing/2010/main">
                    <a14:imgLayer r:embed="rId12">
                      <a14:imgEffect>
                        <a14:brightnessContrast bright="20000" contrast="-2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327650" y="350157"/>
              <a:ext cx="1206500" cy="49983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30" name="Picture 2" descr="Bouton Logo Les Dents - Images vectorielles gratuites sur Pixabay - Pixaba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9462" y="14272152"/>
            <a:ext cx="49067" cy="49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 6" descr="Assistance : Quatrième semaine de grève chez Filassistance - News  Assurances Pro">
            <a:hlinkClick r:id="rId4"/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50" t="10714" r="28403" b="20179"/>
          <a:stretch>
            <a:fillRect/>
          </a:stretch>
        </p:blipFill>
        <p:spPr bwMode="auto">
          <a:xfrm>
            <a:off x="755920" y="1233754"/>
            <a:ext cx="1081442" cy="861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ZoneTexte 3"/>
          <p:cNvSpPr txBox="1"/>
          <p:nvPr/>
        </p:nvSpPr>
        <p:spPr>
          <a:xfrm>
            <a:off x="1423642" y="1233754"/>
            <a:ext cx="468448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2800" b="1" dirty="0">
                <a:solidFill>
                  <a:srgbClr val="0070C0"/>
                </a:solidFill>
              </a:rPr>
              <a:t>Pourquoi faire appel à l’assistance FIL ?</a:t>
            </a:r>
          </a:p>
        </p:txBody>
      </p:sp>
      <p:sp>
        <p:nvSpPr>
          <p:cNvPr id="9" name="ZoneTexte 11"/>
          <p:cNvSpPr txBox="1"/>
          <p:nvPr/>
        </p:nvSpPr>
        <p:spPr>
          <a:xfrm>
            <a:off x="956518" y="2650686"/>
            <a:ext cx="49103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dirty="0"/>
              <a:t>En cas d’hospitalisation ou d’immobilisation, </a:t>
            </a:r>
          </a:p>
          <a:p>
            <a:pPr algn="ctr"/>
            <a:r>
              <a:rPr lang="fr-FR" b="1" dirty="0"/>
              <a:t>FIL Assistance, vous propose gratuitement:</a:t>
            </a:r>
          </a:p>
        </p:txBody>
      </p:sp>
      <p:grpSp>
        <p:nvGrpSpPr>
          <p:cNvPr id="10" name="Groupe 9"/>
          <p:cNvGrpSpPr/>
          <p:nvPr/>
        </p:nvGrpSpPr>
        <p:grpSpPr>
          <a:xfrm>
            <a:off x="120105" y="3582259"/>
            <a:ext cx="6020613" cy="811475"/>
            <a:chOff x="400050" y="2786464"/>
            <a:chExt cx="6020613" cy="811475"/>
          </a:xfrm>
        </p:grpSpPr>
        <p:sp>
          <p:nvSpPr>
            <p:cNvPr id="2065" name="ZoneTexte 12"/>
            <p:cNvSpPr txBox="1"/>
            <p:nvPr/>
          </p:nvSpPr>
          <p:spPr>
            <a:xfrm>
              <a:off x="987223" y="2897890"/>
              <a:ext cx="543344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fr-FR" sz="1400" b="0" i="0" dirty="0">
                  <a:solidFill>
                    <a:srgbClr val="161615"/>
                  </a:solidFill>
                  <a:effectLst/>
                  <a:latin typeface="Source Sans Pro" panose="020B0503030403020204" pitchFamily="34" charset="0"/>
                </a:rPr>
                <a:t>De l’aide à domicile: (ménage, repas, vaisselle, course à proximité</a:t>
              </a:r>
            </a:p>
          </p:txBody>
        </p:sp>
        <p:pic>
          <p:nvPicPr>
            <p:cNvPr id="2074" name="Image 2073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00050" y="2786464"/>
              <a:ext cx="591075" cy="811475"/>
            </a:xfrm>
            <a:prstGeom prst="rect">
              <a:avLst/>
            </a:prstGeom>
          </p:spPr>
        </p:pic>
      </p:grpSp>
      <p:grpSp>
        <p:nvGrpSpPr>
          <p:cNvPr id="12" name="Groupe 11"/>
          <p:cNvGrpSpPr/>
          <p:nvPr/>
        </p:nvGrpSpPr>
        <p:grpSpPr>
          <a:xfrm>
            <a:off x="831907" y="4550686"/>
            <a:ext cx="5639929" cy="878816"/>
            <a:chOff x="222327" y="3957748"/>
            <a:chExt cx="6053947" cy="878816"/>
          </a:xfrm>
        </p:grpSpPr>
        <p:sp>
          <p:nvSpPr>
            <p:cNvPr id="2060" name="ZoneTexte 16"/>
            <p:cNvSpPr txBox="1"/>
            <p:nvPr/>
          </p:nvSpPr>
          <p:spPr>
            <a:xfrm>
              <a:off x="943701" y="4097900"/>
              <a:ext cx="5332573" cy="738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fr-FR" sz="1400" dirty="0">
                  <a:solidFill>
                    <a:srgbClr val="161615"/>
                  </a:solidFill>
                  <a:latin typeface="Source Sans Pro" panose="020B0503030403020204" pitchFamily="34" charset="0"/>
                </a:rPr>
                <a:t>Des services de proximités: ( livraison des médicaments, Portage des repas, portage d’espèces, livraison des courses,…)</a:t>
              </a:r>
              <a:endParaRPr lang="fr-FR" sz="1400" b="0" i="0" dirty="0">
                <a:solidFill>
                  <a:srgbClr val="161615"/>
                </a:solidFill>
                <a:effectLst/>
                <a:latin typeface="Source Sans Pro" panose="020B0503030403020204" pitchFamily="34" charset="0"/>
              </a:endParaRPr>
            </a:p>
          </p:txBody>
        </p:sp>
        <p:pic>
          <p:nvPicPr>
            <p:cNvPr id="2061" name="Image 2060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22327" y="3957748"/>
              <a:ext cx="768798" cy="662278"/>
            </a:xfrm>
            <a:prstGeom prst="rect">
              <a:avLst/>
            </a:prstGeom>
          </p:spPr>
        </p:pic>
      </p:grpSp>
      <p:grpSp>
        <p:nvGrpSpPr>
          <p:cNvPr id="14" name="Groupe 13"/>
          <p:cNvGrpSpPr/>
          <p:nvPr/>
        </p:nvGrpSpPr>
        <p:grpSpPr>
          <a:xfrm>
            <a:off x="162224" y="5824600"/>
            <a:ext cx="5781376" cy="613892"/>
            <a:chOff x="449887" y="6368680"/>
            <a:chExt cx="5781376" cy="613892"/>
          </a:xfrm>
        </p:grpSpPr>
        <p:sp>
          <p:nvSpPr>
            <p:cNvPr id="2056" name="ZoneTexte 4507"/>
            <p:cNvSpPr txBox="1"/>
            <p:nvPr/>
          </p:nvSpPr>
          <p:spPr>
            <a:xfrm>
              <a:off x="1263374" y="6459352"/>
              <a:ext cx="496788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fr-FR" sz="1400" dirty="0">
                  <a:solidFill>
                    <a:srgbClr val="161615"/>
                  </a:solidFill>
                  <a:latin typeface="Source Sans Pro" panose="020B0503030403020204" pitchFamily="34" charset="0"/>
                </a:rPr>
                <a:t>Transport post-hospitalisation: chez un proche, ou aux RDV médicaux</a:t>
              </a:r>
            </a:p>
          </p:txBody>
        </p:sp>
        <p:pic>
          <p:nvPicPr>
            <p:cNvPr id="2057" name="Image 2056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49887" y="6368680"/>
              <a:ext cx="933972" cy="523220"/>
            </a:xfrm>
            <a:prstGeom prst="rect">
              <a:avLst/>
            </a:prstGeom>
          </p:spPr>
        </p:pic>
      </p:grpSp>
      <p:grpSp>
        <p:nvGrpSpPr>
          <p:cNvPr id="16" name="Groupe 15"/>
          <p:cNvGrpSpPr/>
          <p:nvPr/>
        </p:nvGrpSpPr>
        <p:grpSpPr>
          <a:xfrm>
            <a:off x="956519" y="6727106"/>
            <a:ext cx="5590332" cy="762965"/>
            <a:chOff x="319683" y="6589531"/>
            <a:chExt cx="5980735" cy="762965"/>
          </a:xfrm>
        </p:grpSpPr>
        <p:pic>
          <p:nvPicPr>
            <p:cNvPr id="24" name="Image 23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19683" y="6589531"/>
              <a:ext cx="593986" cy="762965"/>
            </a:xfrm>
            <a:prstGeom prst="rect">
              <a:avLst/>
            </a:prstGeom>
          </p:spPr>
        </p:pic>
        <p:sp>
          <p:nvSpPr>
            <p:cNvPr id="27" name="ZoneTexte 2074"/>
            <p:cNvSpPr txBox="1"/>
            <p:nvPr/>
          </p:nvSpPr>
          <p:spPr>
            <a:xfrm>
              <a:off x="967845" y="6709403"/>
              <a:ext cx="5332573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fr-FR" sz="1400" dirty="0">
                  <a:solidFill>
                    <a:srgbClr val="161615"/>
                  </a:solidFill>
                  <a:latin typeface="Source Sans Pro" panose="020B0503030403020204" pitchFamily="34" charset="0"/>
                </a:rPr>
                <a:t>Prise en charge des enfants: (déplacement d’un proche, transfert, garde, conduite à l’école, soutien scolaire, aide aux devoirs,…)</a:t>
              </a:r>
            </a:p>
          </p:txBody>
        </p:sp>
      </p:grpSp>
      <p:grpSp>
        <p:nvGrpSpPr>
          <p:cNvPr id="2075" name="Groupe 2074"/>
          <p:cNvGrpSpPr/>
          <p:nvPr/>
        </p:nvGrpSpPr>
        <p:grpSpPr>
          <a:xfrm>
            <a:off x="226808" y="7760973"/>
            <a:ext cx="5697799" cy="819970"/>
            <a:chOff x="1036606" y="7676952"/>
            <a:chExt cx="5697799" cy="819970"/>
          </a:xfrm>
        </p:grpSpPr>
        <p:pic>
          <p:nvPicPr>
            <p:cNvPr id="19" name="Image 18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036606" y="7676952"/>
              <a:ext cx="728862" cy="819970"/>
            </a:xfrm>
            <a:prstGeom prst="rect">
              <a:avLst/>
            </a:prstGeom>
          </p:spPr>
        </p:pic>
        <p:sp>
          <p:nvSpPr>
            <p:cNvPr id="20" name="ZoneTexte 2077"/>
            <p:cNvSpPr txBox="1"/>
            <p:nvPr/>
          </p:nvSpPr>
          <p:spPr>
            <a:xfrm>
              <a:off x="1725874" y="7788054"/>
              <a:ext cx="5008531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fr-FR" sz="1400" dirty="0">
                  <a:solidFill>
                    <a:srgbClr val="161615"/>
                  </a:solidFill>
                  <a:latin typeface="Source Sans Pro" panose="020B0503030403020204" pitchFamily="34" charset="0"/>
                </a:rPr>
                <a:t>Prise en charge des ascendants: (déplacement d’un proche, transfert, garde,…)</a:t>
              </a:r>
            </a:p>
          </p:txBody>
        </p:sp>
      </p:grpSp>
      <p:grpSp>
        <p:nvGrpSpPr>
          <p:cNvPr id="2" name="Groupe 1">
            <a:extLst>
              <a:ext uri="{FF2B5EF4-FFF2-40B4-BE49-F238E27FC236}">
                <a16:creationId xmlns:a16="http://schemas.microsoft.com/office/drawing/2014/main" id="{322FA609-6019-9ACF-55C5-EC47B5CF63BD}"/>
              </a:ext>
            </a:extLst>
          </p:cNvPr>
          <p:cNvGrpSpPr/>
          <p:nvPr/>
        </p:nvGrpSpPr>
        <p:grpSpPr>
          <a:xfrm>
            <a:off x="101600" y="93434"/>
            <a:ext cx="6686550" cy="628650"/>
            <a:chOff x="88900" y="285750"/>
            <a:chExt cx="6686550" cy="628650"/>
          </a:xfrm>
        </p:grpSpPr>
        <p:sp>
          <p:nvSpPr>
            <p:cNvPr id="5" name="Rectangle : coins arrondis 4">
              <a:extLst>
                <a:ext uri="{FF2B5EF4-FFF2-40B4-BE49-F238E27FC236}">
                  <a16:creationId xmlns:a16="http://schemas.microsoft.com/office/drawing/2014/main" id="{2F0930F7-7441-06C9-C606-8C73CFB8138A}"/>
                </a:ext>
              </a:extLst>
            </p:cNvPr>
            <p:cNvSpPr/>
            <p:nvPr/>
          </p:nvSpPr>
          <p:spPr>
            <a:xfrm>
              <a:off x="88900" y="285750"/>
              <a:ext cx="6686550" cy="628650"/>
            </a:xfrm>
            <a:prstGeom prst="roundRect">
              <a:avLst/>
            </a:prstGeom>
            <a:solidFill>
              <a:schemeClr val="bg1"/>
            </a:solidFill>
            <a:ln w="44450">
              <a:solidFill>
                <a:schemeClr val="accent1">
                  <a:lumMod val="75000"/>
                </a:schemeClr>
              </a:solidFill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fr-FR" b="1" dirty="0">
                  <a:solidFill>
                    <a:schemeClr val="tx1"/>
                  </a:solidFill>
                </a:rPr>
                <a:t>        Zen Santé Evolutive    by                       assuré par                                 </a:t>
              </a:r>
            </a:p>
          </p:txBody>
        </p:sp>
        <p:pic>
          <p:nvPicPr>
            <p:cNvPr id="11" name="Image 10" descr="Zenioo : spécialiste de la mutuelle santé">
              <a:extLst>
                <a:ext uri="{FF2B5EF4-FFF2-40B4-BE49-F238E27FC236}">
                  <a16:creationId xmlns:a16="http://schemas.microsoft.com/office/drawing/2014/main" id="{C59998C7-50A8-B33B-5F30-89EB06B1664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6667" b="19333"/>
            <a:stretch>
              <a:fillRect/>
            </a:stretch>
          </p:blipFill>
          <p:spPr bwMode="auto">
            <a:xfrm>
              <a:off x="3054521" y="427494"/>
              <a:ext cx="908724" cy="40163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Image 12">
              <a:extLst>
                <a:ext uri="{FF2B5EF4-FFF2-40B4-BE49-F238E27FC236}">
                  <a16:creationId xmlns:a16="http://schemas.microsoft.com/office/drawing/2014/main" id="{F1F46012-4916-0A6F-5B33-8835EE514882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BEBA8EAE-BF5A-486C-A8C5-ECC9F3942E4B}">
                  <a14:imgProps xmlns:a14="http://schemas.microsoft.com/office/drawing/2010/main">
                    <a14:imgLayer r:embed="rId13">
                      <a14:imgEffect>
                        <a14:brightnessContrast bright="20000" contrast="-2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327650" y="350157"/>
              <a:ext cx="1206500" cy="49983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30" name="Picture 2" descr="Bouton Logo Les Dents - Images vectorielles gratuites sur Pixabay - Pixaba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9462" y="14272152"/>
            <a:ext cx="49067" cy="49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100% Santé : des soins pour tous, 100% pris en charge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90" t="9007" r="12611" b="13073"/>
          <a:stretch>
            <a:fillRect/>
          </a:stretch>
        </p:blipFill>
        <p:spPr bwMode="auto">
          <a:xfrm>
            <a:off x="2566913" y="1052692"/>
            <a:ext cx="1489221" cy="1060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ZoneTexte 1"/>
          <p:cNvSpPr txBox="1"/>
          <p:nvPr/>
        </p:nvSpPr>
        <p:spPr>
          <a:xfrm>
            <a:off x="468231" y="2476003"/>
            <a:ext cx="607861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/>
              <a:t>Le 100% Santé vous permet d’accéder à une offre sans reste à charge sur une sélection d’équipements en dentaire, optique et pour les aides auditives. Les paniers 100% Santé seront pris en charge intégralement par la Sécurité Sociale et la complémentaire santé.</a:t>
            </a:r>
          </a:p>
          <a:p>
            <a:r>
              <a:rPr lang="fr-FR" sz="1600" dirty="0"/>
              <a:t>Si vous ne souhaitez pas bénéficier des équipements compris dans ces paniers, les remboursements se feront selon le niveau de garanties que vous avez choisi.</a:t>
            </a:r>
          </a:p>
        </p:txBody>
      </p:sp>
      <p:sp>
        <p:nvSpPr>
          <p:cNvPr id="7" name="ZoneTexte 6"/>
          <p:cNvSpPr txBox="1"/>
          <p:nvPr/>
        </p:nvSpPr>
        <p:spPr>
          <a:xfrm>
            <a:off x="196387" y="4506949"/>
            <a:ext cx="38806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algn="ctr">
              <a:defRPr sz="2400" b="1">
                <a:solidFill>
                  <a:srgbClr val="0070C0"/>
                </a:solidFill>
              </a:defRPr>
            </a:lvl1pPr>
          </a:lstStyle>
          <a:p>
            <a:r>
              <a:rPr lang="fr-FR" sz="1600" dirty="0"/>
              <a:t>QU’EST-CE QUI CHANGE EN PRATIQUE ?</a:t>
            </a:r>
          </a:p>
        </p:txBody>
      </p:sp>
      <p:pic>
        <p:nvPicPr>
          <p:cNvPr id="12" name="Imag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231" y="5368177"/>
            <a:ext cx="2158618" cy="1831149"/>
          </a:xfrm>
          <a:prstGeom prst="rect">
            <a:avLst/>
          </a:prstGeom>
        </p:spPr>
      </p:pic>
      <p:sp>
        <p:nvSpPr>
          <p:cNvPr id="14" name="ZoneTexte 13"/>
          <p:cNvSpPr txBox="1"/>
          <p:nvPr/>
        </p:nvSpPr>
        <p:spPr>
          <a:xfrm>
            <a:off x="3444875" y="4969962"/>
            <a:ext cx="2460289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600" dirty="0"/>
              <a:t>Le professionnel de santé </a:t>
            </a:r>
          </a:p>
          <a:p>
            <a:pPr algn="ctr"/>
            <a:r>
              <a:rPr lang="fr-FR" sz="1600" dirty="0"/>
              <a:t>proposera obligatoirement </a:t>
            </a:r>
          </a:p>
          <a:p>
            <a:pPr algn="ctr"/>
            <a:r>
              <a:rPr lang="fr-FR" sz="1600" dirty="0">
                <a:solidFill>
                  <a:srgbClr val="0070C0"/>
                </a:solidFill>
              </a:rPr>
              <a:t>2 OFFRES</a:t>
            </a:r>
          </a:p>
        </p:txBody>
      </p:sp>
      <p:sp>
        <p:nvSpPr>
          <p:cNvPr id="22" name="ZoneTexte 21"/>
          <p:cNvSpPr txBox="1"/>
          <p:nvPr/>
        </p:nvSpPr>
        <p:spPr>
          <a:xfrm>
            <a:off x="2578219" y="6211555"/>
            <a:ext cx="17600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>
                <a:solidFill>
                  <a:srgbClr val="00B0F0"/>
                </a:solidFill>
              </a:rPr>
              <a:t>1 Devis sans Reste à charge</a:t>
            </a:r>
          </a:p>
        </p:txBody>
      </p:sp>
      <p:sp>
        <p:nvSpPr>
          <p:cNvPr id="23" name="ZoneTexte 22"/>
          <p:cNvSpPr txBox="1"/>
          <p:nvPr/>
        </p:nvSpPr>
        <p:spPr>
          <a:xfrm>
            <a:off x="4829920" y="6208601"/>
            <a:ext cx="20280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>
                <a:solidFill>
                  <a:srgbClr val="00B0F0"/>
                </a:solidFill>
              </a:rPr>
              <a:t>1 Devis « Classique »</a:t>
            </a:r>
          </a:p>
        </p:txBody>
      </p:sp>
      <p:sp>
        <p:nvSpPr>
          <p:cNvPr id="26" name="ZoneTexte 25"/>
          <p:cNvSpPr txBox="1"/>
          <p:nvPr/>
        </p:nvSpPr>
        <p:spPr>
          <a:xfrm>
            <a:off x="320433" y="7864329"/>
            <a:ext cx="38806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algn="ctr">
              <a:defRPr sz="2400" b="1">
                <a:solidFill>
                  <a:srgbClr val="0070C0"/>
                </a:solidFill>
              </a:defRPr>
            </a:lvl1pPr>
          </a:lstStyle>
          <a:p>
            <a:pPr algn="l"/>
            <a:r>
              <a:rPr lang="fr-FR" sz="1600" dirty="0"/>
              <a:t>Mais aussi:</a:t>
            </a:r>
          </a:p>
        </p:txBody>
      </p:sp>
      <p:cxnSp>
        <p:nvCxnSpPr>
          <p:cNvPr id="27" name="Connecteur droit avec flèche 26"/>
          <p:cNvCxnSpPr/>
          <p:nvPr/>
        </p:nvCxnSpPr>
        <p:spPr>
          <a:xfrm>
            <a:off x="4760070" y="5831736"/>
            <a:ext cx="520276" cy="3505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 droit avec flèche 29"/>
          <p:cNvCxnSpPr/>
          <p:nvPr/>
        </p:nvCxnSpPr>
        <p:spPr>
          <a:xfrm flipH="1">
            <a:off x="4077063" y="5831736"/>
            <a:ext cx="433750" cy="3608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15" name="ZoneTexte 4514"/>
          <p:cNvSpPr txBox="1"/>
          <p:nvPr/>
        </p:nvSpPr>
        <p:spPr>
          <a:xfrm>
            <a:off x="2687429" y="6842131"/>
            <a:ext cx="151368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100" dirty="0"/>
              <a:t>Soin ou équipement entrant dans le</a:t>
            </a:r>
          </a:p>
          <a:p>
            <a:r>
              <a:rPr lang="fr-FR" sz="1100" dirty="0"/>
              <a:t>panier 100% Santé</a:t>
            </a:r>
          </a:p>
        </p:txBody>
      </p:sp>
      <p:sp>
        <p:nvSpPr>
          <p:cNvPr id="4517" name="ZoneTexte 4516"/>
          <p:cNvSpPr txBox="1"/>
          <p:nvPr/>
        </p:nvSpPr>
        <p:spPr>
          <a:xfrm>
            <a:off x="4500683" y="6854932"/>
            <a:ext cx="2385892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>
              <a:defRPr sz="1100"/>
            </a:lvl1pPr>
          </a:lstStyle>
          <a:p>
            <a:pPr algn="ctr"/>
            <a:r>
              <a:rPr lang="fr-FR" dirty="0"/>
              <a:t>Panier à tarif libre et remboursé par</a:t>
            </a:r>
          </a:p>
          <a:p>
            <a:pPr algn="ctr"/>
            <a:r>
              <a:rPr lang="fr-FR" dirty="0"/>
              <a:t>l’assurance complémentaire dans les</a:t>
            </a:r>
          </a:p>
          <a:p>
            <a:pPr algn="ctr"/>
            <a:r>
              <a:rPr lang="fr-FR" dirty="0"/>
              <a:t>conditions prévues par le contrat</a:t>
            </a:r>
          </a:p>
        </p:txBody>
      </p:sp>
      <p:sp>
        <p:nvSpPr>
          <p:cNvPr id="4519" name="ZoneTexte 4518"/>
          <p:cNvSpPr txBox="1"/>
          <p:nvPr/>
        </p:nvSpPr>
        <p:spPr>
          <a:xfrm>
            <a:off x="330200" y="8327508"/>
            <a:ext cx="655637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>
              <a:defRPr sz="1600"/>
            </a:lvl1pPr>
          </a:lstStyle>
          <a:p>
            <a:r>
              <a:rPr lang="fr-FR" sz="1400" dirty="0"/>
              <a:t>&gt; Fixation de prix limites de vente (PLV) imposés aux professionnels de santé</a:t>
            </a:r>
          </a:p>
          <a:p>
            <a:r>
              <a:rPr lang="fr-FR" sz="1400" dirty="0"/>
              <a:t>&gt; Augmentation de la base de remboursement (BR) du régime obligatoire (RO) &amp; du remboursement des complémentaires santé</a:t>
            </a:r>
          </a:p>
        </p:txBody>
      </p:sp>
      <p:grpSp>
        <p:nvGrpSpPr>
          <p:cNvPr id="5" name="Groupe 4">
            <a:extLst>
              <a:ext uri="{FF2B5EF4-FFF2-40B4-BE49-F238E27FC236}">
                <a16:creationId xmlns:a16="http://schemas.microsoft.com/office/drawing/2014/main" id="{ED933ED7-E251-23CF-507A-95ED7153F178}"/>
              </a:ext>
            </a:extLst>
          </p:cNvPr>
          <p:cNvGrpSpPr/>
          <p:nvPr/>
        </p:nvGrpSpPr>
        <p:grpSpPr>
          <a:xfrm>
            <a:off x="101600" y="93434"/>
            <a:ext cx="6686550" cy="628650"/>
            <a:chOff x="88900" y="285750"/>
            <a:chExt cx="6686550" cy="628650"/>
          </a:xfrm>
        </p:grpSpPr>
        <p:sp>
          <p:nvSpPr>
            <p:cNvPr id="8" name="Rectangle : coins arrondis 7">
              <a:extLst>
                <a:ext uri="{FF2B5EF4-FFF2-40B4-BE49-F238E27FC236}">
                  <a16:creationId xmlns:a16="http://schemas.microsoft.com/office/drawing/2014/main" id="{DE0A8BA6-DD7C-7F10-A914-2D632AA2C6BB}"/>
                </a:ext>
              </a:extLst>
            </p:cNvPr>
            <p:cNvSpPr/>
            <p:nvPr/>
          </p:nvSpPr>
          <p:spPr>
            <a:xfrm>
              <a:off x="88900" y="285750"/>
              <a:ext cx="6686550" cy="628650"/>
            </a:xfrm>
            <a:prstGeom prst="roundRect">
              <a:avLst/>
            </a:prstGeom>
            <a:solidFill>
              <a:schemeClr val="bg1"/>
            </a:solidFill>
            <a:ln w="44450">
              <a:solidFill>
                <a:schemeClr val="accent1">
                  <a:lumMod val="75000"/>
                </a:schemeClr>
              </a:solidFill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fr-FR" b="1" dirty="0">
                  <a:solidFill>
                    <a:schemeClr val="tx1"/>
                  </a:solidFill>
                </a:rPr>
                <a:t>        Zen Santé Evolutive    by                       assuré par                                 </a:t>
              </a:r>
            </a:p>
          </p:txBody>
        </p:sp>
        <p:pic>
          <p:nvPicPr>
            <p:cNvPr id="9" name="Image 8" descr="Zenioo : spécialiste de la mutuelle santé">
              <a:extLst>
                <a:ext uri="{FF2B5EF4-FFF2-40B4-BE49-F238E27FC236}">
                  <a16:creationId xmlns:a16="http://schemas.microsoft.com/office/drawing/2014/main" id="{D640D987-E41A-B0AF-B132-6D57CBD2B0D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6667" b="19333"/>
            <a:stretch>
              <a:fillRect/>
            </a:stretch>
          </p:blipFill>
          <p:spPr bwMode="auto">
            <a:xfrm>
              <a:off x="3054521" y="427494"/>
              <a:ext cx="908724" cy="40163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Image 9">
              <a:extLst>
                <a:ext uri="{FF2B5EF4-FFF2-40B4-BE49-F238E27FC236}">
                  <a16:creationId xmlns:a16="http://schemas.microsoft.com/office/drawing/2014/main" id="{60A6E591-EC1C-BA20-C498-C893C627317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rightnessContrast bright="20000" contrast="-2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327650" y="350157"/>
              <a:ext cx="1206500" cy="49983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30" name="Picture 2" descr="Bouton Logo Les Dents - Images vectorielles gratuites sur Pixabay - Pixaba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9462" y="14272152"/>
            <a:ext cx="49067" cy="49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100% Santé : des soins pour tous, 100% pris en charge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90" t="9007" r="12611" b="13073"/>
          <a:stretch>
            <a:fillRect/>
          </a:stretch>
        </p:blipFill>
        <p:spPr bwMode="auto">
          <a:xfrm>
            <a:off x="2566913" y="980122"/>
            <a:ext cx="1489221" cy="1060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398" y="1992003"/>
            <a:ext cx="5911752" cy="7546705"/>
          </a:xfrm>
          <a:prstGeom prst="rect">
            <a:avLst/>
          </a:prstGeom>
        </p:spPr>
      </p:pic>
      <p:pic>
        <p:nvPicPr>
          <p:cNvPr id="4521" name="Image 45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2996154"/>
            <a:ext cx="1147989" cy="641789"/>
          </a:xfrm>
          <a:prstGeom prst="rect">
            <a:avLst/>
          </a:prstGeom>
        </p:spPr>
      </p:pic>
      <p:pic>
        <p:nvPicPr>
          <p:cNvPr id="4523" name="Image 452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" y="5446720"/>
            <a:ext cx="1147989" cy="637269"/>
          </a:xfrm>
          <a:prstGeom prst="rect">
            <a:avLst/>
          </a:prstGeom>
        </p:spPr>
      </p:pic>
      <p:pic>
        <p:nvPicPr>
          <p:cNvPr id="4525" name="Image 452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1" y="7991398"/>
            <a:ext cx="1138950" cy="601113"/>
          </a:xfrm>
          <a:prstGeom prst="rect">
            <a:avLst/>
          </a:prstGeom>
        </p:spPr>
      </p:pic>
      <p:grpSp>
        <p:nvGrpSpPr>
          <p:cNvPr id="2" name="Groupe 1">
            <a:extLst>
              <a:ext uri="{FF2B5EF4-FFF2-40B4-BE49-F238E27FC236}">
                <a16:creationId xmlns:a16="http://schemas.microsoft.com/office/drawing/2014/main" id="{EA5B47AD-B02E-7D77-7F29-9AD6C4978601}"/>
              </a:ext>
            </a:extLst>
          </p:cNvPr>
          <p:cNvGrpSpPr/>
          <p:nvPr/>
        </p:nvGrpSpPr>
        <p:grpSpPr>
          <a:xfrm>
            <a:off x="101600" y="93434"/>
            <a:ext cx="6686550" cy="628650"/>
            <a:chOff x="88900" y="285750"/>
            <a:chExt cx="6686550" cy="628650"/>
          </a:xfrm>
        </p:grpSpPr>
        <p:sp>
          <p:nvSpPr>
            <p:cNvPr id="5" name="Rectangle : coins arrondis 4">
              <a:extLst>
                <a:ext uri="{FF2B5EF4-FFF2-40B4-BE49-F238E27FC236}">
                  <a16:creationId xmlns:a16="http://schemas.microsoft.com/office/drawing/2014/main" id="{D19ADA98-55E8-ECC9-37EF-78C6A4A19C50}"/>
                </a:ext>
              </a:extLst>
            </p:cNvPr>
            <p:cNvSpPr/>
            <p:nvPr/>
          </p:nvSpPr>
          <p:spPr>
            <a:xfrm>
              <a:off x="88900" y="285750"/>
              <a:ext cx="6686550" cy="628650"/>
            </a:xfrm>
            <a:prstGeom prst="roundRect">
              <a:avLst/>
            </a:prstGeom>
            <a:solidFill>
              <a:schemeClr val="bg1"/>
            </a:solidFill>
            <a:ln w="44450">
              <a:solidFill>
                <a:schemeClr val="accent1">
                  <a:lumMod val="75000"/>
                </a:schemeClr>
              </a:solidFill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fr-FR" b="1" dirty="0">
                  <a:solidFill>
                    <a:schemeClr val="tx1"/>
                  </a:solidFill>
                </a:rPr>
                <a:t>        Zen Santé Evolutive    by                       assuré par                                 </a:t>
              </a:r>
            </a:p>
          </p:txBody>
        </p:sp>
        <p:pic>
          <p:nvPicPr>
            <p:cNvPr id="7" name="Image 6" descr="Zenioo : spécialiste de la mutuelle santé">
              <a:extLst>
                <a:ext uri="{FF2B5EF4-FFF2-40B4-BE49-F238E27FC236}">
                  <a16:creationId xmlns:a16="http://schemas.microsoft.com/office/drawing/2014/main" id="{6E81FCBD-86CC-D126-320A-D9371E74674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6667" b="19333"/>
            <a:stretch>
              <a:fillRect/>
            </a:stretch>
          </p:blipFill>
          <p:spPr bwMode="auto">
            <a:xfrm>
              <a:off x="3054521" y="427494"/>
              <a:ext cx="908724" cy="401637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Image 8">
              <a:extLst>
                <a:ext uri="{FF2B5EF4-FFF2-40B4-BE49-F238E27FC236}">
                  <a16:creationId xmlns:a16="http://schemas.microsoft.com/office/drawing/2014/main" id="{E6FD6C49-5F84-8DAC-4589-09D254FB059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brightnessContrast bright="20000" contrast="-2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327650" y="350157"/>
              <a:ext cx="1206500" cy="49983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13</TotalTime>
  <Words>836</Words>
  <Application>Microsoft Office PowerPoint</Application>
  <PresentationFormat>Format A4 (210 x 297 mm)</PresentationFormat>
  <Paragraphs>90</Paragraphs>
  <Slides>6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Source Sans Pro</vt:lpstr>
      <vt:lpstr>Wingdings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Aurelie Racamier</dc:creator>
  <cp:lastModifiedBy>SOFIANE DEKKAK</cp:lastModifiedBy>
  <cp:revision>41</cp:revision>
  <cp:lastPrinted>2024-03-26T10:36:00Z</cp:lastPrinted>
  <dcterms:created xsi:type="dcterms:W3CDTF">2018-01-12T04:36:00Z</dcterms:created>
  <dcterms:modified xsi:type="dcterms:W3CDTF">2025-09-18T12:31:24Z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290B8819C0EE4E6BAC2BEE4478750968_12</vt:lpwstr>
  </property>
  <property fmtid="{D5CDD505-2E9C-101B-9397-08002B2CF9AE}" pid="3" name="KSOProductBuildVer">
    <vt:lpwstr>1036-12.2.0.22549</vt:lpwstr>
  </property>
</Properties>
</file>