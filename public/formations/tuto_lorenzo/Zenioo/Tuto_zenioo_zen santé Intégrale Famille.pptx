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pjkcMcjj9UOwkIWCEbdb4GzbD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hyperlink" Target="#'2'!A1" TargetMode="External"/><Relationship Id="rId13" Type="http://schemas.openxmlformats.org/officeDocument/2006/relationships/image" Target="../media/image5.png"/><Relationship Id="rId12" Type="http://schemas.openxmlformats.org/officeDocument/2006/relationships/hyperlink" Target="#'5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hyperlink" Target="#'17'!A1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8.jpg"/><Relationship Id="rId7" Type="http://schemas.openxmlformats.org/officeDocument/2006/relationships/image" Target="../media/image16.png"/><Relationship Id="rId8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22.jpg"/><Relationship Id="rId5" Type="http://schemas.openxmlformats.org/officeDocument/2006/relationships/image" Target="../media/image4.png"/><Relationship Id="rId6" Type="http://schemas.openxmlformats.org/officeDocument/2006/relationships/hyperlink" Target="#'2'!A1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31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Relationship Id="rId5" Type="http://schemas.openxmlformats.org/officeDocument/2006/relationships/image" Target="../media/image4.png"/><Relationship Id="rId6" Type="http://schemas.openxmlformats.org/officeDocument/2006/relationships/hyperlink" Target="#'17'!A1" TargetMode="External"/><Relationship Id="rId7" Type="http://schemas.openxmlformats.org/officeDocument/2006/relationships/image" Target="../media/image11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grpSp>
        <p:nvGrpSpPr>
          <p:cNvPr id="89" name="Google Shape;89;p1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90" name="Google Shape;90;p14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91" name="Google Shape;91;p14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638462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options Éco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9" name="Google Shape;99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100" name="Google Shape;100;p14"/>
            <p:cNvPicPr preferRelativeResize="0"/>
            <p:nvPr/>
          </p:nvPicPr>
          <p:blipFill rotWithShape="1">
            <a:blip r:embed="rId5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4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102" name="Google Shape;102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03" name="Google Shape;103;p14"/>
            <p:cNvPicPr preferRelativeResize="0"/>
            <p:nvPr/>
          </p:nvPicPr>
          <p:blipFill rotWithShape="1">
            <a:blip r:embed="rId6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5" name="Google Shape;105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6" name="Google Shape;106;p14"/>
            <p:cNvPicPr preferRelativeResize="0"/>
            <p:nvPr/>
          </p:nvPicPr>
          <p:blipFill rotWithShape="1">
            <a:blip r:embed="rId7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8" name="Google Shape;108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9" name="Google Shape;109;p14"/>
            <p:cNvPicPr preferRelativeResize="0"/>
            <p:nvPr/>
          </p:nvPicPr>
          <p:blipFill rotWithShape="1">
            <a:blip r:embed="rId8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11749" y="1706693"/>
            <a:ext cx="1257151" cy="52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13" name="Google Shape;113;p1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20179" l="23950" r="28402" t="10714"/>
          <a:stretch/>
        </p:blipFill>
        <p:spPr>
          <a:xfrm>
            <a:off x="5035820" y="6491554"/>
            <a:ext cx="825125" cy="6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familles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18 à 67 ans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5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21" name="Google Shape;121;p15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22" name="Google Shape;122;p15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560084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5"/>
          <p:cNvSpPr/>
          <p:nvPr/>
        </p:nvSpPr>
        <p:spPr>
          <a:xfrm>
            <a:off x="348343" y="2486302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renforcées sur les postes plébiscités par les familles: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hospitalisation, médecine naturelle,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orthodontie, lentilles non remboursées, forfait maternité, chambre particulière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29746" y="3407162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48343" y="3889758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48343" y="4531991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 professions éligibles pour le poste médecine naturelle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29746" y="5025477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économies avec les options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« Éco Dentaire » et « Éco Optique » pour une réduction jusqu’à - 10 %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48343" y="5693131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48343" y="6190565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48343" y="7581966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Filassistance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les seniors: téléconsultations illimitées, accompagnement maladie chronique,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de médicaments ...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3" name="Google Shape;133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Zen Santé Intégrale Famille ?</a:t>
              </a:r>
              <a:endParaRPr/>
            </a:p>
          </p:txBody>
        </p:sp>
        <p:pic>
          <p:nvPicPr>
            <p:cNvPr descr="Bonne idée - Icônes commercialisation gratuites" id="134" name="Google Shape;13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6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40" name="Google Shape;140;p16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41" name="Google Shape;141;p16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586207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2199130" y="1440107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" name="Google Shape;145;p16"/>
          <p:cNvGrpSpPr/>
          <p:nvPr/>
        </p:nvGrpSpPr>
        <p:grpSpPr>
          <a:xfrm>
            <a:off x="920126" y="1578044"/>
            <a:ext cx="5099268" cy="1200329"/>
            <a:chOff x="976399" y="1029786"/>
            <a:chExt cx="5099268" cy="1200329"/>
          </a:xfrm>
        </p:grpSpPr>
        <p:pic>
          <p:nvPicPr>
            <p:cNvPr descr="ajuster la conception de l'icône créative 15456496 Art vectoriel chez  Vecteezy" id="146" name="Google Shape;14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Intégrale Famille, vous donne la possibilité de personnaliser vos garanties</a:t>
              </a:r>
              <a:endParaRPr/>
            </a:p>
          </p:txBody>
        </p:sp>
      </p:grpSp>
      <p:sp>
        <p:nvSpPr>
          <p:cNvPr id="148" name="Google Shape;148;p16"/>
          <p:cNvSpPr txBox="1"/>
          <p:nvPr/>
        </p:nvSpPr>
        <p:spPr>
          <a:xfrm>
            <a:off x="1057665" y="3141984"/>
            <a:ext cx="460521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Avec les options « Éco » pour bénéficier jusqu’à 10 % de réduction tout 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conservant les avantages du 100 % Santé</a:t>
            </a:r>
            <a:endParaRPr/>
          </a:p>
        </p:txBody>
      </p:sp>
      <p:grpSp>
        <p:nvGrpSpPr>
          <p:cNvPr id="149" name="Google Shape;149;p16"/>
          <p:cNvGrpSpPr/>
          <p:nvPr/>
        </p:nvGrpSpPr>
        <p:grpSpPr>
          <a:xfrm>
            <a:off x="478755" y="4565836"/>
            <a:ext cx="2555107" cy="923330"/>
            <a:chOff x="173927" y="6070487"/>
            <a:chExt cx="2555107" cy="923330"/>
          </a:xfrm>
        </p:grpSpPr>
        <p:pic>
          <p:nvPicPr>
            <p:cNvPr descr="Bouton Logo Les Dents - Images vectorielles gratuites sur Pixabay - Pixabay" id="150" name="Google Shape;150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3927" y="6199510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6"/>
            <p:cNvSpPr txBox="1"/>
            <p:nvPr/>
          </p:nvSpPr>
          <p:spPr>
            <a:xfrm>
              <a:off x="839211" y="6070487"/>
              <a:ext cx="1889823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Eco Dentaire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(dès la formule 2)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4 % de réduction</a:t>
              </a:r>
              <a:endParaRPr/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2717772" y="5671272"/>
            <a:ext cx="2723659" cy="1185482"/>
            <a:chOff x="2774142" y="6282435"/>
            <a:chExt cx="2723659" cy="1185482"/>
          </a:xfrm>
        </p:grpSpPr>
        <p:pic>
          <p:nvPicPr>
            <p:cNvPr descr="Feingeist - Lunette Pour Les Ecran - Free Transparent PNG Clipart Images  Download" id="153" name="Google Shape;153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-3073228">
              <a:off x="2728965" y="6653885"/>
              <a:ext cx="1165118" cy="4425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6"/>
            <p:cNvSpPr txBox="1"/>
            <p:nvPr/>
          </p:nvSpPr>
          <p:spPr>
            <a:xfrm>
              <a:off x="3607978" y="6348802"/>
              <a:ext cx="1889823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Eco Optique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(dès la formule 2)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6 % de réduction</a:t>
              </a:r>
              <a:endParaRPr/>
            </a:p>
          </p:txBody>
        </p:sp>
      </p:grpSp>
      <p:sp>
        <p:nvSpPr>
          <p:cNvPr id="155" name="Google Shape;155;p16"/>
          <p:cNvSpPr txBox="1"/>
          <p:nvPr/>
        </p:nvSpPr>
        <p:spPr>
          <a:xfrm>
            <a:off x="1057665" y="7450230"/>
            <a:ext cx="460521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Pour + de facilité, les deux options Eco, sont activées par défaut, sur la formule 2 100% santé et la formule 3 100% santé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61" name="Google Shape;161;p17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599273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7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166" name="Google Shape;166;p17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7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-57648" y="2135476"/>
            <a:ext cx="6247725" cy="1600800"/>
            <a:chOff x="343724" y="2264276"/>
            <a:chExt cx="6069878" cy="1600800"/>
          </a:xfrm>
        </p:grpSpPr>
        <p:pic>
          <p:nvPicPr>
            <p:cNvPr descr="Feingeist - Lunette Pour Les Ecran - Free Transparent PNG Clipart Images  Download" id="169" name="Google Shape;16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7"/>
            <p:cNvSpPr txBox="1"/>
            <p:nvPr/>
          </p:nvSpPr>
          <p:spPr>
            <a:xfrm>
              <a:off x="1382902" y="2264276"/>
              <a:ext cx="5030700" cy="16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72" name="Google Shape;172;p17"/>
            <p:cNvPicPr preferRelativeResize="0"/>
            <p:nvPr/>
          </p:nvPicPr>
          <p:blipFill rotWithShape="1">
            <a:blip r:embed="rId9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7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75" name="Google Shape;17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78" name="Google Shape;178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7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85" name="Google Shape;185;p18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86" name="Google Shape;186;p18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599273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89" name="Google Shape;189;p18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20179" l="23950" r="28402" t="10714"/>
          <a:stretch/>
        </p:blipFill>
        <p:spPr>
          <a:xfrm>
            <a:off x="851442" y="1279405"/>
            <a:ext cx="1081442" cy="86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1519164" y="1279405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FIL ?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52040" y="2696337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 Assistance, vous propose gratuitement:</a:t>
            </a: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215627" y="3627910"/>
            <a:ext cx="6020613" cy="811475"/>
            <a:chOff x="400050" y="2786464"/>
            <a:chExt cx="6020613" cy="811475"/>
          </a:xfrm>
        </p:grpSpPr>
        <p:sp>
          <p:nvSpPr>
            <p:cNvPr id="193" name="Google Shape;193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94" name="Google Shape;194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18"/>
          <p:cNvGrpSpPr/>
          <p:nvPr/>
        </p:nvGrpSpPr>
        <p:grpSpPr>
          <a:xfrm>
            <a:off x="927429" y="4596337"/>
            <a:ext cx="5639929" cy="878816"/>
            <a:chOff x="222327" y="3957748"/>
            <a:chExt cx="6053947" cy="878816"/>
          </a:xfrm>
        </p:grpSpPr>
        <p:sp>
          <p:nvSpPr>
            <p:cNvPr id="196" name="Google Shape;196;p18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" name="Google Shape;197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" name="Google Shape;198;p18"/>
          <p:cNvGrpSpPr/>
          <p:nvPr/>
        </p:nvGrpSpPr>
        <p:grpSpPr>
          <a:xfrm>
            <a:off x="257746" y="5870251"/>
            <a:ext cx="5781376" cy="613892"/>
            <a:chOff x="449887" y="6368680"/>
            <a:chExt cx="5781376" cy="613892"/>
          </a:xfrm>
        </p:grpSpPr>
        <p:sp>
          <p:nvSpPr>
            <p:cNvPr id="199" name="Google Shape;199;p18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200" name="Google Shape;200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18"/>
          <p:cNvGrpSpPr/>
          <p:nvPr/>
        </p:nvGrpSpPr>
        <p:grpSpPr>
          <a:xfrm>
            <a:off x="1052041" y="6772757"/>
            <a:ext cx="5590337" cy="762965"/>
            <a:chOff x="319683" y="6589531"/>
            <a:chExt cx="5980735" cy="762965"/>
          </a:xfrm>
        </p:grpSpPr>
        <p:pic>
          <p:nvPicPr>
            <p:cNvPr id="202" name="Google Shape;202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grpSp>
        <p:nvGrpSpPr>
          <p:cNvPr id="204" name="Google Shape;204;p18"/>
          <p:cNvGrpSpPr/>
          <p:nvPr/>
        </p:nvGrpSpPr>
        <p:grpSpPr>
          <a:xfrm>
            <a:off x="322330" y="7806624"/>
            <a:ext cx="5697799" cy="819970"/>
            <a:chOff x="1036606" y="7676952"/>
            <a:chExt cx="5697799" cy="819970"/>
          </a:xfrm>
        </p:grpSpPr>
        <p:pic>
          <p:nvPicPr>
            <p:cNvPr id="205" name="Google Shape;205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36606" y="7676952"/>
              <a:ext cx="728862" cy="819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8"/>
            <p:cNvSpPr txBox="1"/>
            <p:nvPr/>
          </p:nvSpPr>
          <p:spPr>
            <a:xfrm>
              <a:off x="1725874" y="7788054"/>
              <a:ext cx="500853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ascendants: (déplacement d’un proche, transfert, garde,…)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9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212" name="Google Shape;212;p19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213" name="Google Shape;213;p19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573147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215" name="Google Shape;2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6" name="Google Shape;216;p19"/>
          <p:cNvPicPr preferRelativeResize="0"/>
          <p:nvPr/>
        </p:nvPicPr>
        <p:blipFill rotWithShape="1">
          <a:blip r:embed="rId6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19" name="Google Shape;21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24" name="Google Shape;224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5" name="Google Shape;225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6" name="Google Shape;226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0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234" name="Google Shape;234;p20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Intégrale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235" name="Google Shape;235;p20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599272" y="428109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38" name="Google Shape;238;p20"/>
          <p:cNvPicPr preferRelativeResize="0"/>
          <p:nvPr/>
        </p:nvPicPr>
        <p:blipFill rotWithShape="1">
          <a:blip r:embed="rId6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