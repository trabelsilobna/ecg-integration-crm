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2" r:id="rId5"/>
    <p:sldId id="260" r:id="rId6"/>
    <p:sldId id="263" r:id="rId7"/>
    <p:sldId id="265" r:id="rId8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50" y="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‹N°›</a:t>
            </a:fld>
            <a:endParaRPr lang="fr-FR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905" algn="l" defTabSz="514350" rtl="0" eaLnBrk="1" latinLnBrk="0" hangingPunct="1">
        <a:lnSpc>
          <a:spcPct val="90000"/>
        </a:lnSpc>
        <a:spcBef>
          <a:spcPts val="56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hyperlink" Target="#'2'!A1"/><Relationship Id="rId17" Type="http://schemas.openxmlformats.org/officeDocument/2006/relationships/hyperlink" Target="#'17'!A1"/><Relationship Id="rId2" Type="http://schemas.openxmlformats.org/officeDocument/2006/relationships/notesSlide" Target="../notesSlides/notesSlide1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5" Type="http://schemas.openxmlformats.org/officeDocument/2006/relationships/image" Target="../media/image9.png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openxmlformats.org/officeDocument/2006/relationships/hyperlink" Target="#'5'!A1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e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hyperlink" Target="#'2'!A1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5.jpeg"/><Relationship Id="rId5" Type="http://schemas.microsoft.com/office/2007/relationships/hdphoto" Target="../media/hdphoto1.wdp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hyperlink" Target="#'17'!A1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27.png"/><Relationship Id="rId5" Type="http://schemas.microsoft.com/office/2007/relationships/hdphoto" Target="../media/hdphoto1.wdp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²</a:t>
            </a:r>
          </a:p>
        </p:txBody>
      </p:sp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sp>
        <p:nvSpPr>
          <p:cNvPr id="9" name="ZoneTexte 8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/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2 options Éco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/>
          <p:cNvSpPr/>
          <p:nvPr/>
        </p:nvSpPr>
        <p:spPr>
          <a:xfrm>
            <a:off x="2463800" y="2847597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16000 professionnels  de santé pour des    équipements de qualité à prix réduit</a:t>
            </a:r>
          </a:p>
        </p:txBody>
      </p:sp>
      <p:sp>
        <p:nvSpPr>
          <p:cNvPr id="1037" name="Rectangle : coins arrondis 1036"/>
          <p:cNvSpPr/>
          <p:nvPr/>
        </p:nvSpPr>
        <p:spPr>
          <a:xfrm>
            <a:off x="2841625" y="450043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/>
          <p:cNvSpPr/>
          <p:nvPr/>
        </p:nvSpPr>
        <p:spPr>
          <a:xfrm>
            <a:off x="2463800" y="6116167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 dirty="0">
                <a:solidFill>
                  <a:schemeClr val="tx1"/>
                </a:solidFill>
              </a:rPr>
              <a:t>                </a:t>
            </a:r>
            <a:r>
              <a:rPr lang="fr-FR" sz="1200" dirty="0">
                <a:solidFill>
                  <a:schemeClr val="tx1"/>
                </a:solidFill>
              </a:rPr>
              <a:t>Un 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>
              <a:fillRect/>
            </a:stretch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1047" name="Ellipse 1046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>
              <a:fillRect/>
            </a:stretch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48" name="Ellipse 1047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>
              <a:fillRect/>
            </a:stretch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9" name="Ellipse 1048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6" name="Image 105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749" y="1706693"/>
            <a:ext cx="1257151" cy="520820"/>
          </a:xfrm>
          <a:prstGeom prst="rect">
            <a:avLst/>
          </a:prstGeom>
        </p:spPr>
      </p:pic>
      <p:pic>
        <p:nvPicPr>
          <p:cNvPr id="1057" name="Image 1056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4439" y="3170627"/>
            <a:ext cx="640045" cy="687144"/>
          </a:xfrm>
          <a:prstGeom prst="rect">
            <a:avLst/>
          </a:prstGeom>
        </p:spPr>
      </p:pic>
      <p:pic>
        <p:nvPicPr>
          <p:cNvPr id="1058" name="Image 1057">
            <a:hlinkClick r:id="rId14"/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6900" y="4891693"/>
            <a:ext cx="930612" cy="523651"/>
          </a:xfrm>
          <a:prstGeom prst="rect">
            <a:avLst/>
          </a:prstGeom>
        </p:spPr>
      </p:pic>
      <p:pic>
        <p:nvPicPr>
          <p:cNvPr id="1061" name="Image 1060" descr="Assistance : Quatrième semaine de grève chez Filassistance - News  Assurances Pro">
            <a:hlinkClick r:id="rId17"/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0" t="10714" r="28403" b="20179"/>
          <a:stretch>
            <a:fillRect/>
          </a:stretch>
        </p:blipFill>
        <p:spPr bwMode="auto">
          <a:xfrm>
            <a:off x="5035820" y="6491554"/>
            <a:ext cx="825125" cy="6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3" name="Ellipse 1062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+ 55 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sp>
        <p:nvSpPr>
          <p:cNvPr id="10" name="Rectangle : coins arrondis 9"/>
          <p:cNvSpPr/>
          <p:nvPr/>
        </p:nvSpPr>
        <p:spPr>
          <a:xfrm>
            <a:off x="348343" y="2316483"/>
            <a:ext cx="6198508" cy="7982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renforcées sur les postes plébiscités par les + de 55 ans : </a:t>
            </a:r>
            <a:r>
              <a:rPr lang="fr-FR" sz="1400" dirty="0">
                <a:solidFill>
                  <a:schemeClr val="bg1"/>
                </a:solidFill>
              </a:rPr>
              <a:t>hospitalisation, chambre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particulière, médecine naturelle, cure thermale, audiologie</a:t>
            </a:r>
          </a:p>
        </p:txBody>
      </p:sp>
      <p:sp>
        <p:nvSpPr>
          <p:cNvPr id="11" name="Rectangle : coins arrondis 10"/>
          <p:cNvSpPr/>
          <p:nvPr/>
        </p:nvSpPr>
        <p:spPr>
          <a:xfrm>
            <a:off x="329746" y="3237343"/>
            <a:ext cx="6198508" cy="3854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48343" y="3719939"/>
            <a:ext cx="6198508" cy="5414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/>
          <p:cNvSpPr/>
          <p:nvPr/>
        </p:nvSpPr>
        <p:spPr>
          <a:xfrm>
            <a:off x="348343" y="4362175"/>
            <a:ext cx="6198508" cy="391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20 professions éligibles pour le poste médecine naturelle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329746" y="4855661"/>
            <a:ext cx="6198508" cy="5621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économies avec les options </a:t>
            </a:r>
            <a:r>
              <a:rPr lang="fr-FR" dirty="0">
                <a:solidFill>
                  <a:schemeClr val="bg1"/>
                </a:solidFill>
              </a:rPr>
              <a:t>« Éco Dentaire » et « Éco Optique » pour une réduction jusqu’à - 10 %</a:t>
            </a:r>
          </a:p>
        </p:txBody>
      </p:sp>
      <p:sp>
        <p:nvSpPr>
          <p:cNvPr id="17" name="Rectangle : coins arrondis 16"/>
          <p:cNvSpPr/>
          <p:nvPr/>
        </p:nvSpPr>
        <p:spPr>
          <a:xfrm>
            <a:off x="348343" y="5523315"/>
            <a:ext cx="6198508" cy="391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Réduction DUO </a:t>
            </a:r>
            <a:r>
              <a:rPr lang="fr-FR" dirty="0">
                <a:solidFill>
                  <a:schemeClr val="bg1"/>
                </a:solidFill>
              </a:rPr>
              <a:t>: dès 2 assurés réduction de 10 % par adulte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348343" y="6020749"/>
            <a:ext cx="6198508" cy="1283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Kalixia, 1er réseau de soins de santé de France. </a:t>
            </a:r>
            <a:r>
              <a:rPr lang="fr-FR" sz="1400" dirty="0">
                <a:solidFill>
                  <a:schemeClr val="bg1"/>
                </a:solidFill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 : coins arrondis 18"/>
          <p:cNvSpPr/>
          <p:nvPr/>
        </p:nvSpPr>
        <p:spPr>
          <a:xfrm>
            <a:off x="348343" y="7412150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Filassistance en inclusion </a:t>
            </a:r>
            <a:r>
              <a:rPr lang="fr-FR" dirty="0">
                <a:solidFill>
                  <a:schemeClr val="bg1"/>
                </a:solidFill>
              </a:rPr>
              <a:t>: </a:t>
            </a:r>
            <a:r>
              <a:rPr lang="fr-FR" sz="1400" dirty="0">
                <a:solidFill>
                  <a:schemeClr val="bg1"/>
                </a:solidFill>
              </a:rPr>
              <a:t>un réseau de 10 000 prestataires en France pour un maillage territoriale optimal. Des experts de l’assistance disponibles 7j/7, 24h/24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Des garanties haut de gamme </a:t>
            </a:r>
            <a:r>
              <a:rPr lang="fr-FR" sz="1400" dirty="0">
                <a:solidFill>
                  <a:schemeClr val="bg1"/>
                </a:solidFill>
              </a:rPr>
              <a:t>en inclusion sur mesure pour les seniors: téléconsultations illimitées, accompagnement maladie chronique,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port de médicaments ...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Zen Santé Intégrale 55 + ?</a:t>
              </a:r>
            </a:p>
          </p:txBody>
        </p:sp>
        <p:pic>
          <p:nvPicPr>
            <p:cNvPr id="3074" name="Picture 2" descr="Bonne idée - Icônes commercialisation gratuites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8" name="Groupe 7"/>
          <p:cNvGrpSpPr/>
          <p:nvPr/>
        </p:nvGrpSpPr>
        <p:grpSpPr>
          <a:xfrm>
            <a:off x="1004728" y="1167723"/>
            <a:ext cx="5099268" cy="1200329"/>
            <a:chOff x="976399" y="1029786"/>
            <a:chExt cx="5099268" cy="1200329"/>
          </a:xfrm>
        </p:grpSpPr>
        <p:pic>
          <p:nvPicPr>
            <p:cNvPr id="4100" name="Picture 4" descr="ajuster la conception de l'icône créative 15456496 Art vectoriel chez  Vecteezy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ZoneTexte 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Intégrale 55 +, vous donne la possibilité de personnaliser vos garanties</a:t>
              </a:r>
            </a:p>
          </p:txBody>
        </p:sp>
      </p:grpSp>
      <p:sp>
        <p:nvSpPr>
          <p:cNvPr id="13" name="ZoneTexte 12"/>
          <p:cNvSpPr txBox="1"/>
          <p:nvPr/>
        </p:nvSpPr>
        <p:spPr>
          <a:xfrm>
            <a:off x="1142267" y="2731663"/>
            <a:ext cx="46052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Avec les options « Éco » pour bénéficier jusqu’à 10 % de réduction tout en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conservant les avantages du 100 % Santé</a:t>
            </a:r>
          </a:p>
        </p:txBody>
      </p:sp>
      <p:grpSp>
        <p:nvGrpSpPr>
          <p:cNvPr id="16" name="Groupe 15"/>
          <p:cNvGrpSpPr/>
          <p:nvPr/>
        </p:nvGrpSpPr>
        <p:grpSpPr>
          <a:xfrm>
            <a:off x="563357" y="4155515"/>
            <a:ext cx="2555107" cy="923330"/>
            <a:chOff x="173927" y="6070487"/>
            <a:chExt cx="2555107" cy="923330"/>
          </a:xfrm>
        </p:grpSpPr>
        <p:pic>
          <p:nvPicPr>
            <p:cNvPr id="1026" name="Picture 2" descr="Bouton Logo Les Dents - Images vectorielles gratuites sur Pixabay - Pixabay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927" y="6199510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ZoneTexte 13"/>
            <p:cNvSpPr txBox="1"/>
            <p:nvPr/>
          </p:nvSpPr>
          <p:spPr>
            <a:xfrm>
              <a:off x="839211" y="6070487"/>
              <a:ext cx="188982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/>
                <a:t>Eco Dentaire </a:t>
              </a:r>
            </a:p>
            <a:p>
              <a:r>
                <a:rPr lang="fr-FR" dirty="0"/>
                <a:t>(dès la formule 2) </a:t>
              </a:r>
            </a:p>
            <a:p>
              <a:r>
                <a:rPr lang="fr-FR" b="1" dirty="0"/>
                <a:t>4 % de réduction</a:t>
              </a:r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3118464" y="5271134"/>
            <a:ext cx="2407569" cy="1165118"/>
            <a:chOff x="3090232" y="6292618"/>
            <a:chExt cx="2407569" cy="1165118"/>
          </a:xfrm>
        </p:grpSpPr>
        <p:pic>
          <p:nvPicPr>
            <p:cNvPr id="1028" name="Picture 4" descr="Feingeist - Lunette Pour Les Ecran - Free Transparent PNG Clipart Images  Downloa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526772">
              <a:off x="2728965" y="6653885"/>
              <a:ext cx="1165118" cy="442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ZoneTexte 18"/>
            <p:cNvSpPr txBox="1"/>
            <p:nvPr/>
          </p:nvSpPr>
          <p:spPr>
            <a:xfrm>
              <a:off x="3607978" y="6348802"/>
              <a:ext cx="188982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/>
                <a:t>Eco Optique </a:t>
              </a:r>
            </a:p>
            <a:p>
              <a:r>
                <a:rPr lang="fr-FR" dirty="0"/>
                <a:t>(dès la formule 2) </a:t>
              </a:r>
            </a:p>
            <a:p>
              <a:r>
                <a:rPr lang="fr-FR" b="1" dirty="0"/>
                <a:t>6 % de réduction</a:t>
              </a:r>
            </a:p>
          </p:txBody>
        </p:sp>
      </p:grpSp>
      <p:sp>
        <p:nvSpPr>
          <p:cNvPr id="5" name="ZoneTexte 4"/>
          <p:cNvSpPr txBox="1"/>
          <p:nvPr/>
        </p:nvSpPr>
        <p:spPr>
          <a:xfrm>
            <a:off x="1142267" y="7039909"/>
            <a:ext cx="46052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Pour + de facilité, les deux options Eco, sont activées par défaut, sur la formule 2 100% santé et la formule 3 100% santé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5" name="Image 4">
              <a:hlinkClick r:id="rId7"/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</p:spPr>
        </p:pic>
        <p:sp>
          <p:nvSpPr>
            <p:cNvPr id="9" name="ZoneTexte 8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Kalixia ?</a:t>
              </a: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id="12" name="Picture 4" descr="Feingeist - Lunette Pour Les Ecran - Free Transparent PNG Clipart Images  Download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ZoneTexte 13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libre choix au sein d’un référentiel verres / lentilles très complet de verriers rigoureusement sélectionnés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40 % sur les verres de classe B, – 30 % sur les lentilles; – 20% sur les montures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prestations de qualité : garanties casse verres et monture</a:t>
              </a:r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id="1026" name="Picture 2" descr="Icône D'oreille Pour Vos Sites De Conception Et Projets PNG , Audio, Oreille,  Écoutez Licône PNG et vecteur pour téléchargement gratuit"/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>
              <a:fillRect/>
            </a:stretch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ZoneTexte 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– 500 € en moyenne pour un double appareillage de classe 2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prestation « tout en un » : aide auditive prête à l’emploi avec piles et kit d’entretien pour 6 mois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prestations accessibles aux ascendants directs des assurés bénéficiaires</a:t>
              </a: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22" name="Picture 2" descr="Bouton Logo Les Dents - Images vectorielles gratuites sur Pixabay - Pixabay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ZoneTexte 20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renforcement de l’accès aux actes de prothèse, d’orthodontie, d’implantologie, de parodontologie, et de prévention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amélioration de la prise en charge complémentaire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Le respect de plafonds d’honoraires, au niveau des pratiques moyennes du département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10 ans sur les couronnes</a:t>
              </a: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id="1028" name="Picture 4" descr="Centre d'ostéopathie - Roxane Gervais St-Amour D.O.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ZoneTexte 25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à des ostéopathes sélectionnés sur des critères de qualité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normalisation et une dématérialisation de la note d’honoraires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modération tarifaire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Assistance : Quatrième semaine de grève chez Filassistance - News  Assurances Pro">
            <a:hlinkClick r:id="rId7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0" t="10714" r="28403" b="20179"/>
          <a:stretch>
            <a:fillRect/>
          </a:stretch>
        </p:blipFill>
        <p:spPr bwMode="auto">
          <a:xfrm>
            <a:off x="755920" y="1233754"/>
            <a:ext cx="1081442" cy="86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3"/>
          <p:cNvSpPr txBox="1"/>
          <p:nvPr/>
        </p:nvSpPr>
        <p:spPr>
          <a:xfrm>
            <a:off x="1423642" y="1233754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FIL ?</a:t>
            </a:r>
          </a:p>
        </p:txBody>
      </p:sp>
      <p:sp>
        <p:nvSpPr>
          <p:cNvPr id="9" name="ZoneTexte 11"/>
          <p:cNvSpPr txBox="1"/>
          <p:nvPr/>
        </p:nvSpPr>
        <p:spPr>
          <a:xfrm>
            <a:off x="956518" y="2650686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FIL Assistance, vous propose gratuitement: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120105" y="3582259"/>
            <a:ext cx="6020613" cy="811475"/>
            <a:chOff x="400050" y="2786464"/>
            <a:chExt cx="6020613" cy="811475"/>
          </a:xfrm>
        </p:grpSpPr>
        <p:sp>
          <p:nvSpPr>
            <p:cNvPr id="2065" name="ZoneTexte 12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</a:t>
              </a:r>
            </a:p>
          </p:txBody>
        </p:sp>
        <p:pic>
          <p:nvPicPr>
            <p:cNvPr id="2074" name="Image 207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12" name="Groupe 11"/>
          <p:cNvGrpSpPr/>
          <p:nvPr/>
        </p:nvGrpSpPr>
        <p:grpSpPr>
          <a:xfrm>
            <a:off x="831907" y="4550686"/>
            <a:ext cx="5639929" cy="878816"/>
            <a:chOff x="222327" y="3957748"/>
            <a:chExt cx="6053947" cy="878816"/>
          </a:xfrm>
        </p:grpSpPr>
        <p:sp>
          <p:nvSpPr>
            <p:cNvPr id="2060" name="ZoneTexte 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services de proximités: ( livraison des médicaments, Portage des repas, portage d’espèces, livraison des courses,…)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061" name="Image 206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4" name="Groupe 13"/>
          <p:cNvGrpSpPr/>
          <p:nvPr/>
        </p:nvGrpSpPr>
        <p:grpSpPr>
          <a:xfrm>
            <a:off x="162224" y="5824600"/>
            <a:ext cx="5781376" cy="613892"/>
            <a:chOff x="449887" y="6368680"/>
            <a:chExt cx="5781376" cy="613892"/>
          </a:xfrm>
        </p:grpSpPr>
        <p:sp>
          <p:nvSpPr>
            <p:cNvPr id="2056" name="ZoneTexte 4507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Transport post-hospitalisation: chez un proche, ou aux RDV médicaux</a:t>
              </a:r>
            </a:p>
          </p:txBody>
        </p:sp>
        <p:pic>
          <p:nvPicPr>
            <p:cNvPr id="2057" name="Image 205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9887" y="6368680"/>
              <a:ext cx="933972" cy="523220"/>
            </a:xfrm>
            <a:prstGeom prst="rect">
              <a:avLst/>
            </a:prstGeom>
          </p:spPr>
        </p:pic>
      </p:grpSp>
      <p:grpSp>
        <p:nvGrpSpPr>
          <p:cNvPr id="16" name="Groupe 15"/>
          <p:cNvGrpSpPr/>
          <p:nvPr/>
        </p:nvGrpSpPr>
        <p:grpSpPr>
          <a:xfrm>
            <a:off x="956519" y="6727106"/>
            <a:ext cx="5590332" cy="762965"/>
            <a:chOff x="319683" y="6589531"/>
            <a:chExt cx="5980735" cy="762965"/>
          </a:xfrm>
        </p:grpSpPr>
        <p:pic>
          <p:nvPicPr>
            <p:cNvPr id="24" name="Image 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19683" y="6589531"/>
              <a:ext cx="593986" cy="762965"/>
            </a:xfrm>
            <a:prstGeom prst="rect">
              <a:avLst/>
            </a:prstGeom>
          </p:spPr>
        </p:pic>
        <p:sp>
          <p:nvSpPr>
            <p:cNvPr id="27" name="ZoneTexte 2074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Prise en charge des enfants: (déplacement d’un proche, transfert, garde, conduite à l’école, soutien scolaire, aide aux devoirs,…)</a:t>
              </a:r>
            </a:p>
          </p:txBody>
        </p:sp>
      </p:grpSp>
      <p:grpSp>
        <p:nvGrpSpPr>
          <p:cNvPr id="2075" name="Groupe 2074"/>
          <p:cNvGrpSpPr/>
          <p:nvPr/>
        </p:nvGrpSpPr>
        <p:grpSpPr>
          <a:xfrm>
            <a:off x="226808" y="7760973"/>
            <a:ext cx="5697799" cy="819970"/>
            <a:chOff x="1036606" y="7676952"/>
            <a:chExt cx="5697799" cy="819970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</p:spPr>
        </p:pic>
        <p:sp>
          <p:nvSpPr>
            <p:cNvPr id="20" name="ZoneTexte 2077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Prise en charge des ascendants: (déplacement d’un proche, transfert, garde,…)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</a:p>
          <a:p>
            <a:pPr algn="ctr"/>
            <a:r>
              <a:rPr lang="fr-FR" sz="1600" dirty="0"/>
              <a:t>proposera obligatoirement </a:t>
            </a:r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</a:p>
          <a:p>
            <a:r>
              <a:rPr lang="fr-FR" sz="1100" dirty="0"/>
              <a:t>panier 100% Santé</a:t>
            </a:r>
          </a:p>
        </p:txBody>
      </p:sp>
      <p:sp>
        <p:nvSpPr>
          <p:cNvPr id="4517" name="ZoneTexte 451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</a:p>
          <a:p>
            <a:pPr algn="ctr"/>
            <a:r>
              <a:rPr lang="fr-FR" dirty="0"/>
              <a:t>l’assurance complémentaire dans les</a:t>
            </a:r>
          </a:p>
          <a:p>
            <a:pPr algn="ctr"/>
            <a:r>
              <a:rPr lang="fr-FR" dirty="0"/>
              <a:t>conditions prévues par le contrat</a:t>
            </a:r>
          </a:p>
        </p:txBody>
      </p:sp>
      <p:sp>
        <p:nvSpPr>
          <p:cNvPr id="4519" name="ZoneTexte 45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Intégrale 55+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298824" y="428109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935</Words>
  <Application>Microsoft Office PowerPoint</Application>
  <PresentationFormat>Format A4 (210 x 297 mm)</PresentationFormat>
  <Paragraphs>99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39</cp:revision>
  <cp:lastPrinted>2024-03-26T10:36:00Z</cp:lastPrinted>
  <dcterms:created xsi:type="dcterms:W3CDTF">2018-01-12T04:36:00Z</dcterms:created>
  <dcterms:modified xsi:type="dcterms:W3CDTF">2025-09-18T11:50:21Z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290B8819C0EE4E6BAC2BEE4478750968_12</vt:lpwstr>
  </property>
  <property fmtid="{D5CDD505-2E9C-101B-9397-08002B2CF9AE}" pid="3" name="KSOProductBuildVer">
    <vt:lpwstr>1036-12.2.0.22549</vt:lpwstr>
  </property>
</Properties>
</file>