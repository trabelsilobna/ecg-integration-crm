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NtGcl5WPgqc0TEFWinHEtMSLX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sz="1014"/>
            </a:lvl3pPr>
            <a:lvl4pPr lvl="3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015"/>
              <a:buNone/>
              <a:defRPr sz="1014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3052" lvl="3" marL="1828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3052" lvl="4" marL="22860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3052" lvl="5" marL="27432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3052" lvl="6" marL="3200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3052" lvl="7" marL="3657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3052" lvl="8" marL="4114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11" Type="http://schemas.openxmlformats.org/officeDocument/2006/relationships/image" Target="../media/image11.png"/><Relationship Id="rId10" Type="http://schemas.openxmlformats.org/officeDocument/2006/relationships/image" Target="../media/image7.png"/><Relationship Id="rId9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hyperlink" Target="#'2'!A1" TargetMode="External"/><Relationship Id="rId7" Type="http://schemas.openxmlformats.org/officeDocument/2006/relationships/image" Target="../media/image9.png"/><Relationship Id="rId8" Type="http://schemas.openxmlformats.org/officeDocument/2006/relationships/hyperlink" Target="#'5'!A1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hyperlink" Target="#'2'!A1" TargetMode="External"/><Relationship Id="rId10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6.jpg"/><Relationship Id="rId8" Type="http://schemas.openxmlformats.org/officeDocument/2006/relationships/image" Target="../media/image1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10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Relationship Id="rId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options Éco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463800" y="284759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16000 professionnels  de santé pour des    équipements de qualité à prix réduit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2841625" y="450043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grpSp>
        <p:nvGrpSpPr>
          <p:cNvPr id="93" name="Google Shape;93;p1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4" name="Google Shape;94;p1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5" name="Google Shape;95;p1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" name="Google Shape;96;p1"/>
          <p:cNvGrpSpPr/>
          <p:nvPr/>
        </p:nvGrpSpPr>
        <p:grpSpPr>
          <a:xfrm>
            <a:off x="2524885" y="3065751"/>
            <a:ext cx="976837" cy="1010393"/>
            <a:chOff x="2548471" y="3049424"/>
            <a:chExt cx="976837" cy="1010393"/>
          </a:xfrm>
        </p:grpSpPr>
        <p:sp>
          <p:nvSpPr>
            <p:cNvPr id="97" name="Google Shape;97;p1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98" name="Google Shape;98;p1"/>
            <p:cNvPicPr preferRelativeResize="0"/>
            <p:nvPr/>
          </p:nvPicPr>
          <p:blipFill rotWithShape="1">
            <a:blip r:embed="rId4">
              <a:alphaModFix/>
            </a:blip>
            <a:srcRect b="17480" l="6110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" name="Google Shape;99;p1"/>
          <p:cNvGrpSpPr/>
          <p:nvPr/>
        </p:nvGrpSpPr>
        <p:grpSpPr>
          <a:xfrm>
            <a:off x="2911326" y="4743824"/>
            <a:ext cx="976837" cy="1010393"/>
            <a:chOff x="2693612" y="4712978"/>
            <a:chExt cx="976837" cy="1010393"/>
          </a:xfrm>
        </p:grpSpPr>
        <p:sp>
          <p:nvSpPr>
            <p:cNvPr id="100" name="Google Shape;100;p1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01" name="Google Shape;101;p1"/>
            <p:cNvPicPr preferRelativeResize="0"/>
            <p:nvPr/>
          </p:nvPicPr>
          <p:blipFill rotWithShape="1">
            <a:blip r:embed="rId5">
              <a:alphaModFix/>
            </a:blip>
            <a:srcRect b="4848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2" name="Google Shape;102;p1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4439" y="3170627"/>
            <a:ext cx="640045" cy="68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26900" y="4891693"/>
            <a:ext cx="930612" cy="5236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18 - 85 ans</a:t>
            </a:r>
            <a:endParaRPr/>
          </a:p>
        </p:txBody>
      </p:sp>
      <p:pic>
        <p:nvPicPr>
          <p:cNvPr id="106" name="Google Shape;106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49834" y="1616206"/>
            <a:ext cx="1565047" cy="6521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08" name="Google Shape;108;p1"/>
            <p:cNvGrpSpPr/>
            <p:nvPr/>
          </p:nvGrpSpPr>
          <p:grpSpPr>
            <a:xfrm>
              <a:off x="101600" y="93434"/>
              <a:ext cx="6686550" cy="628650"/>
              <a:chOff x="88900" y="285750"/>
              <a:chExt cx="6686550" cy="628650"/>
            </a:xfrm>
          </p:grpSpPr>
          <p:sp>
            <p:nvSpPr>
              <p:cNvPr id="109" name="Google Shape;109;p1"/>
              <p:cNvSpPr/>
              <p:nvPr/>
            </p:nvSpPr>
            <p:spPr>
              <a:xfrm>
                <a:off x="88900" y="285750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Zen Santé Eco        by                           assuré par                                 </a:t>
                </a:r>
                <a:endParaRPr/>
              </a:p>
            </p:txBody>
          </p:sp>
          <p:pic>
            <p:nvPicPr>
              <p:cNvPr descr="Zenioo : spécialiste de la mutuelle santé" id="110" name="Google Shape;110;p1"/>
              <p:cNvPicPr preferRelativeResize="0"/>
              <p:nvPr/>
            </p:nvPicPr>
            <p:blipFill rotWithShape="1">
              <a:blip r:embed="rId11">
                <a:alphaModFix/>
              </a:blip>
              <a:srcRect b="19333" l="0" r="0" t="26667"/>
              <a:stretch/>
            </p:blipFill>
            <p:spPr>
              <a:xfrm>
                <a:off x="2828925" y="412968"/>
                <a:ext cx="908724" cy="4016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1" name="Google Shape;111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448382" y="190482"/>
              <a:ext cx="1050557" cy="4377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/>
          <p:nvPr/>
        </p:nvSpPr>
        <p:spPr>
          <a:xfrm>
            <a:off x="348343" y="2316483"/>
            <a:ext cx="6198508" cy="79828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complémentaire qui couvre les risques essentiels sur tous les postes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hospitalisation, soin, dentaire, optique, audiologie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329746" y="3237343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348343" y="3719939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348343" y="4362174"/>
            <a:ext cx="6198508" cy="890793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contrat simple : 4 formules packagées (sans option) et responsables incluant le 100 % Santé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optique,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dentaire et audiologie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329746" y="5364237"/>
            <a:ext cx="6198508" cy="432743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Aucun délai d’attente sur toutes les formules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348343" y="5891615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DUO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dès 2 assurés réduction de 10 % par adulte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348343" y="6389049"/>
            <a:ext cx="6198508" cy="128304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Kalixia, 1er réseau de soins de santé de France.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tarifs négociés auprès 6 700 centres d’optiques, 4 500 chirurgiens-dentistes et orthodontistes, 4500 centres audio partenaires et 450 ostéopathes, répartis sur l’ensemble du territoire.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348343" y="7780450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Filassistance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inclusion sur mesure pour les seniors: téléconsultations illimitées, accompagnement maladie chronique,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port de médicaments ...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2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25" name="Google Shape;125;p2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Zen Santé Eco ?</a:t>
              </a:r>
              <a:endParaRPr/>
            </a:p>
          </p:txBody>
        </p:sp>
        <p:pic>
          <p:nvPicPr>
            <p:cNvPr descr="Bonne idée - Icônes commercialisation gratuites" id="126" name="Google Shape;12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2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28" name="Google Shape;128;p2"/>
            <p:cNvGrpSpPr/>
            <p:nvPr/>
          </p:nvGrpSpPr>
          <p:grpSpPr>
            <a:xfrm>
              <a:off x="101600" y="93434"/>
              <a:ext cx="6686550" cy="628650"/>
              <a:chOff x="88900" y="285750"/>
              <a:chExt cx="6686550" cy="628650"/>
            </a:xfrm>
          </p:grpSpPr>
          <p:sp>
            <p:nvSpPr>
              <p:cNvPr id="129" name="Google Shape;129;p2"/>
              <p:cNvSpPr/>
              <p:nvPr/>
            </p:nvSpPr>
            <p:spPr>
              <a:xfrm>
                <a:off x="88900" y="285750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Zen Santé Eco        by                           assuré par                                 </a:t>
                </a:r>
                <a:endParaRPr/>
              </a:p>
            </p:txBody>
          </p:sp>
          <p:pic>
            <p:nvPicPr>
              <p:cNvPr descr="Zenioo : spécialiste de la mutuelle santé" id="130" name="Google Shape;130;p2"/>
              <p:cNvPicPr preferRelativeResize="0"/>
              <p:nvPr/>
            </p:nvPicPr>
            <p:blipFill rotWithShape="1">
              <a:blip r:embed="rId4">
                <a:alphaModFix/>
              </a:blip>
              <a:srcRect b="19333" l="0" r="0" t="26667"/>
              <a:stretch/>
            </p:blipFill>
            <p:spPr>
              <a:xfrm>
                <a:off x="2828925" y="412968"/>
                <a:ext cx="908724" cy="4016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1" name="Google Shape;131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48382" y="190482"/>
              <a:ext cx="1050557" cy="4377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36" name="Google Shape;13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3"/>
          <p:cNvGrpSpPr/>
          <p:nvPr/>
        </p:nvGrpSpPr>
        <p:grpSpPr>
          <a:xfrm>
            <a:off x="1286084" y="873089"/>
            <a:ext cx="4823750" cy="1068608"/>
            <a:chOff x="1640097" y="967319"/>
            <a:chExt cx="4823750" cy="1068608"/>
          </a:xfrm>
        </p:grpSpPr>
        <p:pic>
          <p:nvPicPr>
            <p:cNvPr id="138" name="Google Shape;138;p3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0097" y="967319"/>
              <a:ext cx="995362" cy="1068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3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passer par le réseau de soin Kalixia ?</a:t>
              </a:r>
              <a:endParaRPr/>
            </a:p>
          </p:txBody>
        </p:sp>
      </p:grpSp>
      <p:grpSp>
        <p:nvGrpSpPr>
          <p:cNvPr id="140" name="Google Shape;140;p3"/>
          <p:cNvGrpSpPr/>
          <p:nvPr/>
        </p:nvGrpSpPr>
        <p:grpSpPr>
          <a:xfrm>
            <a:off x="13524" y="2264276"/>
            <a:ext cx="6247576" cy="1384995"/>
            <a:chOff x="343724" y="2264276"/>
            <a:chExt cx="6069776" cy="1384995"/>
          </a:xfrm>
        </p:grpSpPr>
        <p:pic>
          <p:nvPicPr>
            <p:cNvPr descr="Feingeist - Lunette Pour Les Ecran - Free Transparent PNG Clipart Images  Download" id="141" name="Google Shape;141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3"/>
            <p:cNvSpPr txBox="1"/>
            <p:nvPr/>
          </p:nvSpPr>
          <p:spPr>
            <a:xfrm>
              <a:off x="1382902" y="2264276"/>
              <a:ext cx="5030598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libre choix au sein d’un référentiel verres / lentilles très complet de verriers rigoureusement sélectionnés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40 % sur les verres de classe B, – 30 % sur les lentilles; – 20% sur les montures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prestations de qualité : garanties casse verres et monture</a:t>
              </a:r>
              <a:endParaRPr/>
            </a:p>
          </p:txBody>
        </p:sp>
      </p:grpSp>
      <p:grpSp>
        <p:nvGrpSpPr>
          <p:cNvPr id="143" name="Google Shape;143;p3"/>
          <p:cNvGrpSpPr/>
          <p:nvPr/>
        </p:nvGrpSpPr>
        <p:grpSpPr>
          <a:xfrm>
            <a:off x="1286084" y="3930046"/>
            <a:ext cx="5409936" cy="1600438"/>
            <a:chOff x="1730184" y="4376845"/>
            <a:chExt cx="4992359" cy="1600438"/>
          </a:xfrm>
        </p:grpSpPr>
        <p:pic>
          <p:nvPicPr>
            <p:cNvPr descr="Icône D'oreille Pour Vos Sites De Conception Et Projets PNG , Audio, Oreille,  Écoutez Licône PNG et vecteur pour téléchargement gratuit" id="144" name="Google Shape;144;p3"/>
            <p:cNvPicPr preferRelativeResize="0"/>
            <p:nvPr/>
          </p:nvPicPr>
          <p:blipFill rotWithShape="1">
            <a:blip r:embed="rId7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3"/>
            <p:cNvSpPr txBox="1"/>
            <p:nvPr/>
          </p:nvSpPr>
          <p:spPr>
            <a:xfrm>
              <a:off x="2175244" y="4376845"/>
              <a:ext cx="4547299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– 500 € en moyenne pour un double appareillage de classe 2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prestation « tout en un » : aide auditive prête à l’emploi avec piles et kit d’entretien pour 6 mois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prestations accessibles aux ascendants directs des assurés bénéficiaires</a:t>
              </a:r>
              <a:endParaRPr/>
            </a:p>
          </p:txBody>
        </p:sp>
      </p:grpSp>
      <p:grpSp>
        <p:nvGrpSpPr>
          <p:cNvPr id="146" name="Google Shape;146;p3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descr="Bouton Logo Les Dents - Images vectorielles gratuites sur Pixabay - Pixabay" id="147" name="Google Shape;147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3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renforcement de l’accès aux actes de prothèse, d’orthodontie, d’implantologie, de parodontologie, et de prévention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amélioration de la prise en charge complémentaire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Le respect de plafonds d’honoraires, au niveau des pratiques moyennes du département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10 ans sur les couronnes</a:t>
              </a:r>
              <a:endParaRPr/>
            </a:p>
          </p:txBody>
        </p:sp>
      </p:grpSp>
      <p:grpSp>
        <p:nvGrpSpPr>
          <p:cNvPr id="149" name="Google Shape;149;p3"/>
          <p:cNvGrpSpPr/>
          <p:nvPr/>
        </p:nvGrpSpPr>
        <p:grpSpPr>
          <a:xfrm>
            <a:off x="1261356" y="7858144"/>
            <a:ext cx="5406144" cy="1384995"/>
            <a:chOff x="1261356" y="7832744"/>
            <a:chExt cx="5406144" cy="1384995"/>
          </a:xfrm>
        </p:grpSpPr>
        <p:pic>
          <p:nvPicPr>
            <p:cNvPr descr="Centre d'ostéopathie - Roxane Gervais St-Amour D.O." id="150" name="Google Shape;150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3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Ostéopathie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des ostéopathes sélectionnés sur des critères de qualité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normalisation et une dématérialisation de la note d’honoraires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modération tarifaire</a:t>
              </a:r>
              <a:endParaRPr/>
            </a:p>
          </p:txBody>
        </p:sp>
      </p:grpSp>
      <p:grpSp>
        <p:nvGrpSpPr>
          <p:cNvPr id="152" name="Google Shape;152;p3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53" name="Google Shape;153;p3"/>
            <p:cNvGrpSpPr/>
            <p:nvPr/>
          </p:nvGrpSpPr>
          <p:grpSpPr>
            <a:xfrm>
              <a:off x="101600" y="93434"/>
              <a:ext cx="6686550" cy="628650"/>
              <a:chOff x="88900" y="285750"/>
              <a:chExt cx="6686550" cy="628650"/>
            </a:xfrm>
          </p:grpSpPr>
          <p:sp>
            <p:nvSpPr>
              <p:cNvPr id="154" name="Google Shape;154;p3"/>
              <p:cNvSpPr/>
              <p:nvPr/>
            </p:nvSpPr>
            <p:spPr>
              <a:xfrm>
                <a:off x="88900" y="285750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Zen Santé Eco        by                           assuré par                                 </a:t>
                </a:r>
                <a:endParaRPr/>
              </a:p>
            </p:txBody>
          </p:sp>
          <p:pic>
            <p:nvPicPr>
              <p:cNvPr descr="Zenioo : spécialiste de la mutuelle santé" id="155" name="Google Shape;155;p3"/>
              <p:cNvPicPr preferRelativeResize="0"/>
              <p:nvPr/>
            </p:nvPicPr>
            <p:blipFill rotWithShape="1">
              <a:blip r:embed="rId9">
                <a:alphaModFix/>
              </a:blip>
              <a:srcRect b="19333" l="0" r="0" t="26667"/>
              <a:stretch/>
            </p:blipFill>
            <p:spPr>
              <a:xfrm>
                <a:off x="2828925" y="412968"/>
                <a:ext cx="908724" cy="4016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56" name="Google Shape;156;p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448382" y="190482"/>
              <a:ext cx="1050557" cy="4377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61" name="Google Shape;1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162" name="Google Shape;162;p4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165" name="Google Shape;16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170" name="Google Shape;170;p4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1" name="Google Shape;171;p4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2" name="Google Shape;172;p4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175" name="Google Shape;175;p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76" name="Google Shape;176;p4"/>
            <p:cNvGrpSpPr/>
            <p:nvPr/>
          </p:nvGrpSpPr>
          <p:grpSpPr>
            <a:xfrm>
              <a:off x="101600" y="93434"/>
              <a:ext cx="6686550" cy="628650"/>
              <a:chOff x="88900" y="285750"/>
              <a:chExt cx="6686550" cy="628650"/>
            </a:xfrm>
          </p:grpSpPr>
          <p:sp>
            <p:nvSpPr>
              <p:cNvPr id="177" name="Google Shape;177;p4"/>
              <p:cNvSpPr/>
              <p:nvPr/>
            </p:nvSpPr>
            <p:spPr>
              <a:xfrm>
                <a:off x="88900" y="285750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Zen Santé Eco        by                           assuré par                                 </a:t>
                </a:r>
                <a:endParaRPr/>
              </a:p>
            </p:txBody>
          </p:sp>
          <p:pic>
            <p:nvPicPr>
              <p:cNvPr descr="Zenioo : spécialiste de la mutuelle santé" id="178" name="Google Shape;178;p4"/>
              <p:cNvPicPr preferRelativeResize="0"/>
              <p:nvPr/>
            </p:nvPicPr>
            <p:blipFill rotWithShape="1">
              <a:blip r:embed="rId6">
                <a:alphaModFix/>
              </a:blip>
              <a:srcRect b="19333" l="0" r="0" t="26667"/>
              <a:stretch/>
            </p:blipFill>
            <p:spPr>
              <a:xfrm>
                <a:off x="2828925" y="412968"/>
                <a:ext cx="908724" cy="4016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79" name="Google Shape;179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48382" y="190482"/>
              <a:ext cx="1050557" cy="4377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84" name="Google Shape;1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185" name="Google Shape;185;p5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91" name="Google Shape;191;p5"/>
            <p:cNvGrpSpPr/>
            <p:nvPr/>
          </p:nvGrpSpPr>
          <p:grpSpPr>
            <a:xfrm>
              <a:off x="101600" y="93434"/>
              <a:ext cx="6686550" cy="628650"/>
              <a:chOff x="88900" y="285750"/>
              <a:chExt cx="6686550" cy="628650"/>
            </a:xfrm>
          </p:grpSpPr>
          <p:sp>
            <p:nvSpPr>
              <p:cNvPr id="192" name="Google Shape;192;p5"/>
              <p:cNvSpPr/>
              <p:nvPr/>
            </p:nvSpPr>
            <p:spPr>
              <a:xfrm>
                <a:off x="88900" y="285750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Zen Santé Eco        by                           assuré par                                 </a:t>
                </a:r>
                <a:endParaRPr/>
              </a:p>
            </p:txBody>
          </p:sp>
          <p:pic>
            <p:nvPicPr>
              <p:cNvPr descr="Zenioo : spécialiste de la mutuelle santé" id="193" name="Google Shape;193;p5"/>
              <p:cNvPicPr preferRelativeResize="0"/>
              <p:nvPr/>
            </p:nvPicPr>
            <p:blipFill rotWithShape="1">
              <a:blip r:embed="rId9">
                <a:alphaModFix/>
              </a:blip>
              <a:srcRect b="19333" l="0" r="0" t="26667"/>
              <a:stretch/>
            </p:blipFill>
            <p:spPr>
              <a:xfrm>
                <a:off x="2828925" y="412968"/>
                <a:ext cx="908724" cy="4016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94" name="Google Shape;194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448382" y="190482"/>
              <a:ext cx="1050557" cy="4377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2018-01-12T04:36:00Z</dcterms:created>
  <dc:creator>Aurelie Racamier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290B8819C0EE4E6BAC2BEE4478750968_12</vt:lpwstr>
  </property>
  <property fmtid="{D5CDD505-2E9C-101B-9397-08002B2CF9AE}" pid="3" name="KSOProductBuildVer">
    <vt:lpwstr>1036-12.2.0.22549</vt:lpwstr>
  </property>
</Properties>
</file>