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eDtiqfByXD0z08Hl0/I/Zs+lT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sz="1014"/>
            </a:lvl3pPr>
            <a:lvl4pPr lvl="3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15"/>
              <a:buNone/>
              <a:defRPr sz="101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3052" lvl="3" marL="1828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3052" lvl="4" marL="22860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3052" lvl="5" marL="27432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3052" lvl="6" marL="3200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3052" lvl="7" marL="3657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3052" lvl="8" marL="4114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17'!A1" TargetMode="External"/><Relationship Id="rId10" Type="http://schemas.openxmlformats.org/officeDocument/2006/relationships/image" Target="../media/image6.png"/><Relationship Id="rId13" Type="http://schemas.openxmlformats.org/officeDocument/2006/relationships/image" Target="../media/image5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7.jpg"/><Relationship Id="rId9" Type="http://schemas.openxmlformats.org/officeDocument/2006/relationships/hyperlink" Target="#'5'!A1" TargetMode="External"/><Relationship Id="rId1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0.jpg"/><Relationship Id="rId7" Type="http://schemas.openxmlformats.org/officeDocument/2006/relationships/hyperlink" Target="#'2'!A1" TargetMode="External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hyperlink" Target="#'2'!A1" TargetMode="External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25.jpg"/><Relationship Id="rId8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20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hyperlink" Target="#'17'!A1" TargetMode="External"/><Relationship Id="rId9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9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987886" y="1258563"/>
            <a:ext cx="3759300" cy="146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options Renfort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16000 professionnels  de santé pour des    équipements de qualité à prix réduit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5" name="Google Shape;95;p1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6" name="Google Shape;96;p1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98" name="Google Shape;98;p1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9" name="Google Shape;99;p1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1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1" name="Google Shape;101;p1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2" name="Google Shape;102;p1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4" name="Google Shape;104;p1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5" name="Google Shape;105;p1"/>
            <p:cNvPicPr preferRelativeResize="0"/>
            <p:nvPr/>
          </p:nvPicPr>
          <p:blipFill rotWithShape="1">
            <a:blip r:embed="rId6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" name="Google Shape;106;p1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4439" y="3170627"/>
            <a:ext cx="640045" cy="68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26900" y="4891693"/>
            <a:ext cx="930612" cy="523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: Quatrième semaine de grève chez Filassistance - News  Assurances Pro" id="108" name="Google Shape;108;p1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20179" l="23950" r="28402" t="10714"/>
          <a:stretch/>
        </p:blipFill>
        <p:spPr>
          <a:xfrm>
            <a:off x="5035820" y="6491554"/>
            <a:ext cx="825125" cy="6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Séniors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55 à 99 ans</a:t>
            </a:r>
            <a:endParaRPr/>
          </a:p>
        </p:txBody>
      </p:sp>
      <p:pic>
        <p:nvPicPr>
          <p:cNvPr descr="UNMI - Solutions innovantes pour les mutuelles et les courtiers" id="111" name="Google Shape;111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48247" y="1623195"/>
            <a:ext cx="1646237" cy="6753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3" name="Google Shape;113;p1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14" name="Google Shape;114;p1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Flexi Sénior  by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15" name="Google Shape;115;p1"/>
              <p:cNvPicPr preferRelativeResize="0"/>
              <p:nvPr/>
            </p:nvPicPr>
            <p:blipFill rotWithShape="1">
              <a:blip r:embed="rId14">
                <a:alphaModFix/>
              </a:blip>
              <a:srcRect b="19333" l="0" r="0" t="26667"/>
              <a:stretch/>
            </p:blipFill>
            <p:spPr>
              <a:xfrm>
                <a:off x="3298824" y="428109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UNMI - Solutions innovantes pour les mutuelles et les courtiers" id="116" name="Google Shape;116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552796" y="235793"/>
              <a:ext cx="978990" cy="4016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348343" y="1972510"/>
            <a:ext cx="6198600" cy="113910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prise en main facile avec une structure simple et 4 options au choix, cumulables sans limitation,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renforcer les garanties sur les postes clés : Renfort Hospitalisation, Renfort Soins courants, Renfort Dentaire et Renfort Bien-être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29746" y="3237343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348343" y="3719939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348343" y="4362175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 professions éligibles pour le poste médecine naturelle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329746" y="4855661"/>
            <a:ext cx="6198508" cy="5621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contrat ultra-fidélisant :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 garanties augmentent automatiquement sur les postes clés dès la 2ème année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348343" y="5523315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348343" y="6020749"/>
            <a:ext cx="6198508" cy="128304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Kalixia, 1er réseau de soins de santé de France.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348343" y="7412150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Filassistance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les seniors: téléconsultations illimitées, accompagnement maladie chronique,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 de médicaments ...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" name="Google Shape;129;p2"/>
          <p:cNvGrpSpPr/>
          <p:nvPr/>
        </p:nvGrpSpPr>
        <p:grpSpPr>
          <a:xfrm>
            <a:off x="839842" y="922185"/>
            <a:ext cx="5215702" cy="1038626"/>
            <a:chOff x="1248230" y="945460"/>
            <a:chExt cx="5215702" cy="1038626"/>
          </a:xfrm>
        </p:grpSpPr>
        <p:sp>
          <p:nvSpPr>
            <p:cNvPr id="130" name="Google Shape;130;p2"/>
            <p:cNvSpPr txBox="1"/>
            <p:nvPr/>
          </p:nvSpPr>
          <p:spPr>
            <a:xfrm>
              <a:off x="2283732" y="1029786"/>
              <a:ext cx="41802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Zen Santé Flexi Sénior ?</a:t>
              </a:r>
              <a:endParaRPr/>
            </a:p>
          </p:txBody>
        </p:sp>
        <p:pic>
          <p:nvPicPr>
            <p:cNvPr descr="Bonne idée - Icônes commercialisation gratuites" id="131" name="Google Shape;13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2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3" name="Google Shape;133;p2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34" name="Google Shape;134;p2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Flexi Sénior  by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35" name="Google Shape;135;p2"/>
              <p:cNvPicPr preferRelativeResize="0"/>
              <p:nvPr/>
            </p:nvPicPr>
            <p:blipFill rotWithShape="1">
              <a:blip r:embed="rId4">
                <a:alphaModFix/>
              </a:blip>
              <a:srcRect b="19333" l="0" r="0" t="26667"/>
              <a:stretch/>
            </p:blipFill>
            <p:spPr>
              <a:xfrm>
                <a:off x="3298824" y="428109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UNMI - Solutions innovantes pour les mutuelles et les courtiers" id="136" name="Google Shape;136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52796" y="235793"/>
              <a:ext cx="978990" cy="4016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3"/>
          <p:cNvGrpSpPr/>
          <p:nvPr/>
        </p:nvGrpSpPr>
        <p:grpSpPr>
          <a:xfrm>
            <a:off x="1004728" y="1167723"/>
            <a:ext cx="5099268" cy="1200329"/>
            <a:chOff x="976399" y="1029786"/>
            <a:chExt cx="5099268" cy="1200329"/>
          </a:xfrm>
        </p:grpSpPr>
        <p:pic>
          <p:nvPicPr>
            <p:cNvPr descr="ajuster la conception de l'icône créative 15456496 Art vectoriel chez  Vecteezy" id="143" name="Google Shape;14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3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Flexi Sénior, vous donne la possibilité de personnaliser vos garanties</a:t>
              </a:r>
              <a:endParaRPr/>
            </a:p>
          </p:txBody>
        </p:sp>
      </p:grpSp>
      <p:sp>
        <p:nvSpPr>
          <p:cNvPr id="145" name="Google Shape;145;p3"/>
          <p:cNvSpPr txBox="1"/>
          <p:nvPr/>
        </p:nvSpPr>
        <p:spPr>
          <a:xfrm>
            <a:off x="368300" y="2731663"/>
            <a:ext cx="6163486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Complétez si besoin avec les 4 options « Renfort » au choix et cumulables afin d’augmenter les garanties sur un poste ciblé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Et gagnez jusqu’à: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Noto Sans Symbols"/>
              <a:buChar char="🡪"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+25%  pour l’hospitalisation </a:t>
            </a:r>
            <a:endParaRPr/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Noto Sans Symbols"/>
              <a:buChar char="🡪"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+25 € pour le confort hospitalier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🡪 25%  pour les Soins courants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🡪 25%  pour le Dentaire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🡪 50 € pour le Bien-être</a:t>
            </a:r>
            <a:endParaRPr/>
          </a:p>
        </p:txBody>
      </p:sp>
      <p:grpSp>
        <p:nvGrpSpPr>
          <p:cNvPr id="146" name="Google Shape;146;p3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47" name="Google Shape;147;p3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Flexi Sénior  by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49" name="Google Shape;149;p3"/>
              <p:cNvPicPr preferRelativeResize="0"/>
              <p:nvPr/>
            </p:nvPicPr>
            <p:blipFill rotWithShape="1">
              <a:blip r:embed="rId4">
                <a:alphaModFix/>
              </a:blip>
              <a:srcRect b="19333" l="0" r="0" t="26667"/>
              <a:stretch/>
            </p:blipFill>
            <p:spPr>
              <a:xfrm>
                <a:off x="3298824" y="428109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UNMI - Solutions innovantes pour les mutuelles et les courtiers" id="150" name="Google Shape;150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52796" y="235793"/>
              <a:ext cx="978990" cy="4016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llustration Vectorielle Sac De Banque Vert Avec Signe Dollar Argent  Comptant Symbole De L'économie Bancaire | Vecteur Premium" id="151" name="Google Shape;151;p3"/>
          <p:cNvPicPr preferRelativeResize="0"/>
          <p:nvPr/>
        </p:nvPicPr>
        <p:blipFill rotWithShape="1">
          <a:blip r:embed="rId6">
            <a:alphaModFix/>
          </a:blip>
          <a:srcRect b="14167" l="19530" r="18885" t="12806"/>
          <a:stretch/>
        </p:blipFill>
        <p:spPr>
          <a:xfrm>
            <a:off x="1515875" y="4407001"/>
            <a:ext cx="920918" cy="1091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56" name="Google Shape;1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4"/>
          <p:cNvGrpSpPr/>
          <p:nvPr/>
        </p:nvGrpSpPr>
        <p:grpSpPr>
          <a:xfrm>
            <a:off x="1286084" y="873089"/>
            <a:ext cx="4823750" cy="1068608"/>
            <a:chOff x="1640097" y="967319"/>
            <a:chExt cx="4823750" cy="1068608"/>
          </a:xfrm>
        </p:grpSpPr>
        <p:pic>
          <p:nvPicPr>
            <p:cNvPr id="158" name="Google Shape;158;p4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4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Kalixia ?</a:t>
              </a:r>
              <a:endParaRPr/>
            </a:p>
          </p:txBody>
        </p:sp>
      </p:grpSp>
      <p:grpSp>
        <p:nvGrpSpPr>
          <p:cNvPr id="160" name="Google Shape;160;p4"/>
          <p:cNvGrpSpPr/>
          <p:nvPr/>
        </p:nvGrpSpPr>
        <p:grpSpPr>
          <a:xfrm>
            <a:off x="13524" y="2264276"/>
            <a:ext cx="6247576" cy="1384995"/>
            <a:chOff x="343724" y="2264276"/>
            <a:chExt cx="6069776" cy="1384995"/>
          </a:xfrm>
        </p:grpSpPr>
        <p:pic>
          <p:nvPicPr>
            <p:cNvPr descr="Feingeist - Lunette Pour Les Ecran - Free Transparent PNG Clipart Images  Download" id="161" name="Google Shape;161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4"/>
            <p:cNvSpPr txBox="1"/>
            <p:nvPr/>
          </p:nvSpPr>
          <p:spPr>
            <a:xfrm>
              <a:off x="1382902" y="2264276"/>
              <a:ext cx="5030598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libre choix au sein d’un référentiel verres / lentilles très complet de verriers rigoureusement sélectionnés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 de classe B, – 30 % sur les lentilles; – 20% sur les montures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de qualité : garanties casse verres et monture</a:t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descr="Icône D'oreille Pour Vos Sites De Conception Et Projets PNG , Audio, Oreille,  Écoutez Licône PNG et vecteur pour téléchargement gratuit" id="164" name="Google Shape;164;p4"/>
            <p:cNvPicPr preferRelativeResize="0"/>
            <p:nvPr/>
          </p:nvPicPr>
          <p:blipFill rotWithShape="1">
            <a:blip r:embed="rId7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4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– 500 € en moyenne pour un double appareillage de classe 2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prestation « tout en un » : aide auditive prête à l’emploi avec piles et kit d’entretien pour 6 mois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accessibles aux ascendants directs des assurés bénéficiaires</a:t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67" name="Google Shape;16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4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renforcement de l’accès aux actes de prothèse, d’orthodontie, d’implantologie, de parodontologie, et de prévention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amélioration de la prise en charge complémentaire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respect de plafonds d’honoraires, au niveau des pratiques moyennes du département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10 ans sur les couronnes</a:t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70" name="Google Shape;170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4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des ostéopathes sélectionnés sur des critères de qualité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normalisation et une dématérialisation de la note d’honoraires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modération tarifaire</a:t>
              </a:r>
              <a:endParaRPr/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3" name="Google Shape;173;p4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174" name="Google Shape;174;p4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Flexi Sénior  by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175" name="Google Shape;175;p4"/>
              <p:cNvPicPr preferRelativeResize="0"/>
              <p:nvPr/>
            </p:nvPicPr>
            <p:blipFill rotWithShape="1">
              <a:blip r:embed="rId9">
                <a:alphaModFix/>
              </a:blip>
              <a:srcRect b="19333" l="0" r="0" t="26667"/>
              <a:stretch/>
            </p:blipFill>
            <p:spPr>
              <a:xfrm>
                <a:off x="3298824" y="428109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UNMI - Solutions innovantes pour les mutuelles et les courtiers" id="176" name="Google Shape;176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552796" y="235793"/>
              <a:ext cx="978990" cy="4016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1" name="Google Shape;1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: Quatrième semaine de grève chez Filassistance - News  Assurances Pro" id="182" name="Google Shape;182;p5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0179" l="23950" r="28402" t="10714"/>
          <a:stretch/>
        </p:blipFill>
        <p:spPr>
          <a:xfrm>
            <a:off x="755920" y="1233754"/>
            <a:ext cx="1081442" cy="86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/>
          <p:nvPr/>
        </p:nvSpPr>
        <p:spPr>
          <a:xfrm>
            <a:off x="1423642" y="1233754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FIL ?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956518" y="2650686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 Assistance, vous propose gratuitement:</a:t>
            </a:r>
            <a:endParaRPr/>
          </a:p>
        </p:txBody>
      </p:sp>
      <p:grpSp>
        <p:nvGrpSpPr>
          <p:cNvPr id="185" name="Google Shape;185;p5"/>
          <p:cNvGrpSpPr/>
          <p:nvPr/>
        </p:nvGrpSpPr>
        <p:grpSpPr>
          <a:xfrm>
            <a:off x="120105" y="3582259"/>
            <a:ext cx="6020613" cy="811475"/>
            <a:chOff x="400050" y="2786464"/>
            <a:chExt cx="6020613" cy="811475"/>
          </a:xfrm>
        </p:grpSpPr>
        <p:sp>
          <p:nvSpPr>
            <p:cNvPr id="186" name="Google Shape;186;p5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87" name="Google Shape;18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5"/>
          <p:cNvGrpSpPr/>
          <p:nvPr/>
        </p:nvGrpSpPr>
        <p:grpSpPr>
          <a:xfrm>
            <a:off x="831907" y="4550686"/>
            <a:ext cx="5639929" cy="878816"/>
            <a:chOff x="222327" y="3957748"/>
            <a:chExt cx="6053947" cy="878816"/>
          </a:xfrm>
        </p:grpSpPr>
        <p:sp>
          <p:nvSpPr>
            <p:cNvPr id="189" name="Google Shape;189;p5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0" name="Google Shape;190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5"/>
          <p:cNvGrpSpPr/>
          <p:nvPr/>
        </p:nvGrpSpPr>
        <p:grpSpPr>
          <a:xfrm>
            <a:off x="162224" y="5824600"/>
            <a:ext cx="5781376" cy="613892"/>
            <a:chOff x="449887" y="6368680"/>
            <a:chExt cx="5781376" cy="613892"/>
          </a:xfrm>
        </p:grpSpPr>
        <p:sp>
          <p:nvSpPr>
            <p:cNvPr id="192" name="Google Shape;192;p5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193" name="Google Shape;193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5"/>
          <p:cNvGrpSpPr/>
          <p:nvPr/>
        </p:nvGrpSpPr>
        <p:grpSpPr>
          <a:xfrm>
            <a:off x="956519" y="6727106"/>
            <a:ext cx="5590332" cy="762965"/>
            <a:chOff x="319683" y="6589531"/>
            <a:chExt cx="5980735" cy="762965"/>
          </a:xfrm>
        </p:grpSpPr>
        <p:pic>
          <p:nvPicPr>
            <p:cNvPr id="195" name="Google Shape;195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5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grpSp>
        <p:nvGrpSpPr>
          <p:cNvPr id="197" name="Google Shape;197;p5"/>
          <p:cNvGrpSpPr/>
          <p:nvPr/>
        </p:nvGrpSpPr>
        <p:grpSpPr>
          <a:xfrm>
            <a:off x="226808" y="7760973"/>
            <a:ext cx="5697799" cy="819970"/>
            <a:chOff x="1036606" y="7676952"/>
            <a:chExt cx="5697799" cy="819970"/>
          </a:xfrm>
        </p:grpSpPr>
        <p:pic>
          <p:nvPicPr>
            <p:cNvPr id="198" name="Google Shape;198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36606" y="7676952"/>
              <a:ext cx="728862" cy="8199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5"/>
            <p:cNvSpPr txBox="1"/>
            <p:nvPr/>
          </p:nvSpPr>
          <p:spPr>
            <a:xfrm>
              <a:off x="1725874" y="7788054"/>
              <a:ext cx="500853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ascendants: (déplacement d’un proche, transfert, garde,…)</a:t>
              </a:r>
              <a:endParaRPr/>
            </a:p>
          </p:txBody>
        </p:sp>
      </p:grpSp>
      <p:grpSp>
        <p:nvGrpSpPr>
          <p:cNvPr id="200" name="Google Shape;200;p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01" name="Google Shape;201;p5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Flexi Sénior  by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203" name="Google Shape;203;p5"/>
              <p:cNvPicPr preferRelativeResize="0"/>
              <p:nvPr/>
            </p:nvPicPr>
            <p:blipFill rotWithShape="1">
              <a:blip r:embed="rId11">
                <a:alphaModFix/>
              </a:blip>
              <a:srcRect b="19333" l="0" r="0" t="26667"/>
              <a:stretch/>
            </p:blipFill>
            <p:spPr>
              <a:xfrm>
                <a:off x="3298824" y="428109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UNMI - Solutions innovantes pour les mutuelles et les courtiers" id="204" name="Google Shape;204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552796" y="235793"/>
              <a:ext cx="978990" cy="4016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10" name="Google Shape;210;p6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13" name="Google Shape;21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18" name="Google Shape;218;p6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" name="Google Shape;219;p6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0" name="Google Shape;220;p6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23" name="Google Shape;223;p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24" name="Google Shape;224;p6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225" name="Google Shape;225;p6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Flexi Sénior  by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226" name="Google Shape;226;p6"/>
              <p:cNvPicPr preferRelativeResize="0"/>
              <p:nvPr/>
            </p:nvPicPr>
            <p:blipFill rotWithShape="1">
              <a:blip r:embed="rId6">
                <a:alphaModFix/>
              </a:blip>
              <a:srcRect b="19333" l="0" r="0" t="26667"/>
              <a:stretch/>
            </p:blipFill>
            <p:spPr>
              <a:xfrm>
                <a:off x="3298824" y="428109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UNMI - Solutions innovantes pour les mutuelles et les courtiers" id="227" name="Google Shape;227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52796" y="235793"/>
              <a:ext cx="978990" cy="4016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32" name="Google Shape;2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33" name="Google Shape;233;p7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39" name="Google Shape;239;p7"/>
            <p:cNvGrpSpPr/>
            <p:nvPr/>
          </p:nvGrpSpPr>
          <p:grpSpPr>
            <a:xfrm>
              <a:off x="101600" y="93434"/>
              <a:ext cx="6686550" cy="628650"/>
              <a:chOff x="88900" y="285750"/>
              <a:chExt cx="6686550" cy="628650"/>
            </a:xfrm>
          </p:grpSpPr>
          <p:sp>
            <p:nvSpPr>
              <p:cNvPr id="240" name="Google Shape;240;p7"/>
              <p:cNvSpPr/>
              <p:nvPr/>
            </p:nvSpPr>
            <p:spPr>
              <a:xfrm>
                <a:off x="88900" y="285750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Zen Santé Flexi Sénior  by                         assuré par                                 </a:t>
                </a:r>
                <a:endParaRPr/>
              </a:p>
            </p:txBody>
          </p:sp>
          <p:pic>
            <p:nvPicPr>
              <p:cNvPr descr="Zenioo : spécialiste de la mutuelle santé" id="241" name="Google Shape;241;p7"/>
              <p:cNvPicPr preferRelativeResize="0"/>
              <p:nvPr/>
            </p:nvPicPr>
            <p:blipFill rotWithShape="1">
              <a:blip r:embed="rId9">
                <a:alphaModFix/>
              </a:blip>
              <a:srcRect b="19333" l="0" r="0" t="26667"/>
              <a:stretch/>
            </p:blipFill>
            <p:spPr>
              <a:xfrm>
                <a:off x="3298824" y="428109"/>
                <a:ext cx="908724" cy="4016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UNMI - Solutions innovantes pour les mutuelles et les courtiers" id="242" name="Google Shape;24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552796" y="235793"/>
              <a:ext cx="978990" cy="4016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2018-01-12T04:36:00Z</dcterms:created>
  <dc:creator>Aurelie Racamier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290B8819C0EE4E6BAC2BEE4478750968_12</vt:lpwstr>
  </property>
  <property fmtid="{D5CDD505-2E9C-101B-9397-08002B2CF9AE}" pid="3" name="KSOProductBuildVer">
    <vt:lpwstr>1036-12.2.0.22549</vt:lpwstr>
  </property>
</Properties>
</file>