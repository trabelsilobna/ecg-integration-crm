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9906000" cx="6858000"/>
  <p:notesSz cx="7104050" cy="102346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12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13" roundtripDataSignature="AMtx7mgyxCyT2J1pPBZ8tedW5AnSU4EIZ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12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customschemas.google.com/relationships/presentationmetadata" Target="meta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78427" cy="513508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023992" y="0"/>
            <a:ext cx="3078427" cy="513508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721107"/>
            <a:ext cx="3078427" cy="513507"/>
          </a:xfrm>
          <a:prstGeom prst="rect">
            <a:avLst/>
          </a:prstGeom>
          <a:noFill/>
          <a:ln>
            <a:noFill/>
          </a:ln>
        </p:spPr>
        <p:txBody>
          <a:bodyPr anchorCtr="0" anchor="b" bIns="49500" lIns="99050" spcFirstLastPara="1" rIns="99050" wrap="square" tIns="495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  <a:noFill/>
          <a:ln>
            <a:noFill/>
          </a:ln>
        </p:spPr>
        <p:txBody>
          <a:bodyPr anchorCtr="0" anchor="b" bIns="49500" lIns="99050" spcFirstLastPara="1" rIns="99050" wrap="square" tIns="495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fr-FR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9" name="Google Shape;119;p2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0" name="Google Shape;140;p3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0" name="Google Shape;160;p4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5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5" name="Google Shape;185;p5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6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0" name="Google Shape;210;p6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7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3" name="Google Shape;233;p7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seul" type="titleOnly">
  <p:cSld name="TITLE_ONL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/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9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9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9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e de titr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0"/>
          <p:cNvSpPr txBox="1"/>
          <p:nvPr>
            <p:ph type="ctrTitle"/>
          </p:nvPr>
        </p:nvSpPr>
        <p:spPr>
          <a:xfrm>
            <a:off x="857250" y="1621191"/>
            <a:ext cx="5143500" cy="34487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75"/>
              <a:buFont typeface="Calibri"/>
              <a:buNone/>
              <a:defRPr sz="3375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0"/>
          <p:cNvSpPr txBox="1"/>
          <p:nvPr>
            <p:ph idx="1" type="subTitle"/>
          </p:nvPr>
        </p:nvSpPr>
        <p:spPr>
          <a:xfrm>
            <a:off x="857250" y="5202944"/>
            <a:ext cx="5143500" cy="2391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56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1pPr>
            <a:lvl2pPr lvl="1" algn="ctr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5"/>
              <a:buNone/>
              <a:defRPr sz="1125"/>
            </a:lvl2pPr>
            <a:lvl3pPr lvl="2" algn="ctr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015"/>
              <a:buNone/>
              <a:defRPr sz="1014"/>
            </a:lvl3pPr>
            <a:lvl4pPr lvl="3" algn="ctr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lvl="4" algn="ctr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lvl="5" algn="ctr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lvl="6" algn="ctr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lvl="7" algn="ctr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lvl="8" algn="ctr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23" name="Google Shape;23;p10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0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0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1"/>
          <p:cNvSpPr txBox="1"/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1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11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1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1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de section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2"/>
          <p:cNvSpPr txBox="1"/>
          <p:nvPr>
            <p:ph type="title"/>
          </p:nvPr>
        </p:nvSpPr>
        <p:spPr>
          <a:xfrm>
            <a:off x="467916" y="2469622"/>
            <a:ext cx="5915025" cy="41206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75"/>
              <a:buFont typeface="Calibri"/>
              <a:buNone/>
              <a:defRPr sz="3375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2"/>
          <p:cNvSpPr txBox="1"/>
          <p:nvPr>
            <p:ph idx="1" type="body"/>
          </p:nvPr>
        </p:nvSpPr>
        <p:spPr>
          <a:xfrm>
            <a:off x="467916" y="6629225"/>
            <a:ext cx="5915025" cy="2166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125"/>
              <a:buNone/>
              <a:defRPr sz="1125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015"/>
              <a:buNone/>
              <a:defRPr sz="1014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12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2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2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ux contenus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3"/>
          <p:cNvSpPr txBox="1"/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3"/>
          <p:cNvSpPr txBox="1"/>
          <p:nvPr>
            <p:ph idx="1" type="body"/>
          </p:nvPr>
        </p:nvSpPr>
        <p:spPr>
          <a:xfrm>
            <a:off x="471488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13"/>
          <p:cNvSpPr txBox="1"/>
          <p:nvPr>
            <p:ph idx="2" type="body"/>
          </p:nvPr>
        </p:nvSpPr>
        <p:spPr>
          <a:xfrm>
            <a:off x="3471863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3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3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3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4"/>
          <p:cNvSpPr txBox="1"/>
          <p:nvPr>
            <p:ph type="title"/>
          </p:nvPr>
        </p:nvSpPr>
        <p:spPr>
          <a:xfrm>
            <a:off x="472381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4"/>
          <p:cNvSpPr txBox="1"/>
          <p:nvPr>
            <p:ph idx="1" type="body"/>
          </p:nvPr>
        </p:nvSpPr>
        <p:spPr>
          <a:xfrm>
            <a:off x="472381" y="2428347"/>
            <a:ext cx="2901255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1pPr>
            <a:lvl2pPr indent="-228600" lvl="1" marL="914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5"/>
              <a:buNone/>
              <a:defRPr b="1" sz="1125"/>
            </a:lvl2pPr>
            <a:lvl3pPr indent="-228600" lvl="2" marL="1371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015"/>
              <a:buNone/>
              <a:defRPr b="1" sz="1014"/>
            </a:lvl3pPr>
            <a:lvl4pPr indent="-228600" lvl="3" marL="1828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4pPr>
            <a:lvl5pPr indent="-228600" lvl="4" marL="22860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5pPr>
            <a:lvl6pPr indent="-228600" lvl="5" marL="27432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6pPr>
            <a:lvl7pPr indent="-228600" lvl="6" marL="3200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7pPr>
            <a:lvl8pPr indent="-228600" lvl="7" marL="3657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8pPr>
            <a:lvl9pPr indent="-228600" lvl="8" marL="4114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9pPr>
          </a:lstStyle>
          <a:p/>
        </p:txBody>
      </p:sp>
      <p:sp>
        <p:nvSpPr>
          <p:cNvPr id="48" name="Google Shape;48;p14"/>
          <p:cNvSpPr txBox="1"/>
          <p:nvPr>
            <p:ph idx="2" type="body"/>
          </p:nvPr>
        </p:nvSpPr>
        <p:spPr>
          <a:xfrm>
            <a:off x="472381" y="3618442"/>
            <a:ext cx="2901255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14"/>
          <p:cNvSpPr txBox="1"/>
          <p:nvPr>
            <p:ph idx="3" type="body"/>
          </p:nvPr>
        </p:nvSpPr>
        <p:spPr>
          <a:xfrm>
            <a:off x="3471863" y="2428347"/>
            <a:ext cx="2915543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1pPr>
            <a:lvl2pPr indent="-228600" lvl="1" marL="914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5"/>
              <a:buNone/>
              <a:defRPr b="1" sz="1125"/>
            </a:lvl2pPr>
            <a:lvl3pPr indent="-228600" lvl="2" marL="1371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015"/>
              <a:buNone/>
              <a:defRPr b="1" sz="1014"/>
            </a:lvl3pPr>
            <a:lvl4pPr indent="-228600" lvl="3" marL="1828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4pPr>
            <a:lvl5pPr indent="-228600" lvl="4" marL="22860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5pPr>
            <a:lvl6pPr indent="-228600" lvl="5" marL="27432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6pPr>
            <a:lvl7pPr indent="-228600" lvl="6" marL="3200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7pPr>
            <a:lvl8pPr indent="-228600" lvl="7" marL="3657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8pPr>
            <a:lvl9pPr indent="-228600" lvl="8" marL="4114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9pPr>
          </a:lstStyle>
          <a:p/>
        </p:txBody>
      </p:sp>
      <p:sp>
        <p:nvSpPr>
          <p:cNvPr id="50" name="Google Shape;50;p14"/>
          <p:cNvSpPr txBox="1"/>
          <p:nvPr>
            <p:ph idx="4" type="body"/>
          </p:nvPr>
        </p:nvSpPr>
        <p:spPr>
          <a:xfrm>
            <a:off x="3471863" y="3618442"/>
            <a:ext cx="2915543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14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4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de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5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 avec légende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 txBox="1"/>
          <p:nvPr>
            <p:ph type="title"/>
          </p:nvPr>
        </p:nvSpPr>
        <p:spPr>
          <a:xfrm>
            <a:off x="472381" y="660400"/>
            <a:ext cx="2211883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6"/>
          <p:cNvSpPr txBox="1"/>
          <p:nvPr>
            <p:ph idx="1" type="body"/>
          </p:nvPr>
        </p:nvSpPr>
        <p:spPr>
          <a:xfrm>
            <a:off x="2915543" y="1426281"/>
            <a:ext cx="3471863" cy="70396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8612" lvl="1" marL="914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575"/>
              <a:buChar char="•"/>
              <a:defRPr sz="1575"/>
            </a:lvl2pPr>
            <a:lvl3pPr indent="-314325" lvl="2" marL="1371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3pPr>
            <a:lvl4pPr indent="-300037" lvl="3" marL="1828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4pPr>
            <a:lvl5pPr indent="-300037" lvl="4" marL="22860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5pPr>
            <a:lvl6pPr indent="-300037" lvl="5" marL="27432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6pPr>
            <a:lvl7pPr indent="-300037" lvl="6" marL="3200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7pPr>
            <a:lvl8pPr indent="-300037" lvl="7" marL="3657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8pPr>
            <a:lvl9pPr indent="-300037" lvl="8" marL="4114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9pPr>
          </a:lstStyle>
          <a:p/>
        </p:txBody>
      </p:sp>
      <p:sp>
        <p:nvSpPr>
          <p:cNvPr id="61" name="Google Shape;61;p16"/>
          <p:cNvSpPr txBox="1"/>
          <p:nvPr>
            <p:ph idx="2" type="body"/>
          </p:nvPr>
        </p:nvSpPr>
        <p:spPr>
          <a:xfrm>
            <a:off x="472381" y="2971800"/>
            <a:ext cx="2211883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1pPr>
            <a:lvl2pPr indent="-228600" lvl="1" marL="914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790"/>
              <a:buNone/>
              <a:defRPr sz="790"/>
            </a:lvl2pPr>
            <a:lvl3pPr indent="-228600" lvl="2" marL="1371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3pPr>
            <a:lvl4pPr indent="-228600" lvl="3" marL="1828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565"/>
              <a:buNone/>
              <a:defRPr sz="565"/>
            </a:lvl4pPr>
            <a:lvl5pPr indent="-228600" lvl="4" marL="22860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565"/>
              <a:buNone/>
              <a:defRPr sz="565"/>
            </a:lvl5pPr>
            <a:lvl6pPr indent="-228600" lvl="5" marL="27432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565"/>
              <a:buNone/>
              <a:defRPr sz="565"/>
            </a:lvl6pPr>
            <a:lvl7pPr indent="-228600" lvl="6" marL="3200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565"/>
              <a:buNone/>
              <a:defRPr sz="565"/>
            </a:lvl7pPr>
            <a:lvl8pPr indent="-228600" lvl="7" marL="3657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565"/>
              <a:buNone/>
              <a:defRPr sz="565"/>
            </a:lvl8pPr>
            <a:lvl9pPr indent="-228600" lvl="8" marL="4114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565"/>
              <a:buNone/>
              <a:defRPr sz="565"/>
            </a:lvl9pPr>
          </a:lstStyle>
          <a:p/>
        </p:txBody>
      </p:sp>
      <p:sp>
        <p:nvSpPr>
          <p:cNvPr id="62" name="Google Shape;62;p16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avec légende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472381" y="660400"/>
            <a:ext cx="2211883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/>
          <p:nvPr>
            <p:ph idx="2" type="pic"/>
          </p:nvPr>
        </p:nvSpPr>
        <p:spPr>
          <a:xfrm>
            <a:off x="2915543" y="1426281"/>
            <a:ext cx="3471863" cy="7039681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472381" y="2971800"/>
            <a:ext cx="2211883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1pPr>
            <a:lvl2pPr indent="-228600" lvl="1" marL="914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790"/>
              <a:buNone/>
              <a:defRPr sz="790"/>
            </a:lvl2pPr>
            <a:lvl3pPr indent="-228600" lvl="2" marL="1371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3pPr>
            <a:lvl4pPr indent="-228600" lvl="3" marL="1828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565"/>
              <a:buNone/>
              <a:defRPr sz="565"/>
            </a:lvl4pPr>
            <a:lvl5pPr indent="-228600" lvl="4" marL="22860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565"/>
              <a:buNone/>
              <a:defRPr sz="565"/>
            </a:lvl5pPr>
            <a:lvl6pPr indent="-228600" lvl="5" marL="27432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565"/>
              <a:buNone/>
              <a:defRPr sz="565"/>
            </a:lvl6pPr>
            <a:lvl7pPr indent="-228600" lvl="6" marL="3200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565"/>
              <a:buNone/>
              <a:defRPr sz="565"/>
            </a:lvl7pPr>
            <a:lvl8pPr indent="-228600" lvl="7" marL="3657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565"/>
              <a:buNone/>
              <a:defRPr sz="565"/>
            </a:lvl8pPr>
            <a:lvl9pPr indent="-228600" lvl="8" marL="4114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565"/>
              <a:buNone/>
              <a:defRPr sz="565"/>
            </a:lvl9pPr>
          </a:lstStyle>
          <a:p/>
        </p:txBody>
      </p:sp>
      <p:sp>
        <p:nvSpPr>
          <p:cNvPr id="69" name="Google Shape;69;p17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texte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/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 rot="5400000">
            <a:off x="286367" y="2822135"/>
            <a:ext cx="6285266" cy="59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8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vertical et texte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/>
          <p:nvPr>
            <p:ph type="title"/>
          </p:nvPr>
        </p:nvSpPr>
        <p:spPr>
          <a:xfrm rot="5400000">
            <a:off x="1449695" y="3985464"/>
            <a:ext cx="8394877" cy="1478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9"/>
          <p:cNvSpPr txBox="1"/>
          <p:nvPr>
            <p:ph idx="1" type="body"/>
          </p:nvPr>
        </p:nvSpPr>
        <p:spPr>
          <a:xfrm rot="5400000">
            <a:off x="-1550679" y="2549570"/>
            <a:ext cx="8394877" cy="435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9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9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9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/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75"/>
              <a:buFont typeface="Calibri"/>
              <a:buNone/>
              <a:defRPr b="0" i="0" sz="247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8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8612" lvl="0" marL="457200" marR="0" rtl="0" algn="l">
              <a:lnSpc>
                <a:spcPct val="90000"/>
              </a:lnSpc>
              <a:spcBef>
                <a:spcPts val="565"/>
              </a:spcBef>
              <a:spcAft>
                <a:spcPts val="0"/>
              </a:spcAft>
              <a:buClr>
                <a:schemeClr val="dk1"/>
              </a:buClr>
              <a:buSzPts val="1575"/>
              <a:buFont typeface="Arial"/>
              <a:buChar char="•"/>
              <a:defRPr b="0" i="0" sz="157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4325" lvl="1" marL="914400" marR="0" rtl="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0037" lvl="2" marL="1371600" marR="0" rtl="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5"/>
              <a:buFont typeface="Arial"/>
              <a:buChar char="•"/>
              <a:defRPr b="0" i="0" sz="112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3052" lvl="3" marL="1828800" marR="0" rtl="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015"/>
              <a:buFont typeface="Arial"/>
              <a:buChar char="•"/>
              <a:defRPr b="0" i="0" sz="101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3052" lvl="4" marL="2286000" marR="0" rtl="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015"/>
              <a:buFont typeface="Arial"/>
              <a:buChar char="•"/>
              <a:defRPr b="0" i="0" sz="101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3052" lvl="5" marL="2743200" marR="0" rtl="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015"/>
              <a:buFont typeface="Arial"/>
              <a:buChar char="•"/>
              <a:defRPr b="0" i="0" sz="101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3052" lvl="6" marL="3200400" marR="0" rtl="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015"/>
              <a:buFont typeface="Arial"/>
              <a:buChar char="•"/>
              <a:defRPr b="0" i="0" sz="101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3052" lvl="7" marL="3657600" marR="0" rtl="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015"/>
              <a:buFont typeface="Arial"/>
              <a:buChar char="•"/>
              <a:defRPr b="0" i="0" sz="101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3052" lvl="8" marL="4114800" marR="0" rtl="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015"/>
              <a:buFont typeface="Arial"/>
              <a:buChar char="•"/>
              <a:defRPr b="0" i="0" sz="101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8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8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8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hyperlink" Target="#'33'!A1" TargetMode="External"/><Relationship Id="rId10" Type="http://schemas.openxmlformats.org/officeDocument/2006/relationships/image" Target="../media/image14.png"/><Relationship Id="rId13" Type="http://schemas.openxmlformats.org/officeDocument/2006/relationships/image" Target="../media/image21.png"/><Relationship Id="rId1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0.jpg"/><Relationship Id="rId9" Type="http://schemas.openxmlformats.org/officeDocument/2006/relationships/hyperlink" Target="#'7'!A1" TargetMode="External"/><Relationship Id="rId14" Type="http://schemas.openxmlformats.org/officeDocument/2006/relationships/image" Target="../media/image8.png"/><Relationship Id="rId5" Type="http://schemas.openxmlformats.org/officeDocument/2006/relationships/image" Target="../media/image3.png"/><Relationship Id="rId6" Type="http://schemas.openxmlformats.org/officeDocument/2006/relationships/image" Target="../media/image13.jpg"/><Relationship Id="rId7" Type="http://schemas.openxmlformats.org/officeDocument/2006/relationships/hyperlink" Target="#'3'!A1" TargetMode="External"/><Relationship Id="rId8" Type="http://schemas.openxmlformats.org/officeDocument/2006/relationships/image" Target="../media/image1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hyperlink" Target="#'33'!A1" TargetMode="External"/><Relationship Id="rId5" Type="http://schemas.openxmlformats.org/officeDocument/2006/relationships/image" Target="../media/image12.png"/><Relationship Id="rId6" Type="http://schemas.openxmlformats.org/officeDocument/2006/relationships/image" Target="../media/image2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6.jpg"/><Relationship Id="rId5" Type="http://schemas.openxmlformats.org/officeDocument/2006/relationships/image" Target="../media/image25.png"/><Relationship Id="rId6" Type="http://schemas.openxmlformats.org/officeDocument/2006/relationships/hyperlink" Target="#'33'!A1" TargetMode="External"/><Relationship Id="rId7" Type="http://schemas.openxmlformats.org/officeDocument/2006/relationships/image" Target="../media/image12.png"/><Relationship Id="rId8" Type="http://schemas.openxmlformats.org/officeDocument/2006/relationships/image" Target="../media/image21.png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21.png"/><Relationship Id="rId10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9" Type="http://schemas.openxmlformats.org/officeDocument/2006/relationships/hyperlink" Target="#'33'!A1" TargetMode="External"/><Relationship Id="rId5" Type="http://schemas.openxmlformats.org/officeDocument/2006/relationships/image" Target="../media/image17.jpg"/><Relationship Id="rId6" Type="http://schemas.openxmlformats.org/officeDocument/2006/relationships/image" Target="../media/image22.jpg"/><Relationship Id="rId7" Type="http://schemas.openxmlformats.org/officeDocument/2006/relationships/hyperlink" Target="#'3'!A1" TargetMode="External"/><Relationship Id="rId8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1" Type="http://schemas.openxmlformats.org/officeDocument/2006/relationships/image" Target="../media/image21.png"/><Relationship Id="rId10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0.png"/><Relationship Id="rId9" Type="http://schemas.openxmlformats.org/officeDocument/2006/relationships/hyperlink" Target="#'33'!A1" TargetMode="External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8.png"/><Relationship Id="rId8" Type="http://schemas.openxmlformats.org/officeDocument/2006/relationships/image" Target="../media/image3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6.png"/><Relationship Id="rId5" Type="http://schemas.openxmlformats.org/officeDocument/2006/relationships/image" Target="../media/image24.png"/><Relationship Id="rId6" Type="http://schemas.openxmlformats.org/officeDocument/2006/relationships/hyperlink" Target="#'33'!A1" TargetMode="External"/><Relationship Id="rId7" Type="http://schemas.openxmlformats.org/officeDocument/2006/relationships/image" Target="../media/image12.png"/><Relationship Id="rId8" Type="http://schemas.openxmlformats.org/officeDocument/2006/relationships/image" Target="../media/image21.png"/></Relationships>
</file>

<file path=ppt/slides/_rels/slide7.xml.rels><?xml version="1.0" encoding="UTF-8" standalone="yes"?><Relationships xmlns="http://schemas.openxmlformats.org/package/2006/relationships"><Relationship Id="rId11" Type="http://schemas.openxmlformats.org/officeDocument/2006/relationships/image" Target="../media/image21.png"/><Relationship Id="rId10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6.png"/><Relationship Id="rId9" Type="http://schemas.openxmlformats.org/officeDocument/2006/relationships/hyperlink" Target="#'33'!A1" TargetMode="External"/><Relationship Id="rId5" Type="http://schemas.openxmlformats.org/officeDocument/2006/relationships/image" Target="../media/image28.png"/><Relationship Id="rId6" Type="http://schemas.openxmlformats.org/officeDocument/2006/relationships/image" Target="../media/image31.png"/><Relationship Id="rId7" Type="http://schemas.openxmlformats.org/officeDocument/2006/relationships/image" Target="../media/image30.png"/><Relationship Id="rId8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0" y="972075"/>
            <a:ext cx="6732802" cy="8385904"/>
          </a:xfrm>
          <a:prstGeom prst="rect">
            <a:avLst/>
          </a:prstGeom>
          <a:solidFill>
            <a:srgbClr val="2F5496"/>
          </a:solidFill>
          <a:ln cap="flat" cmpd="sng" w="25400">
            <a:solidFill>
              <a:srgbClr val="8DA9D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²</a:t>
            </a:r>
            <a:endParaRPr/>
          </a:p>
        </p:txBody>
      </p:sp>
      <p:sp>
        <p:nvSpPr>
          <p:cNvPr id="89" name="Google Shape;89;p1"/>
          <p:cNvSpPr txBox="1"/>
          <p:nvPr/>
        </p:nvSpPr>
        <p:spPr>
          <a:xfrm>
            <a:off x="5461689" y="9642688"/>
            <a:ext cx="1388522" cy="2000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FICHE PRODUIT MARS 2014</a:t>
            </a:r>
            <a:endParaRPr/>
          </a:p>
        </p:txBody>
      </p:sp>
      <p:sp>
        <p:nvSpPr>
          <p:cNvPr id="90" name="Google Shape;90;p1"/>
          <p:cNvSpPr/>
          <p:nvPr/>
        </p:nvSpPr>
        <p:spPr>
          <a:xfrm>
            <a:off x="1987886" y="1258563"/>
            <a:ext cx="3759200" cy="1463934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323F4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0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Une complémentaire santé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</a:t>
            </a:r>
            <a:r>
              <a:rPr b="1" lang="fr-FR" sz="20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via</a:t>
            </a: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Contrat responsable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2463800" y="2847597"/>
            <a:ext cx="3759200" cy="1463934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</a:t>
            </a:r>
            <a:r>
              <a:rPr b="1" lang="fr-FR" sz="20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Un Réseau de soins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des  professionnels  de santé pour des    équipements de qualité à prix réduit</a:t>
            </a:r>
            <a:endParaRPr/>
          </a:p>
        </p:txBody>
      </p:sp>
      <p:sp>
        <p:nvSpPr>
          <p:cNvPr id="92" name="Google Shape;92;p1"/>
          <p:cNvSpPr/>
          <p:nvPr/>
        </p:nvSpPr>
        <p:spPr>
          <a:xfrm>
            <a:off x="2841625" y="4500433"/>
            <a:ext cx="3759200" cy="1463934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0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   Un Tiers payant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Un tiers payant national, qui vous évite d’avancer les frais médicaux.</a:t>
            </a:r>
            <a:endParaRPr/>
          </a:p>
        </p:txBody>
      </p:sp>
      <p:sp>
        <p:nvSpPr>
          <p:cNvPr id="93" name="Google Shape;93;p1"/>
          <p:cNvSpPr/>
          <p:nvPr/>
        </p:nvSpPr>
        <p:spPr>
          <a:xfrm>
            <a:off x="2463800" y="6116167"/>
            <a:ext cx="3759200" cy="1463934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</a:t>
            </a:r>
            <a:r>
              <a:rPr b="1" lang="fr-FR" sz="20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Une assistance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</a:t>
            </a:r>
            <a:r>
              <a:rPr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 service haut de gamme 24h/24, 7j/7 pour vous accompagner en cas de coup dur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4" name="Google Shape;94;p1"/>
          <p:cNvGrpSpPr/>
          <p:nvPr/>
        </p:nvGrpSpPr>
        <p:grpSpPr>
          <a:xfrm>
            <a:off x="2045763" y="1579801"/>
            <a:ext cx="976837" cy="1010393"/>
            <a:chOff x="2109263" y="1465142"/>
            <a:chExt cx="976837" cy="1010393"/>
          </a:xfrm>
        </p:grpSpPr>
        <p:sp>
          <p:nvSpPr>
            <p:cNvPr id="95" name="Google Shape;95;p1"/>
            <p:cNvSpPr/>
            <p:nvPr/>
          </p:nvSpPr>
          <p:spPr>
            <a:xfrm>
              <a:off x="2109263" y="1465142"/>
              <a:ext cx="976837" cy="1010393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Modèle Logo Santé Et Forme Physique Logo Médical | PosterMyWall" id="96" name="Google Shape;96;p1"/>
            <p:cNvPicPr preferRelativeResize="0"/>
            <p:nvPr/>
          </p:nvPicPr>
          <p:blipFill rotWithShape="1">
            <a:blip r:embed="rId3">
              <a:alphaModFix/>
            </a:blip>
            <a:srcRect b="24816" l="23299" r="27063" t="11936"/>
            <a:stretch/>
          </p:blipFill>
          <p:spPr>
            <a:xfrm>
              <a:off x="2311520" y="1585367"/>
              <a:ext cx="596138" cy="75958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7" name="Google Shape;97;p1"/>
          <p:cNvGrpSpPr/>
          <p:nvPr/>
        </p:nvGrpSpPr>
        <p:grpSpPr>
          <a:xfrm>
            <a:off x="2524885" y="3065751"/>
            <a:ext cx="976837" cy="1010393"/>
            <a:chOff x="2548471" y="3049424"/>
            <a:chExt cx="976837" cy="1010393"/>
          </a:xfrm>
        </p:grpSpPr>
        <p:sp>
          <p:nvSpPr>
            <p:cNvPr id="98" name="Google Shape;98;p1"/>
            <p:cNvSpPr/>
            <p:nvPr/>
          </p:nvSpPr>
          <p:spPr>
            <a:xfrm>
              <a:off x="2548471" y="3049424"/>
              <a:ext cx="976837" cy="1010393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Réseaux de soins et de professionnels - Uneoreilleavertie.com" id="99" name="Google Shape;99;p1"/>
            <p:cNvPicPr preferRelativeResize="0"/>
            <p:nvPr/>
          </p:nvPicPr>
          <p:blipFill rotWithShape="1">
            <a:blip r:embed="rId4">
              <a:alphaModFix/>
            </a:blip>
            <a:srcRect b="17480" l="6110" r="8264" t="12370"/>
            <a:stretch/>
          </p:blipFill>
          <p:spPr>
            <a:xfrm>
              <a:off x="2693612" y="3280574"/>
              <a:ext cx="670266" cy="57719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0" name="Google Shape;100;p1"/>
          <p:cNvGrpSpPr/>
          <p:nvPr/>
        </p:nvGrpSpPr>
        <p:grpSpPr>
          <a:xfrm>
            <a:off x="2911326" y="4743824"/>
            <a:ext cx="976837" cy="1010393"/>
            <a:chOff x="2693612" y="4712978"/>
            <a:chExt cx="976837" cy="1010393"/>
          </a:xfrm>
        </p:grpSpPr>
        <p:sp>
          <p:nvSpPr>
            <p:cNvPr id="101" name="Google Shape;101;p1"/>
            <p:cNvSpPr/>
            <p:nvPr/>
          </p:nvSpPr>
          <p:spPr>
            <a:xfrm>
              <a:off x="2693612" y="4712978"/>
              <a:ext cx="976837" cy="1010393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Tiers payant : qu'est-ce que c'est et comment l'obtenir ?" id="102" name="Google Shape;102;p1"/>
            <p:cNvPicPr preferRelativeResize="0"/>
            <p:nvPr/>
          </p:nvPicPr>
          <p:blipFill rotWithShape="1">
            <a:blip r:embed="rId5">
              <a:alphaModFix/>
            </a:blip>
            <a:srcRect b="4848" l="19237" r="29792" t="4849"/>
            <a:stretch/>
          </p:blipFill>
          <p:spPr>
            <a:xfrm>
              <a:off x="2862942" y="4910684"/>
              <a:ext cx="638175" cy="59604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3" name="Google Shape;103;p1"/>
          <p:cNvGrpSpPr/>
          <p:nvPr/>
        </p:nvGrpSpPr>
        <p:grpSpPr>
          <a:xfrm>
            <a:off x="2544746" y="6360928"/>
            <a:ext cx="976837" cy="1010393"/>
            <a:chOff x="2566518" y="6340968"/>
            <a:chExt cx="976837" cy="1010393"/>
          </a:xfrm>
        </p:grpSpPr>
        <p:sp>
          <p:nvSpPr>
            <p:cNvPr id="104" name="Google Shape;104;p1"/>
            <p:cNvSpPr/>
            <p:nvPr/>
          </p:nvSpPr>
          <p:spPr>
            <a:xfrm>
              <a:off x="2566518" y="6340968"/>
              <a:ext cx="976837" cy="1010393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Assistance and protection logo work people sign Vector Image" id="105" name="Google Shape;105;p1"/>
            <p:cNvPicPr preferRelativeResize="0"/>
            <p:nvPr/>
          </p:nvPicPr>
          <p:blipFill rotWithShape="1">
            <a:blip r:embed="rId6">
              <a:alphaModFix/>
            </a:blip>
            <a:srcRect b="31895" l="20105" r="19154" t="9307"/>
            <a:stretch/>
          </p:blipFill>
          <p:spPr>
            <a:xfrm>
              <a:off x="2781449" y="6523581"/>
              <a:ext cx="577433" cy="60373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6" name="Google Shape;106;p1"/>
          <p:cNvSpPr/>
          <p:nvPr/>
        </p:nvSpPr>
        <p:spPr>
          <a:xfrm>
            <a:off x="-4107550" y="953182"/>
            <a:ext cx="6446849" cy="8404797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"/>
          <p:cNvSpPr/>
          <p:nvPr/>
        </p:nvSpPr>
        <p:spPr>
          <a:xfrm>
            <a:off x="-240074" y="2351314"/>
            <a:ext cx="2488094" cy="5506457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Une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solution intégrale </a:t>
            </a: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Pour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les 18-85 ans</a:t>
            </a:r>
            <a:endParaRPr/>
          </a:p>
        </p:txBody>
      </p:sp>
      <p:pic>
        <p:nvPicPr>
          <p:cNvPr id="108" name="Google Shape;108;p1">
            <a:hlinkClick r:id="rId7"/>
          </p:cNvPr>
          <p:cNvPicPr preferRelativeResize="0"/>
          <p:nvPr/>
        </p:nvPicPr>
        <p:blipFill rotWithShape="1">
          <a:blip r:embed="rId8">
            <a:alphaModFix/>
          </a:blip>
          <a:srcRect b="21179" l="5068" r="7825" t="23731"/>
          <a:stretch/>
        </p:blipFill>
        <p:spPr>
          <a:xfrm>
            <a:off x="4553624" y="3256548"/>
            <a:ext cx="1045823" cy="5395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">
            <a:hlinkClick r:id="rId9"/>
          </p:cNvPr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032342" y="4932045"/>
            <a:ext cx="828603" cy="61345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0" name="Google Shape;110;p1"/>
          <p:cNvGrpSpPr/>
          <p:nvPr/>
        </p:nvGrpSpPr>
        <p:grpSpPr>
          <a:xfrm>
            <a:off x="101600" y="93434"/>
            <a:ext cx="6686550" cy="628650"/>
            <a:chOff x="101600" y="93434"/>
            <a:chExt cx="6686550" cy="628650"/>
          </a:xfrm>
        </p:grpSpPr>
        <p:grpSp>
          <p:nvGrpSpPr>
            <p:cNvPr id="111" name="Google Shape;111;p1"/>
            <p:cNvGrpSpPr/>
            <p:nvPr/>
          </p:nvGrpSpPr>
          <p:grpSpPr>
            <a:xfrm>
              <a:off x="101600" y="93434"/>
              <a:ext cx="6686550" cy="628650"/>
              <a:chOff x="101600" y="93434"/>
              <a:chExt cx="6686550" cy="628650"/>
            </a:xfrm>
          </p:grpSpPr>
          <p:sp>
            <p:nvSpPr>
              <p:cNvPr id="112" name="Google Shape;112;p1"/>
              <p:cNvSpPr/>
              <p:nvPr/>
            </p:nvSpPr>
            <p:spPr>
              <a:xfrm>
                <a:off x="101600" y="93434"/>
                <a:ext cx="6686550" cy="628650"/>
              </a:xfrm>
              <a:prstGeom prst="roundRect">
                <a:avLst>
                  <a:gd fmla="val 16667" name="adj"/>
                </a:avLst>
              </a:prstGeom>
              <a:solidFill>
                <a:schemeClr val="lt1"/>
              </a:solidFill>
              <a:ln cap="flat" cmpd="sng" w="44450">
                <a:solidFill>
                  <a:srgbClr val="2F549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fr-FR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INFINITY  by                                        assuré par                                 </a:t>
                </a:r>
                <a:endParaRPr/>
              </a:p>
            </p:txBody>
          </p:sp>
          <p:pic>
            <p:nvPicPr>
              <p:cNvPr id="113" name="Google Shape;113;p1">
                <a:hlinkClick r:id="rId11"/>
              </p:cNvPr>
              <p:cNvPicPr preferRelativeResize="0"/>
              <p:nvPr/>
            </p:nvPicPr>
            <p:blipFill rotWithShape="1">
              <a:blip r:embed="rId12">
                <a:alphaModFix/>
              </a:blip>
              <a:srcRect b="38276" l="15962" r="43629" t="37796"/>
              <a:stretch/>
            </p:blipFill>
            <p:spPr>
              <a:xfrm>
                <a:off x="2242940" y="160332"/>
                <a:ext cx="999216" cy="48251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114" name="Google Shape;114;p1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5516245" y="158115"/>
              <a:ext cx="1084580" cy="4572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15" name="Google Shape;115;p1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3947795" y="1701800"/>
            <a:ext cx="1651000" cy="6959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4667250" y="6486525"/>
            <a:ext cx="1193800" cy="6489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"/>
          <p:cNvSpPr/>
          <p:nvPr/>
        </p:nvSpPr>
        <p:spPr>
          <a:xfrm>
            <a:off x="329746" y="2894441"/>
            <a:ext cx="6198508" cy="385430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Une adhésion rapide en ligne avec la signature électronique</a:t>
            </a:r>
            <a:endParaRPr/>
          </a:p>
        </p:txBody>
      </p:sp>
      <p:sp>
        <p:nvSpPr>
          <p:cNvPr id="122" name="Google Shape;122;p2"/>
          <p:cNvSpPr/>
          <p:nvPr/>
        </p:nvSpPr>
        <p:spPr>
          <a:xfrm>
            <a:off x="348343" y="3377037"/>
            <a:ext cx="6198508" cy="541482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Une reprise à la concurrence facilitée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-FR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avec la prise en charge de l’envoi de la résiliation en cas de RIA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2"/>
          <p:cNvSpPr/>
          <p:nvPr/>
        </p:nvSpPr>
        <p:spPr>
          <a:xfrm>
            <a:off x="348343" y="4672419"/>
            <a:ext cx="6198508" cy="391882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11 professions éligibles pour le poste médecine naturelle</a:t>
            </a:r>
            <a:endParaRPr/>
          </a:p>
        </p:txBody>
      </p:sp>
      <p:sp>
        <p:nvSpPr>
          <p:cNvPr id="124" name="Google Shape;124;p2"/>
          <p:cNvSpPr/>
          <p:nvPr/>
        </p:nvSpPr>
        <p:spPr>
          <a:xfrm>
            <a:off x="329746" y="5165905"/>
            <a:ext cx="6198508" cy="562102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Une application mobile SG SANTÉ </a:t>
            </a:r>
            <a:r>
              <a:rPr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pour vous tenir informé EN QUELQUES SECONDES </a:t>
            </a:r>
            <a:endParaRPr/>
          </a:p>
        </p:txBody>
      </p:sp>
      <p:sp>
        <p:nvSpPr>
          <p:cNvPr id="125" name="Google Shape;125;p2"/>
          <p:cNvSpPr/>
          <p:nvPr/>
        </p:nvSpPr>
        <p:spPr>
          <a:xfrm>
            <a:off x="348343" y="6964679"/>
            <a:ext cx="6198508" cy="809381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L’accès au réseau de soins Santéclair,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 soins moins onéreux et de qualité, de meilleurs remboursements, des tarifs spécialement négociés auprès de professionnels sélectionnés pour leur expertise et leurs compétences</a:t>
            </a:r>
            <a:endParaRPr/>
          </a:p>
        </p:txBody>
      </p:sp>
      <p:sp>
        <p:nvSpPr>
          <p:cNvPr id="126" name="Google Shape;126;p2"/>
          <p:cNvSpPr/>
          <p:nvPr/>
        </p:nvSpPr>
        <p:spPr>
          <a:xfrm>
            <a:off x="348343" y="7882414"/>
            <a:ext cx="6198508" cy="1503336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L’assistance Mutuaide en inclusion </a:t>
            </a:r>
            <a:r>
              <a:rPr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fr-FR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 réseau de 10 000 prestataires en France pour un maillage territoriale optimal. Des experts de l’assistance disponibles 7j/7, 24h/24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 garanties haut de gamme </a:t>
            </a:r>
            <a:r>
              <a:rPr lang="fr-FR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en inclusion sur mesure pour les seniors: téléconsultations, accompagnement maladie chronique,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port de médicaments ...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7" name="Google Shape;127;p2"/>
          <p:cNvGrpSpPr/>
          <p:nvPr/>
        </p:nvGrpSpPr>
        <p:grpSpPr>
          <a:xfrm>
            <a:off x="1248230" y="945460"/>
            <a:ext cx="5215617" cy="1038433"/>
            <a:chOff x="1248230" y="945460"/>
            <a:chExt cx="5215617" cy="1038433"/>
          </a:xfrm>
        </p:grpSpPr>
        <p:sp>
          <p:nvSpPr>
            <p:cNvPr id="128" name="Google Shape;128;p2"/>
            <p:cNvSpPr txBox="1"/>
            <p:nvPr/>
          </p:nvSpPr>
          <p:spPr>
            <a:xfrm>
              <a:off x="2283732" y="1029786"/>
              <a:ext cx="4180115" cy="9541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Pourquoi choisir Wazari INFINITY ?</a:t>
              </a:r>
              <a:endParaRPr/>
            </a:p>
          </p:txBody>
        </p:sp>
        <p:pic>
          <p:nvPicPr>
            <p:cNvPr descr="Bonne idée - Icônes commercialisation gratuites" id="129" name="Google Shape;129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48230" y="945460"/>
              <a:ext cx="1035502" cy="103550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0" name="Google Shape;130;p2"/>
          <p:cNvSpPr/>
          <p:nvPr/>
        </p:nvSpPr>
        <p:spPr>
          <a:xfrm>
            <a:off x="329746" y="2120838"/>
            <a:ext cx="6198508" cy="685061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Infinity, Des tarifs négociés au plus juste</a:t>
            </a:r>
            <a:endParaRPr/>
          </a:p>
        </p:txBody>
      </p:sp>
      <p:grpSp>
        <p:nvGrpSpPr>
          <p:cNvPr id="131" name="Google Shape;131;p2"/>
          <p:cNvGrpSpPr/>
          <p:nvPr/>
        </p:nvGrpSpPr>
        <p:grpSpPr>
          <a:xfrm>
            <a:off x="101600" y="93434"/>
            <a:ext cx="6686550" cy="628650"/>
            <a:chOff x="101600" y="93434"/>
            <a:chExt cx="6686550" cy="628650"/>
          </a:xfrm>
        </p:grpSpPr>
        <p:grpSp>
          <p:nvGrpSpPr>
            <p:cNvPr id="132" name="Google Shape;132;p2"/>
            <p:cNvGrpSpPr/>
            <p:nvPr/>
          </p:nvGrpSpPr>
          <p:grpSpPr>
            <a:xfrm>
              <a:off x="101600" y="93434"/>
              <a:ext cx="6686550" cy="628650"/>
              <a:chOff x="101600" y="93434"/>
              <a:chExt cx="6686550" cy="628650"/>
            </a:xfrm>
          </p:grpSpPr>
          <p:sp>
            <p:nvSpPr>
              <p:cNvPr id="133" name="Google Shape;133;p2"/>
              <p:cNvSpPr/>
              <p:nvPr/>
            </p:nvSpPr>
            <p:spPr>
              <a:xfrm>
                <a:off x="101600" y="93434"/>
                <a:ext cx="6686550" cy="628650"/>
              </a:xfrm>
              <a:prstGeom prst="roundRect">
                <a:avLst>
                  <a:gd fmla="val 16667" name="adj"/>
                </a:avLst>
              </a:prstGeom>
              <a:solidFill>
                <a:schemeClr val="lt1"/>
              </a:solidFill>
              <a:ln cap="flat" cmpd="sng" w="44450">
                <a:solidFill>
                  <a:srgbClr val="2F549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fr-FR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INFINITY  by                                        assuré par                                 </a:t>
                </a:r>
                <a:endParaRPr/>
              </a:p>
            </p:txBody>
          </p:sp>
          <p:pic>
            <p:nvPicPr>
              <p:cNvPr id="134" name="Google Shape;134;p2">
                <a:hlinkClick r:id="rId4"/>
              </p:cNvPr>
              <p:cNvPicPr preferRelativeResize="0"/>
              <p:nvPr/>
            </p:nvPicPr>
            <p:blipFill rotWithShape="1">
              <a:blip r:embed="rId5">
                <a:alphaModFix/>
              </a:blip>
              <a:srcRect b="38276" l="15962" r="43629" t="37796"/>
              <a:stretch/>
            </p:blipFill>
            <p:spPr>
              <a:xfrm>
                <a:off x="2242940" y="160332"/>
                <a:ext cx="999216" cy="48251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135" name="Google Shape;135;p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516245" y="158115"/>
              <a:ext cx="1084580" cy="4572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6" name="Google Shape;136;p2"/>
          <p:cNvSpPr/>
          <p:nvPr/>
        </p:nvSpPr>
        <p:spPr>
          <a:xfrm>
            <a:off x="348343" y="4042571"/>
            <a:ext cx="6198508" cy="541482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Une gamme 100% santé avec zéro reste àcharge</a:t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2"/>
          <p:cNvSpPr/>
          <p:nvPr/>
        </p:nvSpPr>
        <p:spPr>
          <a:xfrm>
            <a:off x="348343" y="5918679"/>
            <a:ext cx="6198508" cy="809381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L’accés à la téléconsultation en ligne 24h/24 et 7j/7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outon Logo Les Dents - Images vectorielles gratuites sur Pixabay - Pixabay" id="142" name="Google Shape;14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9462" y="14272152"/>
            <a:ext cx="49067" cy="49067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3"/>
          <p:cNvSpPr txBox="1"/>
          <p:nvPr/>
        </p:nvSpPr>
        <p:spPr>
          <a:xfrm>
            <a:off x="2015902" y="1219720"/>
            <a:ext cx="418011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4" name="Google Shape;144;p3"/>
          <p:cNvGrpSpPr/>
          <p:nvPr/>
        </p:nvGrpSpPr>
        <p:grpSpPr>
          <a:xfrm>
            <a:off x="602011" y="1637741"/>
            <a:ext cx="5150068" cy="1200329"/>
            <a:chOff x="925599" y="1029786"/>
            <a:chExt cx="5150068" cy="1200329"/>
          </a:xfrm>
        </p:grpSpPr>
        <p:pic>
          <p:nvPicPr>
            <p:cNvPr descr="ajuster la conception de l'icône créative 15456496 Art vectoriel chez  Vecteezy" id="145" name="Google Shape;145;p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25599" y="1152972"/>
              <a:ext cx="1408933" cy="103256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6" name="Google Shape;146;p3"/>
            <p:cNvSpPr txBox="1"/>
            <p:nvPr/>
          </p:nvSpPr>
          <p:spPr>
            <a:xfrm>
              <a:off x="2283733" y="1029786"/>
              <a:ext cx="3791934" cy="12003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2400">
                  <a:solidFill>
                    <a:srgbClr val="0070C0"/>
                  </a:solidFill>
                  <a:latin typeface="Calibri"/>
                  <a:ea typeface="Calibri"/>
                  <a:cs typeface="Calibri"/>
                  <a:sym typeface="Calibri"/>
                </a:rPr>
                <a:t>Eco+, vous donne la possibilité de réduire votre cotisation</a:t>
              </a:r>
              <a:endParaRPr/>
            </a:p>
          </p:txBody>
        </p:sp>
      </p:grpSp>
      <p:grpSp>
        <p:nvGrpSpPr>
          <p:cNvPr id="147" name="Google Shape;147;p3"/>
          <p:cNvGrpSpPr/>
          <p:nvPr/>
        </p:nvGrpSpPr>
        <p:grpSpPr>
          <a:xfrm>
            <a:off x="1509022" y="4183113"/>
            <a:ext cx="4694179" cy="1091998"/>
            <a:chOff x="2024458" y="4953000"/>
            <a:chExt cx="4694179" cy="1091998"/>
          </a:xfrm>
        </p:grpSpPr>
        <p:sp>
          <p:nvSpPr>
            <p:cNvPr id="148" name="Google Shape;148;p3"/>
            <p:cNvSpPr txBox="1"/>
            <p:nvPr/>
          </p:nvSpPr>
          <p:spPr>
            <a:xfrm>
              <a:off x="2024458" y="5036832"/>
              <a:ext cx="4605216" cy="7078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2000">
                  <a:solidFill>
                    <a:srgbClr val="2F5496"/>
                  </a:solidFill>
                  <a:latin typeface="Calibri"/>
                  <a:ea typeface="Calibri"/>
                  <a:cs typeface="Calibri"/>
                  <a:sym typeface="Calibri"/>
                </a:rPr>
                <a:t>Avec les options « Éco » 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2000">
                  <a:solidFill>
                    <a:srgbClr val="2F5496"/>
                  </a:solidFill>
                  <a:latin typeface="Calibri"/>
                  <a:ea typeface="Calibri"/>
                  <a:cs typeface="Calibri"/>
                  <a:sym typeface="Calibri"/>
                </a:rPr>
                <a:t>5 % de réduction</a:t>
              </a:r>
              <a:endParaRPr/>
            </a:p>
          </p:txBody>
        </p:sp>
        <p:pic>
          <p:nvPicPr>
            <p:cNvPr descr="Illustration Vectorielle Sac De Banque Vert Avec Signe Dollar Argent  Comptant Symbole De L'économie Bancaire | Vecteur Premium" id="149" name="Google Shape;149;p3"/>
            <p:cNvPicPr preferRelativeResize="0"/>
            <p:nvPr/>
          </p:nvPicPr>
          <p:blipFill rotWithShape="1">
            <a:blip r:embed="rId5">
              <a:alphaModFix/>
            </a:blip>
            <a:srcRect b="14167" l="19530" r="18885" t="12806"/>
            <a:stretch/>
          </p:blipFill>
          <p:spPr>
            <a:xfrm>
              <a:off x="5797719" y="4953000"/>
              <a:ext cx="920918" cy="109199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0" name="Google Shape;150;p3"/>
          <p:cNvGrpSpPr/>
          <p:nvPr/>
        </p:nvGrpSpPr>
        <p:grpSpPr>
          <a:xfrm>
            <a:off x="692668" y="6273877"/>
            <a:ext cx="5472664" cy="830997"/>
            <a:chOff x="2463800" y="6214899"/>
            <a:chExt cx="5108106" cy="830997"/>
          </a:xfrm>
        </p:grpSpPr>
        <p:sp>
          <p:nvSpPr>
            <p:cNvPr id="151" name="Google Shape;151;p3"/>
            <p:cNvSpPr txBox="1"/>
            <p:nvPr/>
          </p:nvSpPr>
          <p:spPr>
            <a:xfrm>
              <a:off x="3779972" y="6214899"/>
              <a:ext cx="3791934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Garanties exclues :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suppression de la chambre particulière et médicaments non remboursés par le RO). </a:t>
              </a:r>
              <a:endParaRPr/>
            </a:p>
          </p:txBody>
        </p:sp>
        <p:sp>
          <p:nvSpPr>
            <p:cNvPr id="152" name="Google Shape;152;p3"/>
            <p:cNvSpPr/>
            <p:nvPr/>
          </p:nvSpPr>
          <p:spPr>
            <a:xfrm>
              <a:off x="2463800" y="6266685"/>
              <a:ext cx="1316172" cy="692196"/>
            </a:xfrm>
            <a:prstGeom prst="rect">
              <a:avLst/>
            </a:prstGeom>
            <a:solidFill>
              <a:srgbClr val="92D050"/>
            </a:solidFill>
            <a:ln cap="flat" cmpd="sng" w="12700">
              <a:solidFill>
                <a:srgbClr val="92D05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Option ÉCO 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-5%</a:t>
              </a:r>
              <a:endParaRPr/>
            </a:p>
          </p:txBody>
        </p:sp>
      </p:grpSp>
      <p:grpSp>
        <p:nvGrpSpPr>
          <p:cNvPr id="153" name="Google Shape;153;p3"/>
          <p:cNvGrpSpPr/>
          <p:nvPr/>
        </p:nvGrpSpPr>
        <p:grpSpPr>
          <a:xfrm>
            <a:off x="101600" y="93434"/>
            <a:ext cx="6686550" cy="628650"/>
            <a:chOff x="101600" y="93434"/>
            <a:chExt cx="6686550" cy="628650"/>
          </a:xfrm>
        </p:grpSpPr>
        <p:grpSp>
          <p:nvGrpSpPr>
            <p:cNvPr id="154" name="Google Shape;154;p3"/>
            <p:cNvGrpSpPr/>
            <p:nvPr/>
          </p:nvGrpSpPr>
          <p:grpSpPr>
            <a:xfrm>
              <a:off x="101600" y="93434"/>
              <a:ext cx="6686550" cy="628650"/>
              <a:chOff x="101600" y="93434"/>
              <a:chExt cx="6686550" cy="628650"/>
            </a:xfrm>
          </p:grpSpPr>
          <p:sp>
            <p:nvSpPr>
              <p:cNvPr id="155" name="Google Shape;155;p3"/>
              <p:cNvSpPr/>
              <p:nvPr/>
            </p:nvSpPr>
            <p:spPr>
              <a:xfrm>
                <a:off x="101600" y="93434"/>
                <a:ext cx="6686550" cy="628650"/>
              </a:xfrm>
              <a:prstGeom prst="roundRect">
                <a:avLst>
                  <a:gd fmla="val 16667" name="adj"/>
                </a:avLst>
              </a:prstGeom>
              <a:solidFill>
                <a:schemeClr val="lt1"/>
              </a:solidFill>
              <a:ln cap="flat" cmpd="sng" w="44450">
                <a:solidFill>
                  <a:srgbClr val="2F549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fr-FR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INFINITY  by                                        assuré par                                 </a:t>
                </a:r>
                <a:endParaRPr/>
              </a:p>
            </p:txBody>
          </p:sp>
          <p:pic>
            <p:nvPicPr>
              <p:cNvPr id="156" name="Google Shape;156;p3">
                <a:hlinkClick r:id="rId6"/>
              </p:cNvPr>
              <p:cNvPicPr preferRelativeResize="0"/>
              <p:nvPr/>
            </p:nvPicPr>
            <p:blipFill rotWithShape="1">
              <a:blip r:embed="rId7">
                <a:alphaModFix/>
              </a:blip>
              <a:srcRect b="38276" l="15962" r="43629" t="37796"/>
              <a:stretch/>
            </p:blipFill>
            <p:spPr>
              <a:xfrm>
                <a:off x="2242940" y="160332"/>
                <a:ext cx="999216" cy="48251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157" name="Google Shape;157;p3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5516245" y="158115"/>
              <a:ext cx="1084580" cy="4572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outon Logo Les Dents - Images vectorielles gratuites sur Pixabay - Pixabay" id="162" name="Google Shape;16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9462" y="14272152"/>
            <a:ext cx="49067" cy="4906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3" name="Google Shape;163;p4"/>
          <p:cNvGrpSpPr/>
          <p:nvPr/>
        </p:nvGrpSpPr>
        <p:grpSpPr>
          <a:xfrm>
            <a:off x="13524" y="2264276"/>
            <a:ext cx="6653977" cy="1600438"/>
            <a:chOff x="343724" y="2264276"/>
            <a:chExt cx="6464611" cy="1600438"/>
          </a:xfrm>
        </p:grpSpPr>
        <p:pic>
          <p:nvPicPr>
            <p:cNvPr descr="Feingeist - Lunette Pour Les Ecran - Free Transparent PNG Clipart Images  Download" id="164" name="Google Shape;164;p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43724" y="2264276"/>
              <a:ext cx="1272560" cy="57037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5" name="Google Shape;165;p4"/>
            <p:cNvSpPr txBox="1"/>
            <p:nvPr/>
          </p:nvSpPr>
          <p:spPr>
            <a:xfrm>
              <a:off x="1382902" y="2264276"/>
              <a:ext cx="5425433" cy="16004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Le réseau optique de Santéclair vous garantie: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Un choix parmi 80 montures exclusives de la collection « Nove Design »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Des tarifs avantageux : jusqu’à – 20 % sur les montures; – 15% sur les solaires de grandes marques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une garantie casse sans franchise durant deux années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Des verres de grandes marques: (Essilor, Nikon, Optiswiss ou Zeiss).</a:t>
              </a:r>
              <a:endParaRPr b="0" i="0" sz="1400">
                <a:solidFill>
                  <a:srgbClr val="16161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6" name="Google Shape;166;p4"/>
          <p:cNvGrpSpPr/>
          <p:nvPr/>
        </p:nvGrpSpPr>
        <p:grpSpPr>
          <a:xfrm>
            <a:off x="1314808" y="4312618"/>
            <a:ext cx="5409936" cy="954107"/>
            <a:chOff x="1730184" y="4376845"/>
            <a:chExt cx="4992359" cy="954107"/>
          </a:xfrm>
        </p:grpSpPr>
        <p:pic>
          <p:nvPicPr>
            <p:cNvPr descr="Icône D'oreille Pour Vos Sites De Conception Et Projets PNG , Audio, Oreille,  Écoutez Licône PNG et vecteur pour téléchargement gratuit" id="167" name="Google Shape;167;p4"/>
            <p:cNvPicPr preferRelativeResize="0"/>
            <p:nvPr/>
          </p:nvPicPr>
          <p:blipFill rotWithShape="1">
            <a:blip r:embed="rId5">
              <a:alphaModFix/>
            </a:blip>
            <a:srcRect b="18905" l="27976" r="29441" t="19011"/>
            <a:stretch/>
          </p:blipFill>
          <p:spPr>
            <a:xfrm>
              <a:off x="1730184" y="4471524"/>
              <a:ext cx="445059" cy="6488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8" name="Google Shape;168;p4"/>
            <p:cNvSpPr txBox="1"/>
            <p:nvPr/>
          </p:nvSpPr>
          <p:spPr>
            <a:xfrm>
              <a:off x="2175244" y="4376845"/>
              <a:ext cx="4547299" cy="9541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Le réseau Audio de Santéclair vous garantie: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Des tarifs avantageux : jusqu’à – 35% sur le prix du marché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-10% sur les accessoires, -20% sur les piles</a:t>
              </a:r>
              <a:endParaRPr b="0" i="0" sz="1400">
                <a:solidFill>
                  <a:srgbClr val="16161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U</a:t>
              </a: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ne garantie « Satisfait ou échangé »</a:t>
              </a:r>
              <a:endParaRPr/>
            </a:p>
          </p:txBody>
        </p:sp>
      </p:grpSp>
      <p:grpSp>
        <p:nvGrpSpPr>
          <p:cNvPr id="169" name="Google Shape;169;p4"/>
          <p:cNvGrpSpPr/>
          <p:nvPr/>
        </p:nvGrpSpPr>
        <p:grpSpPr>
          <a:xfrm>
            <a:off x="239620" y="5760973"/>
            <a:ext cx="5653180" cy="1815882"/>
            <a:chOff x="521694" y="6041286"/>
            <a:chExt cx="5653180" cy="1815882"/>
          </a:xfrm>
        </p:grpSpPr>
        <p:pic>
          <p:nvPicPr>
            <p:cNvPr descr="Bouton Logo Les Dents - Images vectorielles gratuites sur Pixabay - Pixabay" id="170" name="Google Shape;170;p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21694" y="6128182"/>
              <a:ext cx="665284" cy="66528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1" name="Google Shape;171;p4"/>
            <p:cNvSpPr txBox="1"/>
            <p:nvPr/>
          </p:nvSpPr>
          <p:spPr>
            <a:xfrm>
              <a:off x="1144276" y="6041286"/>
              <a:ext cx="5030598" cy="18158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Le partenariat Dentaire de Santéclair vous garantie: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L</a:t>
              </a: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’accès à 50 cabinets spécialisés en implantologie dentaire, avec 50 chirurgiens-dentistes spécialistes de cette discipline</a:t>
              </a:r>
              <a:r>
                <a:rPr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 b="0" i="0" sz="1400">
                <a:solidFill>
                  <a:srgbClr val="16161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jusqu’à moins 40 % par rapport aux prix habituellement pratiqué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U</a:t>
              </a: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n certificat qui vous garantira la provenance de l’implant ou de la prothèse.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Un annuaire de géolocalisation</a:t>
              </a:r>
              <a:endParaRPr/>
            </a:p>
          </p:txBody>
        </p:sp>
      </p:grpSp>
      <p:grpSp>
        <p:nvGrpSpPr>
          <p:cNvPr id="172" name="Google Shape;172;p4"/>
          <p:cNvGrpSpPr/>
          <p:nvPr/>
        </p:nvGrpSpPr>
        <p:grpSpPr>
          <a:xfrm>
            <a:off x="1261356" y="7858144"/>
            <a:ext cx="5526794" cy="1384995"/>
            <a:chOff x="1261356" y="7832744"/>
            <a:chExt cx="5406144" cy="1384995"/>
          </a:xfrm>
        </p:grpSpPr>
        <p:pic>
          <p:nvPicPr>
            <p:cNvPr descr="Centre d'ostéopathie - Roxane Gervais St-Amour D.O." id="173" name="Google Shape;173;p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261356" y="7910070"/>
              <a:ext cx="719680" cy="72289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4" name="Google Shape;174;p4"/>
            <p:cNvSpPr txBox="1"/>
            <p:nvPr/>
          </p:nvSpPr>
          <p:spPr>
            <a:xfrm>
              <a:off x="1739850" y="7832744"/>
              <a:ext cx="4927650" cy="13849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Le réseau Ostéopathie de Santéclair vous garantie: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Un accès Un réseau d’ostéopathes et de diététiciennes choisis en fonction de leur compétence et de leur sérieux.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es tarifs encadrés et calculés en fonction de leurs zones géographiques, du tiers payant, et de la rapidité du traitement de leur prise en charge grâce aux services en ligne.</a:t>
              </a:r>
              <a:endParaRPr/>
            </a:p>
          </p:txBody>
        </p:sp>
      </p:grpSp>
      <p:grpSp>
        <p:nvGrpSpPr>
          <p:cNvPr id="175" name="Google Shape;175;p4"/>
          <p:cNvGrpSpPr/>
          <p:nvPr/>
        </p:nvGrpSpPr>
        <p:grpSpPr>
          <a:xfrm>
            <a:off x="668442" y="964598"/>
            <a:ext cx="5561135" cy="954107"/>
            <a:chOff x="668442" y="964598"/>
            <a:chExt cx="5561135" cy="954107"/>
          </a:xfrm>
        </p:grpSpPr>
        <p:sp>
          <p:nvSpPr>
            <p:cNvPr id="176" name="Google Shape;176;p4"/>
            <p:cNvSpPr txBox="1"/>
            <p:nvPr/>
          </p:nvSpPr>
          <p:spPr>
            <a:xfrm>
              <a:off x="2049462" y="964598"/>
              <a:ext cx="4180115" cy="9541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2800">
                  <a:solidFill>
                    <a:srgbClr val="0070C0"/>
                  </a:solidFill>
                  <a:latin typeface="Calibri"/>
                  <a:ea typeface="Calibri"/>
                  <a:cs typeface="Calibri"/>
                  <a:sym typeface="Calibri"/>
                </a:rPr>
                <a:t>Pourquoi passer par le réseau de soin Santéclair ?</a:t>
              </a:r>
              <a:endParaRPr/>
            </a:p>
          </p:txBody>
        </p:sp>
        <p:pic>
          <p:nvPicPr>
            <p:cNvPr id="177" name="Google Shape;177;p4">
              <a:hlinkClick r:id="rId7"/>
            </p:cNvPr>
            <p:cNvPicPr preferRelativeResize="0"/>
            <p:nvPr/>
          </p:nvPicPr>
          <p:blipFill rotWithShape="1">
            <a:blip r:embed="rId8">
              <a:alphaModFix/>
            </a:blip>
            <a:srcRect b="21179" l="5068" r="7825" t="23731"/>
            <a:stretch/>
          </p:blipFill>
          <p:spPr>
            <a:xfrm>
              <a:off x="668442" y="1078629"/>
              <a:ext cx="1430087" cy="73774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8" name="Google Shape;178;p4"/>
          <p:cNvGrpSpPr/>
          <p:nvPr/>
        </p:nvGrpSpPr>
        <p:grpSpPr>
          <a:xfrm>
            <a:off x="101600" y="93434"/>
            <a:ext cx="6686550" cy="628650"/>
            <a:chOff x="101600" y="93434"/>
            <a:chExt cx="6686550" cy="628650"/>
          </a:xfrm>
        </p:grpSpPr>
        <p:grpSp>
          <p:nvGrpSpPr>
            <p:cNvPr id="179" name="Google Shape;179;p4"/>
            <p:cNvGrpSpPr/>
            <p:nvPr/>
          </p:nvGrpSpPr>
          <p:grpSpPr>
            <a:xfrm>
              <a:off x="101600" y="93434"/>
              <a:ext cx="6686550" cy="628650"/>
              <a:chOff x="101600" y="93434"/>
              <a:chExt cx="6686550" cy="628650"/>
            </a:xfrm>
          </p:grpSpPr>
          <p:sp>
            <p:nvSpPr>
              <p:cNvPr id="180" name="Google Shape;180;p4"/>
              <p:cNvSpPr/>
              <p:nvPr/>
            </p:nvSpPr>
            <p:spPr>
              <a:xfrm>
                <a:off x="101600" y="93434"/>
                <a:ext cx="6686550" cy="628650"/>
              </a:xfrm>
              <a:prstGeom prst="roundRect">
                <a:avLst>
                  <a:gd fmla="val 16667" name="adj"/>
                </a:avLst>
              </a:prstGeom>
              <a:solidFill>
                <a:schemeClr val="lt1"/>
              </a:solidFill>
              <a:ln cap="flat" cmpd="sng" w="44450">
                <a:solidFill>
                  <a:srgbClr val="2F549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fr-FR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INFINITY  by                                        assuré par                                 </a:t>
                </a:r>
                <a:endParaRPr/>
              </a:p>
            </p:txBody>
          </p:sp>
          <p:pic>
            <p:nvPicPr>
              <p:cNvPr id="181" name="Google Shape;181;p4">
                <a:hlinkClick r:id="rId9"/>
              </p:cNvPr>
              <p:cNvPicPr preferRelativeResize="0"/>
              <p:nvPr/>
            </p:nvPicPr>
            <p:blipFill rotWithShape="1">
              <a:blip r:embed="rId10">
                <a:alphaModFix/>
              </a:blip>
              <a:srcRect b="38276" l="15962" r="43629" t="37796"/>
              <a:stretch/>
            </p:blipFill>
            <p:spPr>
              <a:xfrm>
                <a:off x="2242940" y="160332"/>
                <a:ext cx="999216" cy="48251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182" name="Google Shape;182;p4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5516245" y="158115"/>
              <a:ext cx="1084580" cy="4572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outon Logo Les Dents - Images vectorielles gratuites sur Pixabay - Pixabay" id="187" name="Google Shape;18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9462" y="14272152"/>
            <a:ext cx="49067" cy="49067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5"/>
          <p:cNvSpPr txBox="1"/>
          <p:nvPr/>
        </p:nvSpPr>
        <p:spPr>
          <a:xfrm>
            <a:off x="1999662" y="839301"/>
            <a:ext cx="4684487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Pourquoi faire appel à l’assistance MUTUAIDE ?</a:t>
            </a:r>
            <a:endParaRPr/>
          </a:p>
        </p:txBody>
      </p:sp>
      <p:sp>
        <p:nvSpPr>
          <p:cNvPr id="189" name="Google Shape;189;p5"/>
          <p:cNvSpPr txBox="1"/>
          <p:nvPr/>
        </p:nvSpPr>
        <p:spPr>
          <a:xfrm>
            <a:off x="956518" y="2582472"/>
            <a:ext cx="491033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cas d’hospitalisation ou d’immobilisation,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MUTUAIDE vous propose gratuitement:</a:t>
            </a:r>
            <a:endParaRPr/>
          </a:p>
        </p:txBody>
      </p:sp>
      <p:grpSp>
        <p:nvGrpSpPr>
          <p:cNvPr id="190" name="Google Shape;190;p5"/>
          <p:cNvGrpSpPr/>
          <p:nvPr/>
        </p:nvGrpSpPr>
        <p:grpSpPr>
          <a:xfrm>
            <a:off x="120105" y="3514045"/>
            <a:ext cx="6020613" cy="811475"/>
            <a:chOff x="400050" y="2786464"/>
            <a:chExt cx="6020613" cy="811475"/>
          </a:xfrm>
        </p:grpSpPr>
        <p:sp>
          <p:nvSpPr>
            <p:cNvPr id="191" name="Google Shape;191;p5"/>
            <p:cNvSpPr txBox="1"/>
            <p:nvPr/>
          </p:nvSpPr>
          <p:spPr>
            <a:xfrm>
              <a:off x="987223" y="2897890"/>
              <a:ext cx="5433440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De l’aide à domicile: (ménage, repas, vaisselle, course à proximité</a:t>
              </a:r>
              <a:endParaRPr/>
            </a:p>
          </p:txBody>
        </p:sp>
        <p:pic>
          <p:nvPicPr>
            <p:cNvPr id="192" name="Google Shape;192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00050" y="2786464"/>
              <a:ext cx="591075" cy="8114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3" name="Google Shape;193;p5"/>
          <p:cNvGrpSpPr/>
          <p:nvPr/>
        </p:nvGrpSpPr>
        <p:grpSpPr>
          <a:xfrm>
            <a:off x="831907" y="4482472"/>
            <a:ext cx="5639929" cy="662278"/>
            <a:chOff x="222327" y="3957748"/>
            <a:chExt cx="6053947" cy="662278"/>
          </a:xfrm>
        </p:grpSpPr>
        <p:sp>
          <p:nvSpPr>
            <p:cNvPr id="194" name="Google Shape;194;p5"/>
            <p:cNvSpPr txBox="1"/>
            <p:nvPr/>
          </p:nvSpPr>
          <p:spPr>
            <a:xfrm>
              <a:off x="943701" y="4097900"/>
              <a:ext cx="5332573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LA livraison des médicaments</a:t>
              </a:r>
              <a:endParaRPr b="0" i="0" sz="1400">
                <a:solidFill>
                  <a:srgbClr val="16161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95" name="Google Shape;195;p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22327" y="3957748"/>
              <a:ext cx="768798" cy="66227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6" name="Google Shape;196;p5"/>
          <p:cNvGrpSpPr/>
          <p:nvPr/>
        </p:nvGrpSpPr>
        <p:grpSpPr>
          <a:xfrm>
            <a:off x="120105" y="5518275"/>
            <a:ext cx="6198819" cy="733785"/>
            <a:chOff x="222327" y="5188381"/>
            <a:chExt cx="6198819" cy="733785"/>
          </a:xfrm>
        </p:grpSpPr>
        <p:pic>
          <p:nvPicPr>
            <p:cNvPr id="197" name="Google Shape;197;p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22327" y="5188381"/>
              <a:ext cx="836413" cy="73378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8" name="Google Shape;198;p5"/>
            <p:cNvSpPr txBox="1"/>
            <p:nvPr/>
          </p:nvSpPr>
          <p:spPr>
            <a:xfrm>
              <a:off x="1088573" y="5248670"/>
              <a:ext cx="5332573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La prise en charge l’animal chez l’adhérant, par un pet Sitter 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 (Visite, promenade, garde, …)</a:t>
              </a:r>
              <a:endParaRPr/>
            </a:p>
          </p:txBody>
        </p:sp>
      </p:grpSp>
      <p:pic>
        <p:nvPicPr>
          <p:cNvPr id="199" name="Google Shape;199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5180" y="939359"/>
            <a:ext cx="1255309" cy="68240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0" name="Google Shape;200;p5"/>
          <p:cNvGrpSpPr/>
          <p:nvPr/>
        </p:nvGrpSpPr>
        <p:grpSpPr>
          <a:xfrm>
            <a:off x="947389" y="6762464"/>
            <a:ext cx="5524447" cy="609704"/>
            <a:chOff x="194325" y="7406539"/>
            <a:chExt cx="6214502" cy="609704"/>
          </a:xfrm>
        </p:grpSpPr>
        <p:sp>
          <p:nvSpPr>
            <p:cNvPr id="201" name="Google Shape;201;p5"/>
            <p:cNvSpPr txBox="1"/>
            <p:nvPr/>
          </p:nvSpPr>
          <p:spPr>
            <a:xfrm>
              <a:off x="1076254" y="7449781"/>
              <a:ext cx="5332573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Le déplacement aller et retour, d’un proche et son hébergement pendant 6 nuits</a:t>
              </a:r>
              <a:endParaRPr/>
            </a:p>
          </p:txBody>
        </p:sp>
        <p:pic>
          <p:nvPicPr>
            <p:cNvPr id="202" name="Google Shape;202;p5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194325" y="7406539"/>
              <a:ext cx="848744" cy="60970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03" name="Google Shape;203;p5"/>
          <p:cNvGrpSpPr/>
          <p:nvPr/>
        </p:nvGrpSpPr>
        <p:grpSpPr>
          <a:xfrm>
            <a:off x="101600" y="93434"/>
            <a:ext cx="6686550" cy="628650"/>
            <a:chOff x="101600" y="93434"/>
            <a:chExt cx="6686550" cy="628650"/>
          </a:xfrm>
        </p:grpSpPr>
        <p:grpSp>
          <p:nvGrpSpPr>
            <p:cNvPr id="204" name="Google Shape;204;p5"/>
            <p:cNvGrpSpPr/>
            <p:nvPr/>
          </p:nvGrpSpPr>
          <p:grpSpPr>
            <a:xfrm>
              <a:off x="101600" y="93434"/>
              <a:ext cx="6686550" cy="628650"/>
              <a:chOff x="101600" y="93434"/>
              <a:chExt cx="6686550" cy="628650"/>
            </a:xfrm>
          </p:grpSpPr>
          <p:sp>
            <p:nvSpPr>
              <p:cNvPr id="205" name="Google Shape;205;p5"/>
              <p:cNvSpPr/>
              <p:nvPr/>
            </p:nvSpPr>
            <p:spPr>
              <a:xfrm>
                <a:off x="101600" y="93434"/>
                <a:ext cx="6686550" cy="628650"/>
              </a:xfrm>
              <a:prstGeom prst="roundRect">
                <a:avLst>
                  <a:gd fmla="val 16667" name="adj"/>
                </a:avLst>
              </a:prstGeom>
              <a:solidFill>
                <a:schemeClr val="lt1"/>
              </a:solidFill>
              <a:ln cap="flat" cmpd="sng" w="44450">
                <a:solidFill>
                  <a:srgbClr val="2F549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fr-FR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INFINITY  by                                        assuré par                                 </a:t>
                </a:r>
                <a:endParaRPr/>
              </a:p>
            </p:txBody>
          </p:sp>
          <p:pic>
            <p:nvPicPr>
              <p:cNvPr id="206" name="Google Shape;206;p5">
                <a:hlinkClick r:id="rId9"/>
              </p:cNvPr>
              <p:cNvPicPr preferRelativeResize="0"/>
              <p:nvPr/>
            </p:nvPicPr>
            <p:blipFill rotWithShape="1">
              <a:blip r:embed="rId10">
                <a:alphaModFix/>
              </a:blip>
              <a:srcRect b="38276" l="15962" r="43629" t="37796"/>
              <a:stretch/>
            </p:blipFill>
            <p:spPr>
              <a:xfrm>
                <a:off x="2242940" y="160332"/>
                <a:ext cx="999216" cy="48251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207" name="Google Shape;207;p5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5516245" y="158115"/>
              <a:ext cx="1084580" cy="4572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outon Logo Les Dents - Images vectorielles gratuites sur Pixabay - Pixabay" id="212" name="Google Shape;21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9462" y="14272152"/>
            <a:ext cx="49067" cy="490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100% Santé : des soins pour tous, 100% pris en charge" id="213" name="Google Shape;213;p6"/>
          <p:cNvPicPr preferRelativeResize="0"/>
          <p:nvPr/>
        </p:nvPicPr>
        <p:blipFill rotWithShape="1">
          <a:blip r:embed="rId4">
            <a:alphaModFix/>
          </a:blip>
          <a:srcRect b="13073" l="12590" r="12610" t="9007"/>
          <a:stretch/>
        </p:blipFill>
        <p:spPr>
          <a:xfrm>
            <a:off x="2566913" y="1052692"/>
            <a:ext cx="1489221" cy="1060948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6"/>
          <p:cNvSpPr txBox="1"/>
          <p:nvPr/>
        </p:nvSpPr>
        <p:spPr>
          <a:xfrm>
            <a:off x="468231" y="2476003"/>
            <a:ext cx="6078619" cy="18158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 100% Santé vous permet d’accéder à une offre sans reste à charge sur une sélection d’équipements en dentaire, optique et pour les aides auditives. Les paniers 100% Santé seront pris en charge intégralement par la Sécurité Sociale et la complémentaire santé.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 vous ne souhaitez pas bénéficier des équipements compris dans ces paniers, les remboursements se feront selon le niveau de garanties que vous avez choisi.</a:t>
            </a:r>
            <a:endParaRPr/>
          </a:p>
        </p:txBody>
      </p:sp>
      <p:sp>
        <p:nvSpPr>
          <p:cNvPr id="215" name="Google Shape;215;p6"/>
          <p:cNvSpPr txBox="1"/>
          <p:nvPr/>
        </p:nvSpPr>
        <p:spPr>
          <a:xfrm>
            <a:off x="196387" y="4506949"/>
            <a:ext cx="388067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QU’EST-CE QUI CHANGE EN PRATIQUE ?</a:t>
            </a:r>
            <a:endParaRPr/>
          </a:p>
        </p:txBody>
      </p:sp>
      <p:pic>
        <p:nvPicPr>
          <p:cNvPr id="216" name="Google Shape;216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8231" y="5368177"/>
            <a:ext cx="2158618" cy="183114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6"/>
          <p:cNvSpPr txBox="1"/>
          <p:nvPr/>
        </p:nvSpPr>
        <p:spPr>
          <a:xfrm>
            <a:off x="3444875" y="4969962"/>
            <a:ext cx="2460289" cy="8617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 professionnel de santé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proposera obligatoirement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2 OFFRES</a:t>
            </a:r>
            <a:endParaRPr/>
          </a:p>
        </p:txBody>
      </p:sp>
      <p:sp>
        <p:nvSpPr>
          <p:cNvPr id="218" name="Google Shape;218;p6"/>
          <p:cNvSpPr txBox="1"/>
          <p:nvPr/>
        </p:nvSpPr>
        <p:spPr>
          <a:xfrm>
            <a:off x="2578219" y="6211555"/>
            <a:ext cx="176005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1 Devis sans Reste à charge</a:t>
            </a:r>
            <a:endParaRPr/>
          </a:p>
        </p:txBody>
      </p:sp>
      <p:sp>
        <p:nvSpPr>
          <p:cNvPr id="219" name="Google Shape;219;p6"/>
          <p:cNvSpPr txBox="1"/>
          <p:nvPr/>
        </p:nvSpPr>
        <p:spPr>
          <a:xfrm>
            <a:off x="4829920" y="6208601"/>
            <a:ext cx="202808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1 Devis « Classique »</a:t>
            </a:r>
            <a:endParaRPr/>
          </a:p>
        </p:txBody>
      </p:sp>
      <p:sp>
        <p:nvSpPr>
          <p:cNvPr id="220" name="Google Shape;220;p6"/>
          <p:cNvSpPr txBox="1"/>
          <p:nvPr/>
        </p:nvSpPr>
        <p:spPr>
          <a:xfrm>
            <a:off x="320433" y="7864329"/>
            <a:ext cx="388067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Mais aussi:</a:t>
            </a:r>
            <a:endParaRPr/>
          </a:p>
        </p:txBody>
      </p:sp>
      <p:cxnSp>
        <p:nvCxnSpPr>
          <p:cNvPr id="221" name="Google Shape;221;p6"/>
          <p:cNvCxnSpPr/>
          <p:nvPr/>
        </p:nvCxnSpPr>
        <p:spPr>
          <a:xfrm>
            <a:off x="4760070" y="5831736"/>
            <a:ext cx="520276" cy="350519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22" name="Google Shape;222;p6"/>
          <p:cNvCxnSpPr/>
          <p:nvPr/>
        </p:nvCxnSpPr>
        <p:spPr>
          <a:xfrm flipH="1">
            <a:off x="4077063" y="5831736"/>
            <a:ext cx="433750" cy="360899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23" name="Google Shape;223;p6"/>
          <p:cNvSpPr txBox="1"/>
          <p:nvPr/>
        </p:nvSpPr>
        <p:spPr>
          <a:xfrm>
            <a:off x="2687429" y="6842131"/>
            <a:ext cx="1513680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Soin ou équipement entrant dans le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panier 100% Santé</a:t>
            </a:r>
            <a:endParaRPr/>
          </a:p>
        </p:txBody>
      </p:sp>
      <p:sp>
        <p:nvSpPr>
          <p:cNvPr id="224" name="Google Shape;224;p6"/>
          <p:cNvSpPr txBox="1"/>
          <p:nvPr/>
        </p:nvSpPr>
        <p:spPr>
          <a:xfrm>
            <a:off x="4500683" y="6854932"/>
            <a:ext cx="2385892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Panier à tarif libre et remboursé par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l’assurance complémentaire dans les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conditions prévues par le contrat</a:t>
            </a:r>
            <a:endParaRPr/>
          </a:p>
        </p:txBody>
      </p:sp>
      <p:sp>
        <p:nvSpPr>
          <p:cNvPr id="225" name="Google Shape;225;p6"/>
          <p:cNvSpPr txBox="1"/>
          <p:nvPr/>
        </p:nvSpPr>
        <p:spPr>
          <a:xfrm>
            <a:off x="330200" y="8327508"/>
            <a:ext cx="6556375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&gt; Fixation de prix limites de vente (PLV) imposés aux professionnels de santé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&gt; Augmentation de la base de remboursement (BR) du régime obligatoire (RO) &amp; du remboursement des complémentaires santé</a:t>
            </a:r>
            <a:endParaRPr/>
          </a:p>
        </p:txBody>
      </p:sp>
      <p:grpSp>
        <p:nvGrpSpPr>
          <p:cNvPr id="226" name="Google Shape;226;p6"/>
          <p:cNvGrpSpPr/>
          <p:nvPr/>
        </p:nvGrpSpPr>
        <p:grpSpPr>
          <a:xfrm>
            <a:off x="101600" y="93434"/>
            <a:ext cx="6686550" cy="628650"/>
            <a:chOff x="101600" y="93434"/>
            <a:chExt cx="6686550" cy="628650"/>
          </a:xfrm>
        </p:grpSpPr>
        <p:grpSp>
          <p:nvGrpSpPr>
            <p:cNvPr id="227" name="Google Shape;227;p6"/>
            <p:cNvGrpSpPr/>
            <p:nvPr/>
          </p:nvGrpSpPr>
          <p:grpSpPr>
            <a:xfrm>
              <a:off x="101600" y="93434"/>
              <a:ext cx="6686550" cy="628650"/>
              <a:chOff x="101600" y="93434"/>
              <a:chExt cx="6686550" cy="628650"/>
            </a:xfrm>
          </p:grpSpPr>
          <p:sp>
            <p:nvSpPr>
              <p:cNvPr id="228" name="Google Shape;228;p6"/>
              <p:cNvSpPr/>
              <p:nvPr/>
            </p:nvSpPr>
            <p:spPr>
              <a:xfrm>
                <a:off x="101600" y="93434"/>
                <a:ext cx="6686550" cy="628650"/>
              </a:xfrm>
              <a:prstGeom prst="roundRect">
                <a:avLst>
                  <a:gd fmla="val 16667" name="adj"/>
                </a:avLst>
              </a:prstGeom>
              <a:solidFill>
                <a:schemeClr val="lt1"/>
              </a:solidFill>
              <a:ln cap="flat" cmpd="sng" w="44450">
                <a:solidFill>
                  <a:srgbClr val="2F549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fr-FR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INFINITY  by                                        assuré par                                 </a:t>
                </a:r>
                <a:endParaRPr/>
              </a:p>
            </p:txBody>
          </p:sp>
          <p:pic>
            <p:nvPicPr>
              <p:cNvPr id="229" name="Google Shape;229;p6">
                <a:hlinkClick r:id="rId6"/>
              </p:cNvPr>
              <p:cNvPicPr preferRelativeResize="0"/>
              <p:nvPr/>
            </p:nvPicPr>
            <p:blipFill rotWithShape="1">
              <a:blip r:embed="rId7">
                <a:alphaModFix/>
              </a:blip>
              <a:srcRect b="38276" l="15962" r="43629" t="37796"/>
              <a:stretch/>
            </p:blipFill>
            <p:spPr>
              <a:xfrm>
                <a:off x="2242940" y="160332"/>
                <a:ext cx="999216" cy="48251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230" name="Google Shape;230;p6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5516245" y="158115"/>
              <a:ext cx="1084580" cy="4572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outon Logo Les Dents - Images vectorielles gratuites sur Pixabay - Pixabay" id="235" name="Google Shape;23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9462" y="14272152"/>
            <a:ext cx="49067" cy="490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100% Santé : des soins pour tous, 100% pris en charge" id="236" name="Google Shape;236;p7"/>
          <p:cNvPicPr preferRelativeResize="0"/>
          <p:nvPr/>
        </p:nvPicPr>
        <p:blipFill rotWithShape="1">
          <a:blip r:embed="rId4">
            <a:alphaModFix/>
          </a:blip>
          <a:srcRect b="13073" l="12590" r="12610" t="9007"/>
          <a:stretch/>
        </p:blipFill>
        <p:spPr>
          <a:xfrm>
            <a:off x="2566913" y="980122"/>
            <a:ext cx="1489221" cy="1060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6398" y="1992003"/>
            <a:ext cx="5911752" cy="75467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2996154"/>
            <a:ext cx="1147989" cy="6417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-1" y="5446720"/>
            <a:ext cx="1147989" cy="6372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-1" y="7991398"/>
            <a:ext cx="1138950" cy="6011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1" name="Google Shape;241;p7"/>
          <p:cNvGrpSpPr/>
          <p:nvPr/>
        </p:nvGrpSpPr>
        <p:grpSpPr>
          <a:xfrm>
            <a:off x="101600" y="93434"/>
            <a:ext cx="6686550" cy="628650"/>
            <a:chOff x="101600" y="93434"/>
            <a:chExt cx="6686550" cy="628650"/>
          </a:xfrm>
        </p:grpSpPr>
        <p:grpSp>
          <p:nvGrpSpPr>
            <p:cNvPr id="242" name="Google Shape;242;p7"/>
            <p:cNvGrpSpPr/>
            <p:nvPr/>
          </p:nvGrpSpPr>
          <p:grpSpPr>
            <a:xfrm>
              <a:off x="101600" y="93434"/>
              <a:ext cx="6686550" cy="628650"/>
              <a:chOff x="101600" y="93434"/>
              <a:chExt cx="6686550" cy="628650"/>
            </a:xfrm>
          </p:grpSpPr>
          <p:sp>
            <p:nvSpPr>
              <p:cNvPr id="243" name="Google Shape;243;p7"/>
              <p:cNvSpPr/>
              <p:nvPr/>
            </p:nvSpPr>
            <p:spPr>
              <a:xfrm>
                <a:off x="101600" y="93434"/>
                <a:ext cx="6686550" cy="628650"/>
              </a:xfrm>
              <a:prstGeom prst="roundRect">
                <a:avLst>
                  <a:gd fmla="val 16667" name="adj"/>
                </a:avLst>
              </a:prstGeom>
              <a:solidFill>
                <a:schemeClr val="lt1"/>
              </a:solidFill>
              <a:ln cap="flat" cmpd="sng" w="44450">
                <a:solidFill>
                  <a:srgbClr val="2F549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fr-FR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INFINITY  by                                        assuré par                                 </a:t>
                </a:r>
                <a:endParaRPr/>
              </a:p>
            </p:txBody>
          </p:sp>
          <p:pic>
            <p:nvPicPr>
              <p:cNvPr id="244" name="Google Shape;244;p7">
                <a:hlinkClick r:id="rId9"/>
              </p:cNvPr>
              <p:cNvPicPr preferRelativeResize="0"/>
              <p:nvPr/>
            </p:nvPicPr>
            <p:blipFill rotWithShape="1">
              <a:blip r:embed="rId10">
                <a:alphaModFix/>
              </a:blip>
              <a:srcRect b="38276" l="15962" r="43629" t="37796"/>
              <a:stretch/>
            </p:blipFill>
            <p:spPr>
              <a:xfrm>
                <a:off x="2242940" y="160332"/>
                <a:ext cx="999216" cy="48251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245" name="Google Shape;245;p7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5516245" y="158115"/>
              <a:ext cx="1084580" cy="4572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2018-01-12T04:36:00Z</dcterms:created>
  <dc:creator>Aurelie Racamier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E762FF422575440A85C9B75A2DB1E146_13</vt:lpwstr>
  </property>
  <property fmtid="{D5CDD505-2E9C-101B-9397-08002B2CF9AE}" pid="3" name="KSOProductBuildVer">
    <vt:lpwstr>1036-12.2.0.22549</vt:lpwstr>
  </property>
</Properties>
</file>