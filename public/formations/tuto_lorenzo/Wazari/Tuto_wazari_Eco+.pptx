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jMrkbI7oNqCddX5jS22WDMA7IQ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1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1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1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0" name="Google Shape;190;p18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9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5" name="Google Shape;235;p20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3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4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2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2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jpg"/><Relationship Id="rId10" Type="http://schemas.openxmlformats.org/officeDocument/2006/relationships/image" Target="../media/image19.png"/><Relationship Id="rId13" Type="http://schemas.openxmlformats.org/officeDocument/2006/relationships/image" Target="../media/image15.png"/><Relationship Id="rId12" Type="http://schemas.openxmlformats.org/officeDocument/2006/relationships/hyperlink" Target="#'12'!A1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6.jpg"/><Relationship Id="rId15" Type="http://schemas.openxmlformats.org/officeDocument/2006/relationships/image" Target="../media/image7.png"/><Relationship Id="rId14" Type="http://schemas.openxmlformats.org/officeDocument/2006/relationships/hyperlink" Target="#'7'!A1" TargetMode="External"/><Relationship Id="rId5" Type="http://schemas.openxmlformats.org/officeDocument/2006/relationships/hyperlink" Target="#'3'!A1" TargetMode="External"/><Relationship Id="rId6" Type="http://schemas.openxmlformats.org/officeDocument/2006/relationships/image" Target="../media/image8.png"/><Relationship Id="rId7" Type="http://schemas.openxmlformats.org/officeDocument/2006/relationships/hyperlink" Target="#'33'!A1" TargetMode="External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hyperlink" Target="#'33'!A1" TargetMode="External"/><Relationship Id="rId5" Type="http://schemas.openxmlformats.org/officeDocument/2006/relationships/image" Target="../media/image9.png"/><Relationship Id="rId6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hyperlink" Target="#'33'!A1" TargetMode="External"/><Relationship Id="rId6" Type="http://schemas.openxmlformats.org/officeDocument/2006/relationships/image" Target="../media/image9.png"/><Relationship Id="rId7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jp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9" Type="http://schemas.openxmlformats.org/officeDocument/2006/relationships/hyperlink" Target="#'33'!A1" TargetMode="External"/><Relationship Id="rId5" Type="http://schemas.openxmlformats.org/officeDocument/2006/relationships/image" Target="../media/image10.jpg"/><Relationship Id="rId6" Type="http://schemas.openxmlformats.org/officeDocument/2006/relationships/image" Target="../media/image14.jpg"/><Relationship Id="rId7" Type="http://schemas.openxmlformats.org/officeDocument/2006/relationships/hyperlink" Target="#'3'!A1" TargetMode="External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hyperlink" Target="#'12'!A1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hyperlink" Target="#'33'!A1" TargetMode="External"/><Relationship Id="rId9" Type="http://schemas.openxmlformats.org/officeDocument/2006/relationships/image" Target="../media/image23.png"/><Relationship Id="rId5" Type="http://schemas.openxmlformats.org/officeDocument/2006/relationships/image" Target="../media/image9.png"/><Relationship Id="rId6" Type="http://schemas.openxmlformats.org/officeDocument/2006/relationships/image" Target="../media/image6.jpg"/><Relationship Id="rId7" Type="http://schemas.openxmlformats.org/officeDocument/2006/relationships/image" Target="../media/image24.png"/><Relationship Id="rId8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5" Type="http://schemas.openxmlformats.org/officeDocument/2006/relationships/image" Target="../media/image22.png"/><Relationship Id="rId6" Type="http://schemas.openxmlformats.org/officeDocument/2006/relationships/hyperlink" Target="#'33'!A1" TargetMode="External"/><Relationship Id="rId7" Type="http://schemas.openxmlformats.org/officeDocument/2006/relationships/image" Target="../media/image9.png"/><Relationship Id="rId8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jp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5.png"/><Relationship Id="rId9" Type="http://schemas.openxmlformats.org/officeDocument/2006/relationships/hyperlink" Target="#'33'!A1" TargetMode="External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0" y="972075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p14"/>
          <p:cNvGrpSpPr/>
          <p:nvPr/>
        </p:nvGrpSpPr>
        <p:grpSpPr>
          <a:xfrm>
            <a:off x="2687649" y="3265252"/>
            <a:ext cx="3759200" cy="1463934"/>
            <a:chOff x="2463800" y="2847597"/>
            <a:chExt cx="3759200" cy="1463934"/>
          </a:xfrm>
        </p:grpSpPr>
        <p:sp>
          <p:nvSpPr>
            <p:cNvPr id="90" name="Google Shape;90;p14"/>
            <p:cNvSpPr/>
            <p:nvPr/>
          </p:nvSpPr>
          <p:spPr>
            <a:xfrm>
              <a:off x="2463800" y="2847597"/>
              <a:ext cx="3759200" cy="146393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</a:t>
              </a:r>
              <a:r>
                <a:rPr b="1" i="0" lang="fr-FR" sz="2000" u="none" cap="none" strike="noStrike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Un Réseau de soins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fr-FR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des  professionnels  de santé pour des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équipements de qualité à prix réduit</a:t>
              </a:r>
              <a:endParaRPr/>
            </a:p>
          </p:txBody>
        </p:sp>
        <p:grpSp>
          <p:nvGrpSpPr>
            <p:cNvPr id="91" name="Google Shape;91;p14"/>
            <p:cNvGrpSpPr/>
            <p:nvPr/>
          </p:nvGrpSpPr>
          <p:grpSpPr>
            <a:xfrm>
              <a:off x="2524885" y="3065751"/>
              <a:ext cx="976837" cy="1010393"/>
              <a:chOff x="2548471" y="3049424"/>
              <a:chExt cx="976837" cy="1010393"/>
            </a:xfrm>
          </p:grpSpPr>
          <p:sp>
            <p:nvSpPr>
              <p:cNvPr id="92" name="Google Shape;92;p14"/>
              <p:cNvSpPr/>
              <p:nvPr/>
            </p:nvSpPr>
            <p:spPr>
              <a:xfrm>
                <a:off x="2548471" y="3049424"/>
                <a:ext cx="976837" cy="1010393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Réseaux de soins et de professionnels - Uneoreilleavertie.com" id="93" name="Google Shape;93;p14"/>
              <p:cNvPicPr preferRelativeResize="0"/>
              <p:nvPr/>
            </p:nvPicPr>
            <p:blipFill rotWithShape="1">
              <a:blip r:embed="rId3">
                <a:alphaModFix/>
              </a:blip>
              <a:srcRect b="17480" l="6110" r="8264" t="12370"/>
              <a:stretch/>
            </p:blipFill>
            <p:spPr>
              <a:xfrm>
                <a:off x="2693612" y="3280574"/>
                <a:ext cx="670266" cy="57719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94" name="Google Shape;94;p14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Avec deux options Eco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" name="Google Shape;96;p14"/>
          <p:cNvGrpSpPr/>
          <p:nvPr/>
        </p:nvGrpSpPr>
        <p:grpSpPr>
          <a:xfrm>
            <a:off x="2045763" y="1579801"/>
            <a:ext cx="976837" cy="1010393"/>
            <a:chOff x="2109263" y="1465142"/>
            <a:chExt cx="976837" cy="1010393"/>
          </a:xfrm>
        </p:grpSpPr>
        <p:sp>
          <p:nvSpPr>
            <p:cNvPr id="97" name="Google Shape;97;p1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8" name="Google Shape;98;p14"/>
            <p:cNvPicPr preferRelativeResize="0"/>
            <p:nvPr/>
          </p:nvPicPr>
          <p:blipFill rotWithShape="1">
            <a:blip r:embed="rId4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" name="Google Shape;99;p14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-240074" y="2351314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30-85 ans</a:t>
            </a:r>
            <a:endParaRPr/>
          </a:p>
        </p:txBody>
      </p:sp>
      <p:pic>
        <p:nvPicPr>
          <p:cNvPr id="101" name="Google Shape;101;p14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21179" l="5068" r="7825" t="23731"/>
          <a:stretch/>
        </p:blipFill>
        <p:spPr>
          <a:xfrm>
            <a:off x="4826873" y="3685941"/>
            <a:ext cx="1045823" cy="5395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2" name="Google Shape;102;p14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03" name="Google Shape;103;p14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04" name="Google Shape;104;p14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Eco+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105" name="Google Shape;105;p14">
                <a:hlinkClick r:id="rId7"/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cheel (@acheel_com) / X" id="106" name="Google Shape;106;p14"/>
            <p:cNvPicPr preferRelativeResize="0"/>
            <p:nvPr/>
          </p:nvPicPr>
          <p:blipFill rotWithShape="1">
            <a:blip r:embed="rId9">
              <a:alphaModFix/>
            </a:blip>
            <a:srcRect b="29293" l="0" r="0" t="30368"/>
            <a:stretch/>
          </p:blipFill>
          <p:spPr>
            <a:xfrm>
              <a:off x="5149266" y="160550"/>
              <a:ext cx="1195640" cy="48229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cheel (@acheel_com) / X" id="107" name="Google Shape;107;p14"/>
          <p:cNvPicPr preferRelativeResize="0"/>
          <p:nvPr/>
        </p:nvPicPr>
        <p:blipFill rotWithShape="1">
          <a:blip r:embed="rId9">
            <a:alphaModFix/>
          </a:blip>
          <a:srcRect b="29293" l="0" r="0" t="30368"/>
          <a:stretch/>
        </p:blipFill>
        <p:spPr>
          <a:xfrm>
            <a:off x="4200193" y="1710871"/>
            <a:ext cx="1195640" cy="4822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4"/>
          <p:cNvGrpSpPr/>
          <p:nvPr/>
        </p:nvGrpSpPr>
        <p:grpSpPr>
          <a:xfrm>
            <a:off x="2687649" y="5275701"/>
            <a:ext cx="3759200" cy="1463934"/>
            <a:chOff x="2841625" y="4500433"/>
            <a:chExt cx="3759200" cy="1463934"/>
          </a:xfrm>
        </p:grpSpPr>
        <p:sp>
          <p:nvSpPr>
            <p:cNvPr id="109" name="Google Shape;109;p14"/>
            <p:cNvSpPr/>
            <p:nvPr/>
          </p:nvSpPr>
          <p:spPr>
            <a:xfrm>
              <a:off x="2841625" y="4500433"/>
              <a:ext cx="3759200" cy="146393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   Un Tiers payant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Un tiers payant national, qui vous évite d’avancer les frais médicaux.</a:t>
              </a:r>
              <a:endParaRPr/>
            </a:p>
          </p:txBody>
        </p:sp>
        <p:grpSp>
          <p:nvGrpSpPr>
            <p:cNvPr id="110" name="Google Shape;110;p14"/>
            <p:cNvGrpSpPr/>
            <p:nvPr/>
          </p:nvGrpSpPr>
          <p:grpSpPr>
            <a:xfrm>
              <a:off x="2911326" y="4743824"/>
              <a:ext cx="976837" cy="1010393"/>
              <a:chOff x="2693612" y="4712978"/>
              <a:chExt cx="976837" cy="1010393"/>
            </a:xfrm>
          </p:grpSpPr>
          <p:sp>
            <p:nvSpPr>
              <p:cNvPr id="111" name="Google Shape;111;p14"/>
              <p:cNvSpPr/>
              <p:nvPr/>
            </p:nvSpPr>
            <p:spPr>
              <a:xfrm>
                <a:off x="2693612" y="4712978"/>
                <a:ext cx="976837" cy="1010393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Tiers payant : qu'est-ce que c'est et comment l'obtenir ?" id="112" name="Google Shape;112;p14"/>
              <p:cNvPicPr preferRelativeResize="0"/>
              <p:nvPr/>
            </p:nvPicPr>
            <p:blipFill rotWithShape="1">
              <a:blip r:embed="rId10">
                <a:alphaModFix/>
              </a:blip>
              <a:srcRect b="4848" l="19237" r="29792" t="4849"/>
              <a:stretch/>
            </p:blipFill>
            <p:spPr>
              <a:xfrm>
                <a:off x="2862942" y="4910684"/>
                <a:ext cx="638175" cy="59604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13" name="Google Shape;113;p14"/>
          <p:cNvGrpSpPr/>
          <p:nvPr/>
        </p:nvGrpSpPr>
        <p:grpSpPr>
          <a:xfrm>
            <a:off x="2045763" y="7369195"/>
            <a:ext cx="3759200" cy="1463934"/>
            <a:chOff x="2463800" y="6116167"/>
            <a:chExt cx="3759200" cy="1463934"/>
          </a:xfrm>
        </p:grpSpPr>
        <p:sp>
          <p:nvSpPr>
            <p:cNvPr id="114" name="Google Shape;114;p14"/>
            <p:cNvSpPr/>
            <p:nvPr/>
          </p:nvSpPr>
          <p:spPr>
            <a:xfrm>
              <a:off x="2463800" y="6116167"/>
              <a:ext cx="3759200" cy="146393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</a:t>
              </a: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Une assistance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</a:t>
              </a: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 service haut de gamme 24h/24, 7j/7 pour vous accompagner en cas de coup dur</a:t>
              </a:r>
              <a:endParaRPr b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5" name="Google Shape;115;p14"/>
            <p:cNvGrpSpPr/>
            <p:nvPr/>
          </p:nvGrpSpPr>
          <p:grpSpPr>
            <a:xfrm>
              <a:off x="2544746" y="6360928"/>
              <a:ext cx="976837" cy="1010393"/>
              <a:chOff x="2566518" y="6340968"/>
              <a:chExt cx="976837" cy="1010393"/>
            </a:xfrm>
          </p:grpSpPr>
          <p:sp>
            <p:nvSpPr>
              <p:cNvPr id="116" name="Google Shape;116;p14"/>
              <p:cNvSpPr/>
              <p:nvPr/>
            </p:nvSpPr>
            <p:spPr>
              <a:xfrm>
                <a:off x="2566518" y="6340968"/>
                <a:ext cx="976837" cy="1010393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Assistance and protection logo work people sign Vector Image" id="117" name="Google Shape;117;p14"/>
              <p:cNvPicPr preferRelativeResize="0"/>
              <p:nvPr/>
            </p:nvPicPr>
            <p:blipFill rotWithShape="1">
              <a:blip r:embed="rId11">
                <a:alphaModFix/>
              </a:blip>
              <a:srcRect b="31895" l="20105" r="19154" t="9307"/>
              <a:stretch/>
            </p:blipFill>
            <p:spPr>
              <a:xfrm>
                <a:off x="2781449" y="6523581"/>
                <a:ext cx="577433" cy="60373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Mondial" id="118" name="Google Shape;118;p14">
              <a:hlinkClick r:id="rId12"/>
            </p:cNvPr>
            <p:cNvPicPr preferRelativeResize="0"/>
            <p:nvPr/>
          </p:nvPicPr>
          <p:blipFill rotWithShape="1">
            <a:blip r:embed="rId13">
              <a:alphaModFix/>
            </a:blip>
            <a:srcRect b="7096" l="5390" r="5199" t="6452"/>
            <a:stretch/>
          </p:blipFill>
          <p:spPr>
            <a:xfrm>
              <a:off x="4583484" y="6421371"/>
              <a:ext cx="1387521" cy="6966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9" name="Google Shape;119;p14">
            <a:hlinkClick r:id="rId14"/>
          </p:cNvPr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972461" y="5697245"/>
            <a:ext cx="828603" cy="613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/>
          <p:nvPr/>
        </p:nvSpPr>
        <p:spPr>
          <a:xfrm>
            <a:off x="329746" y="2894441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348343" y="3377037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348343" y="5146851"/>
            <a:ext cx="6198508" cy="541483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garantie CYBER,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jusqu’à 1500€, pour remplacer les équipements personnels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348343" y="4672419"/>
            <a:ext cx="6198508" cy="3918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11 professions éligibles pour le poste médecine naturelle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348343" y="4008856"/>
            <a:ext cx="6198508" cy="56210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application mobile SG SANTÉ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pour vous tenir informé EN QUELQUES SECONDES 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329746" y="5785499"/>
            <a:ext cx="6198508" cy="1052375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maîtrise du budget grâce aux 2 Options ECO 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jusqu’à 12% de réduction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348343" y="6964679"/>
            <a:ext cx="6198508" cy="80938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L’accès au réseau de soins Santéclair,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soins moins onéreux et de qualité, de meilleurs remboursements, des tarifs spécialement négociés auprès de professionnels sélectionnés pour leur expertise et leurs compétences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348343" y="7882414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MONDIALE ASSISTANCE en inclusion : 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Services d’Assistance haut de gamme : téléconsultation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(5 consultations /an /bénéficiaire), services d’aide à domicile, téléassistance soutien psychologique, portail coach bienêtre, conseil santé &amp; bien-être</a:t>
            </a:r>
            <a:endParaRPr/>
          </a:p>
        </p:txBody>
      </p:sp>
      <p:grpSp>
        <p:nvGrpSpPr>
          <p:cNvPr id="132" name="Google Shape;132;p15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133" name="Google Shape;133;p15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Wazari Eco+ ?</a:t>
              </a:r>
              <a:endParaRPr/>
            </a:p>
          </p:txBody>
        </p:sp>
        <p:pic>
          <p:nvPicPr>
            <p:cNvPr descr="Bonne idée - Icônes commercialisation gratuites" id="134" name="Google Shape;13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5" name="Google Shape;135;p15"/>
          <p:cNvSpPr/>
          <p:nvPr/>
        </p:nvSpPr>
        <p:spPr>
          <a:xfrm>
            <a:off x="329746" y="2120838"/>
            <a:ext cx="6198508" cy="685061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Eco+, UNE OFFRE COMPÉTITIVE ET ADAPTÉE AU BUDGET DE CHAQUE PROFIL</a:t>
            </a:r>
            <a:endParaRPr/>
          </a:p>
        </p:txBody>
      </p:sp>
      <p:grpSp>
        <p:nvGrpSpPr>
          <p:cNvPr id="136" name="Google Shape;136;p15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37" name="Google Shape;137;p15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38" name="Google Shape;138;p15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Eco+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139" name="Google Shape;139;p15">
                <a:hlinkClick r:id="rId4"/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cheel (@acheel_com) / X" id="140" name="Google Shape;140;p15"/>
            <p:cNvPicPr preferRelativeResize="0"/>
            <p:nvPr/>
          </p:nvPicPr>
          <p:blipFill rotWithShape="1">
            <a:blip r:embed="rId6">
              <a:alphaModFix/>
            </a:blip>
            <a:srcRect b="29293" l="0" r="0" t="30368"/>
            <a:stretch/>
          </p:blipFill>
          <p:spPr>
            <a:xfrm>
              <a:off x="5149266" y="160550"/>
              <a:ext cx="1195640" cy="4822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 txBox="1"/>
          <p:nvPr/>
        </p:nvSpPr>
        <p:spPr>
          <a:xfrm>
            <a:off x="2283732" y="1029786"/>
            <a:ext cx="41801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" name="Google Shape;146;p16"/>
          <p:cNvGrpSpPr/>
          <p:nvPr/>
        </p:nvGrpSpPr>
        <p:grpSpPr>
          <a:xfrm>
            <a:off x="869841" y="1447807"/>
            <a:ext cx="5150068" cy="1200329"/>
            <a:chOff x="925599" y="1029786"/>
            <a:chExt cx="5150068" cy="1200329"/>
          </a:xfrm>
        </p:grpSpPr>
        <p:pic>
          <p:nvPicPr>
            <p:cNvPr descr="ajuster la conception de l'icône créative 15456496 Art vectoriel chez  Vecteezy" id="147" name="Google Shape;147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25599" y="1152972"/>
              <a:ext cx="1408933" cy="10325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" name="Google Shape;148;p16"/>
            <p:cNvSpPr txBox="1"/>
            <p:nvPr/>
          </p:nvSpPr>
          <p:spPr>
            <a:xfrm>
              <a:off x="2283733" y="1029786"/>
              <a:ext cx="3791934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4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Eco+, vous donne la possibilité de réduire votre cotisation</a:t>
              </a:r>
              <a:endParaRPr/>
            </a:p>
          </p:txBody>
        </p:sp>
      </p:grpSp>
      <p:grpSp>
        <p:nvGrpSpPr>
          <p:cNvPr id="149" name="Google Shape;149;p16"/>
          <p:cNvGrpSpPr/>
          <p:nvPr/>
        </p:nvGrpSpPr>
        <p:grpSpPr>
          <a:xfrm>
            <a:off x="491448" y="3397629"/>
            <a:ext cx="4694179" cy="1091998"/>
            <a:chOff x="2024458" y="4953000"/>
            <a:chExt cx="4694179" cy="1091998"/>
          </a:xfrm>
        </p:grpSpPr>
        <p:sp>
          <p:nvSpPr>
            <p:cNvPr id="150" name="Google Shape;150;p16"/>
            <p:cNvSpPr txBox="1"/>
            <p:nvPr/>
          </p:nvSpPr>
          <p:spPr>
            <a:xfrm>
              <a:off x="2024458" y="5036832"/>
              <a:ext cx="4605216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Avec les options « Éco »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jusqu’à 12 % de réduction</a:t>
              </a:r>
              <a:endParaRPr/>
            </a:p>
          </p:txBody>
        </p:sp>
        <p:pic>
          <p:nvPicPr>
            <p:cNvPr descr="Illustration Vectorielle Sac De Banque Vert Avec Signe Dollar Argent  Comptant Symbole De L'économie Bancaire | Vecteur Premium"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14167" l="19530" r="18885" t="12806"/>
            <a:stretch/>
          </p:blipFill>
          <p:spPr>
            <a:xfrm>
              <a:off x="5797719" y="4953000"/>
              <a:ext cx="920918" cy="109199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2" name="Google Shape;152;p16"/>
          <p:cNvGrpSpPr/>
          <p:nvPr/>
        </p:nvGrpSpPr>
        <p:grpSpPr>
          <a:xfrm>
            <a:off x="1714094" y="5077698"/>
            <a:ext cx="5472665" cy="830997"/>
            <a:chOff x="2463800" y="6214899"/>
            <a:chExt cx="5108106" cy="830997"/>
          </a:xfrm>
        </p:grpSpPr>
        <p:sp>
          <p:nvSpPr>
            <p:cNvPr id="153" name="Google Shape;153;p16"/>
            <p:cNvSpPr txBox="1"/>
            <p:nvPr/>
          </p:nvSpPr>
          <p:spPr>
            <a:xfrm>
              <a:off x="3779972" y="6214899"/>
              <a:ext cx="3791934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Garanties exclues :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suppression de la chambre particulière et médicaments non remboursés par le RO). </a:t>
              </a:r>
              <a:endParaRPr/>
            </a:p>
          </p:txBody>
        </p:sp>
        <p:sp>
          <p:nvSpPr>
            <p:cNvPr id="154" name="Google Shape;154;p16"/>
            <p:cNvSpPr/>
            <p:nvPr/>
          </p:nvSpPr>
          <p:spPr>
            <a:xfrm>
              <a:off x="2463800" y="6266685"/>
              <a:ext cx="1316172" cy="692196"/>
            </a:xfrm>
            <a:prstGeom prst="rect">
              <a:avLst/>
            </a:prstGeom>
            <a:solidFill>
              <a:srgbClr val="92D050"/>
            </a:solidFill>
            <a:ln cap="flat" cmpd="sng" w="127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Option ÉCO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-5%</a:t>
              </a:r>
              <a:endParaRPr/>
            </a:p>
          </p:txBody>
        </p:sp>
      </p:grpSp>
      <p:grpSp>
        <p:nvGrpSpPr>
          <p:cNvPr id="155" name="Google Shape;155;p16"/>
          <p:cNvGrpSpPr/>
          <p:nvPr/>
        </p:nvGrpSpPr>
        <p:grpSpPr>
          <a:xfrm>
            <a:off x="206901" y="6926686"/>
            <a:ext cx="6071979" cy="1569660"/>
            <a:chOff x="1898870" y="6233876"/>
            <a:chExt cx="5376265" cy="1569660"/>
          </a:xfrm>
        </p:grpSpPr>
        <p:sp>
          <p:nvSpPr>
            <p:cNvPr id="156" name="Google Shape;156;p16"/>
            <p:cNvSpPr txBox="1"/>
            <p:nvPr/>
          </p:nvSpPr>
          <p:spPr>
            <a:xfrm>
              <a:off x="3312341" y="6233876"/>
              <a:ext cx="3962794" cy="1569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Garanties exclues :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suppression de la chambre particulière et médicaments non remboursés par le RO et Remboursement uniquement en 100% Santé sur les postes optique, auditif et dentaire avec maintient de l’orthodontie).</a:t>
              </a:r>
              <a:endParaRPr b="1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6"/>
            <p:cNvSpPr/>
            <p:nvPr/>
          </p:nvSpPr>
          <p:spPr>
            <a:xfrm>
              <a:off x="1898870" y="6335091"/>
              <a:ext cx="1413471" cy="1307106"/>
            </a:xfrm>
            <a:prstGeom prst="rect">
              <a:avLst/>
            </a:prstGeom>
            <a:solidFill>
              <a:srgbClr val="92D050"/>
            </a:solidFill>
            <a:ln cap="flat" cmpd="sng" w="127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Option ÉCO+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-12%</a:t>
              </a:r>
              <a:endParaRPr/>
            </a:p>
          </p:txBody>
        </p:sp>
      </p:grpSp>
      <p:grpSp>
        <p:nvGrpSpPr>
          <p:cNvPr id="158" name="Google Shape;158;p16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59" name="Google Shape;159;p16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60" name="Google Shape;160;p16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Eco+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161" name="Google Shape;161;p16">
                <a:hlinkClick r:id="rId5"/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cheel (@acheel_com) / X" id="162" name="Google Shape;162;p16"/>
            <p:cNvPicPr preferRelativeResize="0"/>
            <p:nvPr/>
          </p:nvPicPr>
          <p:blipFill rotWithShape="1">
            <a:blip r:embed="rId7">
              <a:alphaModFix/>
            </a:blip>
            <a:srcRect b="29293" l="0" r="0" t="30368"/>
            <a:stretch/>
          </p:blipFill>
          <p:spPr>
            <a:xfrm>
              <a:off x="5149266" y="160550"/>
              <a:ext cx="1195640" cy="4822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67" name="Google Shape;16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p17"/>
          <p:cNvGrpSpPr/>
          <p:nvPr/>
        </p:nvGrpSpPr>
        <p:grpSpPr>
          <a:xfrm>
            <a:off x="13524" y="2264276"/>
            <a:ext cx="6653977" cy="1600438"/>
            <a:chOff x="343724" y="2264276"/>
            <a:chExt cx="6464611" cy="1600438"/>
          </a:xfrm>
        </p:grpSpPr>
        <p:pic>
          <p:nvPicPr>
            <p:cNvPr descr="Feingeist - Lunette Pour Les Ecran - Free Transparent PNG Clipart Images  Download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3724" y="2264276"/>
              <a:ext cx="1272560" cy="57037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17"/>
            <p:cNvSpPr txBox="1"/>
            <p:nvPr/>
          </p:nvSpPr>
          <p:spPr>
            <a:xfrm>
              <a:off x="1382902" y="2264276"/>
              <a:ext cx="5425433" cy="1600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optique de Santéclair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choix parmi 80 montures exclusives de la collection « Nove Design »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jusqu’à – 20 % sur les montures; – 15% sur les solaires de grandes marques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une garantie casse sans franchise durant deux années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verres de grandes marques: (Essilor, Nikon, Optiswiss ou Zeiss).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1" name="Google Shape;171;p17"/>
          <p:cNvGrpSpPr/>
          <p:nvPr/>
        </p:nvGrpSpPr>
        <p:grpSpPr>
          <a:xfrm>
            <a:off x="1314808" y="4312618"/>
            <a:ext cx="5409936" cy="954107"/>
            <a:chOff x="1730184" y="4376845"/>
            <a:chExt cx="4992359" cy="954107"/>
          </a:xfrm>
        </p:grpSpPr>
        <p:pic>
          <p:nvPicPr>
            <p:cNvPr descr="Icône D'oreille Pour Vos Sites De Conception Et Projets PNG , Audio, Oreille,  Écoutez Licône PNG et vecteur pour téléchargement gratuit" id="172" name="Google Shape;172;p17"/>
            <p:cNvPicPr preferRelativeResize="0"/>
            <p:nvPr/>
          </p:nvPicPr>
          <p:blipFill rotWithShape="1">
            <a:blip r:embed="rId5">
              <a:alphaModFix/>
            </a:blip>
            <a:srcRect b="18905" l="27976" r="29441" t="19011"/>
            <a:stretch/>
          </p:blipFill>
          <p:spPr>
            <a:xfrm>
              <a:off x="1730184" y="4471524"/>
              <a:ext cx="445059" cy="648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3" name="Google Shape;173;p17"/>
            <p:cNvSpPr txBox="1"/>
            <p:nvPr/>
          </p:nvSpPr>
          <p:spPr>
            <a:xfrm>
              <a:off x="2175244" y="4376845"/>
              <a:ext cx="4547299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Audio de Santéclair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tarifs avantageux : jusqu’à – 35% sur le prix du marché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-10% sur les accessoires, -20% sur les piles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ne garantie « Satisfait ou échangé »</a:t>
              </a:r>
              <a:endParaRPr/>
            </a:p>
          </p:txBody>
        </p:sp>
      </p:grpSp>
      <p:grpSp>
        <p:nvGrpSpPr>
          <p:cNvPr id="174" name="Google Shape;174;p17"/>
          <p:cNvGrpSpPr/>
          <p:nvPr/>
        </p:nvGrpSpPr>
        <p:grpSpPr>
          <a:xfrm>
            <a:off x="239620" y="5760973"/>
            <a:ext cx="5653180" cy="1815882"/>
            <a:chOff x="521694" y="6041286"/>
            <a:chExt cx="5653180" cy="1815882"/>
          </a:xfrm>
        </p:grpSpPr>
        <p:pic>
          <p:nvPicPr>
            <p:cNvPr descr="Bouton Logo Les Dents - Images vectorielles gratuites sur Pixabay - Pixabay" id="175" name="Google Shape;175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1694" y="6128182"/>
              <a:ext cx="665284" cy="6652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17"/>
            <p:cNvSpPr txBox="1"/>
            <p:nvPr/>
          </p:nvSpPr>
          <p:spPr>
            <a:xfrm>
              <a:off x="1144276" y="6041286"/>
              <a:ext cx="5030598" cy="18158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Le partenariat Dentaire de Santéclair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’accès à 50 cabinets spécialisés en implantologie dentaire, avec 50 chirurgiens-dentistes spécialistes de cette discipline</a:t>
              </a: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jusqu’à moins 40 % par rapport aux prix habituellement pratiqué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n certificat qui vous garantira la provenance de l’implant ou de la prothèse.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annuaire de géolocalisation</a:t>
              </a:r>
              <a:endParaRPr/>
            </a:p>
          </p:txBody>
        </p:sp>
      </p:grpSp>
      <p:grpSp>
        <p:nvGrpSpPr>
          <p:cNvPr id="177" name="Google Shape;177;p17"/>
          <p:cNvGrpSpPr/>
          <p:nvPr/>
        </p:nvGrpSpPr>
        <p:grpSpPr>
          <a:xfrm>
            <a:off x="1261356" y="7858144"/>
            <a:ext cx="5526794" cy="1384995"/>
            <a:chOff x="1261356" y="7832744"/>
            <a:chExt cx="5406144" cy="1384995"/>
          </a:xfrm>
        </p:grpSpPr>
        <p:pic>
          <p:nvPicPr>
            <p:cNvPr descr="Centre d'ostéopathie - Roxane Gervais St-Amour D.O." id="178" name="Google Shape;178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261356" y="7910070"/>
              <a:ext cx="719680" cy="72289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17"/>
            <p:cNvSpPr txBox="1"/>
            <p:nvPr/>
          </p:nvSpPr>
          <p:spPr>
            <a:xfrm>
              <a:off x="1739850" y="7832744"/>
              <a:ext cx="492765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Le réseau Ostéopathie de Santéclair vous garantie: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accès Un réseau d’ostéopathes et de diététiciennes choisis en fonction de leur compétence et de leur sérieux.</a:t>
              </a:r>
              <a:endParaRPr/>
            </a:p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es tarifs encadrés et calculés en fonction de leurs zones géographiques, du tiers payant, et de la rapidité du traitement de leur prise en charge grâce aux services en ligne.</a:t>
              </a:r>
              <a:endParaRPr/>
            </a:p>
          </p:txBody>
        </p:sp>
      </p:grpSp>
      <p:grpSp>
        <p:nvGrpSpPr>
          <p:cNvPr id="180" name="Google Shape;180;p17"/>
          <p:cNvGrpSpPr/>
          <p:nvPr/>
        </p:nvGrpSpPr>
        <p:grpSpPr>
          <a:xfrm>
            <a:off x="668442" y="964598"/>
            <a:ext cx="5561135" cy="954107"/>
            <a:chOff x="668442" y="964598"/>
            <a:chExt cx="5561135" cy="954107"/>
          </a:xfrm>
        </p:grpSpPr>
        <p:sp>
          <p:nvSpPr>
            <p:cNvPr id="181" name="Google Shape;181;p17"/>
            <p:cNvSpPr txBox="1"/>
            <p:nvPr/>
          </p:nvSpPr>
          <p:spPr>
            <a:xfrm>
              <a:off x="2049462" y="964598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rgbClr val="0070C0"/>
                  </a:solidFill>
                  <a:latin typeface="Calibri"/>
                  <a:ea typeface="Calibri"/>
                  <a:cs typeface="Calibri"/>
                  <a:sym typeface="Calibri"/>
                </a:rPr>
                <a:t>Pourquoi passer par le réseau de soin Santéclair ?</a:t>
              </a:r>
              <a:endParaRPr/>
            </a:p>
          </p:txBody>
        </p:sp>
        <p:pic>
          <p:nvPicPr>
            <p:cNvPr id="182" name="Google Shape;182;p17">
              <a:hlinkClick r:id="rId7"/>
            </p:cNvPr>
            <p:cNvPicPr preferRelativeResize="0"/>
            <p:nvPr/>
          </p:nvPicPr>
          <p:blipFill rotWithShape="1">
            <a:blip r:embed="rId8">
              <a:alphaModFix/>
            </a:blip>
            <a:srcRect b="21179" l="5068" r="7825" t="23731"/>
            <a:stretch/>
          </p:blipFill>
          <p:spPr>
            <a:xfrm>
              <a:off x="668442" y="1078629"/>
              <a:ext cx="1430087" cy="73774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3" name="Google Shape;183;p17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84" name="Google Shape;184;p17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85" name="Google Shape;185;p17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Eco+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186" name="Google Shape;186;p17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cheel (@acheel_com) / X" id="187" name="Google Shape;187;p17"/>
            <p:cNvPicPr preferRelativeResize="0"/>
            <p:nvPr/>
          </p:nvPicPr>
          <p:blipFill rotWithShape="1">
            <a:blip r:embed="rId11">
              <a:alphaModFix/>
            </a:blip>
            <a:srcRect b="29293" l="0" r="0" t="30368"/>
            <a:stretch/>
          </p:blipFill>
          <p:spPr>
            <a:xfrm>
              <a:off x="5149266" y="160550"/>
              <a:ext cx="1195640" cy="4822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92" name="Google Shape;1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3" name="Google Shape;193;p18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94" name="Google Shape;194;p18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95" name="Google Shape;195;p18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Eco+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196" name="Google Shape;196;p18">
                <a:hlinkClick r:id="rId4"/>
              </p:cNvPr>
              <p:cNvPicPr preferRelativeResize="0"/>
              <p:nvPr/>
            </p:nvPicPr>
            <p:blipFill rotWithShape="1">
              <a:blip r:embed="rId5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cheel (@acheel_com) / X" id="197" name="Google Shape;197;p18"/>
            <p:cNvPicPr preferRelativeResize="0"/>
            <p:nvPr/>
          </p:nvPicPr>
          <p:blipFill rotWithShape="1">
            <a:blip r:embed="rId6">
              <a:alphaModFix/>
            </a:blip>
            <a:srcRect b="29293" l="0" r="0" t="30368"/>
            <a:stretch/>
          </p:blipFill>
          <p:spPr>
            <a:xfrm>
              <a:off x="5149266" y="160550"/>
              <a:ext cx="1195640" cy="4822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18"/>
          <p:cNvSpPr txBox="1"/>
          <p:nvPr/>
        </p:nvSpPr>
        <p:spPr>
          <a:xfrm>
            <a:off x="1771536" y="1261789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MONDIAL ?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1089547" y="2440882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MONDIAL Assistance, vous propose gratuitement:</a:t>
            </a:r>
            <a:endParaRPr/>
          </a:p>
        </p:txBody>
      </p:sp>
      <p:grpSp>
        <p:nvGrpSpPr>
          <p:cNvPr id="200" name="Google Shape;200;p18"/>
          <p:cNvGrpSpPr/>
          <p:nvPr/>
        </p:nvGrpSpPr>
        <p:grpSpPr>
          <a:xfrm>
            <a:off x="253134" y="3372455"/>
            <a:ext cx="6020613" cy="811475"/>
            <a:chOff x="400050" y="2786464"/>
            <a:chExt cx="6020613" cy="811475"/>
          </a:xfrm>
        </p:grpSpPr>
        <p:sp>
          <p:nvSpPr>
            <p:cNvPr id="201" name="Google Shape;201;p18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</a:t>
              </a:r>
              <a:endParaRPr/>
            </a:p>
          </p:txBody>
        </p:sp>
        <p:pic>
          <p:nvPicPr>
            <p:cNvPr id="202" name="Google Shape;202;p1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3" name="Google Shape;203;p18"/>
          <p:cNvGrpSpPr/>
          <p:nvPr/>
        </p:nvGrpSpPr>
        <p:grpSpPr>
          <a:xfrm>
            <a:off x="964936" y="4340882"/>
            <a:ext cx="5639929" cy="662278"/>
            <a:chOff x="222327" y="3957748"/>
            <a:chExt cx="6053947" cy="662278"/>
          </a:xfrm>
        </p:grpSpPr>
        <p:sp>
          <p:nvSpPr>
            <p:cNvPr id="204" name="Google Shape;204;p18"/>
            <p:cNvSpPr txBox="1"/>
            <p:nvPr/>
          </p:nvSpPr>
          <p:spPr>
            <a:xfrm>
              <a:off x="943701" y="4097900"/>
              <a:ext cx="533257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Livraison des médicaments et matériel médical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05" name="Google Shape;205;p1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6" name="Google Shape;206;p18"/>
          <p:cNvGrpSpPr/>
          <p:nvPr/>
        </p:nvGrpSpPr>
        <p:grpSpPr>
          <a:xfrm>
            <a:off x="478237" y="5692536"/>
            <a:ext cx="5625681" cy="698501"/>
            <a:chOff x="252596" y="7749113"/>
            <a:chExt cx="5625681" cy="698501"/>
          </a:xfrm>
        </p:grpSpPr>
        <p:pic>
          <p:nvPicPr>
            <p:cNvPr id="207" name="Google Shape;207;p1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52596" y="7749113"/>
              <a:ext cx="765169" cy="6985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8" name="Google Shape;208;p18"/>
            <p:cNvSpPr txBox="1"/>
            <p:nvPr/>
          </p:nvSpPr>
          <p:spPr>
            <a:xfrm>
              <a:off x="1017765" y="7903002"/>
              <a:ext cx="486051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Un soutien pédagogique pour les enfants immobilisés</a:t>
              </a:r>
              <a:endParaRPr/>
            </a:p>
          </p:txBody>
        </p:sp>
      </p:grpSp>
      <p:pic>
        <p:nvPicPr>
          <p:cNvPr descr="Mondial" id="209" name="Google Shape;209;p18">
            <a:hlinkClick r:id="rId10"/>
          </p:cNvPr>
          <p:cNvPicPr preferRelativeResize="0"/>
          <p:nvPr/>
        </p:nvPicPr>
        <p:blipFill rotWithShape="1">
          <a:blip r:embed="rId11">
            <a:alphaModFix/>
          </a:blip>
          <a:srcRect b="7096" l="5390" r="5199" t="6452"/>
          <a:stretch/>
        </p:blipFill>
        <p:spPr>
          <a:xfrm>
            <a:off x="478237" y="1370247"/>
            <a:ext cx="1387521" cy="696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14" name="Google Shape;21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15" name="Google Shape;215;p19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1052692"/>
            <a:ext cx="1489221" cy="106094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468231" y="2476003"/>
            <a:ext cx="6078619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100% Santé vous permet d’accéder à une offre sans reste à charge sur une sélection d’équipements en dentaire, optique et pour les aides auditives. Les paniers 100% Santé seront pris en charge intégralement par la Sécurité Sociale et la complémentaire santé.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vous ne souhaitez pas bénéficier des équipements compris dans ces paniers, les remboursements se feront selon le niveau de garanties que vous avez choisi.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196387" y="450694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QU’EST-CE QUI CHANGE EN PRATIQUE ?</a:t>
            </a:r>
            <a:endParaRPr/>
          </a:p>
        </p:txBody>
      </p:sp>
      <p:pic>
        <p:nvPicPr>
          <p:cNvPr id="218" name="Google Shape;21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231" y="5368177"/>
            <a:ext cx="2158618" cy="1831149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9"/>
          <p:cNvSpPr txBox="1"/>
          <p:nvPr/>
        </p:nvSpPr>
        <p:spPr>
          <a:xfrm>
            <a:off x="3444875" y="4969962"/>
            <a:ext cx="24602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 professionnel de santé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proposera obligatoirement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2 OFFRES</a:t>
            </a:r>
            <a:endParaRPr/>
          </a:p>
        </p:txBody>
      </p:sp>
      <p:sp>
        <p:nvSpPr>
          <p:cNvPr id="220" name="Google Shape;220;p19"/>
          <p:cNvSpPr txBox="1"/>
          <p:nvPr/>
        </p:nvSpPr>
        <p:spPr>
          <a:xfrm>
            <a:off x="2578219" y="6211555"/>
            <a:ext cx="176005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sans Reste à charge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4829920" y="6208601"/>
            <a:ext cx="202808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1 Devis « Classique »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320433" y="7864329"/>
            <a:ext cx="388067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Mais aussi:</a:t>
            </a:r>
            <a:endParaRPr/>
          </a:p>
        </p:txBody>
      </p:sp>
      <p:cxnSp>
        <p:nvCxnSpPr>
          <p:cNvPr id="223" name="Google Shape;223;p19"/>
          <p:cNvCxnSpPr/>
          <p:nvPr/>
        </p:nvCxnSpPr>
        <p:spPr>
          <a:xfrm>
            <a:off x="4760070" y="5831736"/>
            <a:ext cx="520276" cy="35051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24" name="Google Shape;224;p19"/>
          <p:cNvCxnSpPr/>
          <p:nvPr/>
        </p:nvCxnSpPr>
        <p:spPr>
          <a:xfrm flipH="1">
            <a:off x="4077063" y="5831736"/>
            <a:ext cx="433750" cy="360899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5" name="Google Shape;225;p19"/>
          <p:cNvSpPr txBox="1"/>
          <p:nvPr/>
        </p:nvSpPr>
        <p:spPr>
          <a:xfrm>
            <a:off x="2687429" y="6842131"/>
            <a:ext cx="1513680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Soin ou équipement entrant dans 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100% Santé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4500683" y="6854932"/>
            <a:ext cx="238589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Panier à tarif libre et remboursé par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l’assurance complémentaire dans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conditions prévues par le contrat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330200" y="8327508"/>
            <a:ext cx="655637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Fixation de prix limites de vente (PLV) imposés aux professionnels de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Augmentation de la base de remboursement (BR) du régime obligatoire (RO) &amp; du remboursement des complémentaires santé</a:t>
            </a:r>
            <a:endParaRPr/>
          </a:p>
        </p:txBody>
      </p:sp>
      <p:grpSp>
        <p:nvGrpSpPr>
          <p:cNvPr id="228" name="Google Shape;228;p19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29" name="Google Shape;229;p19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30" name="Google Shape;230;p19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Eco+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231" name="Google Shape;231;p19">
                <a:hlinkClick r:id="rId6"/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cheel (@acheel_com) / X" id="232" name="Google Shape;232;p19"/>
            <p:cNvPicPr preferRelativeResize="0"/>
            <p:nvPr/>
          </p:nvPicPr>
          <p:blipFill rotWithShape="1">
            <a:blip r:embed="rId8">
              <a:alphaModFix/>
            </a:blip>
            <a:srcRect b="29293" l="0" r="0" t="30368"/>
            <a:stretch/>
          </p:blipFill>
          <p:spPr>
            <a:xfrm>
              <a:off x="5149266" y="160550"/>
              <a:ext cx="1195640" cy="4822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237" name="Google Shape;23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00% Santé : des soins pour tous, 100% pris en charge" id="238" name="Google Shape;238;p20"/>
          <p:cNvPicPr preferRelativeResize="0"/>
          <p:nvPr/>
        </p:nvPicPr>
        <p:blipFill rotWithShape="1">
          <a:blip r:embed="rId4">
            <a:alphaModFix/>
          </a:blip>
          <a:srcRect b="13073" l="12590" r="12610" t="9007"/>
          <a:stretch/>
        </p:blipFill>
        <p:spPr>
          <a:xfrm>
            <a:off x="2566913" y="980122"/>
            <a:ext cx="1489221" cy="106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98" y="1992003"/>
            <a:ext cx="5911752" cy="7546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2996154"/>
            <a:ext cx="1147989" cy="641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1" y="5446720"/>
            <a:ext cx="1147989" cy="637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1" y="7991398"/>
            <a:ext cx="1138950" cy="6011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3" name="Google Shape;243;p20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244" name="Google Shape;244;p20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245" name="Google Shape;245;p20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Eco+  by                                        assuré par                                 </a:t>
                </a:r>
                <a:endParaRPr/>
              </a:p>
            </p:txBody>
          </p:sp>
          <p:pic>
            <p:nvPicPr>
              <p:cNvPr id="246" name="Google Shape;246;p20">
                <a:hlinkClick r:id="rId9"/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b="38276" l="15962" r="43629" t="37796"/>
              <a:stretch/>
            </p:blipFill>
            <p:spPr>
              <a:xfrm>
                <a:off x="2242940" y="160332"/>
                <a:ext cx="999216" cy="48251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cheel (@acheel_com) / X" id="247" name="Google Shape;247;p20"/>
            <p:cNvPicPr preferRelativeResize="0"/>
            <p:nvPr/>
          </p:nvPicPr>
          <p:blipFill rotWithShape="1">
            <a:blip r:embed="rId11">
              <a:alphaModFix/>
            </a:blip>
            <a:srcRect b="29293" l="0" r="0" t="30368"/>
            <a:stretch/>
          </p:blipFill>
          <p:spPr>
            <a:xfrm>
              <a:off x="5149266" y="160550"/>
              <a:ext cx="1195640" cy="4822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2018-01-12T04:36:24Z</dcterms:created>
  <dc:creator>Aurelie Racamier</dc:creator>
</cp:coreProperties>
</file>