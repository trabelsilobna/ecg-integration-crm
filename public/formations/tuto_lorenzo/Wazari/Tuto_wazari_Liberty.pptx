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OQstG0TDrNOJcLC4YCCvQKotp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33'!A1" TargetMode="External"/><Relationship Id="rId10" Type="http://schemas.openxmlformats.org/officeDocument/2006/relationships/image" Target="../media/image13.png"/><Relationship Id="rId13" Type="http://schemas.openxmlformats.org/officeDocument/2006/relationships/image" Target="../media/image10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hyperlink" Target="#'1'!A1" TargetMode="External"/><Relationship Id="rId15" Type="http://schemas.openxmlformats.org/officeDocument/2006/relationships/image" Target="../media/image5.png"/><Relationship Id="rId14" Type="http://schemas.openxmlformats.org/officeDocument/2006/relationships/hyperlink" Target="#'5'!A1" TargetMode="External"/><Relationship Id="rId5" Type="http://schemas.openxmlformats.org/officeDocument/2006/relationships/image" Target="../media/image17.jpg"/><Relationship Id="rId6" Type="http://schemas.openxmlformats.org/officeDocument/2006/relationships/hyperlink" Target="#'9'!A1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#'33'!A1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1.png"/><Relationship Id="rId5" Type="http://schemas.openxmlformats.org/officeDocument/2006/relationships/hyperlink" Target="#'33'!A1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30.jpg"/><Relationship Id="rId7" Type="http://schemas.openxmlformats.org/officeDocument/2006/relationships/hyperlink" Target="#'1'!A1" TargetMode="External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3.png"/><Relationship Id="rId13" Type="http://schemas.openxmlformats.org/officeDocument/2006/relationships/image" Target="../media/image25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hyperlink" Target="#'33'!A1" TargetMode="External"/><Relationship Id="rId9" Type="http://schemas.openxmlformats.org/officeDocument/2006/relationships/image" Target="../media/image22.png"/><Relationship Id="rId14" Type="http://schemas.openxmlformats.org/officeDocument/2006/relationships/image" Target="../media/image33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hyperlink" Target="#'9'!A1" TargetMode="External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hyperlink" Target="#'33'!A1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34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jp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option Eco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2045763" y="1579801"/>
            <a:ext cx="976837" cy="1010393"/>
            <a:chOff x="2109263" y="1465142"/>
            <a:chExt cx="976837" cy="1010393"/>
          </a:xfrm>
        </p:grpSpPr>
        <p:sp>
          <p:nvSpPr>
            <p:cNvPr id="92" name="Google Shape;9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18-85 ans</a:t>
            </a:r>
            <a:endParaRPr/>
          </a:p>
        </p:txBody>
      </p:sp>
      <p:grpSp>
        <p:nvGrpSpPr>
          <p:cNvPr id="96" name="Google Shape;96;p14"/>
          <p:cNvGrpSpPr/>
          <p:nvPr/>
        </p:nvGrpSpPr>
        <p:grpSpPr>
          <a:xfrm>
            <a:off x="2687649" y="5275701"/>
            <a:ext cx="3759200" cy="1463934"/>
            <a:chOff x="2841625" y="4500433"/>
            <a:chExt cx="3759200" cy="1463934"/>
          </a:xfrm>
        </p:grpSpPr>
        <p:sp>
          <p:nvSpPr>
            <p:cNvPr id="97" name="Google Shape;97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98" name="Google Shape;98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99" name="Google Shape;99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00" name="Google Shape;100;p14"/>
              <p:cNvPicPr preferRelativeResize="0"/>
              <p:nvPr/>
            </p:nvPicPr>
            <p:blipFill rotWithShape="1">
              <a:blip r:embed="rId4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1" name="Google Shape;101;p14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02" name="Google Shape;102;p14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" name="Google Shape;103;p14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05" name="Google Shape;105;p14"/>
              <p:cNvPicPr preferRelativeResize="0"/>
              <p:nvPr/>
            </p:nvPicPr>
            <p:blipFill rotWithShape="1">
              <a:blip r:embed="rId5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Comment contacter Inter Mutuelles Assistance ?" id="106" name="Google Shape;106;p1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3857" l="0" r="4129" t="28225"/>
          <a:stretch/>
        </p:blipFill>
        <p:spPr>
          <a:xfrm>
            <a:off x="4040825" y="7685854"/>
            <a:ext cx="1308959" cy="72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2712230" y="320611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 u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de 220 000 professionnels adhérents qui proposent des tarifs négociés pour les bénéficiaires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2773315" y="3345893"/>
            <a:ext cx="976837" cy="1010393"/>
            <a:chOff x="2548471" y="3049424"/>
            <a:chExt cx="976837" cy="1010393"/>
          </a:xfrm>
        </p:grpSpPr>
        <p:sp>
          <p:nvSpPr>
            <p:cNvPr id="109" name="Google Shape;109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10" name="Google Shape;110;p14"/>
            <p:cNvPicPr preferRelativeResize="0"/>
            <p:nvPr/>
          </p:nvPicPr>
          <p:blipFill rotWithShape="1">
            <a:blip r:embed="rId8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" name="Google Shape;111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25552" y="3538021"/>
            <a:ext cx="754634" cy="7188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3" name="Google Shape;11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LIBERTY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15" name="Google Shape;115;p14">
                <a:hlinkClick r:id="rId11"/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6" name="Google Shape;116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061286" y="135323"/>
              <a:ext cx="1371600" cy="561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39752" y="1709542"/>
            <a:ext cx="13716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71569" y="5662125"/>
            <a:ext cx="1156430" cy="65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67241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 professions éligibles pour le poste médecine naturelle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48343" y="4008856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application mobile SG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vous tenir informé EN QUELQUES SECONDES 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29746" y="5899800"/>
            <a:ext cx="6198508" cy="59081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maîtrise du budget grâce L’option ECO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jusqu’à 5% de réduction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9" name="Google Shape;129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Wazari Eco+ ?</a:t>
              </a:r>
              <a:endParaRPr/>
            </a:p>
          </p:txBody>
        </p:sp>
        <p:pic>
          <p:nvPicPr>
            <p:cNvPr descr="Bonne idée - Icônes commercialisation gratuites" id="130" name="Google Shape;13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5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OFFRE COMPÉTITIVE ET ADAPTÉE AU BUDGET DE CHAQUE PROFIL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348343" y="5194689"/>
            <a:ext cx="6198508" cy="59081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ACCÈS À LA TÉLÉCONSULTATION EN LIGNE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24h/24 et 7j/7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345621" y="8005266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45621" y="6642457"/>
            <a:ext cx="6198508" cy="120518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Carte Blanche.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8000 centres d’optiques, 9450 chirurgiens-dentistes et orthodontistes et 857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6" name="Google Shape;136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LIBERTY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38" name="Google Shape;138;p15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9" name="Google Shape;13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61286" y="135323"/>
              <a:ext cx="1371600" cy="561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" name="Google Shape;145;p16"/>
          <p:cNvGrpSpPr/>
          <p:nvPr/>
        </p:nvGrpSpPr>
        <p:grpSpPr>
          <a:xfrm>
            <a:off x="869841" y="1447807"/>
            <a:ext cx="5150068" cy="120032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6" name="Google Shape;14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Eco+, vous donne la possibilité de réduire votre cotisation</a:t>
              </a:r>
              <a:endParaRPr/>
            </a:p>
          </p:txBody>
        </p:sp>
      </p:grpSp>
      <p:grpSp>
        <p:nvGrpSpPr>
          <p:cNvPr id="148" name="Google Shape;148;p16"/>
          <p:cNvGrpSpPr/>
          <p:nvPr/>
        </p:nvGrpSpPr>
        <p:grpSpPr>
          <a:xfrm>
            <a:off x="491448" y="3397629"/>
            <a:ext cx="4694179" cy="1091998"/>
            <a:chOff x="2024458" y="4953000"/>
            <a:chExt cx="4694179" cy="1091998"/>
          </a:xfrm>
        </p:grpSpPr>
        <p:sp>
          <p:nvSpPr>
            <p:cNvPr id="149" name="Google Shape;149;p16"/>
            <p:cNvSpPr txBox="1"/>
            <p:nvPr/>
          </p:nvSpPr>
          <p:spPr>
            <a:xfrm>
              <a:off x="2024458" y="5036832"/>
              <a:ext cx="4605216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Avec l’ options « Éco »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jusqu’à 5 % de réduction</a:t>
              </a:r>
              <a:endParaRPr/>
            </a:p>
          </p:txBody>
        </p:sp>
        <p:pic>
          <p:nvPicPr>
            <p:cNvPr descr="Illustration Vectorielle Sac De Banque Vert Avec Signe Dollar Argent  Comptant Symbole De L'économie Bancaire | Vecteur Premium" id="150" name="Google Shape;150;p16"/>
            <p:cNvPicPr preferRelativeResize="0"/>
            <p:nvPr/>
          </p:nvPicPr>
          <p:blipFill rotWithShape="1">
            <a:blip r:embed="rId4">
              <a:alphaModFix/>
            </a:blip>
            <a:srcRect b="14167" l="19530" r="18885" t="12806"/>
            <a:stretch/>
          </p:blipFill>
          <p:spPr>
            <a:xfrm>
              <a:off x="5797719" y="4953000"/>
              <a:ext cx="920918" cy="10919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6"/>
          <p:cNvGrpSpPr/>
          <p:nvPr/>
        </p:nvGrpSpPr>
        <p:grpSpPr>
          <a:xfrm>
            <a:off x="1714094" y="5077698"/>
            <a:ext cx="5472665" cy="830997"/>
            <a:chOff x="2463800" y="6214899"/>
            <a:chExt cx="5108106" cy="830997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3779972" y="6214899"/>
              <a:ext cx="379193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 et médicaments non remboursés par le RO). </a:t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463800" y="6266685"/>
              <a:ext cx="1316172" cy="69219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ÉCO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-5%</a:t>
              </a:r>
              <a:endParaRPr/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5" name="Google Shape;155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6" name="Google Shape;156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LIBERTY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57" name="Google Shape;157;p16">
                <a:hlinkClick r:id="rId5"/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8" name="Google Shape;158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61286" y="135323"/>
              <a:ext cx="1371600" cy="561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809300" y="1112993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passer par le réseau de soin Carte Blanche ?</a:t>
            </a:r>
            <a:endParaRPr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474657" y="2154193"/>
            <a:ext cx="6247577" cy="2677656"/>
            <a:chOff x="343724" y="2264276"/>
            <a:chExt cx="6069776" cy="2677656"/>
          </a:xfrm>
        </p:grpSpPr>
        <p:pic>
          <p:nvPicPr>
            <p:cNvPr descr="Feingeist - Lunette Pour Les Ecran - Free Transparent PNG Clipart Images  Download" id="166" name="Google Shape;16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7"/>
            <p:cNvSpPr txBox="1"/>
            <p:nvPr/>
          </p:nvSpPr>
          <p:spPr>
            <a:xfrm>
              <a:off x="1382902" y="2264276"/>
              <a:ext cx="5030598" cy="2677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des équipements optique (lentilles et lunettes) :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40 %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garanties supplémentaires: comme une protection contre la casse pendant 2 ans, l’adaptation des verres pendant 6 mois, L’entretien et le réajustement des lunettes gratuits chez l’opticien fournisseur.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large choix grâce à un catalogue de plus de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66 000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références.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pour ne pas avancer d’argent à l’achat d’une paire de lunettes ou de lentilles.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Deux devis complets avant l’achat d’un équipement optique.</a:t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1902611" y="4987543"/>
            <a:ext cx="4970665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69" name="Google Shape;169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(jusqu’à 20 % de réduction), une vraie expertise, des facilités de paiement et un suivi régulier pour adapter au mieux vos appareils auditifs.</a:t>
              </a:r>
              <a:endParaRPr/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-15276" y="6097345"/>
            <a:ext cx="6688445" cy="2462213"/>
            <a:chOff x="521694" y="6041286"/>
            <a:chExt cx="5897889" cy="2462213"/>
          </a:xfrm>
        </p:grpSpPr>
        <p:pic>
          <p:nvPicPr>
            <p:cNvPr descr="Bouton Logo Les Dents - Images vectorielles gratuites sur Pixabay - Pixabay" id="172" name="Google Shape;17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7"/>
            <p:cNvSpPr txBox="1"/>
            <p:nvPr/>
          </p:nvSpPr>
          <p:spPr>
            <a:xfrm>
              <a:off x="1144276" y="6041286"/>
              <a:ext cx="5275307" cy="246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les prothèses dentaires : jusqu’à 15 % 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équipement de qualité grâce à la traçabilité des prothèses dentaires (certification des laboratoires choisis et respect des règlements européens).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prévention bucco-dentaire favorisée grâce au partenariat avec l’UFSBD (Union Française pour la Santé Bucco Dentaire).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national pour ne pas avancer les frais de vos soins.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des dentistes partenaires en ligne pour trouver le professionnel le plus proche de vous</a:t>
              </a:r>
              <a:endParaRPr/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1373802" y="8715253"/>
            <a:ext cx="5250293" cy="954107"/>
            <a:chOff x="1261356" y="7842852"/>
            <a:chExt cx="5526794" cy="954107"/>
          </a:xfrm>
        </p:grpSpPr>
        <p:pic>
          <p:nvPicPr>
            <p:cNvPr descr="Centre d'ostéopathie - Roxane Gervais St-Amour D.O." id="175" name="Google Shape;17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 txBox="1"/>
            <p:nvPr/>
          </p:nvSpPr>
          <p:spPr>
            <a:xfrm>
              <a:off x="1860500" y="7842852"/>
              <a:ext cx="492765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Prévention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la pratique de certaines médecines douces (chez l’ostéopathe, le diététicien, le pédicure, le podologue…).</a:t>
              </a:r>
              <a:endParaRPr/>
            </a:p>
          </p:txBody>
        </p:sp>
      </p:grpSp>
      <p:pic>
        <p:nvPicPr>
          <p:cNvPr id="177" name="Google Shape;177;p17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071" y="1049440"/>
            <a:ext cx="1092540" cy="10407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9" name="Google Shape;179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LIBERTY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81" name="Google Shape;181;p17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2" name="Google Shape;182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61286" y="135323"/>
              <a:ext cx="1371600" cy="561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89" name="Google Shape;189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0" name="Google Shape;190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LIBERTY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91" name="Google Shape;191;p18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2" name="Google Shape;19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61286" y="135323"/>
              <a:ext cx="1371600" cy="561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93" name="Google Shape;193;p18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23857" l="0" r="4129" t="28225"/>
          <a:stretch/>
        </p:blipFill>
        <p:spPr>
          <a:xfrm>
            <a:off x="993948" y="1028092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1999662" y="10044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56518" y="27475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96" name="Google Shape;196;p18"/>
          <p:cNvGrpSpPr/>
          <p:nvPr/>
        </p:nvGrpSpPr>
        <p:grpSpPr>
          <a:xfrm>
            <a:off x="120105" y="3679145"/>
            <a:ext cx="6020613" cy="811475"/>
            <a:chOff x="400050" y="2786464"/>
            <a:chExt cx="6020613" cy="811475"/>
          </a:xfrm>
        </p:grpSpPr>
        <p:sp>
          <p:nvSpPr>
            <p:cNvPr id="197" name="Google Shape;197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98" name="Google Shape;198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18"/>
          <p:cNvGrpSpPr/>
          <p:nvPr/>
        </p:nvGrpSpPr>
        <p:grpSpPr>
          <a:xfrm>
            <a:off x="831907" y="4647572"/>
            <a:ext cx="5639929" cy="878816"/>
            <a:chOff x="222327" y="3957748"/>
            <a:chExt cx="6053947" cy="878816"/>
          </a:xfrm>
        </p:grpSpPr>
        <p:sp>
          <p:nvSpPr>
            <p:cNvPr id="200" name="Google Shape;200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" name="Google Shape;201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8"/>
          <p:cNvGrpSpPr/>
          <p:nvPr/>
        </p:nvGrpSpPr>
        <p:grpSpPr>
          <a:xfrm>
            <a:off x="120105" y="5683375"/>
            <a:ext cx="6198819" cy="733785"/>
            <a:chOff x="222327" y="5188381"/>
            <a:chExt cx="6198819" cy="733785"/>
          </a:xfrm>
        </p:grpSpPr>
        <p:pic>
          <p:nvPicPr>
            <p:cNvPr id="203" name="Google Shape;203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18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956518" y="6634436"/>
            <a:ext cx="5781376" cy="613892"/>
            <a:chOff x="449887" y="6368680"/>
            <a:chExt cx="5781376" cy="613892"/>
          </a:xfrm>
        </p:grpSpPr>
        <p:sp>
          <p:nvSpPr>
            <p:cNvPr id="206" name="Google Shape;206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207" name="Google Shape;207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18"/>
          <p:cNvGrpSpPr/>
          <p:nvPr/>
        </p:nvGrpSpPr>
        <p:grpSpPr>
          <a:xfrm>
            <a:off x="338188" y="7448597"/>
            <a:ext cx="5980735" cy="762965"/>
            <a:chOff x="319683" y="6589531"/>
            <a:chExt cx="5980735" cy="762965"/>
          </a:xfrm>
        </p:grpSpPr>
        <p:pic>
          <p:nvPicPr>
            <p:cNvPr id="209" name="Google Shape;209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211" name="Google Shape;21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6350" y="8411830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1675618" y="8522932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8" name="Google Shape;218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26" name="Google Shape;226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7" name="Google Shape;227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8" name="Google Shape;228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31" name="Google Shape;231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32" name="Google Shape;232;p19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33" name="Google Shape;233;p1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34" name="Google Shape;234;p19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235" name="Google Shape;235;p19"/>
            <p:cNvPicPr preferRelativeResize="0"/>
            <p:nvPr/>
          </p:nvPicPr>
          <p:blipFill rotWithShape="1">
            <a:blip r:embed="rId8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41" name="Google Shape;241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0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47" name="Google Shape;247;p2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49" name="Google Shape;249;p2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250" name="Google Shape;250;p20"/>
            <p:cNvPicPr preferRelativeResize="0"/>
            <p:nvPr/>
          </p:nvPicPr>
          <p:blipFill rotWithShape="1">
            <a:blip r:embed="rId11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