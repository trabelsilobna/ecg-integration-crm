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sJ6dfS83RU6EPBdY90aTlpivn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b16df4a50_3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8b16df4a50_3_0:notes"/>
          <p:cNvSpPr/>
          <p:nvPr>
            <p:ph idx="2" type="sldImg"/>
          </p:nvPr>
        </p:nvSpPr>
        <p:spPr>
          <a:xfrm>
            <a:off x="2357438" y="1279525"/>
            <a:ext cx="23892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2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b16df4a50_2_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8b16df4a50_2_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8b16df4a50_2_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8b16df4a50_2_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b16df4a50_2_11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8b16df4a50_2_11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8" name="Google Shape;98;g38b16df4a50_2_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8b16df4a50_2_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8b16df4a50_2_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b16df4a50_2_1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8b16df4a50_2_17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38b16df4a50_2_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8b16df4a50_2_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8b16df4a50_2_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b16df4a50_2_23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8b16df4a50_2_23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g38b16df4a50_2_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8b16df4a50_2_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8b16df4a50_2_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b16df4a50_2_2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8b16df4a50_2_29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g38b16df4a50_2_29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38b16df4a50_2_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8b16df4a50_2_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8b16df4a50_2_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b16df4a50_2_36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8b16df4a50_2_36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23" name="Google Shape;123;g38b16df4a50_2_36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g38b16df4a50_2_36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25" name="Google Shape;125;g38b16df4a50_2_36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g38b16df4a50_2_3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8b16df4a50_2_3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8b16df4a50_2_3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b16df4a50_2_4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8b16df4a50_2_4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8b16df4a50_2_4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b16df4a50_2_4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8b16df4a50_2_4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136" name="Google Shape;136;g38b16df4a50_2_4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37" name="Google Shape;137;g38b16df4a50_2_4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8b16df4a50_2_4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8b16df4a50_2_4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b16df4a50_2_5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8b16df4a50_2_56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g38b16df4a50_2_56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44" name="Google Shape;144;g38b16df4a50_2_5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8b16df4a50_2_5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8b16df4a50_2_5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b16df4a50_2_6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8b16df4a50_2_63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g38b16df4a50_2_6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8b16df4a50_2_6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8b16df4a50_2_6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b16df4a50_2_6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8b16df4a50_2_6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g38b16df4a50_2_6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8b16df4a50_2_6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8b16df4a50_2_6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b16df4a50_2_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g38b16df4a50_2_0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8b16df4a50_2_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8b16df4a50_2_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g38b16df4a50_2_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hyperlink" Target="#'1'!A1" TargetMode="External"/><Relationship Id="rId10" Type="http://schemas.openxmlformats.org/officeDocument/2006/relationships/image" Target="../media/image14.png"/><Relationship Id="rId13" Type="http://schemas.openxmlformats.org/officeDocument/2006/relationships/hyperlink" Target="#'9'!A1" TargetMode="External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jpg"/><Relationship Id="rId9" Type="http://schemas.openxmlformats.org/officeDocument/2006/relationships/hyperlink" Target="#'6'!A1" TargetMode="External"/><Relationship Id="rId15" Type="http://schemas.openxmlformats.org/officeDocument/2006/relationships/hyperlink" Target="#'18'!A1" TargetMode="External"/><Relationship Id="rId14" Type="http://schemas.openxmlformats.org/officeDocument/2006/relationships/image" Target="../media/image2.png"/><Relationship Id="rId17" Type="http://schemas.openxmlformats.org/officeDocument/2006/relationships/image" Target="../media/image15.png"/><Relationship Id="rId16" Type="http://schemas.openxmlformats.org/officeDocument/2006/relationships/image" Target="../media/image3.jpg"/><Relationship Id="rId5" Type="http://schemas.openxmlformats.org/officeDocument/2006/relationships/image" Target="../media/image6.png"/><Relationship Id="rId6" Type="http://schemas.openxmlformats.org/officeDocument/2006/relationships/image" Target="../media/image5.jpg"/><Relationship Id="rId7" Type="http://schemas.openxmlformats.org/officeDocument/2006/relationships/image" Target="../media/image1.jpg"/><Relationship Id="rId8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0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7" Type="http://schemas.openxmlformats.org/officeDocument/2006/relationships/image" Target="../media/image20.jp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2.jpg"/><Relationship Id="rId6" Type="http://schemas.openxmlformats.org/officeDocument/2006/relationships/image" Target="../media/image20.jp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3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hyperlink" Target="#'9'!A1" TargetMode="External"/><Relationship Id="rId9" Type="http://schemas.openxmlformats.org/officeDocument/2006/relationships/image" Target="../media/image28.png"/><Relationship Id="rId5" Type="http://schemas.openxmlformats.org/officeDocument/2006/relationships/image" Target="../media/image2.png"/><Relationship Id="rId6" Type="http://schemas.openxmlformats.org/officeDocument/2006/relationships/image" Target="../media/image35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.jp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45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jpg"/><Relationship Id="rId10" Type="http://schemas.openxmlformats.org/officeDocument/2006/relationships/image" Target="../media/image13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9" Type="http://schemas.openxmlformats.org/officeDocument/2006/relationships/hyperlink" Target="#'26'!A1" TargetMode="External"/><Relationship Id="rId5" Type="http://schemas.openxmlformats.org/officeDocument/2006/relationships/image" Target="../media/image42.png"/><Relationship Id="rId6" Type="http://schemas.openxmlformats.org/officeDocument/2006/relationships/image" Target="../media/image46.png"/><Relationship Id="rId7" Type="http://schemas.openxmlformats.org/officeDocument/2006/relationships/image" Target="../media/image41.png"/><Relationship Id="rId8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8b16df4a50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82" y="163800"/>
            <a:ext cx="6601450" cy="595187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8b16df4a50_3_0"/>
          <p:cNvSpPr txBox="1"/>
          <p:nvPr/>
        </p:nvSpPr>
        <p:spPr>
          <a:xfrm>
            <a:off x="2762589" y="9615363"/>
            <a:ext cx="1388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165" name="Google Shape;165;g38b16df4a50_3_0"/>
          <p:cNvSpPr txBox="1"/>
          <p:nvPr/>
        </p:nvSpPr>
        <p:spPr>
          <a:xfrm>
            <a:off x="189600" y="6544800"/>
            <a:ext cx="6478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Une solution intégrale</a:t>
            </a:r>
            <a:r>
              <a:rPr b="1" lang="fr-FR" sz="5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5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Pour les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ans et+ sans limite d’âge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8b16df4a50_3_0"/>
          <p:cNvSpPr txBox="1"/>
          <p:nvPr/>
        </p:nvSpPr>
        <p:spPr>
          <a:xfrm>
            <a:off x="353138" y="8853050"/>
            <a:ext cx="17133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300" lIns="128300" spcFirstLastPara="1" rIns="128300" wrap="square" tIns="128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4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1" lang="fr-FR" sz="194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Vitamin 3 </a:t>
            </a:r>
            <a:r>
              <a:rPr b="1" lang="fr-FR" sz="26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5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</a:t>
            </a:r>
            <a:endParaRPr sz="1964">
              <a:solidFill>
                <a:srgbClr val="000000"/>
              </a:solidFill>
            </a:endParaRPr>
          </a:p>
        </p:txBody>
      </p:sp>
      <p:sp>
        <p:nvSpPr>
          <p:cNvPr id="167" name="Google Shape;167;g38b16df4a50_3_0"/>
          <p:cNvSpPr txBox="1"/>
          <p:nvPr/>
        </p:nvSpPr>
        <p:spPr>
          <a:xfrm>
            <a:off x="3747036" y="8853050"/>
            <a:ext cx="1713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300" lIns="128300" spcFirstLastPara="1" rIns="128300" wrap="square" tIns="1283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52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assuré par</a:t>
            </a:r>
            <a:endParaRPr sz="1964">
              <a:solidFill>
                <a:srgbClr val="000000"/>
              </a:solidFill>
            </a:endParaRPr>
          </a:p>
        </p:txBody>
      </p:sp>
      <p:pic>
        <p:nvPicPr>
          <p:cNvPr id="168" name="Google Shape;168;g38b16df4a50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799" y="481381"/>
            <a:ext cx="2063074" cy="5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8b16df4a50_3_0"/>
          <p:cNvPicPr preferRelativeResize="0"/>
          <p:nvPr/>
        </p:nvPicPr>
        <p:blipFill rotWithShape="1">
          <a:blip r:embed="rId5">
            <a:alphaModFix/>
          </a:blip>
          <a:srcRect b="45864" l="58662" r="7103" t="23684"/>
          <a:stretch/>
        </p:blipFill>
        <p:spPr>
          <a:xfrm>
            <a:off x="2338627" y="8927943"/>
            <a:ext cx="1136227" cy="513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cif (@MacifAssurances) / X" id="170" name="Google Shape;170;g38b16df4a50_3_0"/>
          <p:cNvPicPr preferRelativeResize="0"/>
          <p:nvPr/>
        </p:nvPicPr>
        <p:blipFill rotWithShape="1">
          <a:blip r:embed="rId6">
            <a:alphaModFix/>
          </a:blip>
          <a:srcRect b="22706" l="22264" r="22269" t="24265"/>
          <a:stretch/>
        </p:blipFill>
        <p:spPr>
          <a:xfrm>
            <a:off x="5629040" y="8726458"/>
            <a:ext cx="747865" cy="714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1931464" y="774230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Protection juridique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Un accompagnement en cas de litige,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un service de gestion de sinistres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avec 4 Packs optionnels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 de 220 000 professionnels adhérents qui proposent des tarifs négociés pour les bénéficiaires</a:t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" name="Google Shape;181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182" name="Google Shape;182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183" name="Google Shape;183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14"/>
          <p:cNvGrpSpPr/>
          <p:nvPr/>
        </p:nvGrpSpPr>
        <p:grpSpPr>
          <a:xfrm>
            <a:off x="2524885" y="2987373"/>
            <a:ext cx="976837" cy="1010393"/>
            <a:chOff x="2548471" y="3049424"/>
            <a:chExt cx="976837" cy="1010393"/>
          </a:xfrm>
        </p:grpSpPr>
        <p:sp>
          <p:nvSpPr>
            <p:cNvPr id="185" name="Google Shape;185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186" name="Google Shape;186;p14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14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88" name="Google Shape;188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89" name="Google Shape;189;p14"/>
            <p:cNvPicPr preferRelativeResize="0"/>
            <p:nvPr/>
          </p:nvPicPr>
          <p:blipFill rotWithShape="1">
            <a:blip r:embed="rId5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" name="Google Shape;190;p14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91" name="Google Shape;191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92" name="Google Shape;192;p14"/>
            <p:cNvPicPr preferRelativeResize="0"/>
            <p:nvPr/>
          </p:nvPicPr>
          <p:blipFill rotWithShape="1">
            <a:blip r:embed="rId6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" name="Google Shape;193;p14"/>
          <p:cNvGrpSpPr/>
          <p:nvPr/>
        </p:nvGrpSpPr>
        <p:grpSpPr>
          <a:xfrm>
            <a:off x="2007341" y="7997340"/>
            <a:ext cx="976837" cy="1010393"/>
            <a:chOff x="1963799" y="8142480"/>
            <a:chExt cx="976837" cy="1010393"/>
          </a:xfrm>
        </p:grpSpPr>
        <p:sp>
          <p:nvSpPr>
            <p:cNvPr id="194" name="Google Shape;194;p14"/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otection juridique" id="195" name="Google Shape;195;p14"/>
            <p:cNvPicPr preferRelativeResize="0"/>
            <p:nvPr/>
          </p:nvPicPr>
          <p:blipFill rotWithShape="1">
            <a:blip r:embed="rId7">
              <a:alphaModFix/>
            </a:blip>
            <a:srcRect b="29438" l="4034" r="4386" t="0"/>
            <a:stretch/>
          </p:blipFill>
          <p:spPr>
            <a:xfrm>
              <a:off x="2092593" y="8359486"/>
              <a:ext cx="726806" cy="5600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Macif (@MacifAssurances) / X" id="196" name="Google Shape;196;p14"/>
          <p:cNvPicPr preferRelativeResize="0"/>
          <p:nvPr/>
        </p:nvPicPr>
        <p:blipFill rotWithShape="1">
          <a:blip r:embed="rId8">
            <a:alphaModFix/>
          </a:blip>
          <a:srcRect b="22704" l="22267" r="22266" t="24266"/>
          <a:stretch/>
        </p:blipFill>
        <p:spPr>
          <a:xfrm>
            <a:off x="4274190" y="1610908"/>
            <a:ext cx="747865" cy="714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21056" y="4928121"/>
            <a:ext cx="1334986" cy="54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7122" y="3179501"/>
            <a:ext cx="754634" cy="718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ment contacter Inter Mutuelles Assistance ?" id="199" name="Google Shape;199;p14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23857" l="0" r="4129" t="28225"/>
          <a:stretch/>
        </p:blipFill>
        <p:spPr>
          <a:xfrm>
            <a:off x="4381705" y="6421371"/>
            <a:ext cx="1308959" cy="725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trat collectif d'assurance de protection juridique" id="200" name="Google Shape;200;p14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952875" y="8113486"/>
            <a:ext cx="947250" cy="660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381700" y="-94001"/>
            <a:ext cx="2488575" cy="224371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4"/>
          <p:cNvSpPr txBox="1"/>
          <p:nvPr/>
        </p:nvSpPr>
        <p:spPr>
          <a:xfrm>
            <a:off x="-88675" y="3622575"/>
            <a:ext cx="3000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20 ans et+ sans limite d’âge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/>
          <p:nvPr/>
        </p:nvSpPr>
        <p:spPr>
          <a:xfrm>
            <a:off x="348343" y="2133601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particulièrement performantes en terme de rapport qualité /prix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329746" y="305446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348343" y="353705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348343" y="4165045"/>
            <a:ext cx="6198508" cy="88320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Packs optionnel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Hospitalisation &amp; Honoraires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Packs optionnel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Optique - Dentaire – Audio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Deux Packs optionnels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Bien-être &amp; Prévention</a:t>
            </a:r>
            <a:endParaRPr/>
          </a:p>
        </p:txBody>
      </p:sp>
      <p:sp>
        <p:nvSpPr>
          <p:cNvPr id="211" name="Google Shape;211;p15"/>
          <p:cNvSpPr/>
          <p:nvPr/>
        </p:nvSpPr>
        <p:spPr>
          <a:xfrm>
            <a:off x="329746" y="5137239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 professions éligibles pour le poste médecine naturelle</a:t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348343" y="5612579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348343" y="6567213"/>
            <a:ext cx="6198508" cy="120518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Carte Blanche.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8000 centres d’optiques, 9450 chirurgiens-dentistes et orthodontistes et 857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348343" y="786336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IMA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toute la famille: aide ménagère, service de proximité, prise en charge des animaux domestiques, garde et scolarité des enfants,…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5"/>
          <p:cNvGrpSpPr/>
          <p:nvPr/>
        </p:nvGrpSpPr>
        <p:grpSpPr>
          <a:xfrm>
            <a:off x="329750" y="948366"/>
            <a:ext cx="5008052" cy="1062658"/>
            <a:chOff x="329755" y="910098"/>
            <a:chExt cx="5008052" cy="1102000"/>
          </a:xfrm>
        </p:grpSpPr>
        <p:sp>
          <p:nvSpPr>
            <p:cNvPr id="216" name="Google Shape;216;p15"/>
            <p:cNvSpPr txBox="1"/>
            <p:nvPr/>
          </p:nvSpPr>
          <p:spPr>
            <a:xfrm>
              <a:off x="1157607" y="1022397"/>
              <a:ext cx="4180200" cy="9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Apivia Vitamin3 ?</a:t>
              </a:r>
              <a:endParaRPr/>
            </a:p>
          </p:txBody>
        </p:sp>
        <p:pic>
          <p:nvPicPr>
            <p:cNvPr descr="Bonne idée - Icônes commercialisation gratuites" id="217" name="Google Shape;21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9755" y="910098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15"/>
          <p:cNvSpPr/>
          <p:nvPr/>
        </p:nvSpPr>
        <p:spPr>
          <a:xfrm>
            <a:off x="348343" y="6084239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service de consultation médicale à distance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9429" y="0"/>
            <a:ext cx="2488575" cy="2243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/>
          <p:nvPr/>
        </p:nvSpPr>
        <p:spPr>
          <a:xfrm>
            <a:off x="1307057" y="1117486"/>
            <a:ext cx="418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p16"/>
          <p:cNvGrpSpPr/>
          <p:nvPr/>
        </p:nvGrpSpPr>
        <p:grpSpPr>
          <a:xfrm>
            <a:off x="28053" y="1255423"/>
            <a:ext cx="5459033" cy="1200600"/>
            <a:chOff x="976399" y="1029786"/>
            <a:chExt cx="5459033" cy="1200600"/>
          </a:xfrm>
        </p:grpSpPr>
        <p:pic>
          <p:nvPicPr>
            <p:cNvPr descr="ajuster la conception de l'icône créative 15456496 Art vectoriel chez  Vecteezy" id="226" name="Google Shape;226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16"/>
            <p:cNvSpPr txBox="1"/>
            <p:nvPr/>
          </p:nvSpPr>
          <p:spPr>
            <a:xfrm>
              <a:off x="2283732" y="1029786"/>
              <a:ext cx="4151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Vitamin3, vous donne la possibilité de renforcer vos garanties, à partir du niveau 2</a:t>
              </a:r>
              <a:endParaRPr/>
            </a:p>
          </p:txBody>
        </p:sp>
      </p:grpSp>
      <p:sp>
        <p:nvSpPr>
          <p:cNvPr id="228" name="Google Shape;228;p16"/>
          <p:cNvSpPr txBox="1"/>
          <p:nvPr/>
        </p:nvSpPr>
        <p:spPr>
          <a:xfrm>
            <a:off x="1185972" y="3174674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«Hospitalisation &amp; Honoraires»</a:t>
            </a:r>
            <a:endParaRPr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2323151" y="3546141"/>
            <a:ext cx="3836569" cy="832260"/>
            <a:chOff x="1453470" y="4179066"/>
            <a:chExt cx="3620811" cy="832260"/>
          </a:xfrm>
        </p:grpSpPr>
        <p:sp>
          <p:nvSpPr>
            <p:cNvPr id="230" name="Google Shape;230;p16"/>
            <p:cNvSpPr txBox="1"/>
            <p:nvPr/>
          </p:nvSpPr>
          <p:spPr>
            <a:xfrm>
              <a:off x="2220234" y="4179066"/>
              <a:ext cx="285404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 un confort optimal pendant votre hospitalisation </a:t>
              </a:r>
              <a:endParaRPr/>
            </a:p>
          </p:txBody>
        </p:sp>
        <p:pic>
          <p:nvPicPr>
            <p:cNvPr id="231" name="Google Shape;23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53470" y="4222786"/>
              <a:ext cx="830262" cy="7885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Bouton Logo Les Dents - Images vectorielles gratuites sur Pixabay - Pixabay" id="232" name="Google Shape;2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254" y="5060204"/>
            <a:ext cx="398453" cy="398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ison de l'Appareil Auditif | Audioprothésistes Militants" id="233" name="Google Shape;233;p16"/>
          <p:cNvPicPr preferRelativeResize="0"/>
          <p:nvPr/>
        </p:nvPicPr>
        <p:blipFill rotWithShape="1">
          <a:blip r:embed="rId6">
            <a:alphaModFix/>
          </a:blip>
          <a:srcRect b="0" l="0" r="78026" t="0"/>
          <a:stretch/>
        </p:blipFill>
        <p:spPr>
          <a:xfrm>
            <a:off x="586928" y="5233360"/>
            <a:ext cx="333747" cy="48327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6"/>
          <p:cNvSpPr txBox="1"/>
          <p:nvPr/>
        </p:nvSpPr>
        <p:spPr>
          <a:xfrm>
            <a:off x="101600" y="4554073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«Optique - Dentaire - Audio»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901603" y="5129855"/>
            <a:ext cx="331864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vous donner un choix plus large sur vos équipements</a:t>
            </a:r>
            <a:endParaRPr/>
          </a:p>
        </p:txBody>
      </p:sp>
      <p:pic>
        <p:nvPicPr>
          <p:cNvPr descr="Centre d'ostéopathie - Roxane Gervais St-Amour D.O." id="236" name="Google Shape;2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3713" y="6715358"/>
            <a:ext cx="683675" cy="72289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1579954" y="6315248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«Bien-être &amp; Prévention 1»</a:t>
            </a:r>
            <a:endParaRPr/>
          </a:p>
        </p:txBody>
      </p:sp>
      <p:pic>
        <p:nvPicPr>
          <p:cNvPr descr="Centre d'ostéopathie - Roxane Gervais St-Amour D.O." id="238" name="Google Shape;2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668" y="8253644"/>
            <a:ext cx="683675" cy="72289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6"/>
          <p:cNvSpPr txBox="1"/>
          <p:nvPr/>
        </p:nvSpPr>
        <p:spPr>
          <a:xfrm>
            <a:off x="304909" y="7853534"/>
            <a:ext cx="62859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Le Packs optionnels «Bien-être &amp; Prévention 2»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2426538" y="6895828"/>
            <a:ext cx="3318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les familles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1256102" y="8450273"/>
            <a:ext cx="33186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les séniors</a:t>
            </a:r>
            <a:endParaRPr/>
          </a:p>
        </p:txBody>
      </p:sp>
      <p:pic>
        <p:nvPicPr>
          <p:cNvPr descr="Feingeist - Lunette Pour Les Ecran - Free Transparent PNG Clipart Images  Download" id="242" name="Google Shape;2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1803675">
            <a:off x="47818" y="5532802"/>
            <a:ext cx="741448" cy="278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33829" y="133825"/>
            <a:ext cx="2488575" cy="2243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48" name="Google Shape;2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7"/>
          <p:cNvSpPr txBox="1"/>
          <p:nvPr/>
        </p:nvSpPr>
        <p:spPr>
          <a:xfrm>
            <a:off x="106781" y="1139901"/>
            <a:ext cx="4684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passer par le réseau de soin Carte Blanche ?</a:t>
            </a:r>
            <a:endParaRPr/>
          </a:p>
        </p:txBody>
      </p:sp>
      <p:grpSp>
        <p:nvGrpSpPr>
          <p:cNvPr id="250" name="Google Shape;250;p17"/>
          <p:cNvGrpSpPr/>
          <p:nvPr/>
        </p:nvGrpSpPr>
        <p:grpSpPr>
          <a:xfrm>
            <a:off x="-95109" y="2057326"/>
            <a:ext cx="6247725" cy="2893800"/>
            <a:chOff x="343724" y="2264276"/>
            <a:chExt cx="6069878" cy="2893800"/>
          </a:xfrm>
        </p:grpSpPr>
        <p:pic>
          <p:nvPicPr>
            <p:cNvPr descr="Feingeist - Lunette Pour Les Ecran - Free Transparent PNG Clipart Images  Download" id="251" name="Google Shape;25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17"/>
            <p:cNvSpPr txBox="1"/>
            <p:nvPr/>
          </p:nvSpPr>
          <p:spPr>
            <a:xfrm>
              <a:off x="1382902" y="2264276"/>
              <a:ext cx="5030700" cy="28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pour des équipements optique (lentilles et lunettes) : </a:t>
              </a:r>
              <a:r>
                <a:rPr b="1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40 % 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réduction.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garanties supplémentaires: comme une protection contre la casse pendant 2 ans, l’adaptation des verres pendant 6 mois, L’entretien et le réajustement des lunettes gratuits chez l’opticien fournisseur.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large choix grâce à un catalogue de plus de </a:t>
              </a:r>
              <a:r>
                <a:rPr b="1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66 000 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références.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tiers payant pour ne pas avancer d’argent à l’achat d’une paire de lunettes ou de lentilles.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Deux devis complets avant l’achat d’un équipement optique.</a:t>
              </a:r>
              <a:endParaRPr/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1954742" y="4890676"/>
            <a:ext cx="4970666" cy="954107"/>
            <a:chOff x="1730184" y="4376845"/>
            <a:chExt cx="4992359" cy="954107"/>
          </a:xfrm>
        </p:grpSpPr>
        <p:pic>
          <p:nvPicPr>
            <p:cNvPr descr="Icône D'oreille Pour Vos Sites De Conception Et Projets PNG , Audio, Oreille,  Écoutez Licône PNG et vecteur pour téléchargement gratuit" id="254" name="Google Shape;254;p17"/>
            <p:cNvPicPr preferRelativeResize="0"/>
            <p:nvPr/>
          </p:nvPicPr>
          <p:blipFill rotWithShape="1">
            <a:blip r:embed="rId5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7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(jusqu’à 20 % de réduction), une vraie expertise, des facilités de paiement et un suivi régulier pour adapter au mieux vos appareils auditifs.</a:t>
              </a:r>
              <a:endParaRPr/>
            </a:p>
          </p:txBody>
        </p:sp>
      </p:grpSp>
      <p:grpSp>
        <p:nvGrpSpPr>
          <p:cNvPr id="256" name="Google Shape;256;p17"/>
          <p:cNvGrpSpPr/>
          <p:nvPr/>
        </p:nvGrpSpPr>
        <p:grpSpPr>
          <a:xfrm>
            <a:off x="36855" y="6000478"/>
            <a:ext cx="6688442" cy="2462213"/>
            <a:chOff x="521694" y="6041286"/>
            <a:chExt cx="5897889" cy="2462213"/>
          </a:xfrm>
        </p:grpSpPr>
        <p:pic>
          <p:nvPicPr>
            <p:cNvPr descr="Bouton Logo Les Dents - Images vectorielles gratuites sur Pixabay - Pixabay" id="257" name="Google Shape;25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17"/>
            <p:cNvSpPr txBox="1"/>
            <p:nvPr/>
          </p:nvSpPr>
          <p:spPr>
            <a:xfrm>
              <a:off x="1144276" y="6041286"/>
              <a:ext cx="5275307" cy="2462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négociés pour les prothèses dentaires : jusqu’à 15 % de réduction.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équipement de qualité grâce à la traçabilité des prothèses dentaires (certification des laboratoires choisis et respect des règlements européens).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prévention bucco-dentaire favorisée grâce au partenariat avec l’UFSBD (Union Française pour la Santé Bucco Dentaire).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tiers payant national pour ne pas avancer les frais de vos soins.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annuaire des dentistes partenaires en ligne pour trouver le professionnel le plus proche de vous</a:t>
              </a:r>
              <a:endParaRPr/>
            </a:p>
          </p:txBody>
        </p:sp>
      </p:grpSp>
      <p:grpSp>
        <p:nvGrpSpPr>
          <p:cNvPr id="259" name="Google Shape;259;p17"/>
          <p:cNvGrpSpPr/>
          <p:nvPr/>
        </p:nvGrpSpPr>
        <p:grpSpPr>
          <a:xfrm>
            <a:off x="1425933" y="8618386"/>
            <a:ext cx="5250295" cy="954107"/>
            <a:chOff x="1261356" y="7842852"/>
            <a:chExt cx="5526794" cy="954107"/>
          </a:xfrm>
        </p:grpSpPr>
        <p:pic>
          <p:nvPicPr>
            <p:cNvPr descr="Centre d'ostéopathie - Roxane Gervais St-Amour D.O." id="260" name="Google Shape;260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17"/>
            <p:cNvSpPr txBox="1"/>
            <p:nvPr/>
          </p:nvSpPr>
          <p:spPr>
            <a:xfrm>
              <a:off x="1860500" y="7842852"/>
              <a:ext cx="4927650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Prévention de Carte Blanche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la pratique de certaines médecines douces (chez l’ostéopathe, le diététicien, le pédicure, le podologue…).</a:t>
              </a:r>
              <a:endParaRPr/>
            </a:p>
          </p:txBody>
        </p:sp>
      </p:grpSp>
      <p:pic>
        <p:nvPicPr>
          <p:cNvPr id="262" name="Google Shape;2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427" y="-2"/>
            <a:ext cx="1092540" cy="1040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9425" y="-1"/>
            <a:ext cx="2488575" cy="224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68" name="Google Shape;2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ment contacter Inter Mutuelles Assistance ?" id="269" name="Google Shape;269;p18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23857" l="0" r="4129" t="28225"/>
          <a:stretch/>
        </p:blipFill>
        <p:spPr>
          <a:xfrm>
            <a:off x="-7" y="1276876"/>
            <a:ext cx="1463258" cy="8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8"/>
          <p:cNvSpPr txBox="1"/>
          <p:nvPr/>
        </p:nvSpPr>
        <p:spPr>
          <a:xfrm>
            <a:off x="1005707" y="1253185"/>
            <a:ext cx="4684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IMA ?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938013" y="2640981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 vous propose gratuitement:</a:t>
            </a:r>
            <a:endParaRPr/>
          </a:p>
        </p:txBody>
      </p:sp>
      <p:grpSp>
        <p:nvGrpSpPr>
          <p:cNvPr id="272" name="Google Shape;272;p18"/>
          <p:cNvGrpSpPr/>
          <p:nvPr/>
        </p:nvGrpSpPr>
        <p:grpSpPr>
          <a:xfrm>
            <a:off x="101600" y="3572554"/>
            <a:ext cx="6020613" cy="811475"/>
            <a:chOff x="400050" y="2786464"/>
            <a:chExt cx="6020613" cy="811475"/>
          </a:xfrm>
        </p:grpSpPr>
        <p:sp>
          <p:nvSpPr>
            <p:cNvPr id="273" name="Google Shape;273;p18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274" name="Google Shape;274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" name="Google Shape;275;p18"/>
          <p:cNvGrpSpPr/>
          <p:nvPr/>
        </p:nvGrpSpPr>
        <p:grpSpPr>
          <a:xfrm>
            <a:off x="813402" y="4540981"/>
            <a:ext cx="5639928" cy="878816"/>
            <a:chOff x="222327" y="3957748"/>
            <a:chExt cx="6053947" cy="878816"/>
          </a:xfrm>
        </p:grpSpPr>
        <p:sp>
          <p:nvSpPr>
            <p:cNvPr id="276" name="Google Shape;276;p18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7" name="Google Shape;27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" name="Google Shape;278;p18"/>
          <p:cNvGrpSpPr/>
          <p:nvPr/>
        </p:nvGrpSpPr>
        <p:grpSpPr>
          <a:xfrm>
            <a:off x="101600" y="5576784"/>
            <a:ext cx="6198819" cy="733785"/>
            <a:chOff x="222327" y="5188381"/>
            <a:chExt cx="6198819" cy="733785"/>
          </a:xfrm>
        </p:grpSpPr>
        <p:pic>
          <p:nvPicPr>
            <p:cNvPr id="279" name="Google Shape;279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18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281" name="Google Shape;281;p18"/>
          <p:cNvGrpSpPr/>
          <p:nvPr/>
        </p:nvGrpSpPr>
        <p:grpSpPr>
          <a:xfrm>
            <a:off x="938013" y="6527845"/>
            <a:ext cx="5781376" cy="613892"/>
            <a:chOff x="449887" y="6368680"/>
            <a:chExt cx="5781376" cy="613892"/>
          </a:xfrm>
        </p:grpSpPr>
        <p:sp>
          <p:nvSpPr>
            <p:cNvPr id="282" name="Google Shape;282;p18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283" name="Google Shape;283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4" name="Google Shape;284;p18"/>
          <p:cNvGrpSpPr/>
          <p:nvPr/>
        </p:nvGrpSpPr>
        <p:grpSpPr>
          <a:xfrm>
            <a:off x="319683" y="7342006"/>
            <a:ext cx="5980735" cy="762965"/>
            <a:chOff x="319683" y="6589531"/>
            <a:chExt cx="5980735" cy="762965"/>
          </a:xfrm>
        </p:grpSpPr>
        <p:pic>
          <p:nvPicPr>
            <p:cNvPr id="285" name="Google Shape;285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18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pic>
        <p:nvPicPr>
          <p:cNvPr id="287" name="Google Shape;287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7845" y="8305239"/>
            <a:ext cx="728862" cy="81997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8"/>
          <p:cNvSpPr txBox="1"/>
          <p:nvPr/>
        </p:nvSpPr>
        <p:spPr>
          <a:xfrm>
            <a:off x="1657113" y="8416341"/>
            <a:ext cx="50085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1400"/>
              <a:buFont typeface="Noto Sans Symbols"/>
              <a:buChar char="▪"/>
            </a:pPr>
            <a:r>
              <a:rPr lang="fr-FR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Prise en charge des ascendants: (déplacement d’un proche, transfert, garde,…)</a:t>
            </a:r>
            <a:endParaRPr/>
          </a:p>
        </p:txBody>
      </p:sp>
      <p:pic>
        <p:nvPicPr>
          <p:cNvPr id="289" name="Google Shape;289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69429" y="0"/>
            <a:ext cx="2488575" cy="2243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94" name="Google Shape;2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/>
        </p:nvSpPr>
        <p:spPr>
          <a:xfrm>
            <a:off x="295043" y="1159905"/>
            <a:ext cx="4684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La protection juridique Matmut ?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687318" y="2486038"/>
            <a:ext cx="57184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de litige ou de différend vous opposant à un tiers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résultant d’un accident médical susceptible,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Matmut met à votre disposition gratuitement:</a:t>
            </a:r>
            <a:endParaRPr/>
          </a:p>
        </p:txBody>
      </p:sp>
      <p:pic>
        <p:nvPicPr>
          <p:cNvPr descr="Contrat collectif d'assurance de protection juridique" id="297" name="Google Shape;2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762" y="168461"/>
            <a:ext cx="1421078" cy="9914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9"/>
          <p:cNvGrpSpPr/>
          <p:nvPr/>
        </p:nvGrpSpPr>
        <p:grpSpPr>
          <a:xfrm>
            <a:off x="295056" y="3842510"/>
            <a:ext cx="5999299" cy="1253076"/>
            <a:chOff x="282356" y="3892553"/>
            <a:chExt cx="5999299" cy="1253076"/>
          </a:xfrm>
        </p:grpSpPr>
        <p:sp>
          <p:nvSpPr>
            <p:cNvPr id="299" name="Google Shape;299;p19"/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 par téléphone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qui répond aux questions </a:t>
              </a: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d’ordre juridique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 vous vous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posez, vous informe sur vos droits, vous apporte une aide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afin de prendre une décision et de trouver une solution à vos problèmes,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0" name="Google Shape;300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1" name="Google Shape;301;p19"/>
          <p:cNvGrpSpPr/>
          <p:nvPr/>
        </p:nvGrpSpPr>
        <p:grpSpPr>
          <a:xfrm>
            <a:off x="1257793" y="5750755"/>
            <a:ext cx="5242236" cy="923330"/>
            <a:chOff x="1295893" y="5584357"/>
            <a:chExt cx="5242236" cy="923330"/>
          </a:xfrm>
        </p:grpSpPr>
        <p:sp>
          <p:nvSpPr>
            <p:cNvPr id="302" name="Google Shape;302;p19"/>
            <p:cNvSpPr txBox="1"/>
            <p:nvPr/>
          </p:nvSpPr>
          <p:spPr>
            <a:xfrm>
              <a:off x="2654300" y="5640155"/>
              <a:ext cx="3883829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sur rendez-vous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lorsqu’un examen particulier de votre situation est nécessaire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3" name="Google Shape;303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" name="Google Shape;304;p19"/>
          <p:cNvGrpSpPr/>
          <p:nvPr/>
        </p:nvGrpSpPr>
        <p:grpSpPr>
          <a:xfrm>
            <a:off x="352505" y="7329255"/>
            <a:ext cx="5815469" cy="954107"/>
            <a:chOff x="352505" y="7329255"/>
            <a:chExt cx="5815469" cy="954107"/>
          </a:xfrm>
        </p:grpSpPr>
        <p:sp>
          <p:nvSpPr>
            <p:cNvPr id="305" name="Google Shape;305;p19"/>
            <p:cNvSpPr txBox="1"/>
            <p:nvPr/>
          </p:nvSpPr>
          <p:spPr>
            <a:xfrm>
              <a:off x="1830064" y="7329255"/>
              <a:ext cx="4337910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de gestion des sinistres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 prend les mesures utiles afin de faire valoir vos droits à l’amiable et, au besoin, vous donne les moyens d’en poursuivre l’exercice en justice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6" name="Google Shape;306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7" name="Google Shape;30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9425" y="-1"/>
            <a:ext cx="2488575" cy="224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312" name="Google Shape;3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313" name="Google Shape;313;p20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316" name="Google Shape;3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321" name="Google Shape;321;p20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2" name="Google Shape;322;p20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3" name="Google Shape;323;p20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pic>
        <p:nvPicPr>
          <p:cNvPr id="326" name="Google Shape;32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9429" y="0"/>
            <a:ext cx="2488575" cy="2243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331" name="Google Shape;3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332" name="Google Shape;332;p21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21"/>
          <p:cNvGrpSpPr/>
          <p:nvPr/>
        </p:nvGrpSpPr>
        <p:grpSpPr>
          <a:xfrm>
            <a:off x="2438701" y="154968"/>
            <a:ext cx="3729273" cy="518432"/>
            <a:chOff x="2438701" y="154968"/>
            <a:chExt cx="3729273" cy="518432"/>
          </a:xfrm>
        </p:grpSpPr>
        <p:pic>
          <p:nvPicPr>
            <p:cNvPr id="338" name="Google Shape;338;p21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45865" l="58664" r="7102" t="23684"/>
            <a:stretch/>
          </p:blipFill>
          <p:spPr>
            <a:xfrm>
              <a:off x="2438701" y="154968"/>
              <a:ext cx="1107866" cy="500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Macif (@MacifAssurances) / X" id="339" name="Google Shape;339;p21"/>
            <p:cNvPicPr preferRelativeResize="0"/>
            <p:nvPr/>
          </p:nvPicPr>
          <p:blipFill rotWithShape="1">
            <a:blip r:embed="rId11">
              <a:alphaModFix/>
            </a:blip>
            <a:srcRect b="22704" l="22267" r="22266" t="24266"/>
            <a:stretch/>
          </p:blipFill>
          <p:spPr>
            <a:xfrm>
              <a:off x="5644256" y="172703"/>
              <a:ext cx="523718" cy="5006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0" name="Google Shape;340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69425" y="-1"/>
            <a:ext cx="2488575" cy="224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