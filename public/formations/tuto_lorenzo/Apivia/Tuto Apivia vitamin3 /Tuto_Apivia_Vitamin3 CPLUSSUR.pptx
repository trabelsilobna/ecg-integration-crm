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htqJUTSOPfMcp809jILGNjMco1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customschemas.google.com/relationships/presentationmetadata" Target="meta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b1ee5dd34_2_7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8b1ee5dd34_2_7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p19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0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20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1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21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b16df4a50_2_6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8b16df4a50_2_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38b16df4a50_2_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8b16df4a50_2_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8b16df4a50_2_11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8b16df4a50_2_11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g38b16df4a50_2_1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8b16df4a50_2_1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8b16df4a50_2_1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8b16df4a50_2_17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8b16df4a50_2_17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38b16df4a50_2_1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38b16df4a50_2_1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8b16df4a50_2_1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8b16df4a50_2_23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38b16df4a50_2_23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g38b16df4a50_2_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g38b16df4a50_2_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8b16df4a50_2_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8b16df4a50_2_2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38b16df4a50_2_29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g38b16df4a50_2_29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g38b16df4a50_2_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38b16df4a50_2_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8b16df4a50_2_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8b16df4a50_2_36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8b16df4a50_2_36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g38b16df4a50_2_36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g38b16df4a50_2_36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g38b16df4a50_2_36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g38b16df4a50_2_3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8b16df4a50_2_3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8b16df4a50_2_3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b16df4a50_2_4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8b16df4a50_2_4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8b16df4a50_2_4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b16df4a50_2_49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8b16df4a50_2_49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g38b16df4a50_2_49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g38b16df4a50_2_4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8b16df4a50_2_4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8b16df4a50_2_4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b16df4a50_2_56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8b16df4a50_2_56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g38b16df4a50_2_56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g38b16df4a50_2_5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8b16df4a50_2_5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8b16df4a50_2_5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b16df4a50_2_6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8b16df4a50_2_63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38b16df4a50_2_6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8b16df4a50_2_6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8b16df4a50_2_6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b16df4a50_2_69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8b16df4a50_2_69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g38b16df4a50_2_6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8b16df4a50_2_6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8b16df4a50_2_6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8" name="Google Shape;98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123" name="Google Shape;123;p2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125" name="Google Shape;125;p2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136" name="Google Shape;136;p30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37" name="Google Shape;137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44" name="Google Shape;144;p3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3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b1ee5dd34_2_6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g38b1ee5dd34_2_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8b1ee5dd34_2_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38b1ee5dd34_2_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b1ee5dd34_2_11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g38b1ee5dd34_2_11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3" name="Google Shape;173;g38b1ee5dd34_2_1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g38b1ee5dd34_2_1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g38b1ee5dd34_2_1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b1ee5dd34_2_17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38b1ee5dd34_2_17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g38b1ee5dd34_2_1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g38b1ee5dd34_2_1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38b1ee5dd34_2_1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b1ee5dd34_2_23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g38b1ee5dd34_2_23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5" name="Google Shape;185;g38b1ee5dd34_2_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g38b1ee5dd34_2_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38b1ee5dd34_2_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b1ee5dd34_2_2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8b1ee5dd34_2_29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g38b1ee5dd34_2_29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g38b1ee5dd34_2_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g38b1ee5dd34_2_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g38b1ee5dd34_2_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b1ee5dd34_2_36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g38b1ee5dd34_2_36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198" name="Google Shape;198;g38b1ee5dd34_2_36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g38b1ee5dd34_2_36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200" name="Google Shape;200;g38b1ee5dd34_2_36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g38b1ee5dd34_2_3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g38b1ee5dd34_2_3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8b1ee5dd34_2_3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b1ee5dd34_2_4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g38b1ee5dd34_2_4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38b1ee5dd34_2_4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b1ee5dd34_2_49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g38b1ee5dd34_2_49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211" name="Google Shape;211;g38b1ee5dd34_2_49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212" name="Google Shape;212;g38b1ee5dd34_2_4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g38b1ee5dd34_2_4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g38b1ee5dd34_2_4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b1ee5dd34_2_56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g38b1ee5dd34_2_56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g38b1ee5dd34_2_56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219" name="Google Shape;219;g38b1ee5dd34_2_5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g38b1ee5dd34_2_5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g38b1ee5dd34_2_5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b1ee5dd34_2_6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g38b1ee5dd34_2_63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g38b1ee5dd34_2_6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g38b1ee5dd34_2_6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g38b1ee5dd34_2_6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b1ee5dd34_2_69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g38b1ee5dd34_2_69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g38b1ee5dd34_2_6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g38b1ee5dd34_2_6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g38b1ee5dd34_2_6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b16df4a50_2_0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8b16df4a50_2_0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8b16df4a50_2_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38b16df4a50_2_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38b16df4a50_2_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b1ee5dd34_2_0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1" name="Google Shape;161;g38b1ee5dd34_2_0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g38b1ee5dd34_2_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g38b1ee5dd34_2_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g38b1ee5dd34_2_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Relationship Id="rId5" Type="http://schemas.openxmlformats.org/officeDocument/2006/relationships/image" Target="../media/image11.png"/><Relationship Id="rId6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hyperlink" Target="#'1'!A1" TargetMode="External"/><Relationship Id="rId10" Type="http://schemas.openxmlformats.org/officeDocument/2006/relationships/image" Target="../media/image3.png"/><Relationship Id="rId13" Type="http://schemas.openxmlformats.org/officeDocument/2006/relationships/hyperlink" Target="#'9'!A1" TargetMode="External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6.jpg"/><Relationship Id="rId9" Type="http://schemas.openxmlformats.org/officeDocument/2006/relationships/hyperlink" Target="#'6'!A1" TargetMode="External"/><Relationship Id="rId15" Type="http://schemas.openxmlformats.org/officeDocument/2006/relationships/hyperlink" Target="#'18'!A1" TargetMode="External"/><Relationship Id="rId14" Type="http://schemas.openxmlformats.org/officeDocument/2006/relationships/image" Target="../media/image13.png"/><Relationship Id="rId17" Type="http://schemas.openxmlformats.org/officeDocument/2006/relationships/image" Target="../media/image31.png"/><Relationship Id="rId16" Type="http://schemas.openxmlformats.org/officeDocument/2006/relationships/image" Target="../media/image12.jpg"/><Relationship Id="rId5" Type="http://schemas.openxmlformats.org/officeDocument/2006/relationships/image" Target="../media/image4.png"/><Relationship Id="rId6" Type="http://schemas.openxmlformats.org/officeDocument/2006/relationships/image" Target="../media/image6.jpg"/><Relationship Id="rId7" Type="http://schemas.openxmlformats.org/officeDocument/2006/relationships/image" Target="../media/image9.jpg"/><Relationship Id="rId8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4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.png"/><Relationship Id="rId9" Type="http://schemas.openxmlformats.org/officeDocument/2006/relationships/image" Target="../media/image31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7.jp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Relationship Id="rId5" Type="http://schemas.openxmlformats.org/officeDocument/2006/relationships/image" Target="../media/image37.jpg"/><Relationship Id="rId6" Type="http://schemas.openxmlformats.org/officeDocument/2006/relationships/image" Target="../media/image7.jpg"/><Relationship Id="rId7" Type="http://schemas.openxmlformats.org/officeDocument/2006/relationships/image" Target="../media/image2.png"/><Relationship Id="rId8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28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hyperlink" Target="#'9'!A1" TargetMode="External"/><Relationship Id="rId9" Type="http://schemas.openxmlformats.org/officeDocument/2006/relationships/image" Target="../media/image29.png"/><Relationship Id="rId5" Type="http://schemas.openxmlformats.org/officeDocument/2006/relationships/image" Target="../media/image13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2.jpg"/><Relationship Id="rId5" Type="http://schemas.openxmlformats.org/officeDocument/2006/relationships/image" Target="../media/image43.png"/><Relationship Id="rId6" Type="http://schemas.openxmlformats.org/officeDocument/2006/relationships/image" Target="../media/image32.png"/><Relationship Id="rId7" Type="http://schemas.openxmlformats.org/officeDocument/2006/relationships/image" Target="../media/image39.png"/><Relationship Id="rId8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36.png"/><Relationship Id="rId5" Type="http://schemas.openxmlformats.org/officeDocument/2006/relationships/image" Target="../media/image35.png"/><Relationship Id="rId6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36.png"/><Relationship Id="rId9" Type="http://schemas.openxmlformats.org/officeDocument/2006/relationships/image" Target="../media/image44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Relationship Id="rId7" Type="http://schemas.openxmlformats.org/officeDocument/2006/relationships/image" Target="../media/image42.png"/><Relationship Id="rId8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38b1ee5dd34_2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75" y="136655"/>
            <a:ext cx="6601449" cy="595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8b1ee5dd34_2_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1000" y="504644"/>
            <a:ext cx="2277599" cy="5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8b1ee5dd34_2_75"/>
          <p:cNvSpPr txBox="1"/>
          <p:nvPr/>
        </p:nvSpPr>
        <p:spPr>
          <a:xfrm>
            <a:off x="2762589" y="9615363"/>
            <a:ext cx="1388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8b1ee5dd34_2_75"/>
          <p:cNvSpPr txBox="1"/>
          <p:nvPr/>
        </p:nvSpPr>
        <p:spPr>
          <a:xfrm>
            <a:off x="189600" y="6544800"/>
            <a:ext cx="6478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fr-FR" sz="4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Une solution intégrale</a:t>
            </a:r>
            <a:r>
              <a:rPr b="1" i="0" lang="fr-FR" sz="5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5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Pour les </a:t>
            </a: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ans et+ sans limite d’âge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8b1ee5dd34_2_75"/>
          <p:cNvSpPr txBox="1"/>
          <p:nvPr/>
        </p:nvSpPr>
        <p:spPr>
          <a:xfrm>
            <a:off x="353138" y="8853050"/>
            <a:ext cx="17133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300" lIns="128300" spcFirstLastPara="1" rIns="128300" wrap="square" tIns="12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5"/>
              <a:buFont typeface="Arial"/>
              <a:buNone/>
            </a:pPr>
            <a:r>
              <a:rPr b="1" i="0" lang="fr-FR" sz="184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1" i="0" lang="fr-FR" sz="194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Vitamin 3 </a:t>
            </a:r>
            <a:r>
              <a:rPr b="1" i="0" lang="fr-FR" sz="262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-FR" sz="252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</a:t>
            </a:r>
            <a:endParaRPr b="0" i="0" sz="19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8b1ee5dd34_2_75"/>
          <p:cNvSpPr txBox="1"/>
          <p:nvPr/>
        </p:nvSpPr>
        <p:spPr>
          <a:xfrm>
            <a:off x="3747036" y="8853050"/>
            <a:ext cx="1713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300" lIns="128300" spcFirstLastPara="1" rIns="128300" wrap="square" tIns="12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5"/>
              <a:buFont typeface="Arial"/>
              <a:buNone/>
            </a:pPr>
            <a:r>
              <a:rPr b="1" i="0" lang="fr-FR" sz="252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assuré par</a:t>
            </a:r>
            <a:endParaRPr b="0" i="0" sz="19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g38b1ee5dd34_2_75"/>
          <p:cNvPicPr preferRelativeResize="0"/>
          <p:nvPr/>
        </p:nvPicPr>
        <p:blipFill rotWithShape="1">
          <a:blip r:embed="rId5">
            <a:alphaModFix/>
          </a:blip>
          <a:srcRect b="45866" l="58661" r="7103" t="23682"/>
          <a:stretch/>
        </p:blipFill>
        <p:spPr>
          <a:xfrm>
            <a:off x="2338627" y="8927943"/>
            <a:ext cx="1136227" cy="5135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cif (@MacifAssurances) / X" id="245" name="Google Shape;245;g38b1ee5dd34_2_75"/>
          <p:cNvPicPr preferRelativeResize="0"/>
          <p:nvPr/>
        </p:nvPicPr>
        <p:blipFill rotWithShape="1">
          <a:blip r:embed="rId6">
            <a:alphaModFix/>
          </a:blip>
          <a:srcRect b="22706" l="22264" r="22269" t="24265"/>
          <a:stretch/>
        </p:blipFill>
        <p:spPr>
          <a:xfrm>
            <a:off x="5629040" y="8726458"/>
            <a:ext cx="747865" cy="714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1931464" y="774230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-FR" sz="20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Protection juridique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Un accompagnement en cas de litige,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un service de gestion de sinistres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1311399" y="1295588"/>
            <a:ext cx="3759300" cy="146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i="0" lang="fr-FR" sz="20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avec 4 Packs optionnels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1787313" y="2884622"/>
            <a:ext cx="3759300" cy="146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i="0" lang="fr-FR" sz="20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 de 220 000 professionnels adhérents qui proposent des tarifs négociés pour les bénéficiaires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2841625" y="450043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2463800" y="6116175"/>
            <a:ext cx="3871500" cy="1501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i="0" lang="fr-FR" sz="20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" name="Google Shape;256;p14"/>
          <p:cNvGrpSpPr/>
          <p:nvPr/>
        </p:nvGrpSpPr>
        <p:grpSpPr>
          <a:xfrm>
            <a:off x="1369276" y="1533006"/>
            <a:ext cx="976837" cy="1010393"/>
            <a:chOff x="2109263" y="1465142"/>
            <a:chExt cx="976837" cy="1010393"/>
          </a:xfrm>
        </p:grpSpPr>
        <p:sp>
          <p:nvSpPr>
            <p:cNvPr id="257" name="Google Shape;257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258" name="Google Shape;258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9" name="Google Shape;259;p14"/>
          <p:cNvGrpSpPr/>
          <p:nvPr/>
        </p:nvGrpSpPr>
        <p:grpSpPr>
          <a:xfrm>
            <a:off x="1848397" y="3024398"/>
            <a:ext cx="976837" cy="1010393"/>
            <a:chOff x="2548471" y="3049424"/>
            <a:chExt cx="976837" cy="1010393"/>
          </a:xfrm>
        </p:grpSpPr>
        <p:sp>
          <p:nvSpPr>
            <p:cNvPr id="260" name="Google Shape;260;p14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261" name="Google Shape;261;p14"/>
            <p:cNvPicPr preferRelativeResize="0"/>
            <p:nvPr/>
          </p:nvPicPr>
          <p:blipFill rotWithShape="1">
            <a:blip r:embed="rId4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2" name="Google Shape;262;p14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263" name="Google Shape;263;p14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264" name="Google Shape;264;p14"/>
            <p:cNvPicPr preferRelativeResize="0"/>
            <p:nvPr/>
          </p:nvPicPr>
          <p:blipFill rotWithShape="1">
            <a:blip r:embed="rId5">
              <a:alphaModFix/>
            </a:blip>
            <a:srcRect b="4847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5" name="Google Shape;265;p14"/>
          <p:cNvGrpSpPr/>
          <p:nvPr/>
        </p:nvGrpSpPr>
        <p:grpSpPr>
          <a:xfrm>
            <a:off x="2544746" y="6360928"/>
            <a:ext cx="976837" cy="1010393"/>
            <a:chOff x="2566518" y="6340968"/>
            <a:chExt cx="976837" cy="1010393"/>
          </a:xfrm>
        </p:grpSpPr>
        <p:sp>
          <p:nvSpPr>
            <p:cNvPr id="266" name="Google Shape;266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267" name="Google Shape;267;p14"/>
            <p:cNvPicPr preferRelativeResize="0"/>
            <p:nvPr/>
          </p:nvPicPr>
          <p:blipFill rotWithShape="1">
            <a:blip r:embed="rId6">
              <a:alphaModFix/>
            </a:blip>
            <a:srcRect b="31895" l="20105" r="19153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" name="Google Shape;268;p14"/>
          <p:cNvGrpSpPr/>
          <p:nvPr/>
        </p:nvGrpSpPr>
        <p:grpSpPr>
          <a:xfrm>
            <a:off x="2007341" y="7997340"/>
            <a:ext cx="976837" cy="1010393"/>
            <a:chOff x="1963799" y="8142480"/>
            <a:chExt cx="976837" cy="1010393"/>
          </a:xfrm>
        </p:grpSpPr>
        <p:sp>
          <p:nvSpPr>
            <p:cNvPr id="269" name="Google Shape;269;p14"/>
            <p:cNvSpPr/>
            <p:nvPr/>
          </p:nvSpPr>
          <p:spPr>
            <a:xfrm>
              <a:off x="1963799" y="8142480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otection juridique" id="270" name="Google Shape;270;p14"/>
            <p:cNvPicPr preferRelativeResize="0"/>
            <p:nvPr/>
          </p:nvPicPr>
          <p:blipFill rotWithShape="1">
            <a:blip r:embed="rId7">
              <a:alphaModFix/>
            </a:blip>
            <a:srcRect b="29438" l="4034" r="4386" t="0"/>
            <a:stretch/>
          </p:blipFill>
          <p:spPr>
            <a:xfrm>
              <a:off x="2092593" y="8359486"/>
              <a:ext cx="726806" cy="56000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Macif (@MacifAssurances) / X" id="271" name="Google Shape;271;p14"/>
          <p:cNvPicPr preferRelativeResize="0"/>
          <p:nvPr/>
        </p:nvPicPr>
        <p:blipFill rotWithShape="1">
          <a:blip r:embed="rId8">
            <a:alphaModFix/>
          </a:blip>
          <a:srcRect b="22704" l="22267" r="22266" t="24265"/>
          <a:stretch/>
        </p:blipFill>
        <p:spPr>
          <a:xfrm>
            <a:off x="3597702" y="1647933"/>
            <a:ext cx="747865" cy="71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4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21056" y="4928121"/>
            <a:ext cx="1334986" cy="542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4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7122" y="3179501"/>
            <a:ext cx="754634" cy="7188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ment contacter Inter Mutuelles Assistance ?" id="274" name="Google Shape;274;p14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 b="23856" l="0" r="4129" t="28225"/>
          <a:stretch/>
        </p:blipFill>
        <p:spPr>
          <a:xfrm>
            <a:off x="4381705" y="6421371"/>
            <a:ext cx="1308959" cy="725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trat collectif d'assurance de protection juridique" id="275" name="Google Shape;275;p14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52875" y="8113486"/>
            <a:ext cx="947250" cy="66086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4"/>
          <p:cNvSpPr txBox="1"/>
          <p:nvPr/>
        </p:nvSpPr>
        <p:spPr>
          <a:xfrm>
            <a:off x="-174775" y="4004150"/>
            <a:ext cx="3000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-F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-F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20 ans et+ sans limite d’âge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1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381700" y="-12550"/>
            <a:ext cx="2488574" cy="224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/>
          <p:nvPr/>
        </p:nvSpPr>
        <p:spPr>
          <a:xfrm>
            <a:off x="348343" y="2133601"/>
            <a:ext cx="6198508" cy="798285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garanties particulièrement performantes en terme de rapport qualité /prix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329746" y="3054461"/>
            <a:ext cx="6198508" cy="38543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</a:t>
            </a: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adhésion rapide en ligne avec la signature électronique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348343" y="3537057"/>
            <a:ext cx="6198508" cy="54148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avec la prise en charge de l’envoi de la résiliation en cas de RIA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348343" y="4165045"/>
            <a:ext cx="6198508" cy="883205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Packs optionnel Hospitalisation &amp; Honoraires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Packs optionnel Optique - Dentaire – Audio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Deux Packs optionnels Bien-être &amp; Prévention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329746" y="5137239"/>
            <a:ext cx="6198508" cy="39188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professions éligibles pour le poste médecine naturelle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348343" y="5612579"/>
            <a:ext cx="6198508" cy="39188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Réduction DUO : dès 2 assurés réduction de 10 % par adulte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348343" y="6567213"/>
            <a:ext cx="6198508" cy="1205186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Carte Blanche. </a:t>
            </a: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tarifs négociés auprès 8000 centres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d’optiques</a:t>
            </a: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9450 chirurgiens-dentistes et orthodontistes et 857 ostéopathes, répartis sur l’ensemble du territoire.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348343" y="7863364"/>
            <a:ext cx="6198508" cy="1503336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L’assistance IMA en inclusion </a:t>
            </a: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disponibles</a:t>
            </a: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7j/7, 24h/24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toute la famille: aide ménagère, service de proximité, prise en charge des animaux domestiques, garde et scolarité des enfants,…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0" name="Google Shape;290;p15"/>
          <p:cNvGrpSpPr/>
          <p:nvPr/>
        </p:nvGrpSpPr>
        <p:grpSpPr>
          <a:xfrm>
            <a:off x="329750" y="948366"/>
            <a:ext cx="5008052" cy="1062657"/>
            <a:chOff x="329755" y="910098"/>
            <a:chExt cx="5008052" cy="1101999"/>
          </a:xfrm>
        </p:grpSpPr>
        <p:sp>
          <p:nvSpPr>
            <p:cNvPr id="291" name="Google Shape;291;p15"/>
            <p:cNvSpPr txBox="1"/>
            <p:nvPr/>
          </p:nvSpPr>
          <p:spPr>
            <a:xfrm>
              <a:off x="1157607" y="1022397"/>
              <a:ext cx="4180200" cy="9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fr-F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Apivia Vitamin3 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onne idée - Icônes commercialisation gratuites" id="292" name="Google Shape;29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9755" y="910098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" name="Google Shape;293;p15"/>
          <p:cNvSpPr/>
          <p:nvPr/>
        </p:nvSpPr>
        <p:spPr>
          <a:xfrm>
            <a:off x="348343" y="6084239"/>
            <a:ext cx="6198508" cy="39188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de consultation médicale à distance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9425" y="0"/>
            <a:ext cx="2488574" cy="224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/>
        </p:nvSpPr>
        <p:spPr>
          <a:xfrm>
            <a:off x="1307057" y="1117486"/>
            <a:ext cx="418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" name="Google Shape;300;p16"/>
          <p:cNvGrpSpPr/>
          <p:nvPr/>
        </p:nvGrpSpPr>
        <p:grpSpPr>
          <a:xfrm>
            <a:off x="28053" y="1255423"/>
            <a:ext cx="5459033" cy="1200600"/>
            <a:chOff x="976399" y="1029786"/>
            <a:chExt cx="5459033" cy="1200600"/>
          </a:xfrm>
        </p:grpSpPr>
        <p:pic>
          <p:nvPicPr>
            <p:cNvPr descr="ajuster la conception de l'icône créative 15456496 Art vectoriel chez  Vecteezy" id="301" name="Google Shape;30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63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16"/>
            <p:cNvSpPr txBox="1"/>
            <p:nvPr/>
          </p:nvSpPr>
          <p:spPr>
            <a:xfrm>
              <a:off x="2283732" y="1029786"/>
              <a:ext cx="4151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fr-FR" sz="2400" u="none" cap="none" strike="noStrike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Vitamin3, vous donne la possibilité de renforcer vos garanties, à partir du niveau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16"/>
          <p:cNvSpPr txBox="1"/>
          <p:nvPr/>
        </p:nvSpPr>
        <p:spPr>
          <a:xfrm>
            <a:off x="1185972" y="3174674"/>
            <a:ext cx="62859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Le Packs optionnels «Hospitalisation &amp; Honoraires»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" name="Google Shape;304;p16"/>
          <p:cNvGrpSpPr/>
          <p:nvPr/>
        </p:nvGrpSpPr>
        <p:grpSpPr>
          <a:xfrm>
            <a:off x="2323151" y="3546141"/>
            <a:ext cx="3836569" cy="832260"/>
            <a:chOff x="1453470" y="4179066"/>
            <a:chExt cx="3620811" cy="832260"/>
          </a:xfrm>
        </p:grpSpPr>
        <p:sp>
          <p:nvSpPr>
            <p:cNvPr id="305" name="Google Shape;305;p16"/>
            <p:cNvSpPr txBox="1"/>
            <p:nvPr/>
          </p:nvSpPr>
          <p:spPr>
            <a:xfrm>
              <a:off x="2220234" y="4179066"/>
              <a:ext cx="285404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fr-F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 un confort optimal pendant votre hospitalisation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6" name="Google Shape;306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53470" y="4222786"/>
              <a:ext cx="830262" cy="7885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Bouton Logo Les Dents - Images vectorielles gratuites sur Pixabay - Pixabay" id="307" name="Google Shape;30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254" y="5060204"/>
            <a:ext cx="398453" cy="398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ison de l'Appareil Auditif | Audioprothésistes Militants" id="308" name="Google Shape;308;p16"/>
          <p:cNvPicPr preferRelativeResize="0"/>
          <p:nvPr/>
        </p:nvPicPr>
        <p:blipFill rotWithShape="1">
          <a:blip r:embed="rId6">
            <a:alphaModFix/>
          </a:blip>
          <a:srcRect b="0" l="0" r="78026" t="0"/>
          <a:stretch/>
        </p:blipFill>
        <p:spPr>
          <a:xfrm>
            <a:off x="586928" y="5233360"/>
            <a:ext cx="333747" cy="48327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6"/>
          <p:cNvSpPr txBox="1"/>
          <p:nvPr/>
        </p:nvSpPr>
        <p:spPr>
          <a:xfrm>
            <a:off x="101600" y="4554073"/>
            <a:ext cx="62859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Le Packs optionnels «Optique - Dentaire - Audio»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901603" y="5129855"/>
            <a:ext cx="331864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vous donner un choix plus large sur vos équipements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entre d'ostéopathie - Roxane Gervais St-Amour D.O." id="311" name="Google Shape;31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3713" y="6715358"/>
            <a:ext cx="683675" cy="72289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6"/>
          <p:cNvSpPr txBox="1"/>
          <p:nvPr/>
        </p:nvSpPr>
        <p:spPr>
          <a:xfrm>
            <a:off x="1579954" y="6315248"/>
            <a:ext cx="628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Le Packs optionnels «Bien-être &amp; Prévention 1»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entre d'ostéopathie - Roxane Gervais St-Amour D.O." id="313" name="Google Shape;31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668" y="8253644"/>
            <a:ext cx="683675" cy="722893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6"/>
          <p:cNvSpPr txBox="1"/>
          <p:nvPr/>
        </p:nvSpPr>
        <p:spPr>
          <a:xfrm>
            <a:off x="304909" y="7853534"/>
            <a:ext cx="62859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Le Packs optionnels «Bien-être &amp; Prévention 2»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2426538" y="6895828"/>
            <a:ext cx="33186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les familles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6"/>
          <p:cNvSpPr txBox="1"/>
          <p:nvPr/>
        </p:nvSpPr>
        <p:spPr>
          <a:xfrm>
            <a:off x="1256102" y="8450273"/>
            <a:ext cx="33186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les séniors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eingeist - Lunette Pour Les Ecran - Free Transparent PNG Clipart Images  Download" id="317" name="Google Shape;31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1803675">
            <a:off x="47818" y="5532802"/>
            <a:ext cx="741448" cy="278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69425" y="0"/>
            <a:ext cx="2488574" cy="224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323" name="Google Shape;3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7"/>
          <p:cNvSpPr txBox="1"/>
          <p:nvPr/>
        </p:nvSpPr>
        <p:spPr>
          <a:xfrm>
            <a:off x="106781" y="1139901"/>
            <a:ext cx="4684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-FR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passer par le réseau de soin Carte Blanche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" name="Google Shape;325;p17"/>
          <p:cNvGrpSpPr/>
          <p:nvPr/>
        </p:nvGrpSpPr>
        <p:grpSpPr>
          <a:xfrm>
            <a:off x="-95109" y="2057326"/>
            <a:ext cx="6247725" cy="2893800"/>
            <a:chOff x="343724" y="2264276"/>
            <a:chExt cx="6069878" cy="2893800"/>
          </a:xfrm>
        </p:grpSpPr>
        <p:pic>
          <p:nvPicPr>
            <p:cNvPr descr="Feingeist - Lunette Pour Les Ecran - Free Transparent PNG Clipart Images  Download" id="326" name="Google Shape;32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p17"/>
            <p:cNvSpPr txBox="1"/>
            <p:nvPr/>
          </p:nvSpPr>
          <p:spPr>
            <a:xfrm>
              <a:off x="1382902" y="2264276"/>
              <a:ext cx="5030700" cy="28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fr-F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Carte Blanche vous garantie: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négociés pour des équipements optique (lentilles et lunettes) : </a:t>
              </a:r>
              <a:r>
                <a:rPr b="1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jusqu’à 40 % </a:t>
              </a: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réduction.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garanties supplémentaires: comme une protection contre la casse pendant 2 ans, l’adaptation des verres pendant 6 mois, L’entretien et le réajustement des lunettes gratuits chez l’opticien fournisseur.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large choix grâce à un catalogue de plus de </a:t>
              </a:r>
              <a:r>
                <a:rPr b="1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66 000 </a:t>
              </a: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références.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tiers payant pour ne pas avancer d’argent à l’achat d’une paire de lunettes ou de lentilles.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Deux devis complets avant l’achat d’un équipement optique.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" name="Google Shape;328;p17"/>
          <p:cNvGrpSpPr/>
          <p:nvPr/>
        </p:nvGrpSpPr>
        <p:grpSpPr>
          <a:xfrm>
            <a:off x="1954742" y="4890676"/>
            <a:ext cx="4970666" cy="954107"/>
            <a:chOff x="1730184" y="4376845"/>
            <a:chExt cx="4992359" cy="954107"/>
          </a:xfrm>
        </p:grpSpPr>
        <p:pic>
          <p:nvPicPr>
            <p:cNvPr descr="Icône D'oreille Pour Vos Sites De Conception Et Projets PNG , Audio, Oreille,  Écoutez Licône PNG et vecteur pour téléchargement gratuit" id="329" name="Google Shape;329;p17"/>
            <p:cNvPicPr preferRelativeResize="0"/>
            <p:nvPr/>
          </p:nvPicPr>
          <p:blipFill rotWithShape="1">
            <a:blip r:embed="rId5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p17"/>
            <p:cNvSpPr txBox="1"/>
            <p:nvPr/>
          </p:nvSpPr>
          <p:spPr>
            <a:xfrm>
              <a:off x="2175244" y="4376845"/>
              <a:ext cx="4547299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fr-F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Carte Blanche vous garantie: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négociés (jusqu’à 20 % de réduction), une vraie expertise, des facilités de paiement et un suivi régulier pour adapter au mieux vos appareils auditifs.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p17"/>
          <p:cNvGrpSpPr/>
          <p:nvPr/>
        </p:nvGrpSpPr>
        <p:grpSpPr>
          <a:xfrm>
            <a:off x="36855" y="6000478"/>
            <a:ext cx="6688442" cy="2462213"/>
            <a:chOff x="521694" y="6041286"/>
            <a:chExt cx="5897889" cy="2462213"/>
          </a:xfrm>
        </p:grpSpPr>
        <p:pic>
          <p:nvPicPr>
            <p:cNvPr descr="Bouton Logo Les Dents - Images vectorielles gratuites sur Pixabay - Pixabay" id="332" name="Google Shape;33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17"/>
            <p:cNvSpPr txBox="1"/>
            <p:nvPr/>
          </p:nvSpPr>
          <p:spPr>
            <a:xfrm>
              <a:off x="1144276" y="6041286"/>
              <a:ext cx="5275307" cy="2462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fr-F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Carte Blanche vous garantie: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négociés pour les prothèses dentaires : jusqu’à 15 % de réduction.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équipement de qualité grâce à la traçabilité des prothèses dentaires (certification des laboratoires choisis et respect des règlements européens).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prévention bucco-dentaire favorisée grâce au partenariat avec l’UFSBD (Union Française pour la Santé Bucco Dentaire).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tiers payant national pour ne pas avancer les frais de vos soins.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annuaire des dentistes partenaires en ligne pour trouver le professionnel le plus proche de vous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" name="Google Shape;334;p17"/>
          <p:cNvGrpSpPr/>
          <p:nvPr/>
        </p:nvGrpSpPr>
        <p:grpSpPr>
          <a:xfrm>
            <a:off x="1425933" y="8618386"/>
            <a:ext cx="5250295" cy="954107"/>
            <a:chOff x="1261356" y="7842852"/>
            <a:chExt cx="5526794" cy="954107"/>
          </a:xfrm>
        </p:grpSpPr>
        <p:pic>
          <p:nvPicPr>
            <p:cNvPr descr="Centre d'ostéopathie - Roxane Gervais St-Amour D.O." id="335" name="Google Shape;335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17"/>
            <p:cNvSpPr txBox="1"/>
            <p:nvPr/>
          </p:nvSpPr>
          <p:spPr>
            <a:xfrm>
              <a:off x="1860500" y="7842852"/>
              <a:ext cx="4927650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fr-F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Prévention de Carte Blanche vous garantie: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la pratique de certaines médecines douces (chez l’ostéopathe, le diététicien, le pédicure, le podologue…).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7" name="Google Shape;33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427" y="-2"/>
            <a:ext cx="1092540" cy="1040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69425" y="0"/>
            <a:ext cx="2488574" cy="224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343" name="Google Shape;3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ment contacter Inter Mutuelles Assistance ?" id="344" name="Google Shape;344;p18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23856" l="0" r="4129" t="28225"/>
          <a:stretch/>
        </p:blipFill>
        <p:spPr>
          <a:xfrm>
            <a:off x="-7" y="1276876"/>
            <a:ext cx="1463258" cy="8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8"/>
          <p:cNvSpPr txBox="1"/>
          <p:nvPr/>
        </p:nvSpPr>
        <p:spPr>
          <a:xfrm>
            <a:off x="1005707" y="1253185"/>
            <a:ext cx="4684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-FR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IMA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 txBox="1"/>
          <p:nvPr/>
        </p:nvSpPr>
        <p:spPr>
          <a:xfrm>
            <a:off x="938013" y="2640981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 vous propose gratuitement: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7" name="Google Shape;347;p18"/>
          <p:cNvGrpSpPr/>
          <p:nvPr/>
        </p:nvGrpSpPr>
        <p:grpSpPr>
          <a:xfrm>
            <a:off x="101600" y="3572554"/>
            <a:ext cx="6020613" cy="811475"/>
            <a:chOff x="400050" y="2786464"/>
            <a:chExt cx="6020613" cy="811475"/>
          </a:xfrm>
        </p:grpSpPr>
        <p:sp>
          <p:nvSpPr>
            <p:cNvPr id="348" name="Google Shape;348;p18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9" name="Google Shape;349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0" name="Google Shape;350;p18"/>
          <p:cNvGrpSpPr/>
          <p:nvPr/>
        </p:nvGrpSpPr>
        <p:grpSpPr>
          <a:xfrm>
            <a:off x="813402" y="4540981"/>
            <a:ext cx="5639928" cy="878816"/>
            <a:chOff x="222327" y="3957748"/>
            <a:chExt cx="6053947" cy="878816"/>
          </a:xfrm>
        </p:grpSpPr>
        <p:sp>
          <p:nvSpPr>
            <p:cNvPr id="351" name="Google Shape;351;p18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services de proximités: ( livraison des médicaments, Portage des repas, portage d’espèces, livraison des courses,…)</a:t>
              </a:r>
              <a:endParaRPr b="0" i="0" sz="1400" u="none" cap="none" strike="noStrike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2" name="Google Shape;352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3" name="Google Shape;353;p18"/>
          <p:cNvGrpSpPr/>
          <p:nvPr/>
        </p:nvGrpSpPr>
        <p:grpSpPr>
          <a:xfrm>
            <a:off x="101600" y="5576784"/>
            <a:ext cx="6198819" cy="733785"/>
            <a:chOff x="222327" y="5188381"/>
            <a:chExt cx="6198819" cy="733785"/>
          </a:xfrm>
        </p:grpSpPr>
        <p:pic>
          <p:nvPicPr>
            <p:cNvPr id="354" name="Google Shape;354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18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l’adhérant, par un pet Sitter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6" name="Google Shape;356;p18"/>
          <p:cNvGrpSpPr/>
          <p:nvPr/>
        </p:nvGrpSpPr>
        <p:grpSpPr>
          <a:xfrm>
            <a:off x="938013" y="6527845"/>
            <a:ext cx="5781376" cy="613892"/>
            <a:chOff x="449887" y="6368680"/>
            <a:chExt cx="5781376" cy="613892"/>
          </a:xfrm>
        </p:grpSpPr>
        <p:sp>
          <p:nvSpPr>
            <p:cNvPr id="357" name="Google Shape;357;p18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Transport post-hospitalisation: chez un proche, ou aux RDV médicaux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8" name="Google Shape;358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49887" y="6368680"/>
              <a:ext cx="933972" cy="5232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9" name="Google Shape;359;p18"/>
          <p:cNvGrpSpPr/>
          <p:nvPr/>
        </p:nvGrpSpPr>
        <p:grpSpPr>
          <a:xfrm>
            <a:off x="319683" y="7342006"/>
            <a:ext cx="5980735" cy="762965"/>
            <a:chOff x="319683" y="6589531"/>
            <a:chExt cx="5980735" cy="762965"/>
          </a:xfrm>
        </p:grpSpPr>
        <p:pic>
          <p:nvPicPr>
            <p:cNvPr id="360" name="Google Shape;360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18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 u="none" cap="none" strike="noStrike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soutien scolaire, aide aux devoirs,…)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2" name="Google Shape;36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7845" y="8305239"/>
            <a:ext cx="728862" cy="81997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8"/>
          <p:cNvSpPr txBox="1"/>
          <p:nvPr/>
        </p:nvSpPr>
        <p:spPr>
          <a:xfrm>
            <a:off x="1657113" y="8416341"/>
            <a:ext cx="50085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5"/>
              </a:buClr>
              <a:buSzPts val="1400"/>
              <a:buFont typeface="Noto Sans Symbols"/>
              <a:buChar char="▪"/>
            </a:pPr>
            <a:r>
              <a:rPr b="0" i="0" lang="fr-FR" sz="1400" u="none" cap="none" strike="noStrike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Prise en charge des ascendants: (déplacement d’un proche, transfert, garde,…)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369425" y="0"/>
            <a:ext cx="2488574" cy="224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369" name="Google Shape;3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9"/>
          <p:cNvSpPr txBox="1"/>
          <p:nvPr/>
        </p:nvSpPr>
        <p:spPr>
          <a:xfrm>
            <a:off x="295043" y="1159905"/>
            <a:ext cx="4684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-FR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La protection juridique Matmut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9"/>
          <p:cNvSpPr txBox="1"/>
          <p:nvPr/>
        </p:nvSpPr>
        <p:spPr>
          <a:xfrm>
            <a:off x="687318" y="2486038"/>
            <a:ext cx="57184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de litige ou de différend vous opposant à un tiers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résultant d’un accident médical susceptible,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Matmut met à votre disposition gratuitement: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ntrat collectif d'assurance de protection juridique" id="372" name="Google Shape;3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762" y="168461"/>
            <a:ext cx="1421078" cy="9914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19"/>
          <p:cNvGrpSpPr/>
          <p:nvPr/>
        </p:nvGrpSpPr>
        <p:grpSpPr>
          <a:xfrm>
            <a:off x="295056" y="3842510"/>
            <a:ext cx="5999299" cy="1253076"/>
            <a:chOff x="282356" y="3892553"/>
            <a:chExt cx="5999299" cy="1253076"/>
          </a:xfrm>
        </p:grpSpPr>
        <p:sp>
          <p:nvSpPr>
            <p:cNvPr id="374" name="Google Shape;374;p19"/>
            <p:cNvSpPr txBox="1"/>
            <p:nvPr/>
          </p:nvSpPr>
          <p:spPr>
            <a:xfrm>
              <a:off x="1817665" y="3976078"/>
              <a:ext cx="4463990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fr-F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 par téléphone</a:t>
              </a:r>
              <a:r>
                <a:rPr b="0" i="0" lang="fr-F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qui répond aux questions </a:t>
              </a:r>
              <a:r>
                <a:rPr b="1" i="0" lang="fr-F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d’ordre juridique </a:t>
              </a:r>
              <a:r>
                <a:rPr b="0" i="0" lang="fr-F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 vous vous </a:t>
              </a:r>
              <a:r>
                <a:rPr b="0" i="0" lang="fr-F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fr-F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posez, vous informe sur vos droits, vous apporte une aide </a:t>
              </a:r>
              <a:r>
                <a:rPr b="0" i="0" lang="fr-F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fr-F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afin de prendre une décision et de trouver une solution à vos problèmes, 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5" name="Google Shape;375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2356" y="3892553"/>
              <a:ext cx="1535008" cy="1213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6" name="Google Shape;376;p19"/>
          <p:cNvGrpSpPr/>
          <p:nvPr/>
        </p:nvGrpSpPr>
        <p:grpSpPr>
          <a:xfrm>
            <a:off x="1257793" y="5750755"/>
            <a:ext cx="5242236" cy="923330"/>
            <a:chOff x="1295893" y="5584357"/>
            <a:chExt cx="5242236" cy="923330"/>
          </a:xfrm>
        </p:grpSpPr>
        <p:sp>
          <p:nvSpPr>
            <p:cNvPr id="377" name="Google Shape;377;p19"/>
            <p:cNvSpPr txBox="1"/>
            <p:nvPr/>
          </p:nvSpPr>
          <p:spPr>
            <a:xfrm>
              <a:off x="2654300" y="5640155"/>
              <a:ext cx="3883829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fr-F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</a:t>
              </a:r>
              <a:r>
                <a:rPr b="0" i="0" lang="fr-F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sur rendez-vous 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-F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lorsqu’un examen particulier de votre situation est nécessaire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8" name="Google Shape;378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95893" y="5584357"/>
              <a:ext cx="1358407" cy="923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9" name="Google Shape;379;p19"/>
          <p:cNvGrpSpPr/>
          <p:nvPr/>
        </p:nvGrpSpPr>
        <p:grpSpPr>
          <a:xfrm>
            <a:off x="352505" y="7329255"/>
            <a:ext cx="5815469" cy="954107"/>
            <a:chOff x="352505" y="7329255"/>
            <a:chExt cx="5815469" cy="954107"/>
          </a:xfrm>
        </p:grpSpPr>
        <p:sp>
          <p:nvSpPr>
            <p:cNvPr id="380" name="Google Shape;380;p19"/>
            <p:cNvSpPr txBox="1"/>
            <p:nvPr/>
          </p:nvSpPr>
          <p:spPr>
            <a:xfrm>
              <a:off x="1830064" y="7329255"/>
              <a:ext cx="4337910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fr-F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de gestion des sinistres </a:t>
              </a:r>
              <a:r>
                <a:rPr b="0" i="0" lang="fr-F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 prend les mesures utiles afin de faire valoir vos droits à l’amiable et, au besoin, vous donne les moyens d’en poursuivre l’exercice en justice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1" name="Google Shape;381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2505" y="7458293"/>
              <a:ext cx="1477559" cy="8250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2" name="Google Shape;382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69425" y="0"/>
            <a:ext cx="2488574" cy="224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387" name="Google Shape;3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388" name="Google Shape;388;p20"/>
          <p:cNvPicPr preferRelativeResize="0"/>
          <p:nvPr/>
        </p:nvPicPr>
        <p:blipFill rotWithShape="1">
          <a:blip r:embed="rId4">
            <a:alphaModFix/>
          </a:blip>
          <a:srcRect b="13073" l="12590" r="12609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0"/>
          <p:cNvSpPr txBox="1"/>
          <p:nvPr/>
        </p:nvSpPr>
        <p:spPr>
          <a:xfrm>
            <a:off x="468231" y="2476003"/>
            <a:ext cx="60786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0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0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0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0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0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20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7" name="Google Shape;397;p20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8" name="Google Shape;398;p20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0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0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38263" y="0"/>
            <a:ext cx="2488574" cy="224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406" name="Google Shape;4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407" name="Google Shape;407;p21"/>
          <p:cNvPicPr preferRelativeResize="0"/>
          <p:nvPr/>
        </p:nvPicPr>
        <p:blipFill rotWithShape="1">
          <a:blip r:embed="rId4">
            <a:alphaModFix/>
          </a:blip>
          <a:srcRect b="13073" l="12590" r="12609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69425" y="0"/>
            <a:ext cx="2488574" cy="224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