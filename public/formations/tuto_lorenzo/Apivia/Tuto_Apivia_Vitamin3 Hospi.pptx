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j58HDFN6+DPltf5UnZ2MQjb7JT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1'!A1" TargetMode="External"/><Relationship Id="rId10" Type="http://schemas.openxmlformats.org/officeDocument/2006/relationships/image" Target="../media/image14.png"/><Relationship Id="rId13" Type="http://schemas.openxmlformats.org/officeDocument/2006/relationships/hyperlink" Target="#'9'!A1" TargetMode="External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jpg"/><Relationship Id="rId9" Type="http://schemas.openxmlformats.org/officeDocument/2006/relationships/hyperlink" Target="#'6'!A1" TargetMode="External"/><Relationship Id="rId15" Type="http://schemas.openxmlformats.org/officeDocument/2006/relationships/hyperlink" Target="#'18'!A1" TargetMode="External"/><Relationship Id="rId14" Type="http://schemas.openxmlformats.org/officeDocument/2006/relationships/image" Target="../media/image21.png"/><Relationship Id="rId17" Type="http://schemas.openxmlformats.org/officeDocument/2006/relationships/hyperlink" Target="#'26'!A1" TargetMode="External"/><Relationship Id="rId16" Type="http://schemas.openxmlformats.org/officeDocument/2006/relationships/image" Target="../media/image18.jpg"/><Relationship Id="rId5" Type="http://schemas.openxmlformats.org/officeDocument/2006/relationships/image" Target="../media/image20.png"/><Relationship Id="rId6" Type="http://schemas.openxmlformats.org/officeDocument/2006/relationships/image" Target="../media/image9.jpg"/><Relationship Id="rId18" Type="http://schemas.openxmlformats.org/officeDocument/2006/relationships/image" Target="../media/image8.png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#'26'!A1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5.png"/><Relationship Id="rId13" Type="http://schemas.openxmlformats.org/officeDocument/2006/relationships/image" Target="../media/image8.png"/><Relationship Id="rId12" Type="http://schemas.openxmlformats.org/officeDocument/2006/relationships/hyperlink" Target="#'26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hyperlink" Target="#'9'!A1" TargetMode="External"/><Relationship Id="rId9" Type="http://schemas.openxmlformats.org/officeDocument/2006/relationships/image" Target="../media/image24.png"/><Relationship Id="rId14" Type="http://schemas.openxmlformats.org/officeDocument/2006/relationships/image" Target="../media/image2.jpg"/><Relationship Id="rId5" Type="http://schemas.openxmlformats.org/officeDocument/2006/relationships/image" Target="../media/image21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hyperlink" Target="#'18'!A1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8.jpg"/><Relationship Id="rId6" Type="http://schemas.openxmlformats.org/officeDocument/2006/relationships/hyperlink" Target="#'26'!A1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31464" y="774230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service de gestion de sinistres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Contrat NON responsable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de 220 000 professionnels adhérents qui proposent des tarifs négociés pour les bénéficiaires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 numérique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6" name="Google Shape;96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7" name="Google Shape;97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4"/>
          <p:cNvGrpSpPr/>
          <p:nvPr/>
        </p:nvGrpSpPr>
        <p:grpSpPr>
          <a:xfrm>
            <a:off x="2524885" y="2987373"/>
            <a:ext cx="976837" cy="1010393"/>
            <a:chOff x="2548471" y="3049424"/>
            <a:chExt cx="976837" cy="1010393"/>
          </a:xfrm>
        </p:grpSpPr>
        <p:sp>
          <p:nvSpPr>
            <p:cNvPr id="99" name="Google Shape;99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00" name="Google Shape;100;p14"/>
            <p:cNvPicPr preferRelativeResize="0"/>
            <p:nvPr/>
          </p:nvPicPr>
          <p:blipFill rotWithShape="1">
            <a:blip r:embed="rId4">
              <a:alphaModFix/>
            </a:blip>
            <a:srcRect b="17480" l="6111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2" name="Google Shape;102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3" name="Google Shape;103;p14"/>
            <p:cNvPicPr preferRelativeResize="0"/>
            <p:nvPr/>
          </p:nvPicPr>
          <p:blipFill rotWithShape="1">
            <a:blip r:embed="rId5">
              <a:alphaModFix/>
            </a:blip>
            <a:srcRect b="4849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5" name="Google Shape;105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6" name="Google Shape;106;p14"/>
            <p:cNvPicPr preferRelativeResize="0"/>
            <p:nvPr/>
          </p:nvPicPr>
          <p:blipFill rotWithShape="1">
            <a:blip r:embed="rId6">
              <a:alphaModFix/>
            </a:blip>
            <a:srcRect b="31895" l="20106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4"/>
          <p:cNvGrpSpPr/>
          <p:nvPr/>
        </p:nvGrpSpPr>
        <p:grpSpPr>
          <a:xfrm>
            <a:off x="2007341" y="7997340"/>
            <a:ext cx="976837" cy="1010393"/>
            <a:chOff x="1963799" y="8142480"/>
            <a:chExt cx="976837" cy="1010393"/>
          </a:xfrm>
        </p:grpSpPr>
        <p:sp>
          <p:nvSpPr>
            <p:cNvPr id="108" name="Google Shape;108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09" name="Google Shape;109;p14"/>
            <p:cNvPicPr preferRelativeResize="0"/>
            <p:nvPr/>
          </p:nvPicPr>
          <p:blipFill rotWithShape="1">
            <a:blip r:embed="rId7">
              <a:alphaModFix/>
            </a:blip>
            <a:srcRect b="29438" l="4035" r="4387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Hospitalisation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20 ans et+ sans limite d’âge</a:t>
            </a:r>
            <a:endParaRPr/>
          </a:p>
        </p:txBody>
      </p:sp>
      <p:pic>
        <p:nvPicPr>
          <p:cNvPr descr="Macif (@MacifAssurances) / X" id="112" name="Google Shape;112;p14"/>
          <p:cNvPicPr preferRelativeResize="0"/>
          <p:nvPr/>
        </p:nvPicPr>
        <p:blipFill rotWithShape="1">
          <a:blip r:embed="rId8">
            <a:alphaModFix/>
          </a:blip>
          <a:srcRect b="22705" l="22267" r="22266" t="24266"/>
          <a:stretch/>
        </p:blipFill>
        <p:spPr>
          <a:xfrm>
            <a:off x="4577122" y="1680660"/>
            <a:ext cx="747865" cy="71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1056" y="4928121"/>
            <a:ext cx="1334986" cy="54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7122" y="3179501"/>
            <a:ext cx="754634" cy="718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115" name="Google Shape;115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23858" l="0" r="4129" t="28225"/>
          <a:stretch/>
        </p:blipFill>
        <p:spPr>
          <a:xfrm>
            <a:off x="4381705" y="6421371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t collectif d'assurance de protection juridique" id="116" name="Google Shape;116;p14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52875" y="8113486"/>
            <a:ext cx="947250" cy="660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18" name="Google Shape;118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Vitamin 3 Hospi by                                      assuré par                                 </a:t>
              </a:r>
              <a:endParaRPr/>
            </a:p>
          </p:txBody>
        </p:sp>
        <p:pic>
          <p:nvPicPr>
            <p:cNvPr id="119" name="Google Shape;119;p14">
              <a:hlinkClick r:id="rId17"/>
            </p:cNvPr>
            <p:cNvPicPr preferRelativeResize="0"/>
            <p:nvPr/>
          </p:nvPicPr>
          <p:blipFill rotWithShape="1">
            <a:blip r:embed="rId18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20" name="Google Shape;120;p14"/>
            <p:cNvPicPr preferRelativeResize="0"/>
            <p:nvPr/>
          </p:nvPicPr>
          <p:blipFill rotWithShape="1">
            <a:blip r:embed="rId8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particulièrement performantes en terme de rapport qualité /prix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29696" y="4910672"/>
            <a:ext cx="6198600" cy="58710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48343" y="5649388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29746" y="6419168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48343" y="6990612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Apivia Vitamin3 Hospi?</a:t>
              </a:r>
              <a:endParaRPr/>
            </a:p>
          </p:txBody>
        </p:sp>
        <p:pic>
          <p:nvPicPr>
            <p:cNvPr descr="Bonne idée - Icônes commercialisation gratuites"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4" name="Google Shape;134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Vitamin 3 Hospi by                                      assuré par                                 </a:t>
              </a:r>
              <a:endParaRPr/>
            </a:p>
          </p:txBody>
        </p:sp>
        <p:pic>
          <p:nvPicPr>
            <p:cNvPr id="135" name="Google Shape;135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36" name="Google Shape;136;p15"/>
            <p:cNvPicPr preferRelativeResize="0"/>
            <p:nvPr/>
          </p:nvPicPr>
          <p:blipFill rotWithShape="1">
            <a:blip r:embed="rId6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5"/>
          <p:cNvSpPr/>
          <p:nvPr/>
        </p:nvSpPr>
        <p:spPr>
          <a:xfrm>
            <a:off x="348343" y="3107647"/>
            <a:ext cx="6198508" cy="6792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 délai d’attente ou Carence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48343" y="4002525"/>
            <a:ext cx="6198508" cy="62865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Jusqu’à 60€ / jour pour les frais de confort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48343" y="8673510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protection Juridique Matmut, en cas de recours médical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Jusqu’à 20000€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145" name="Google Shape;145;p1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3858" l="0" r="4129" t="28225"/>
          <a:stretch/>
        </p:blipFill>
        <p:spPr>
          <a:xfrm>
            <a:off x="975443" y="921501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981157" y="897810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38013" y="2640981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01600" y="3572554"/>
            <a:ext cx="6020613" cy="811475"/>
            <a:chOff x="400050" y="2786464"/>
            <a:chExt cx="6020613" cy="811475"/>
          </a:xfrm>
        </p:grpSpPr>
        <p:sp>
          <p:nvSpPr>
            <p:cNvPr id="149" name="Google Shape;149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50" name="Google Shape;15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6"/>
          <p:cNvGrpSpPr/>
          <p:nvPr/>
        </p:nvGrpSpPr>
        <p:grpSpPr>
          <a:xfrm>
            <a:off x="813402" y="4540981"/>
            <a:ext cx="5639928" cy="878816"/>
            <a:chOff x="222327" y="3957748"/>
            <a:chExt cx="6053947" cy="878816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6"/>
          <p:cNvGrpSpPr/>
          <p:nvPr/>
        </p:nvGrpSpPr>
        <p:grpSpPr>
          <a:xfrm>
            <a:off x="101600" y="5576784"/>
            <a:ext cx="6198819" cy="733785"/>
            <a:chOff x="222327" y="5188381"/>
            <a:chExt cx="6198819" cy="733785"/>
          </a:xfrm>
        </p:grpSpPr>
        <p:pic>
          <p:nvPicPr>
            <p:cNvPr id="155" name="Google Shape;155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938013" y="6527845"/>
            <a:ext cx="5781376" cy="613892"/>
            <a:chOff x="449887" y="6368680"/>
            <a:chExt cx="5781376" cy="613892"/>
          </a:xfrm>
        </p:grpSpPr>
        <p:sp>
          <p:nvSpPr>
            <p:cNvPr id="158" name="Google Shape;158;p16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59" name="Google Shape;159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6"/>
          <p:cNvGrpSpPr/>
          <p:nvPr/>
        </p:nvGrpSpPr>
        <p:grpSpPr>
          <a:xfrm>
            <a:off x="319683" y="7342006"/>
            <a:ext cx="5980735" cy="762965"/>
            <a:chOff x="319683" y="6589531"/>
            <a:chExt cx="5980735" cy="762965"/>
          </a:xfrm>
        </p:grpSpPr>
        <p:pic>
          <p:nvPicPr>
            <p:cNvPr id="161" name="Google Shape;161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6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163" name="Google Shape;16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845" y="8305239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657113" y="8416341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  <p:grpSp>
        <p:nvGrpSpPr>
          <p:cNvPr id="165" name="Google Shape;165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66" name="Google Shape;166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Vitamin 3 Hospi by                                      assuré par                                 </a:t>
              </a:r>
              <a:endParaRPr/>
            </a:p>
          </p:txBody>
        </p:sp>
        <p:pic>
          <p:nvPicPr>
            <p:cNvPr id="167" name="Google Shape;167;p16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68" name="Google Shape;168;p16"/>
            <p:cNvPicPr preferRelativeResize="0"/>
            <p:nvPr/>
          </p:nvPicPr>
          <p:blipFill rotWithShape="1">
            <a:blip r:embed="rId14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2000843" y="1060730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Matmut ?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87318" y="2486038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Matmut met à votre disposition gratuitement:</a:t>
            </a:r>
            <a:endParaRPr/>
          </a:p>
        </p:txBody>
      </p:sp>
      <p:pic>
        <p:nvPicPr>
          <p:cNvPr descr="Contrat collectif d'assurance de protection juridique" id="176" name="Google Shape;176;p1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137" y="879211"/>
            <a:ext cx="1421078" cy="9914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78" name="Google Shape;178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Vitamin 3 Hospi by                                      assuré par                                 </a:t>
              </a:r>
              <a:endParaRPr/>
            </a:p>
          </p:txBody>
        </p:sp>
        <p:pic>
          <p:nvPicPr>
            <p:cNvPr id="179" name="Google Shape;179;p17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180" name="Google Shape;180;p17"/>
            <p:cNvPicPr preferRelativeResize="0"/>
            <p:nvPr/>
          </p:nvPicPr>
          <p:blipFill rotWithShape="1">
            <a:blip r:embed="rId8">
              <a:alphaModFix/>
            </a:blip>
            <a:srcRect b="22705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17"/>
          <p:cNvGrpSpPr/>
          <p:nvPr/>
        </p:nvGrpSpPr>
        <p:grpSpPr>
          <a:xfrm>
            <a:off x="295056" y="3842510"/>
            <a:ext cx="5999299" cy="1253076"/>
            <a:chOff x="282356" y="3892553"/>
            <a:chExt cx="5999299" cy="1253076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7"/>
          <p:cNvGrpSpPr/>
          <p:nvPr/>
        </p:nvGrpSpPr>
        <p:grpSpPr>
          <a:xfrm>
            <a:off x="1257793" y="5750755"/>
            <a:ext cx="5242236" cy="923330"/>
            <a:chOff x="1295893" y="5584357"/>
            <a:chExt cx="5242236" cy="923330"/>
          </a:xfrm>
        </p:grpSpPr>
        <p:sp>
          <p:nvSpPr>
            <p:cNvPr id="185" name="Google Shape;185;p17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6" name="Google Shape;186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7"/>
          <p:cNvGrpSpPr/>
          <p:nvPr/>
        </p:nvGrpSpPr>
        <p:grpSpPr>
          <a:xfrm>
            <a:off x="352505" y="7329255"/>
            <a:ext cx="5815469" cy="954107"/>
            <a:chOff x="352505" y="7329255"/>
            <a:chExt cx="5815469" cy="954107"/>
          </a:xfrm>
        </p:grpSpPr>
        <p:sp>
          <p:nvSpPr>
            <p:cNvPr id="188" name="Google Shape;188;p17"/>
            <p:cNvSpPr txBox="1"/>
            <p:nvPr/>
          </p:nvSpPr>
          <p:spPr>
            <a:xfrm>
              <a:off x="1830064" y="7329255"/>
              <a:ext cx="433791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l’amiable 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9" name="Google Shape;189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