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/SW37UxJIL+22vGruSbmfRXwf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d340ad14e_1_10:notes"/>
          <p:cNvSpPr/>
          <p:nvPr>
            <p:ph idx="2" type="sldImg"/>
          </p:nvPr>
        </p:nvSpPr>
        <p:spPr>
          <a:xfrm>
            <a:off x="2357438" y="1279525"/>
            <a:ext cx="23892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d340ad14e_1_1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cd340ad14e_1_1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d340ad14e_1_5:notes"/>
          <p:cNvSpPr/>
          <p:nvPr>
            <p:ph idx="2" type="sldImg"/>
          </p:nvPr>
        </p:nvSpPr>
        <p:spPr>
          <a:xfrm>
            <a:off x="2357438" y="1279525"/>
            <a:ext cx="23892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d340ad14e_1_5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cd340ad14e_1_5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d340ad14e_1_0:notes"/>
          <p:cNvSpPr/>
          <p:nvPr>
            <p:ph idx="2" type="sldImg"/>
          </p:nvPr>
        </p:nvSpPr>
        <p:spPr>
          <a:xfrm>
            <a:off x="2357438" y="1279525"/>
            <a:ext cx="23892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d340ad14e_1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cd340ad14e_1_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d340ad14e_1_15:notes"/>
          <p:cNvSpPr/>
          <p:nvPr>
            <p:ph idx="2" type="sldImg"/>
          </p:nvPr>
        </p:nvSpPr>
        <p:spPr>
          <a:xfrm>
            <a:off x="2357438" y="1279525"/>
            <a:ext cx="23892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d340ad14e_1_15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cd340ad14e_1_15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6'!A1" TargetMode="External"/><Relationship Id="rId10" Type="http://schemas.openxmlformats.org/officeDocument/2006/relationships/image" Target="../media/image1.jpg"/><Relationship Id="rId13" Type="http://schemas.openxmlformats.org/officeDocument/2006/relationships/hyperlink" Target="#'1'!A1" TargetMode="External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4.jpg"/><Relationship Id="rId9" Type="http://schemas.openxmlformats.org/officeDocument/2006/relationships/image" Target="../media/image10.png"/><Relationship Id="rId15" Type="http://schemas.openxmlformats.org/officeDocument/2006/relationships/hyperlink" Target="#'9'!A1" TargetMode="External"/><Relationship Id="rId14" Type="http://schemas.openxmlformats.org/officeDocument/2006/relationships/image" Target="../media/image6.png"/><Relationship Id="rId17" Type="http://schemas.openxmlformats.org/officeDocument/2006/relationships/hyperlink" Target="#'18'!A1" TargetMode="External"/><Relationship Id="rId16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25.jpg"/><Relationship Id="rId18" Type="http://schemas.openxmlformats.org/officeDocument/2006/relationships/image" Target="../media/image16.jpg"/><Relationship Id="rId7" Type="http://schemas.openxmlformats.org/officeDocument/2006/relationships/image" Target="../media/image2.jpg"/><Relationship Id="rId8" Type="http://schemas.openxmlformats.org/officeDocument/2006/relationships/hyperlink" Target="#'26'!A1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#'26'!A1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jp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9.png"/><Relationship Id="rId9" Type="http://schemas.openxmlformats.org/officeDocument/2006/relationships/hyperlink" Target="#'26'!A1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5.jp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jp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9" Type="http://schemas.openxmlformats.org/officeDocument/2006/relationships/hyperlink" Target="#'26'!A1" TargetMode="External"/><Relationship Id="rId5" Type="http://schemas.openxmlformats.org/officeDocument/2006/relationships/image" Target="../media/image27.jpg"/><Relationship Id="rId6" Type="http://schemas.openxmlformats.org/officeDocument/2006/relationships/image" Target="../media/image15.jpg"/><Relationship Id="rId7" Type="http://schemas.openxmlformats.org/officeDocument/2006/relationships/hyperlink" Target="#'1'!A1" TargetMode="External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7.png"/><Relationship Id="rId13" Type="http://schemas.openxmlformats.org/officeDocument/2006/relationships/image" Target="../media/image10.png"/><Relationship Id="rId12" Type="http://schemas.openxmlformats.org/officeDocument/2006/relationships/hyperlink" Target="#'26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#'9'!A1" TargetMode="External"/><Relationship Id="rId9" Type="http://schemas.openxmlformats.org/officeDocument/2006/relationships/image" Target="../media/image26.png"/><Relationship Id="rId14" Type="http://schemas.openxmlformats.org/officeDocument/2006/relationships/image" Target="../media/image1.jpg"/><Relationship Id="rId5" Type="http://schemas.openxmlformats.org/officeDocument/2006/relationships/image" Target="../media/image14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jp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hyperlink" Target="#'18'!A1" TargetMode="External"/><Relationship Id="rId9" Type="http://schemas.openxmlformats.org/officeDocument/2006/relationships/hyperlink" Target="#'26'!A1" TargetMode="External"/><Relationship Id="rId5" Type="http://schemas.openxmlformats.org/officeDocument/2006/relationships/image" Target="../media/image16.jpg"/><Relationship Id="rId6" Type="http://schemas.openxmlformats.org/officeDocument/2006/relationships/image" Target="../media/image30.png"/><Relationship Id="rId7" Type="http://schemas.openxmlformats.org/officeDocument/2006/relationships/image" Target="../media/image40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hyperlink" Target="#'26'!A1" TargetMode="External"/><Relationship Id="rId7" Type="http://schemas.openxmlformats.org/officeDocument/2006/relationships/image" Target="../media/image10.png"/><Relationship Id="rId8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jp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9.png"/><Relationship Id="rId9" Type="http://schemas.openxmlformats.org/officeDocument/2006/relationships/hyperlink" Target="#'26'!A1" TargetMode="External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42.png"/><Relationship Id="rId8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31464" y="774230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Protection juridique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Un accompagnement en cas de litige,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un service de gestion de sinistres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avec 4 Packs optionnels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 de 220 000 professionnels adhérents qui proposent des tarifs négociés pour les bénéficiaires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6" name="Google Shape;96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7" name="Google Shape;97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4"/>
          <p:cNvGrpSpPr/>
          <p:nvPr/>
        </p:nvGrpSpPr>
        <p:grpSpPr>
          <a:xfrm>
            <a:off x="2524885" y="2987373"/>
            <a:ext cx="976837" cy="1010393"/>
            <a:chOff x="2548471" y="3049424"/>
            <a:chExt cx="976837" cy="1010393"/>
          </a:xfrm>
        </p:grpSpPr>
        <p:sp>
          <p:nvSpPr>
            <p:cNvPr id="99" name="Google Shape;99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100" name="Google Shape;100;p14"/>
            <p:cNvPicPr preferRelativeResize="0"/>
            <p:nvPr/>
          </p:nvPicPr>
          <p:blipFill rotWithShape="1">
            <a:blip r:embed="rId4">
              <a:alphaModFix/>
            </a:blip>
            <a:srcRect b="17480" l="6111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4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2" name="Google Shape;102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3" name="Google Shape;103;p14"/>
            <p:cNvPicPr preferRelativeResize="0"/>
            <p:nvPr/>
          </p:nvPicPr>
          <p:blipFill rotWithShape="1">
            <a:blip r:embed="rId5">
              <a:alphaModFix/>
            </a:blip>
            <a:srcRect b="4849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4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5" name="Google Shape;105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6" name="Google Shape;106;p14"/>
            <p:cNvPicPr preferRelativeResize="0"/>
            <p:nvPr/>
          </p:nvPicPr>
          <p:blipFill rotWithShape="1">
            <a:blip r:embed="rId6">
              <a:alphaModFix/>
            </a:blip>
            <a:srcRect b="31895" l="20106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4"/>
          <p:cNvGrpSpPr/>
          <p:nvPr/>
        </p:nvGrpSpPr>
        <p:grpSpPr>
          <a:xfrm>
            <a:off x="2007341" y="7997340"/>
            <a:ext cx="976837" cy="1010393"/>
            <a:chOff x="1963799" y="8142480"/>
            <a:chExt cx="976837" cy="1010393"/>
          </a:xfrm>
        </p:grpSpPr>
        <p:sp>
          <p:nvSpPr>
            <p:cNvPr id="108" name="Google Shape;108;p14"/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otection juridique" id="109" name="Google Shape;109;p14"/>
            <p:cNvPicPr preferRelativeResize="0"/>
            <p:nvPr/>
          </p:nvPicPr>
          <p:blipFill rotWithShape="1">
            <a:blip r:embed="rId7">
              <a:alphaModFix/>
            </a:blip>
            <a:srcRect b="29438" l="4035" r="4387" t="0"/>
            <a:stretch/>
          </p:blipFill>
          <p:spPr>
            <a:xfrm>
              <a:off x="2092593" y="8359486"/>
              <a:ext cx="726806" cy="5600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20 ans et+ sans limite d’âge</a:t>
            </a:r>
            <a:endParaRPr/>
          </a:p>
        </p:txBody>
      </p:sp>
      <p:grpSp>
        <p:nvGrpSpPr>
          <p:cNvPr id="112" name="Google Shape;112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13" name="Google Shape;113;p14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Vitamin 3 Pro by                                      assuré par                                 </a:t>
              </a:r>
              <a:endParaRPr/>
            </a:p>
          </p:txBody>
        </p:sp>
        <p:pic>
          <p:nvPicPr>
            <p:cNvPr id="114" name="Google Shape;114;p14">
              <a:hlinkClick r:id="rId8"/>
            </p:cNvPr>
            <p:cNvPicPr preferRelativeResize="0"/>
            <p:nvPr/>
          </p:nvPicPr>
          <p:blipFill rotWithShape="1">
            <a:blip r:embed="rId9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115" name="Google Shape;115;p14"/>
            <p:cNvPicPr preferRelativeResize="0"/>
            <p:nvPr/>
          </p:nvPicPr>
          <p:blipFill rotWithShape="1">
            <a:blip r:embed="rId10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Macif (@MacifAssurances) / X" id="116" name="Google Shape;116;p14"/>
          <p:cNvPicPr preferRelativeResize="0"/>
          <p:nvPr/>
        </p:nvPicPr>
        <p:blipFill rotWithShape="1">
          <a:blip r:embed="rId10">
            <a:alphaModFix/>
          </a:blip>
          <a:srcRect b="22705" l="22267" r="22266" t="24266"/>
          <a:stretch/>
        </p:blipFill>
        <p:spPr>
          <a:xfrm>
            <a:off x="4274190" y="1610908"/>
            <a:ext cx="747865" cy="71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21056" y="4928121"/>
            <a:ext cx="1334986" cy="54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77122" y="3179501"/>
            <a:ext cx="754634" cy="718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ment contacter Inter Mutuelles Assistance ?" id="119" name="Google Shape;119;p14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 b="23858" l="0" r="4129" t="28225"/>
          <a:stretch/>
        </p:blipFill>
        <p:spPr>
          <a:xfrm>
            <a:off x="4381705" y="6421371"/>
            <a:ext cx="1308959" cy="725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trat collectif d'assurance de protection juridique" id="120" name="Google Shape;120;p14">
            <a:hlinkClick r:id="rId17"/>
          </p:cNvPr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52875" y="8113486"/>
            <a:ext cx="947250" cy="660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348343" y="2133601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particulièrement performantes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 éligible à loi Madelin 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29746" y="305446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48343" y="353705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48343" y="4165045"/>
            <a:ext cx="6198508" cy="88320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Packs optionnel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Hospitalisation &amp; Honoraires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Packs optionnel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Optique - Dentaire – Audio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Deux Packs optionnels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Bien-être &amp; Prévention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29746" y="5137239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 professions éligibles pour le poste médecine naturelle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348343" y="5612579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348343" y="6567213"/>
            <a:ext cx="6198508" cy="120518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Carte Blanche.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8000 centres d’optiques, 9450 chirurgiens-dentistes et orthodontistes et 857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348343" y="786336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IMA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toute la famille: aide ménagère, service de proximité, prise en charge des animaux domestiques, garde et scolarité des enfants,…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4" name="Google Shape;134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Apivia Vitamin3 Pro?</a:t>
              </a:r>
              <a:endParaRPr/>
            </a:p>
          </p:txBody>
        </p:sp>
        <p:pic>
          <p:nvPicPr>
            <p:cNvPr descr="Bonne idée - Icônes commercialisation gratuites" id="135" name="Google Shape;13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5"/>
          <p:cNvSpPr/>
          <p:nvPr/>
        </p:nvSpPr>
        <p:spPr>
          <a:xfrm>
            <a:off x="348343" y="6084239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service de consultation médicale à distance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38" name="Google Shape;138;p15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Vitamin 3 Pro by                                      assuré par                                 </a:t>
              </a:r>
              <a:endParaRPr/>
            </a:p>
          </p:txBody>
        </p:sp>
        <p:pic>
          <p:nvPicPr>
            <p:cNvPr id="139" name="Google Shape;139;p15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140" name="Google Shape;140;p15"/>
            <p:cNvPicPr preferRelativeResize="0"/>
            <p:nvPr/>
          </p:nvPicPr>
          <p:blipFill rotWithShape="1">
            <a:blip r:embed="rId6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6"/>
          <p:cNvGrpSpPr/>
          <p:nvPr/>
        </p:nvGrpSpPr>
        <p:grpSpPr>
          <a:xfrm>
            <a:off x="1004728" y="1167723"/>
            <a:ext cx="5459118" cy="1200329"/>
            <a:chOff x="976399" y="1029786"/>
            <a:chExt cx="5459118" cy="1200329"/>
          </a:xfrm>
        </p:grpSpPr>
        <p:pic>
          <p:nvPicPr>
            <p:cNvPr descr="ajuster la conception de l'icône créative 15456496 Art vectoriel chez  Vecteezy" id="147" name="Google Shape;14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6"/>
            <p:cNvSpPr txBox="1"/>
            <p:nvPr/>
          </p:nvSpPr>
          <p:spPr>
            <a:xfrm>
              <a:off x="2283732" y="1029786"/>
              <a:ext cx="4151785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Vitamin3, vous donne la possibilité de renforcer vos garanties, à partir du niveau 2</a:t>
              </a:r>
              <a:endParaRPr/>
            </a:p>
          </p:txBody>
        </p:sp>
      </p:grpSp>
      <p:sp>
        <p:nvSpPr>
          <p:cNvPr id="149" name="Google Shape;149;p16"/>
          <p:cNvSpPr txBox="1"/>
          <p:nvPr/>
        </p:nvSpPr>
        <p:spPr>
          <a:xfrm>
            <a:off x="1185972" y="3174674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«Hospitalisation &amp; Honoraires»</a:t>
            </a:r>
            <a:endParaRPr/>
          </a:p>
        </p:txBody>
      </p:sp>
      <p:grpSp>
        <p:nvGrpSpPr>
          <p:cNvPr id="150" name="Google Shape;150;p16"/>
          <p:cNvGrpSpPr/>
          <p:nvPr/>
        </p:nvGrpSpPr>
        <p:grpSpPr>
          <a:xfrm>
            <a:off x="2323151" y="3546141"/>
            <a:ext cx="3836569" cy="832260"/>
            <a:chOff x="1453470" y="4179066"/>
            <a:chExt cx="3620811" cy="832260"/>
          </a:xfrm>
        </p:grpSpPr>
        <p:sp>
          <p:nvSpPr>
            <p:cNvPr id="151" name="Google Shape;151;p16"/>
            <p:cNvSpPr txBox="1"/>
            <p:nvPr/>
          </p:nvSpPr>
          <p:spPr>
            <a:xfrm>
              <a:off x="2220234" y="4179066"/>
              <a:ext cx="285404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 un confort optimal pendant votre hospitalisation </a:t>
              </a:r>
              <a:endParaRPr/>
            </a:p>
          </p:txBody>
        </p:sp>
        <p:pic>
          <p:nvPicPr>
            <p:cNvPr id="152" name="Google Shape;15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53470" y="4222786"/>
              <a:ext cx="830262" cy="7885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Bouton Logo Les Dents - Images vectorielles gratuites sur Pixabay - Pixabay" id="153" name="Google Shape;1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254" y="5060204"/>
            <a:ext cx="398453" cy="398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ison de l'Appareil Auditif | Audioprothésistes Militants" id="154" name="Google Shape;154;p16"/>
          <p:cNvPicPr preferRelativeResize="0"/>
          <p:nvPr/>
        </p:nvPicPr>
        <p:blipFill rotWithShape="1">
          <a:blip r:embed="rId6">
            <a:alphaModFix/>
          </a:blip>
          <a:srcRect b="0" l="0" r="78026" t="0"/>
          <a:stretch/>
        </p:blipFill>
        <p:spPr>
          <a:xfrm>
            <a:off x="586928" y="5233360"/>
            <a:ext cx="333747" cy="48327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101600" y="4554073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«Optique - Dentaire - Audio»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01603" y="5129855"/>
            <a:ext cx="33186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vous donner un choix plus large sur vos équipements</a:t>
            </a:r>
            <a:endParaRPr/>
          </a:p>
        </p:txBody>
      </p:sp>
      <p:pic>
        <p:nvPicPr>
          <p:cNvPr descr="Centre d'ostéopathie - Roxane Gervais St-Amour D.O." id="157" name="Google Shape;15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3713" y="6715358"/>
            <a:ext cx="683675" cy="72289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1579954" y="6315248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«Bien-être &amp; Prévention 1»</a:t>
            </a:r>
            <a:endParaRPr/>
          </a:p>
        </p:txBody>
      </p:sp>
      <p:pic>
        <p:nvPicPr>
          <p:cNvPr descr="Centre d'ostéopathie - Roxane Gervais St-Amour D.O." id="159" name="Google Shape;15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668" y="8253644"/>
            <a:ext cx="683675" cy="72289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304909" y="7853534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«Bien-être &amp; Prévention 2»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2426538" y="6895828"/>
            <a:ext cx="3318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les familles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256102" y="8450273"/>
            <a:ext cx="3318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les séniors</a:t>
            </a:r>
            <a:endParaRPr/>
          </a:p>
        </p:txBody>
      </p:sp>
      <p:pic>
        <p:nvPicPr>
          <p:cNvPr descr="Feingeist - Lunette Pour Les Ecran - Free Transparent PNG Clipart Images  Download" id="163" name="Google Shape;16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1803675">
            <a:off x="47818" y="5532802"/>
            <a:ext cx="741448" cy="278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65" name="Google Shape;165;p16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Vitamin 3 Pro by                                      assuré par                                 </a:t>
              </a:r>
              <a:endParaRPr/>
            </a:p>
          </p:txBody>
        </p:sp>
        <p:pic>
          <p:nvPicPr>
            <p:cNvPr id="166" name="Google Shape;166;p16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167" name="Google Shape;167;p16"/>
            <p:cNvPicPr preferRelativeResize="0"/>
            <p:nvPr/>
          </p:nvPicPr>
          <p:blipFill rotWithShape="1">
            <a:blip r:embed="rId11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1861431" y="101612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passer par le réseau de soin Carte Blanche ?</a:t>
            </a:r>
            <a:endParaRPr/>
          </a:p>
        </p:txBody>
      </p:sp>
      <p:grpSp>
        <p:nvGrpSpPr>
          <p:cNvPr id="174" name="Google Shape;174;p17"/>
          <p:cNvGrpSpPr/>
          <p:nvPr/>
        </p:nvGrpSpPr>
        <p:grpSpPr>
          <a:xfrm>
            <a:off x="526788" y="2057326"/>
            <a:ext cx="6247576" cy="2677656"/>
            <a:chOff x="343724" y="2264276"/>
            <a:chExt cx="6069776" cy="2677656"/>
          </a:xfrm>
        </p:grpSpPr>
        <p:pic>
          <p:nvPicPr>
            <p:cNvPr descr="Feingeist - Lunette Pour Les Ecran - Free Transparent PNG Clipart Images  Download" id="175" name="Google Shape;17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7"/>
            <p:cNvSpPr txBox="1"/>
            <p:nvPr/>
          </p:nvSpPr>
          <p:spPr>
            <a:xfrm>
              <a:off x="1382902" y="2264276"/>
              <a:ext cx="5030598" cy="2677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pour des équipements optique (lentilles et lunettes) : </a:t>
              </a:r>
              <a:r>
                <a:rPr b="1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40 % 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réduction.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garanties supplémentaires: comme une protection contre la casse pendant 2 ans, l’adaptation des verres pendant 6 mois, L’entretien et le réajustement des lunettes gratuits chez l’opticien fournisseur.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large choix grâce à un catalogue de plus de </a:t>
              </a:r>
              <a:r>
                <a:rPr b="1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66 000 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références.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tiers payant pour ne pas avancer d’argent à l’achat d’une paire de lunettes ou de lentilles.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Deux devis complets avant l’achat d’un équipement optique.</a:t>
              </a:r>
              <a:endParaRPr/>
            </a:p>
          </p:txBody>
        </p:sp>
      </p:grpSp>
      <p:grpSp>
        <p:nvGrpSpPr>
          <p:cNvPr id="177" name="Google Shape;177;p17"/>
          <p:cNvGrpSpPr/>
          <p:nvPr/>
        </p:nvGrpSpPr>
        <p:grpSpPr>
          <a:xfrm>
            <a:off x="1954742" y="4890676"/>
            <a:ext cx="4970666" cy="954107"/>
            <a:chOff x="1730184" y="4376845"/>
            <a:chExt cx="4992359" cy="954107"/>
          </a:xfrm>
        </p:grpSpPr>
        <p:pic>
          <p:nvPicPr>
            <p:cNvPr descr="Icône D'oreille Pour Vos Sites De Conception Et Projets PNG , Audio, Oreille,  Écoutez Licône PNG et vecteur pour téléchargement gratuit" id="178" name="Google Shape;178;p17"/>
            <p:cNvPicPr preferRelativeResize="0"/>
            <p:nvPr/>
          </p:nvPicPr>
          <p:blipFill rotWithShape="1">
            <a:blip r:embed="rId5">
              <a:alphaModFix/>
            </a:blip>
            <a:srcRect b="18906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7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(jusqu’à 20 % de réduction), une vraie expertise, des facilités de paiement et un suivi régulier pour adapter au mieux vos appareils auditifs.</a:t>
              </a:r>
              <a:endParaRPr/>
            </a:p>
          </p:txBody>
        </p:sp>
      </p:grpSp>
      <p:grpSp>
        <p:nvGrpSpPr>
          <p:cNvPr id="180" name="Google Shape;180;p17"/>
          <p:cNvGrpSpPr/>
          <p:nvPr/>
        </p:nvGrpSpPr>
        <p:grpSpPr>
          <a:xfrm>
            <a:off x="36855" y="6000478"/>
            <a:ext cx="6688442" cy="2462213"/>
            <a:chOff x="521694" y="6041286"/>
            <a:chExt cx="5897889" cy="2462213"/>
          </a:xfrm>
        </p:grpSpPr>
        <p:pic>
          <p:nvPicPr>
            <p:cNvPr descr="Bouton Logo Les Dents - Images vectorielles gratuites sur Pixabay - Pixabay" id="181" name="Google Shape;18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7"/>
            <p:cNvSpPr txBox="1"/>
            <p:nvPr/>
          </p:nvSpPr>
          <p:spPr>
            <a:xfrm>
              <a:off x="1144276" y="6041286"/>
              <a:ext cx="5275307" cy="246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pour les prothèses dentaires : jusqu’à 15 % de réduction.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équipement de qualité grâce à la traçabilité des prothèses dentaires (certification des laboratoires choisis et respect des règlements européens).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prévention bucco-dentaire favorisée grâce au partenariat avec l’UFSBD (Union Française pour la Santé Bucco Dentaire).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tiers payant national pour ne pas avancer les frais de vos soins.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annuaire des dentistes partenaires en ligne pour trouver le professionnel le plus proche de vous</a:t>
              </a:r>
              <a:endParaRPr/>
            </a:p>
          </p:txBody>
        </p:sp>
      </p:grpSp>
      <p:grpSp>
        <p:nvGrpSpPr>
          <p:cNvPr id="183" name="Google Shape;183;p17"/>
          <p:cNvGrpSpPr/>
          <p:nvPr/>
        </p:nvGrpSpPr>
        <p:grpSpPr>
          <a:xfrm>
            <a:off x="1425933" y="8618386"/>
            <a:ext cx="5250295" cy="954107"/>
            <a:chOff x="1261356" y="7842852"/>
            <a:chExt cx="5526794" cy="954107"/>
          </a:xfrm>
        </p:grpSpPr>
        <p:pic>
          <p:nvPicPr>
            <p:cNvPr descr="Centre d'ostéopathie - Roxane Gervais St-Amour D.O." id="184" name="Google Shape;184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7"/>
            <p:cNvSpPr txBox="1"/>
            <p:nvPr/>
          </p:nvSpPr>
          <p:spPr>
            <a:xfrm>
              <a:off x="1860500" y="7842852"/>
              <a:ext cx="4927650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Prévention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la pratique de certaines médecines douces (chez l’ostéopathe, le diététicien, le pédicure, le podologue…).</a:t>
              </a:r>
              <a:endParaRPr/>
            </a:p>
          </p:txBody>
        </p:sp>
      </p:grpSp>
      <p:pic>
        <p:nvPicPr>
          <p:cNvPr id="186" name="Google Shape;186;p17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2202" y="952573"/>
            <a:ext cx="1092540" cy="10407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88" name="Google Shape;188;p17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Vitamin 3 Pro by                                      assuré par                                 </a:t>
              </a:r>
              <a:endParaRPr/>
            </a:p>
          </p:txBody>
        </p:sp>
        <p:pic>
          <p:nvPicPr>
            <p:cNvPr id="189" name="Google Shape;189;p17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190" name="Google Shape;190;p17"/>
            <p:cNvPicPr preferRelativeResize="0"/>
            <p:nvPr/>
          </p:nvPicPr>
          <p:blipFill rotWithShape="1">
            <a:blip r:embed="rId11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ment contacter Inter Mutuelles Assistance ?" id="196" name="Google Shape;196;p18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23858" l="0" r="4129" t="28225"/>
          <a:stretch/>
        </p:blipFill>
        <p:spPr>
          <a:xfrm>
            <a:off x="975443" y="921501"/>
            <a:ext cx="1463258" cy="8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1981157" y="897810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IMA ?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38013" y="2640981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 vous propose gratuitement:</a:t>
            </a:r>
            <a:endParaRPr/>
          </a:p>
        </p:txBody>
      </p:sp>
      <p:grpSp>
        <p:nvGrpSpPr>
          <p:cNvPr id="199" name="Google Shape;199;p18"/>
          <p:cNvGrpSpPr/>
          <p:nvPr/>
        </p:nvGrpSpPr>
        <p:grpSpPr>
          <a:xfrm>
            <a:off x="101600" y="3572554"/>
            <a:ext cx="6020613" cy="811475"/>
            <a:chOff x="400050" y="2786464"/>
            <a:chExt cx="6020613" cy="811475"/>
          </a:xfrm>
        </p:grpSpPr>
        <p:sp>
          <p:nvSpPr>
            <p:cNvPr id="200" name="Google Shape;200;p18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201" name="Google Shape;201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18"/>
          <p:cNvGrpSpPr/>
          <p:nvPr/>
        </p:nvGrpSpPr>
        <p:grpSpPr>
          <a:xfrm>
            <a:off x="813402" y="4540981"/>
            <a:ext cx="5639928" cy="878816"/>
            <a:chOff x="222327" y="3957748"/>
            <a:chExt cx="6053947" cy="878816"/>
          </a:xfrm>
        </p:grpSpPr>
        <p:sp>
          <p:nvSpPr>
            <p:cNvPr id="203" name="Google Shape;203;p18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4" name="Google Shape;204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p18"/>
          <p:cNvGrpSpPr/>
          <p:nvPr/>
        </p:nvGrpSpPr>
        <p:grpSpPr>
          <a:xfrm>
            <a:off x="101600" y="5576784"/>
            <a:ext cx="6198819" cy="733785"/>
            <a:chOff x="222327" y="5188381"/>
            <a:chExt cx="6198819" cy="733785"/>
          </a:xfrm>
        </p:grpSpPr>
        <p:pic>
          <p:nvPicPr>
            <p:cNvPr id="206" name="Google Shape;206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8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208" name="Google Shape;208;p18"/>
          <p:cNvGrpSpPr/>
          <p:nvPr/>
        </p:nvGrpSpPr>
        <p:grpSpPr>
          <a:xfrm>
            <a:off x="938013" y="6527845"/>
            <a:ext cx="5781376" cy="613892"/>
            <a:chOff x="449887" y="6368680"/>
            <a:chExt cx="5781376" cy="613892"/>
          </a:xfrm>
        </p:grpSpPr>
        <p:sp>
          <p:nvSpPr>
            <p:cNvPr id="209" name="Google Shape;209;p18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210" name="Google Shape;210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18"/>
          <p:cNvGrpSpPr/>
          <p:nvPr/>
        </p:nvGrpSpPr>
        <p:grpSpPr>
          <a:xfrm>
            <a:off x="319683" y="7342006"/>
            <a:ext cx="5980735" cy="762965"/>
            <a:chOff x="319683" y="6589531"/>
            <a:chExt cx="5980735" cy="762965"/>
          </a:xfrm>
        </p:grpSpPr>
        <p:pic>
          <p:nvPicPr>
            <p:cNvPr id="212" name="Google Shape;212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18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pic>
        <p:nvPicPr>
          <p:cNvPr id="214" name="Google Shape;21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7845" y="8305239"/>
            <a:ext cx="728862" cy="81997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1657113" y="8416341"/>
            <a:ext cx="50085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1400"/>
              <a:buFont typeface="Noto Sans Symbols"/>
              <a:buChar char="▪"/>
            </a:pPr>
            <a:r>
              <a:rPr lang="fr-FR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Prise en charge des ascendants: (déplacement d’un proche, transfert, garde,…)</a:t>
            </a:r>
            <a:endParaRPr/>
          </a:p>
        </p:txBody>
      </p:sp>
      <p:grpSp>
        <p:nvGrpSpPr>
          <p:cNvPr id="216" name="Google Shape;216;p1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217" name="Google Shape;217;p18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Vitamin 3 Pro by                                      assuré par                                 </a:t>
              </a:r>
              <a:endParaRPr/>
            </a:p>
          </p:txBody>
        </p:sp>
        <p:pic>
          <p:nvPicPr>
            <p:cNvPr id="218" name="Google Shape;218;p18">
              <a:hlinkClick r:id="rId12"/>
            </p:cNvPr>
            <p:cNvPicPr preferRelativeResize="0"/>
            <p:nvPr/>
          </p:nvPicPr>
          <p:blipFill rotWithShape="1">
            <a:blip r:embed="rId13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219" name="Google Shape;219;p18"/>
            <p:cNvPicPr preferRelativeResize="0"/>
            <p:nvPr/>
          </p:nvPicPr>
          <p:blipFill rotWithShape="1">
            <a:blip r:embed="rId14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d340ad14e_1_10"/>
          <p:cNvSpPr txBox="1"/>
          <p:nvPr>
            <p:ph type="title"/>
          </p:nvPr>
        </p:nvSpPr>
        <p:spPr>
          <a:xfrm>
            <a:off x="471488" y="527404"/>
            <a:ext cx="5915100" cy="191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d340ad14e_1_5"/>
          <p:cNvSpPr txBox="1"/>
          <p:nvPr>
            <p:ph type="title"/>
          </p:nvPr>
        </p:nvSpPr>
        <p:spPr>
          <a:xfrm>
            <a:off x="471488" y="527404"/>
            <a:ext cx="5915100" cy="191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2000843" y="1060730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La protection juridique Matmut ?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687318" y="2486038"/>
            <a:ext cx="57184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de litige ou de différend vous opposant à un tiers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résultant d’un accident médical susceptible,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Matmut met à votre disposition gratuitement:</a:t>
            </a:r>
            <a:endParaRPr/>
          </a:p>
        </p:txBody>
      </p:sp>
      <p:pic>
        <p:nvPicPr>
          <p:cNvPr descr="Contrat collectif d'assurance de protection juridique" id="239" name="Google Shape;239;p1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137" y="879211"/>
            <a:ext cx="1421078" cy="9914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19"/>
          <p:cNvGrpSpPr/>
          <p:nvPr/>
        </p:nvGrpSpPr>
        <p:grpSpPr>
          <a:xfrm>
            <a:off x="295056" y="3842510"/>
            <a:ext cx="5999299" cy="1253076"/>
            <a:chOff x="282356" y="3892553"/>
            <a:chExt cx="5999299" cy="1253076"/>
          </a:xfrm>
        </p:grpSpPr>
        <p:sp>
          <p:nvSpPr>
            <p:cNvPr id="241" name="Google Shape;241;p19"/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 par téléphone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qui répond aux questions </a:t>
              </a: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d’ordre juridique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 vous vous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posez, vous informe sur vos droits, vous apporte une aide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afin de prendre une décision et de trouver une solution à vos problèmes,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2" name="Google Shape;242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" name="Google Shape;243;p19"/>
          <p:cNvGrpSpPr/>
          <p:nvPr/>
        </p:nvGrpSpPr>
        <p:grpSpPr>
          <a:xfrm>
            <a:off x="1257793" y="5750755"/>
            <a:ext cx="5242236" cy="923330"/>
            <a:chOff x="1295893" y="5584357"/>
            <a:chExt cx="5242236" cy="923330"/>
          </a:xfrm>
        </p:grpSpPr>
        <p:sp>
          <p:nvSpPr>
            <p:cNvPr id="244" name="Google Shape;244;p19"/>
            <p:cNvSpPr txBox="1"/>
            <p:nvPr/>
          </p:nvSpPr>
          <p:spPr>
            <a:xfrm>
              <a:off x="2654300" y="5640155"/>
              <a:ext cx="3883829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sur rendez-vous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lorsqu’un examen particulier de votre situation est nécessaire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5" name="Google Shape;245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6" name="Google Shape;246;p19"/>
          <p:cNvGrpSpPr/>
          <p:nvPr/>
        </p:nvGrpSpPr>
        <p:grpSpPr>
          <a:xfrm>
            <a:off x="352505" y="7329255"/>
            <a:ext cx="5815469" cy="954107"/>
            <a:chOff x="352505" y="7329255"/>
            <a:chExt cx="5815469" cy="954107"/>
          </a:xfrm>
        </p:grpSpPr>
        <p:sp>
          <p:nvSpPr>
            <p:cNvPr id="247" name="Google Shape;247;p19"/>
            <p:cNvSpPr txBox="1"/>
            <p:nvPr/>
          </p:nvSpPr>
          <p:spPr>
            <a:xfrm>
              <a:off x="1830064" y="7329255"/>
              <a:ext cx="4337910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de gestion des sinistres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 prend les mesures utiles afin de faire valoir vos droits à l’amiable et, au besoin, vous donne les moyens d’en poursuivre l’exercice en justice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8" name="Google Shape;248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" name="Google Shape;249;p19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250" name="Google Shape;250;p19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Vitamin 3 Pro by                                      assuré par                                 </a:t>
              </a:r>
              <a:endParaRPr/>
            </a:p>
          </p:txBody>
        </p:sp>
        <p:pic>
          <p:nvPicPr>
            <p:cNvPr id="251" name="Google Shape;251;p19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252" name="Google Shape;252;p19"/>
            <p:cNvPicPr preferRelativeResize="0"/>
            <p:nvPr/>
          </p:nvPicPr>
          <p:blipFill rotWithShape="1">
            <a:blip r:embed="rId11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d340ad14e_1_0"/>
          <p:cNvSpPr txBox="1"/>
          <p:nvPr>
            <p:ph type="title"/>
          </p:nvPr>
        </p:nvSpPr>
        <p:spPr>
          <a:xfrm>
            <a:off x="471488" y="527404"/>
            <a:ext cx="5915100" cy="191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63" name="Google Shape;2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64" name="Google Shape;264;p20"/>
          <p:cNvPicPr preferRelativeResize="0"/>
          <p:nvPr/>
        </p:nvPicPr>
        <p:blipFill rotWithShape="1">
          <a:blip r:embed="rId4">
            <a:alphaModFix/>
          </a:blip>
          <a:srcRect b="13073" l="12590" r="12611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67" name="Google Shape;2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72" name="Google Shape;272;p20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3" name="Google Shape;273;p20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4" name="Google Shape;274;p20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278" name="Google Shape;278;p20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Vitamin 3 Pro by                                      assuré par                                 </a:t>
              </a:r>
              <a:endParaRPr/>
            </a:p>
          </p:txBody>
        </p:sp>
        <p:pic>
          <p:nvPicPr>
            <p:cNvPr id="279" name="Google Shape;279;p20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280" name="Google Shape;280;p20"/>
            <p:cNvPicPr preferRelativeResize="0"/>
            <p:nvPr/>
          </p:nvPicPr>
          <p:blipFill rotWithShape="1">
            <a:blip r:embed="rId8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85" name="Google Shape;2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86" name="Google Shape;286;p21"/>
          <p:cNvPicPr preferRelativeResize="0"/>
          <p:nvPr/>
        </p:nvPicPr>
        <p:blipFill rotWithShape="1">
          <a:blip r:embed="rId4">
            <a:alphaModFix/>
          </a:blip>
          <a:srcRect b="13073" l="12590" r="12611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4798" y="2182962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292" name="Google Shape;292;p21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Vitamin 3 Pro by                                      assuré par                                 </a:t>
              </a:r>
              <a:endParaRPr/>
            </a:p>
          </p:txBody>
        </p:sp>
        <p:pic>
          <p:nvPicPr>
            <p:cNvPr id="293" name="Google Shape;293;p21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294" name="Google Shape;294;p21"/>
            <p:cNvPicPr preferRelativeResize="0"/>
            <p:nvPr/>
          </p:nvPicPr>
          <p:blipFill rotWithShape="1">
            <a:blip r:embed="rId11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d340ad14e_1_15"/>
          <p:cNvSpPr txBox="1"/>
          <p:nvPr>
            <p:ph type="title"/>
          </p:nvPr>
        </p:nvSpPr>
        <p:spPr>
          <a:xfrm>
            <a:off x="471488" y="527404"/>
            <a:ext cx="5915100" cy="191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