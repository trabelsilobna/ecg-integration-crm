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gkVuEFtqOXvZnzuYwTRf5NcU30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4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12'!A1" TargetMode="External"/><Relationship Id="rId10" Type="http://schemas.openxmlformats.org/officeDocument/2006/relationships/image" Target="../media/image16.png"/><Relationship Id="rId13" Type="http://schemas.openxmlformats.org/officeDocument/2006/relationships/image" Target="../media/image23.jpg"/><Relationship Id="rId1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3.jpg"/><Relationship Id="rId9" Type="http://schemas.openxmlformats.org/officeDocument/2006/relationships/hyperlink" Target="#'3'!A1" TargetMode="External"/><Relationship Id="rId15" Type="http://schemas.openxmlformats.org/officeDocument/2006/relationships/image" Target="../media/image15.jpg"/><Relationship Id="rId14" Type="http://schemas.openxmlformats.org/officeDocument/2006/relationships/hyperlink" Target="#'30'!A1" TargetMode="External"/><Relationship Id="rId17" Type="http://schemas.openxmlformats.org/officeDocument/2006/relationships/image" Target="../media/image24.jpg"/><Relationship Id="rId16" Type="http://schemas.openxmlformats.org/officeDocument/2006/relationships/image" Target="../media/image5.jpg"/><Relationship Id="rId5" Type="http://schemas.openxmlformats.org/officeDocument/2006/relationships/image" Target="../media/image7.png"/><Relationship Id="rId6" Type="http://schemas.openxmlformats.org/officeDocument/2006/relationships/image" Target="../media/image6.jpg"/><Relationship Id="rId7" Type="http://schemas.openxmlformats.org/officeDocument/2006/relationships/hyperlink" Target="#'6'!A1" TargetMode="External"/><Relationship Id="rId8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hyperlink" Target="#'30'!A1" TargetMode="External"/><Relationship Id="rId5" Type="http://schemas.openxmlformats.org/officeDocument/2006/relationships/image" Target="../media/image15.jpg"/><Relationship Id="rId6" Type="http://schemas.openxmlformats.org/officeDocument/2006/relationships/image" Target="../media/image23.jp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jpg"/><Relationship Id="rId10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#'30'!A1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2.png"/><Relationship Id="rId7" Type="http://schemas.openxmlformats.org/officeDocument/2006/relationships/hyperlink" Target="#'12'!A1" TargetMode="External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8.png"/><Relationship Id="rId9" Type="http://schemas.openxmlformats.org/officeDocument/2006/relationships/image" Target="../media/image15.jpg"/><Relationship Id="rId5" Type="http://schemas.openxmlformats.org/officeDocument/2006/relationships/image" Target="../media/image17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hyperlink" Target="#'30'!A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Aé-*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	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 NON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des bonus de fidélité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537786" y="2859499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 Réseau de soins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Des professionnels  de santé pour des    équipements de qualité à prix réduit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2594875" y="4486939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   Un Tiers payant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Un tiers payant national, qui vous évite d’avancer les frais médicaux.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2369968" y="610829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5" name="Google Shape;95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6" name="Google Shape;96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" name="Google Shape;97;p14"/>
          <p:cNvGrpSpPr/>
          <p:nvPr/>
        </p:nvGrpSpPr>
        <p:grpSpPr>
          <a:xfrm>
            <a:off x="2598871" y="3077653"/>
            <a:ext cx="976837" cy="1010393"/>
            <a:chOff x="2548471" y="3049424"/>
            <a:chExt cx="976837" cy="1010393"/>
          </a:xfrm>
        </p:grpSpPr>
        <p:sp>
          <p:nvSpPr>
            <p:cNvPr id="98" name="Google Shape;98;p14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éseaux de soins et de professionnels - Uneoreilleavertie.com" id="99" name="Google Shape;99;p14"/>
            <p:cNvPicPr preferRelativeResize="0"/>
            <p:nvPr/>
          </p:nvPicPr>
          <p:blipFill rotWithShape="1">
            <a:blip r:embed="rId4">
              <a:alphaModFix/>
            </a:blip>
            <a:srcRect b="17480" l="6110" r="8264" t="12370"/>
            <a:stretch/>
          </p:blipFill>
          <p:spPr>
            <a:xfrm>
              <a:off x="2693612" y="3280574"/>
              <a:ext cx="670266" cy="57719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14"/>
          <p:cNvGrpSpPr/>
          <p:nvPr/>
        </p:nvGrpSpPr>
        <p:grpSpPr>
          <a:xfrm>
            <a:off x="2664576" y="4730330"/>
            <a:ext cx="976837" cy="1010393"/>
            <a:chOff x="2693612" y="4712978"/>
            <a:chExt cx="976837" cy="1010393"/>
          </a:xfrm>
        </p:grpSpPr>
        <p:sp>
          <p:nvSpPr>
            <p:cNvPr id="101" name="Google Shape;101;p14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Tiers payant : qu'est-ce que c'est et comment l'obtenir ?" id="102" name="Google Shape;102;p14"/>
            <p:cNvPicPr preferRelativeResize="0"/>
            <p:nvPr/>
          </p:nvPicPr>
          <p:blipFill rotWithShape="1">
            <a:blip r:embed="rId5">
              <a:alphaModFix/>
            </a:blip>
            <a:srcRect b="4848" l="19237" r="29792" t="4849"/>
            <a:stretch/>
          </p:blipFill>
          <p:spPr>
            <a:xfrm>
              <a:off x="2862942" y="4910684"/>
              <a:ext cx="638175" cy="5960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3" name="Google Shape;103;p14"/>
          <p:cNvGrpSpPr/>
          <p:nvPr/>
        </p:nvGrpSpPr>
        <p:grpSpPr>
          <a:xfrm>
            <a:off x="2450914" y="6353054"/>
            <a:ext cx="976837" cy="1010393"/>
            <a:chOff x="2566518" y="6340968"/>
            <a:chExt cx="976837" cy="1010393"/>
          </a:xfrm>
        </p:grpSpPr>
        <p:sp>
          <p:nvSpPr>
            <p:cNvPr id="104" name="Google Shape;104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05" name="Google Shape;105;p14"/>
            <p:cNvPicPr preferRelativeResize="0"/>
            <p:nvPr/>
          </p:nvPicPr>
          <p:blipFill rotWithShape="1">
            <a:blip r:embed="rId6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18 -85 ans</a:t>
            </a:r>
            <a:endParaRPr/>
          </a:p>
        </p:txBody>
      </p:sp>
      <p:pic>
        <p:nvPicPr>
          <p:cNvPr id="108" name="Google Shape;108;p1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40313" y="4893575"/>
            <a:ext cx="1550630" cy="630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21179" l="5068" r="7825" t="23731"/>
          <a:stretch/>
        </p:blipFill>
        <p:spPr>
          <a:xfrm>
            <a:off x="4235450" y="3233926"/>
            <a:ext cx="1264018" cy="6520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ndial" id="110" name="Google Shape;110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7096" l="5390" r="5199" t="6452"/>
          <a:stretch/>
        </p:blipFill>
        <p:spPr>
          <a:xfrm>
            <a:off x="4451350" y="6453917"/>
            <a:ext cx="1365344" cy="685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surem - Crunchbase Company Profile &amp; Funding" id="111" name="Google Shape;11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531301" y="1634576"/>
            <a:ext cx="697923" cy="6979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13" name="Google Shape;113;p1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14" name="Google Shape;114;p1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New Cover Santé Hospi &amp; SC by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15" name="Google Shape;115;p14">
                <a:hlinkClick r:id="rId14"/>
              </p:cNvPr>
              <p:cNvPicPr preferRelativeResize="0"/>
              <p:nvPr/>
            </p:nvPicPr>
            <p:blipFill rotWithShape="1">
              <a:blip r:embed="rId15">
                <a:alphaModFix/>
              </a:blip>
              <a:srcRect b="28501" l="0" r="0" t="33000"/>
              <a:stretch/>
            </p:blipFill>
            <p:spPr>
              <a:xfrm>
                <a:off x="3358617" y="198603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16" name="Google Shape;116;p14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5834725" y="154758"/>
              <a:ext cx="520037" cy="5200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7" name="Google Shape;117;p14"/>
          <p:cNvSpPr/>
          <p:nvPr/>
        </p:nvSpPr>
        <p:spPr>
          <a:xfrm>
            <a:off x="1867964" y="774230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un service de gestion de sinistres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4"/>
          <p:cNvGrpSpPr/>
          <p:nvPr/>
        </p:nvGrpSpPr>
        <p:grpSpPr>
          <a:xfrm>
            <a:off x="1943841" y="7997340"/>
            <a:ext cx="976837" cy="1010393"/>
            <a:chOff x="1963799" y="8142480"/>
            <a:chExt cx="976837" cy="1010393"/>
          </a:xfrm>
        </p:grpSpPr>
        <p:sp>
          <p:nvSpPr>
            <p:cNvPr id="119" name="Google Shape;119;p14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120" name="Google Shape;120;p14"/>
            <p:cNvPicPr preferRelativeResize="0"/>
            <p:nvPr/>
          </p:nvPicPr>
          <p:blipFill rotWithShape="1">
            <a:blip r:embed="rId16">
              <a:alphaModFix/>
            </a:blip>
            <a:srcRect b="29438" l="4034" r="4386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FDP ASSURANCES" id="121" name="Google Shape;121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181113" y="8088086"/>
            <a:ext cx="779899" cy="734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329746" y="2235682"/>
            <a:ext cx="6198508" cy="988058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contrat Santé avec des garanties équilibrées et complètes au juste prix !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48343" y="3347335"/>
            <a:ext cx="6198508" cy="692059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48343" y="4171328"/>
            <a:ext cx="6198508" cy="69206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51970" y="5022334"/>
            <a:ext cx="6198508" cy="95940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bonus fidélité à partir de 12 mois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48343" y="6140685"/>
            <a:ext cx="6198508" cy="692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 professions éligibles pour le poste médecine naturelle</a:t>
            </a:r>
            <a:endParaRPr/>
          </a:p>
        </p:txBody>
      </p:sp>
      <p:grpSp>
        <p:nvGrpSpPr>
          <p:cNvPr id="131" name="Google Shape;131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2" name="Google Shape;132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Coverity New cover 100%Santé ?</a:t>
              </a:r>
              <a:endParaRPr/>
            </a:p>
          </p:txBody>
        </p:sp>
        <p:pic>
          <p:nvPicPr>
            <p:cNvPr descr="Bonne idée - Icônes commercialisation gratuites" id="133" name="Google Shape;133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" name="Google Shape;134;p15"/>
          <p:cNvSpPr/>
          <p:nvPr/>
        </p:nvSpPr>
        <p:spPr>
          <a:xfrm>
            <a:off x="348343" y="696467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Santéclair,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soins moins onéreux et de qualité, de meilleurs remboursements, des tarifs spécialement négociés auprès de professionnels sélectionnés pour leur expertise et leurs compétences</a:t>
            </a: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348343" y="788241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MONDIALE ASSISTANCE en inclusion :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 téléconsultation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(5 consultations /an /bénéficiaire), services d’aide à domicile, téléassistance soutien psychologique, portail coach bienêtre, conseil santé &amp; bien-être</a:t>
            </a:r>
            <a:endParaRPr/>
          </a:p>
        </p:txBody>
      </p:sp>
      <p:grpSp>
        <p:nvGrpSpPr>
          <p:cNvPr id="136" name="Google Shape;136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7" name="Google Shape;137;p1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8" name="Google Shape;138;p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New Cover Santé Hospi &amp; SC by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39" name="Google Shape;139;p15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28501" l="0" r="0" t="33000"/>
              <a:stretch/>
            </p:blipFill>
            <p:spPr>
              <a:xfrm>
                <a:off x="3358617" y="198603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40" name="Google Shape;140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834725" y="154758"/>
              <a:ext cx="520037" cy="520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771536" y="166447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MONDIAL ?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089547" y="2843569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MONDIAL Assistance, vous propose gratuitement:</a:t>
            </a:r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253134" y="3775142"/>
            <a:ext cx="6020613" cy="811475"/>
            <a:chOff x="400050" y="2786464"/>
            <a:chExt cx="6020613" cy="811475"/>
          </a:xfrm>
        </p:grpSpPr>
        <p:sp>
          <p:nvSpPr>
            <p:cNvPr id="149" name="Google Shape;149;p16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proximité)</a:t>
              </a:r>
              <a:endParaRPr/>
            </a:p>
          </p:txBody>
        </p:sp>
        <p:pic>
          <p:nvPicPr>
            <p:cNvPr id="150" name="Google Shape;150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1" name="Google Shape;151;p16"/>
          <p:cNvGrpSpPr/>
          <p:nvPr/>
        </p:nvGrpSpPr>
        <p:grpSpPr>
          <a:xfrm>
            <a:off x="964936" y="4743569"/>
            <a:ext cx="5639929" cy="662278"/>
            <a:chOff x="222327" y="3957748"/>
            <a:chExt cx="6053947" cy="662278"/>
          </a:xfrm>
        </p:grpSpPr>
        <p:sp>
          <p:nvSpPr>
            <p:cNvPr id="152" name="Google Shape;152;p16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médicaments et matériel médical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" name="Google Shape;153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6"/>
          <p:cNvGrpSpPr/>
          <p:nvPr/>
        </p:nvGrpSpPr>
        <p:grpSpPr>
          <a:xfrm>
            <a:off x="478237" y="6095223"/>
            <a:ext cx="5625681" cy="698501"/>
            <a:chOff x="252596" y="7749113"/>
            <a:chExt cx="5625681" cy="698501"/>
          </a:xfrm>
        </p:grpSpPr>
        <p:pic>
          <p:nvPicPr>
            <p:cNvPr id="155" name="Google Shape;155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52596" y="7749113"/>
              <a:ext cx="765169" cy="698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6" name="Google Shape;156;p16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soutien pédagogique pour les enfants immobilisés</a:t>
              </a:r>
              <a:endParaRPr/>
            </a:p>
          </p:txBody>
        </p:sp>
      </p:grpSp>
      <p:pic>
        <p:nvPicPr>
          <p:cNvPr descr="Mondial" id="157" name="Google Shape;157;p16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7096" l="5390" r="5199" t="6452"/>
          <a:stretch/>
        </p:blipFill>
        <p:spPr>
          <a:xfrm>
            <a:off x="478237" y="1772934"/>
            <a:ext cx="1387521" cy="6966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9" name="Google Shape;159;p1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60" name="Google Shape;160;p1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New Cover Santé Hospi &amp; SC by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61" name="Google Shape;161;p16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28501" l="0" r="0" t="33000"/>
              <a:stretch/>
            </p:blipFill>
            <p:spPr>
              <a:xfrm>
                <a:off x="3358617" y="198603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62" name="Google Shape;162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5834725" y="154758"/>
              <a:ext cx="520037" cy="520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1971354" y="1379106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CFDP ?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57829" y="2804414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CFDP met à votre disposition gratuitement:</a:t>
            </a:r>
            <a:endParaRPr/>
          </a:p>
        </p:txBody>
      </p:sp>
      <p:grpSp>
        <p:nvGrpSpPr>
          <p:cNvPr id="170" name="Google Shape;170;p17"/>
          <p:cNvGrpSpPr/>
          <p:nvPr/>
        </p:nvGrpSpPr>
        <p:grpSpPr>
          <a:xfrm>
            <a:off x="265567" y="4160886"/>
            <a:ext cx="5999299" cy="1253076"/>
            <a:chOff x="282356" y="3892553"/>
            <a:chExt cx="5999299" cy="1253076"/>
          </a:xfrm>
        </p:grpSpPr>
        <p:sp>
          <p:nvSpPr>
            <p:cNvPr id="171" name="Google Shape;171;p17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2" name="Google Shape;17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3" name="Google Shape;173;p17"/>
          <p:cNvGrpSpPr/>
          <p:nvPr/>
        </p:nvGrpSpPr>
        <p:grpSpPr>
          <a:xfrm>
            <a:off x="1228304" y="6069131"/>
            <a:ext cx="5242236" cy="1008933"/>
            <a:chOff x="1295893" y="5584357"/>
            <a:chExt cx="5242236" cy="1008933"/>
          </a:xfrm>
        </p:grpSpPr>
        <p:sp>
          <p:nvSpPr>
            <p:cNvPr id="174" name="Google Shape;174;p17"/>
            <p:cNvSpPr txBox="1"/>
            <p:nvPr/>
          </p:nvSpPr>
          <p:spPr>
            <a:xfrm>
              <a:off x="2654300" y="5640155"/>
              <a:ext cx="3883829" cy="95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sur rendez-vous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5" name="Google Shape;175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17"/>
          <p:cNvGrpSpPr/>
          <p:nvPr/>
        </p:nvGrpSpPr>
        <p:grpSpPr>
          <a:xfrm>
            <a:off x="323016" y="7647631"/>
            <a:ext cx="5815469" cy="954107"/>
            <a:chOff x="352505" y="7329255"/>
            <a:chExt cx="5815469" cy="954107"/>
          </a:xfrm>
        </p:grpSpPr>
        <p:sp>
          <p:nvSpPr>
            <p:cNvPr id="177" name="Google Shape;177;p17"/>
            <p:cNvSpPr txBox="1"/>
            <p:nvPr/>
          </p:nvSpPr>
          <p:spPr>
            <a:xfrm>
              <a:off x="1830064" y="7329255"/>
              <a:ext cx="4337910" cy="95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l’amiable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et, au besoin, vous donne les moyens d’en poursuivre l’exercice en justice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8" name="Google Shape;178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9" name="Google Shape;17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159" y="1304262"/>
            <a:ext cx="1769195" cy="9722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81" name="Google Shape;181;p1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82" name="Google Shape;182;p1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New Cover Santé Hospi &amp; SC by                          assuré par                                 </a:t>
                </a:r>
                <a:endParaRPr/>
              </a:p>
            </p:txBody>
          </p:sp>
          <p:pic>
            <p:nvPicPr>
              <p:cNvPr descr="Coverity | LinkedIn" id="183" name="Google Shape;183;p17">
                <a:hlinkClick r:id="rId8"/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 b="28501" l="0" r="0" t="33000"/>
              <a:stretch/>
            </p:blipFill>
            <p:spPr>
              <a:xfrm>
                <a:off x="3358617" y="198603"/>
                <a:ext cx="1017738" cy="43597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Insurem - Crunchbase Company Profile &amp; Funding" id="184" name="Google Shape;184;p1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834725" y="154758"/>
              <a:ext cx="520037" cy="520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