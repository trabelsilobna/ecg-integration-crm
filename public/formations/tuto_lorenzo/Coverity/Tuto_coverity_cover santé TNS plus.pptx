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9"/>
  </p:notesMasterIdLst>
  <p:sldIdLst>
    <p:sldId id="257" r:id="rId2"/>
    <p:sldId id="258" r:id="rId3"/>
    <p:sldId id="259" r:id="rId4"/>
    <p:sldId id="262" r:id="rId5"/>
    <p:sldId id="260" r:id="rId6"/>
    <p:sldId id="263" r:id="rId7"/>
    <p:sldId id="265" r:id="rId8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RM5g9jOzKvKatFZesqbkETYK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450" y="9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‹N°›</a:t>
            </a:fld>
            <a:endParaRPr lang="fr-FR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54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317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28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3456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571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0672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31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9F93D-8255-6088-978F-25DC26943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7BFAE2-4DDA-5CEB-A9B6-7D545867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B73B4B-47A0-53CE-FB4A-AD41B31C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0C3929-B721-1FD6-6598-B242CD10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F648CC-6D73-618F-316C-4C34386E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1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D3FED-8441-4FF5-F1F0-A30EF4C4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4C529-50E2-FFE9-B0D2-5F3CE75A5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D8057-FF2B-9856-98BD-4E857A25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D5ED8A-7AED-E653-D1EF-EE8C96F2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FE8BF-FB84-E3DB-A22B-F46BE701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61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29AA2-7A23-BF3D-289E-7FF50B5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421FF2-5439-BF21-C412-685553F9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EB08C0-77FA-5722-A86A-E6D8943D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BC8CAD-E33D-AE37-E4CD-E4F3F349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741DF6-21BA-D0FF-118F-31BCAD39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46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E797-B1F8-954A-2FCD-E1936621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56F958-B869-AD5F-5DF5-54B2731DD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29B082-B806-B1EB-76D2-D157D79FD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A437EF-E1D5-4506-6A95-EB99876C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DE150-0B3E-FAC3-8835-244B419C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5A06BD-CCC0-5601-CE7D-FD57F3F4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4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ACAED-B220-DE36-4BC0-07B2E9B2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8855D4-99FC-AA15-3986-F50C040E7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9FD663-E006-C456-79A4-4DBB71A9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B4238C-0499-8F34-0E58-D0C21C11F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993611-0F7E-2147-3300-0320286B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D3B29C-0CB3-376F-C603-483F2609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84CD4-DFF9-E770-EFAD-46C12CB2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3E3E8C-DEE2-B83F-75FF-B074ED0B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91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40DC6-2906-269F-B67E-ED3941EE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B189EC-D496-3FE3-3760-9959A094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702D2E-B2BD-1DED-CF8E-7BA263E3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0F1244-A899-ACD7-B1D9-001617F9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69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0E38EE-8952-23B4-2E92-2298A4D9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CBACE9-D3DB-9337-7CDA-7B0575CF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5077C4-3BD7-EAF7-C25D-2296B058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0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74707-CCCA-1559-2F58-90891138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13183F-431C-1322-E86E-6C67A3F6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F3E38C-97FB-9E66-E268-AD578DA70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81BB4D-FA63-2DED-8349-6FFDA0AC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312810-EE84-AB7C-4A60-4B3F52D9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8157E-05A9-F6F5-6BA7-0EEBFBD3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41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B92C1-B502-80FD-B5FF-7A6FA0D6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B1D321-502B-2A13-A328-CBD7F22D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5CA632-6A78-36DD-F377-B0EB9AB9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B572ED-A03B-85BE-C65F-84B0A27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29D9F9-E70D-72E5-67B8-A80BD4F3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85CFCE-6528-3C48-47B9-06997386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9719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830739-2A53-9F08-296C-9423F03C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6F5002-EE58-0EED-A9C4-8B5FBB3CE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F764B9-47A1-26C1-28F0-93D21761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C82DA-93DC-2508-A870-F83ABA69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79AC2-833F-8B72-F3B1-D753FC73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2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3ABFD9-2C9A-F88B-0765-0D03AE3DE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A08473-EF90-F0DC-EDFA-47E205D2C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FDCA93-AB4F-96F6-DB43-3E42B2D9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3099B5-E8F3-C8AF-B427-3888071F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C7DEFF-A670-934B-2676-17D05B4A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48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29D36A-551C-2B63-2C63-7AC113F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E106FF-0729-5625-3E57-62D8BB34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BB5502-3C28-EF77-0F65-3213F96AF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2A5075-5C48-4796-C2DB-2B2B53711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8000B2-DD91-18F1-D613-34CC3694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24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#'6'!A1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hyperlink" Target="#'12'!A1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hyperlink" Target="#'30'!A1"/><Relationship Id="rId10" Type="http://schemas.openxmlformats.org/officeDocument/2006/relationships/hyperlink" Target="#'3'!A1"/><Relationship Id="rId4" Type="http://schemas.openxmlformats.org/officeDocument/2006/relationships/image" Target="../media/image2.jpeg"/><Relationship Id="rId9" Type="http://schemas.openxmlformats.org/officeDocument/2006/relationships/image" Target="../media/image5.png"/><Relationship Id="rId1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9.jpeg"/><Relationship Id="rId4" Type="http://schemas.openxmlformats.org/officeDocument/2006/relationships/hyperlink" Target="#'30'!A1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#'30'!A1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#'3'!A1"/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eg"/><Relationship Id="rId11" Type="http://schemas.openxmlformats.org/officeDocument/2006/relationships/image" Target="../media/image9.jpeg"/><Relationship Id="rId5" Type="http://schemas.microsoft.com/office/2007/relationships/hdphoto" Target="../media/hdphoto2.wdp"/><Relationship Id="rId10" Type="http://schemas.openxmlformats.org/officeDocument/2006/relationships/hyperlink" Target="#'30'!A1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hyperlink" Target="#'12'!A1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8.jpeg"/><Relationship Id="rId5" Type="http://schemas.openxmlformats.org/officeDocument/2006/relationships/image" Target="../media/image17.png"/><Relationship Id="rId10" Type="http://schemas.openxmlformats.org/officeDocument/2006/relationships/image" Target="../media/image9.jpeg"/><Relationship Id="rId4" Type="http://schemas.openxmlformats.org/officeDocument/2006/relationships/image" Target="../media/image16.png"/><Relationship Id="rId9" Type="http://schemas.openxmlformats.org/officeDocument/2006/relationships/hyperlink" Target="#'30'!A1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12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#'30'!A1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8.jpeg"/><Relationship Id="rId5" Type="http://schemas.openxmlformats.org/officeDocument/2006/relationships/image" Target="../media/image21.png"/><Relationship Id="rId10" Type="http://schemas.openxmlformats.org/officeDocument/2006/relationships/image" Target="../media/image9.jpeg"/><Relationship Id="rId4" Type="http://schemas.openxmlformats.org/officeDocument/2006/relationships/image" Target="../media/image19.png"/><Relationship Id="rId9" Type="http://schemas.openxmlformats.org/officeDocument/2006/relationships/hyperlink" Target="#'30'!A1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C5A1A0-D5D0-53B1-3FC3-1CF496B243BA}"/>
              </a:ext>
            </a:extLst>
          </p:cNvPr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89BE9C-A09E-398F-D26D-5B377BEE5F62}"/>
              </a:ext>
            </a:extLst>
          </p:cNvPr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034" name="Rectangle : coins arrondis 1033">
            <a:extLst>
              <a:ext uri="{FF2B5EF4-FFF2-40B4-BE49-F238E27FC236}">
                <a16:creationId xmlns:a16="http://schemas.microsoft.com/office/drawing/2014/main" id="{820F75DD-2243-24D9-F91B-F3FC463E36A2}"/>
              </a:ext>
            </a:extLst>
          </p:cNvPr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responsable</a:t>
            </a: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5" name="Rectangle : coins arrondis 1034">
            <a:extLst>
              <a:ext uri="{FF2B5EF4-FFF2-40B4-BE49-F238E27FC236}">
                <a16:creationId xmlns:a16="http://schemas.microsoft.com/office/drawing/2014/main" id="{25A7A354-9C6E-790D-9150-6891635EC413}"/>
              </a:ext>
            </a:extLst>
          </p:cNvPr>
          <p:cNvSpPr/>
          <p:nvPr/>
        </p:nvSpPr>
        <p:spPr>
          <a:xfrm>
            <a:off x="2537786" y="330399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600" b="1" dirty="0">
                <a:solidFill>
                  <a:schemeClr val="tx1"/>
                </a:solidFill>
              </a:rPr>
              <a:t>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 Réseau de soins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</a:t>
            </a:r>
          </a:p>
          <a:p>
            <a:pPr algn="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    Des professionnels  de santé pour des    équipements de qualité à prix réduit</a:t>
            </a:r>
          </a:p>
        </p:txBody>
      </p:sp>
      <p:sp>
        <p:nvSpPr>
          <p:cNvPr id="1037" name="Rectangle : coins arrondis 1036">
            <a:extLst>
              <a:ext uri="{FF2B5EF4-FFF2-40B4-BE49-F238E27FC236}">
                <a16:creationId xmlns:a16="http://schemas.microsoft.com/office/drawing/2014/main" id="{2E2C7234-7ACB-651B-0D87-2C363492D917}"/>
              </a:ext>
            </a:extLst>
          </p:cNvPr>
          <p:cNvSpPr/>
          <p:nvPr/>
        </p:nvSpPr>
        <p:spPr>
          <a:xfrm>
            <a:off x="2569475" y="5452139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>
            <a:extLst>
              <a:ext uri="{FF2B5EF4-FFF2-40B4-BE49-F238E27FC236}">
                <a16:creationId xmlns:a16="http://schemas.microsoft.com/office/drawing/2014/main" id="{6E0F4B50-B72E-3280-5CE3-3A2DC04BFD4D}"/>
              </a:ext>
            </a:extLst>
          </p:cNvPr>
          <p:cNvSpPr/>
          <p:nvPr/>
        </p:nvSpPr>
        <p:spPr>
          <a:xfrm>
            <a:off x="2154068" y="750529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>
                <a:solidFill>
                  <a:schemeClr val="tx1"/>
                </a:solidFill>
              </a:rPr>
              <a:t>                </a:t>
            </a:r>
            <a:r>
              <a:rPr lang="fr-FR" sz="1200">
                <a:solidFill>
                  <a:schemeClr val="tx1"/>
                </a:solidFill>
              </a:rPr>
              <a:t>Un </a:t>
            </a:r>
            <a:r>
              <a:rPr lang="fr-FR" sz="1200" dirty="0">
                <a:solidFill>
                  <a:schemeClr val="tx1"/>
                </a:solidFill>
              </a:rPr>
              <a:t>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>
            <a:extLst>
              <a:ext uri="{FF2B5EF4-FFF2-40B4-BE49-F238E27FC236}">
                <a16:creationId xmlns:a16="http://schemas.microsoft.com/office/drawing/2014/main" id="{1B98BC47-454E-7573-3854-004087E54ABF}"/>
              </a:ext>
            </a:extLst>
          </p:cNvPr>
          <p:cNvGrpSpPr/>
          <p:nvPr/>
        </p:nvGrpSpPr>
        <p:grpSpPr>
          <a:xfrm>
            <a:off x="2045763" y="1584881"/>
            <a:ext cx="976837" cy="1010393"/>
            <a:chOff x="2109263" y="1465142"/>
            <a:chExt cx="976837" cy="1010393"/>
          </a:xfrm>
        </p:grpSpPr>
        <p:sp>
          <p:nvSpPr>
            <p:cNvPr id="1045" name="Ellipse 1044">
              <a:extLst>
                <a:ext uri="{FF2B5EF4-FFF2-40B4-BE49-F238E27FC236}">
                  <a16:creationId xmlns:a16="http://schemas.microsoft.com/office/drawing/2014/main" id="{FD26AE43-9742-47B6-8BDA-2D79D26DE0F8}"/>
                </a:ext>
              </a:extLst>
            </p:cNvPr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>
              <a:extLst>
                <a:ext uri="{FF2B5EF4-FFF2-40B4-BE49-F238E27FC236}">
                  <a16:creationId xmlns:a16="http://schemas.microsoft.com/office/drawing/2014/main" id="{5596F68D-AA41-DFE9-E9A2-B9194E9FAF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/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Groupe 1050">
            <a:extLst>
              <a:ext uri="{FF2B5EF4-FFF2-40B4-BE49-F238E27FC236}">
                <a16:creationId xmlns:a16="http://schemas.microsoft.com/office/drawing/2014/main" id="{19917A48-6579-23BF-68BB-3305C9CD7759}"/>
              </a:ext>
            </a:extLst>
          </p:cNvPr>
          <p:cNvGrpSpPr/>
          <p:nvPr/>
        </p:nvGrpSpPr>
        <p:grpSpPr>
          <a:xfrm>
            <a:off x="2598871" y="3522153"/>
            <a:ext cx="976837" cy="1010393"/>
            <a:chOff x="2548471" y="3049424"/>
            <a:chExt cx="976837" cy="1010393"/>
          </a:xfrm>
        </p:grpSpPr>
        <p:sp>
          <p:nvSpPr>
            <p:cNvPr id="1047" name="Ellipse 1046">
              <a:extLst>
                <a:ext uri="{FF2B5EF4-FFF2-40B4-BE49-F238E27FC236}">
                  <a16:creationId xmlns:a16="http://schemas.microsoft.com/office/drawing/2014/main" id="{C3E8B297-BFBE-B461-7C3B-64B5339A7D05}"/>
                </a:ext>
              </a:extLst>
            </p:cNvPr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3" name="Picture 14" descr="Réseaux de soins et de professionnels - Uneoreilleavertie.com">
              <a:extLst>
                <a:ext uri="{FF2B5EF4-FFF2-40B4-BE49-F238E27FC236}">
                  <a16:creationId xmlns:a16="http://schemas.microsoft.com/office/drawing/2014/main" id="{CB98C6EB-B01A-C73B-FDB4-23B060A3F0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1" t="12370" r="8264" b="17480"/>
            <a:stretch/>
          </p:blipFill>
          <p:spPr bwMode="auto">
            <a:xfrm>
              <a:off x="2693612" y="3280574"/>
              <a:ext cx="670266" cy="57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>
            <a:extLst>
              <a:ext uri="{FF2B5EF4-FFF2-40B4-BE49-F238E27FC236}">
                <a16:creationId xmlns:a16="http://schemas.microsoft.com/office/drawing/2014/main" id="{EE3E8E91-2656-D7E0-F4AE-A7310F23F8C3}"/>
              </a:ext>
            </a:extLst>
          </p:cNvPr>
          <p:cNvGrpSpPr/>
          <p:nvPr/>
        </p:nvGrpSpPr>
        <p:grpSpPr>
          <a:xfrm>
            <a:off x="2639176" y="5695530"/>
            <a:ext cx="976837" cy="1010393"/>
            <a:chOff x="2693612" y="4712978"/>
            <a:chExt cx="976837" cy="1010393"/>
          </a:xfrm>
        </p:grpSpPr>
        <p:sp>
          <p:nvSpPr>
            <p:cNvPr id="1048" name="Ellipse 1047">
              <a:extLst>
                <a:ext uri="{FF2B5EF4-FFF2-40B4-BE49-F238E27FC236}">
                  <a16:creationId xmlns:a16="http://schemas.microsoft.com/office/drawing/2014/main" id="{5EB7E7A5-A185-101D-7EF8-35F0B21685CA}"/>
                </a:ext>
              </a:extLst>
            </p:cNvPr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>
              <a:extLst>
                <a:ext uri="{FF2B5EF4-FFF2-40B4-BE49-F238E27FC236}">
                  <a16:creationId xmlns:a16="http://schemas.microsoft.com/office/drawing/2014/main" id="{5CDEE249-5D62-70AB-1349-DE31685588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/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>
            <a:extLst>
              <a:ext uri="{FF2B5EF4-FFF2-40B4-BE49-F238E27FC236}">
                <a16:creationId xmlns:a16="http://schemas.microsoft.com/office/drawing/2014/main" id="{F550A18B-95EE-2E1E-9130-47CFB6DF9D71}"/>
              </a:ext>
            </a:extLst>
          </p:cNvPr>
          <p:cNvGrpSpPr/>
          <p:nvPr/>
        </p:nvGrpSpPr>
        <p:grpSpPr>
          <a:xfrm>
            <a:off x="2235014" y="7750054"/>
            <a:ext cx="976837" cy="1010393"/>
            <a:chOff x="2566518" y="6340968"/>
            <a:chExt cx="976837" cy="1010393"/>
          </a:xfrm>
        </p:grpSpPr>
        <p:sp>
          <p:nvSpPr>
            <p:cNvPr id="1049" name="Ellipse 1048">
              <a:extLst>
                <a:ext uri="{FF2B5EF4-FFF2-40B4-BE49-F238E27FC236}">
                  <a16:creationId xmlns:a16="http://schemas.microsoft.com/office/drawing/2014/main" id="{730A0AD9-7704-2C4D-8F51-ADBAE8A79602}"/>
                </a:ext>
              </a:extLst>
            </p:cNvPr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>
              <a:extLst>
                <a:ext uri="{FF2B5EF4-FFF2-40B4-BE49-F238E27FC236}">
                  <a16:creationId xmlns:a16="http://schemas.microsoft.com/office/drawing/2014/main" id="{5AEC9FC8-7B96-4C39-B3A2-834ABE81C9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/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>
            <a:extLst>
              <a:ext uri="{FF2B5EF4-FFF2-40B4-BE49-F238E27FC236}">
                <a16:creationId xmlns:a16="http://schemas.microsoft.com/office/drawing/2014/main" id="{0F42D8DA-AD12-EFA1-5581-09AE50177610}"/>
              </a:ext>
            </a:extLst>
          </p:cNvPr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5AF282E-3905-B58E-2934-CA8B2EF3B131}"/>
              </a:ext>
            </a:extLst>
          </p:cNvPr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TNS</a:t>
            </a:r>
          </a:p>
        </p:txBody>
      </p:sp>
      <p:pic>
        <p:nvPicPr>
          <p:cNvPr id="7" name="Image 6">
            <a:hlinkClick r:id="rId8"/>
            <a:extLst>
              <a:ext uri="{FF2B5EF4-FFF2-40B4-BE49-F238E27FC236}">
                <a16:creationId xmlns:a16="http://schemas.microsoft.com/office/drawing/2014/main" id="{3D4A27B7-84FA-4457-8F57-CC8FAB8E57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4913" y="5858775"/>
            <a:ext cx="1550630" cy="630506"/>
          </a:xfrm>
          <a:prstGeom prst="rect">
            <a:avLst/>
          </a:prstGeom>
        </p:spPr>
      </p:pic>
      <p:pic>
        <p:nvPicPr>
          <p:cNvPr id="8" name="Image 7">
            <a:hlinkClick r:id="rId10"/>
            <a:extLst>
              <a:ext uri="{FF2B5EF4-FFF2-40B4-BE49-F238E27FC236}">
                <a16:creationId xmlns:a16="http://schemas.microsoft.com/office/drawing/2014/main" id="{80FF9EA5-B8E0-41B2-AEED-02A57A5D594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068" t="23731" r="7826" b="21180"/>
          <a:stretch/>
        </p:blipFill>
        <p:spPr>
          <a:xfrm>
            <a:off x="4235450" y="3678426"/>
            <a:ext cx="1264018" cy="652073"/>
          </a:xfrm>
          <a:prstGeom prst="rect">
            <a:avLst/>
          </a:prstGeom>
        </p:spPr>
      </p:pic>
      <p:pic>
        <p:nvPicPr>
          <p:cNvPr id="10" name="Image 9" descr="Mondial">
            <a:hlinkClick r:id="rId12"/>
            <a:extLst>
              <a:ext uri="{FF2B5EF4-FFF2-40B4-BE49-F238E27FC236}">
                <a16:creationId xmlns:a16="http://schemas.microsoft.com/office/drawing/2014/main" id="{5BBA1EDE-B7C0-4CB2-B5A6-1BFAEB8ED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/>
        </p:blipFill>
        <p:spPr bwMode="auto">
          <a:xfrm>
            <a:off x="4235450" y="7850917"/>
            <a:ext cx="1365344" cy="68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urem - Crunchbase Company Profile &amp; Funding">
            <a:extLst>
              <a:ext uri="{FF2B5EF4-FFF2-40B4-BE49-F238E27FC236}">
                <a16:creationId xmlns:a16="http://schemas.microsoft.com/office/drawing/2014/main" id="{DAD6B588-8063-7F97-60EB-322F6498A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160" y="1677865"/>
            <a:ext cx="697923" cy="69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7522086E-80B2-2FD7-D441-6D4BAA36945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B4E015CD-F400-5ABD-30AF-C20436F3B646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7FF4382F-F447-B488-AEDB-4175D1E1A303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TNS Plus    by                                 assuré par                                 </a:t>
                </a:r>
              </a:p>
            </p:txBody>
          </p:sp>
          <p:pic>
            <p:nvPicPr>
              <p:cNvPr id="2" name="Image 1" descr="Coverity | LinkedIn">
                <a:hlinkClick r:id="rId15"/>
                <a:extLst>
                  <a:ext uri="{FF2B5EF4-FFF2-40B4-BE49-F238E27FC236}">
                    <a16:creationId xmlns:a16="http://schemas.microsoft.com/office/drawing/2014/main" id="{F6AABE8C-0AB1-469D-B2C0-A9F9DBE30A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34800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10EE4714-F235-B14F-C1E2-BFD2DD9AA0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6484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02B7F33-65FE-131C-4919-2C329A23EB0A}"/>
              </a:ext>
            </a:extLst>
          </p:cNvPr>
          <p:cNvSpPr/>
          <p:nvPr/>
        </p:nvSpPr>
        <p:spPr>
          <a:xfrm>
            <a:off x="329746" y="2235682"/>
            <a:ext cx="6198508" cy="9880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garanties particulièrement performantes en terme de rapport qualité /prix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E162AE4-139C-BD01-2988-DE899990DAEC}"/>
              </a:ext>
            </a:extLst>
          </p:cNvPr>
          <p:cNvSpPr/>
          <p:nvPr/>
        </p:nvSpPr>
        <p:spPr>
          <a:xfrm>
            <a:off x="348343" y="3347335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411AD06-7738-5C96-7B86-AF3B1A6DA279}"/>
              </a:ext>
            </a:extLst>
          </p:cNvPr>
          <p:cNvSpPr/>
          <p:nvPr/>
        </p:nvSpPr>
        <p:spPr>
          <a:xfrm>
            <a:off x="348343" y="4171328"/>
            <a:ext cx="6198508" cy="6920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F402B8E-6734-2A19-3272-812721C6F109}"/>
              </a:ext>
            </a:extLst>
          </p:cNvPr>
          <p:cNvSpPr/>
          <p:nvPr/>
        </p:nvSpPr>
        <p:spPr>
          <a:xfrm>
            <a:off x="351970" y="5022334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option SURCO, permettant de renforcer les garanties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9C93BDE-EA47-7BB9-5461-311B0E551E51}"/>
              </a:ext>
            </a:extLst>
          </p:cNvPr>
          <p:cNvSpPr/>
          <p:nvPr/>
        </p:nvSpPr>
        <p:spPr>
          <a:xfrm>
            <a:off x="348343" y="6140685"/>
            <a:ext cx="6198508" cy="6920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14 professions éligibles pour le poste médecine naturelle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13EFFF2-864A-4877-4886-9A5855A88DDC}"/>
              </a:ext>
            </a:extLst>
          </p:cNvPr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E60AE9E-7261-071B-B3E5-A4F8FD7257F9}"/>
                </a:ext>
              </a:extLst>
            </p:cNvPr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Cover Santé TNS Plus ?</a:t>
              </a:r>
            </a:p>
          </p:txBody>
        </p:sp>
        <p:pic>
          <p:nvPicPr>
            <p:cNvPr id="3074" name="Picture 2" descr="Bonne idée - Icônes commercialisation gratuites">
              <a:extLst>
                <a:ext uri="{FF2B5EF4-FFF2-40B4-BE49-F238E27FC236}">
                  <a16:creationId xmlns:a16="http://schemas.microsoft.com/office/drawing/2014/main" id="{C58FC8EA-8503-2CE3-1B86-5D230745A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B1C63B2-1724-1D35-05AA-173A0C278905}"/>
              </a:ext>
            </a:extLst>
          </p:cNvPr>
          <p:cNvSpPr/>
          <p:nvPr/>
        </p:nvSpPr>
        <p:spPr>
          <a:xfrm>
            <a:off x="348343" y="6964679"/>
            <a:ext cx="6198508" cy="80938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L’accès au réseau de soins </a:t>
            </a:r>
            <a:r>
              <a:rPr lang="fr-FR" b="1" dirty="0" err="1">
                <a:solidFill>
                  <a:schemeClr val="bg1"/>
                </a:solidFill>
              </a:rPr>
              <a:t>Santéclair</a:t>
            </a:r>
            <a:r>
              <a:rPr lang="fr-FR" b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</a:rPr>
              <a:t>Des soins moins onéreux et de qualité, de meilleurs remboursements, des tarifs spécialement négociés auprès de professionnels sélectionnés pour leur expertise et leurs compétences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914D48B-1535-6083-5086-2BF19F9C2A97}"/>
              </a:ext>
            </a:extLst>
          </p:cNvPr>
          <p:cNvSpPr/>
          <p:nvPr/>
        </p:nvSpPr>
        <p:spPr>
          <a:xfrm>
            <a:off x="348343" y="7882414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MONDIALE ASSISTANCE en inclusion : 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Services d’Assistance haut de gamme : téléconsultation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(5 consultations /an /bénéficiaire), services d’aide à domicile, téléassistance soutien psychologique, portail coach bienêtre, conseil santé &amp; bien-être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2AC6695-8A32-3A79-D18C-668FFB801E26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C7C09458-0135-787E-D5A4-81BFF0E7CCC7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9" name="Rectangle : coins arrondis 18">
                <a:extLst>
                  <a:ext uri="{FF2B5EF4-FFF2-40B4-BE49-F238E27FC236}">
                    <a16:creationId xmlns:a16="http://schemas.microsoft.com/office/drawing/2014/main" id="{C6ADA146-961A-9E19-85BB-F4E8739E45F8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Actif    by                                 assuré par                                 </a:t>
                </a:r>
              </a:p>
            </p:txBody>
          </p:sp>
          <p:pic>
            <p:nvPicPr>
              <p:cNvPr id="22" name="Image 21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85EA0B84-977F-6226-C646-AA535D2358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8" name="Picture 2" descr="Insurem - Crunchbase Company Profile &amp; Funding">
              <a:extLst>
                <a:ext uri="{FF2B5EF4-FFF2-40B4-BE49-F238E27FC236}">
                  <a16:creationId xmlns:a16="http://schemas.microsoft.com/office/drawing/2014/main" id="{454E1E57-C3C4-EFBE-33EC-8F853D066C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2545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D0FF6F0-5F64-873F-FF86-A7326CDB5291}"/>
              </a:ext>
            </a:extLst>
          </p:cNvPr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EB2F470-5131-942E-4738-47FE46CBF8F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F964BB24-454C-E1A7-746C-1EBB5AB9E79E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6" name="Rectangle : coins arrondis 15">
                <a:extLst>
                  <a:ext uri="{FF2B5EF4-FFF2-40B4-BE49-F238E27FC236}">
                    <a16:creationId xmlns:a16="http://schemas.microsoft.com/office/drawing/2014/main" id="{B119E3B0-866E-F86C-F6EA-C05C06381589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Actif    by                                 assuré par                                 </a:t>
                </a:r>
              </a:p>
            </p:txBody>
          </p:sp>
          <p:pic>
            <p:nvPicPr>
              <p:cNvPr id="17" name="Image 16" descr="Coverity | LinkedIn">
                <a:hlinkClick r:id="rId3"/>
                <a:extLst>
                  <a:ext uri="{FF2B5EF4-FFF2-40B4-BE49-F238E27FC236}">
                    <a16:creationId xmlns:a16="http://schemas.microsoft.com/office/drawing/2014/main" id="{03D9163B-B77B-F6B2-FC8D-065044C270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" descr="Insurem - Crunchbase Company Profile &amp; Funding">
              <a:extLst>
                <a:ext uri="{FF2B5EF4-FFF2-40B4-BE49-F238E27FC236}">
                  <a16:creationId xmlns:a16="http://schemas.microsoft.com/office/drawing/2014/main" id="{6178181D-C305-81A8-3191-1CA7CF38C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C5986D92-99B8-6E4D-FE84-54066FA29E96}"/>
              </a:ext>
            </a:extLst>
          </p:cNvPr>
          <p:cNvGrpSpPr/>
          <p:nvPr/>
        </p:nvGrpSpPr>
        <p:grpSpPr>
          <a:xfrm>
            <a:off x="1083167" y="2059970"/>
            <a:ext cx="5099268" cy="1569660"/>
            <a:chOff x="976399" y="1029786"/>
            <a:chExt cx="5099268" cy="1569660"/>
          </a:xfrm>
        </p:grpSpPr>
        <p:pic>
          <p:nvPicPr>
            <p:cNvPr id="4" name="Picture 4" descr="ajuster la conception de l'icône créative 15456496 Art vectoriel chez  Vecteezy">
              <a:extLst>
                <a:ext uri="{FF2B5EF4-FFF2-40B4-BE49-F238E27FC236}">
                  <a16:creationId xmlns:a16="http://schemas.microsoft.com/office/drawing/2014/main" id="{EBA2BF3B-2AAE-90E9-933E-886B791FB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99" y="1152972"/>
              <a:ext cx="1408933" cy="103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ZoneTexte 6">
              <a:extLst>
                <a:ext uri="{FF2B5EF4-FFF2-40B4-BE49-F238E27FC236}">
                  <a16:creationId xmlns:a16="http://schemas.microsoft.com/office/drawing/2014/main" id="{9ABACAA6-DE62-5ED1-2AE5-1B7DC150853D}"/>
                </a:ext>
              </a:extLst>
            </p:cNvPr>
            <p:cNvSpPr txBox="1"/>
            <p:nvPr/>
          </p:nvSpPr>
          <p:spPr>
            <a:xfrm>
              <a:off x="2283733" y="1029786"/>
              <a:ext cx="379193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Avec l’option </a:t>
              </a:r>
              <a:r>
                <a:rPr lang="fr-FR" sz="2400" b="1" u="sng" dirty="0">
                  <a:solidFill>
                    <a:srgbClr val="0070C0"/>
                  </a:solidFill>
                </a:rPr>
                <a:t>SURCO</a:t>
              </a:r>
              <a:r>
                <a:rPr lang="fr-FR" sz="2400" b="1" dirty="0">
                  <a:solidFill>
                    <a:srgbClr val="0070C0"/>
                  </a:solidFill>
                </a:rPr>
                <a:t>, Santé sénior plus, vous donne la possibilité de renforcer toutes vos garanties</a:t>
              </a:r>
            </a:p>
          </p:txBody>
        </p:sp>
      </p:grpSp>
      <p:sp>
        <p:nvSpPr>
          <p:cNvPr id="9" name="ZoneTexte 2074">
            <a:extLst>
              <a:ext uri="{FF2B5EF4-FFF2-40B4-BE49-F238E27FC236}">
                <a16:creationId xmlns:a16="http://schemas.microsoft.com/office/drawing/2014/main" id="{DC88B4B3-1787-9A18-BFB1-98A78689D923}"/>
              </a:ext>
            </a:extLst>
          </p:cNvPr>
          <p:cNvSpPr txBox="1"/>
          <p:nvPr/>
        </p:nvSpPr>
        <p:spPr>
          <a:xfrm>
            <a:off x="1457907" y="5413007"/>
            <a:ext cx="48605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Gagnez jusqu’à: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 15% sur l’hospitalisation</a:t>
            </a: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 15% sur les soins courants</a:t>
            </a: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 25 € sur l’optique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15% sur le dentaire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25% sur les aides auditives</a:t>
            </a:r>
          </a:p>
          <a:p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3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50" name="Groupe 4749">
            <a:extLst>
              <a:ext uri="{FF2B5EF4-FFF2-40B4-BE49-F238E27FC236}">
                <a16:creationId xmlns:a16="http://schemas.microsoft.com/office/drawing/2014/main" id="{F6B41AFA-A3C1-DC99-5F8C-A7F50D242A9A}"/>
              </a:ext>
            </a:extLst>
          </p:cNvPr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id="4751" name="Picture 4" descr="Feingeist - Lunette Pour Les Ecran - Free Transparent PNG Clipart Images  Download">
              <a:extLst>
                <a:ext uri="{FF2B5EF4-FFF2-40B4-BE49-F238E27FC236}">
                  <a16:creationId xmlns:a16="http://schemas.microsoft.com/office/drawing/2014/main" id="{EC045240-2841-25D2-6DBC-987599D267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24" y="2264276"/>
              <a:ext cx="1272560" cy="570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2" name="ZoneTexte 4751">
              <a:extLst>
                <a:ext uri="{FF2B5EF4-FFF2-40B4-BE49-F238E27FC236}">
                  <a16:creationId xmlns:a16="http://schemas.microsoft.com/office/drawing/2014/main" id="{F605E150-ACE1-8507-6AD7-9018A2C2A758}"/>
                </a:ext>
              </a:extLst>
            </p:cNvPr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optique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choix parmi 80 montures exclusives de la collection « Nove Design »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20 % sur les montures; – 15% sur les solaires de grandes marques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garantie casse sans franchise durant deux années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verres de grandes marques: (Essilor, Nikon, </a:t>
              </a:r>
              <a:r>
                <a:rPr lang="fr-FR" sz="1400" dirty="0" err="1">
                  <a:solidFill>
                    <a:srgbClr val="161615"/>
                  </a:solidFill>
                  <a:latin typeface="Source Sans Pro" panose="020B0503030403020204" pitchFamily="34" charset="0"/>
                </a:rPr>
                <a:t>Optiswiss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 ou Zeiss).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753" name="Groupe 4752">
            <a:extLst>
              <a:ext uri="{FF2B5EF4-FFF2-40B4-BE49-F238E27FC236}">
                <a16:creationId xmlns:a16="http://schemas.microsoft.com/office/drawing/2014/main" id="{EAC51DAE-DC33-0ECF-E34B-82B132756E35}"/>
              </a:ext>
            </a:extLst>
          </p:cNvPr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id="4754" name="Picture 2" descr="Icône D'oreille Pour Vos Sites De Conception Et Projets PNG , Audio, Oreille,  Écoutez Licône PNG et vecteur pour téléchargement gratuit">
              <a:extLst>
                <a:ext uri="{FF2B5EF4-FFF2-40B4-BE49-F238E27FC236}">
                  <a16:creationId xmlns:a16="http://schemas.microsoft.com/office/drawing/2014/main" id="{D22DC320-A3CA-F64F-79CA-055B14B73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76" t="19011" r="29441" b="18906"/>
            <a:stretch/>
          </p:blipFill>
          <p:spPr bwMode="auto">
            <a:xfrm>
              <a:off x="1730184" y="4471524"/>
              <a:ext cx="445059" cy="64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5" name="ZoneTexte 4754">
              <a:extLst>
                <a:ext uri="{FF2B5EF4-FFF2-40B4-BE49-F238E27FC236}">
                  <a16:creationId xmlns:a16="http://schemas.microsoft.com/office/drawing/2014/main" id="{5B69B77E-FAC4-1C5B-4493-9671048403A8}"/>
                </a:ext>
              </a:extLst>
            </p:cNvPr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Audio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35% sur le prix du marché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-10% sur les accessoires, -20% sur les piles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ne garantie « Satisfait ou échangé »</a:t>
              </a:r>
            </a:p>
          </p:txBody>
        </p:sp>
      </p:grpSp>
      <p:grpSp>
        <p:nvGrpSpPr>
          <p:cNvPr id="4756" name="Groupe 4755">
            <a:extLst>
              <a:ext uri="{FF2B5EF4-FFF2-40B4-BE49-F238E27FC236}">
                <a16:creationId xmlns:a16="http://schemas.microsoft.com/office/drawing/2014/main" id="{9823DB62-766F-1CF4-AA4E-D8B4A61D35D3}"/>
              </a:ext>
            </a:extLst>
          </p:cNvPr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id="4757" name="Picture 2" descr="Bouton Logo Les Dents - Images vectorielles gratuites sur Pixabay - Pixabay">
              <a:extLst>
                <a:ext uri="{FF2B5EF4-FFF2-40B4-BE49-F238E27FC236}">
                  <a16:creationId xmlns:a16="http://schemas.microsoft.com/office/drawing/2014/main" id="{B9D2FF19-6D44-CCCB-31B9-92DD2E937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94" y="6128182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58" name="ZoneTexte 4757">
              <a:extLst>
                <a:ext uri="{FF2B5EF4-FFF2-40B4-BE49-F238E27FC236}">
                  <a16:creationId xmlns:a16="http://schemas.microsoft.com/office/drawing/2014/main" id="{C50CB6C6-90C6-CB09-770A-375B96F5B8F8}"/>
                </a:ext>
              </a:extLst>
            </p:cNvPr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Le partenariat Dentaire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’accès à 50 cabinets spécialisés en implantologie dentaire, avec 50 chirurgiens-dentistes spécialistes de cette discipline</a:t>
              </a: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.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jusqu’à moins 40 % par rapport aux prix habituellement pratiqué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n certificat qui vous garantira la provenance de l’implant ou de la prothèse.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annuaire de géolocalisation</a:t>
              </a:r>
            </a:p>
          </p:txBody>
        </p:sp>
      </p:grpSp>
      <p:grpSp>
        <p:nvGrpSpPr>
          <p:cNvPr id="4759" name="Groupe 4758">
            <a:extLst>
              <a:ext uri="{FF2B5EF4-FFF2-40B4-BE49-F238E27FC236}">
                <a16:creationId xmlns:a16="http://schemas.microsoft.com/office/drawing/2014/main" id="{D5649696-71B3-BB60-2985-03762B609C05}"/>
              </a:ext>
            </a:extLst>
          </p:cNvPr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id="4760" name="Picture 4" descr="Centre d'ostéopathie - Roxane Gervais St-Amour D.O.">
              <a:extLst>
                <a:ext uri="{FF2B5EF4-FFF2-40B4-BE49-F238E27FC236}">
                  <a16:creationId xmlns:a16="http://schemas.microsoft.com/office/drawing/2014/main" id="{C56023A9-AE9A-B764-1904-902120961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356" y="7910070"/>
              <a:ext cx="719680" cy="72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61" name="ZoneTexte 4760">
              <a:extLst>
                <a:ext uri="{FF2B5EF4-FFF2-40B4-BE49-F238E27FC236}">
                  <a16:creationId xmlns:a16="http://schemas.microsoft.com/office/drawing/2014/main" id="{20969644-DA15-8034-C0DB-DEEEB782F2EF}"/>
                </a:ext>
              </a:extLst>
            </p:cNvPr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Ostéopathie de </a:t>
              </a:r>
              <a:r>
                <a:rPr lang="fr-FR" sz="1400" b="1" dirty="0" err="1"/>
                <a:t>Santéclair</a:t>
              </a:r>
              <a:r>
                <a:rPr lang="fr-FR" sz="1400" b="1" dirty="0"/>
                <a:t>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accès Un réseau d’ostéopathes et de diététiciennes choisis en fonction de leur compétence et de leur sérieux.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</a:t>
              </a: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es tarifs encadrés et calculés en fonction de leurs zones géographiques, du tiers payant, et de la rapidité du traitement de leur prise en charge grâce aux services en ligne.</a:t>
              </a:r>
            </a:p>
          </p:txBody>
        </p:sp>
      </p:grpSp>
      <p:grpSp>
        <p:nvGrpSpPr>
          <p:cNvPr id="4762" name="Groupe 4761">
            <a:extLst>
              <a:ext uri="{FF2B5EF4-FFF2-40B4-BE49-F238E27FC236}">
                <a16:creationId xmlns:a16="http://schemas.microsoft.com/office/drawing/2014/main" id="{6160EE5F-D0A0-7862-5943-8E8F2A811578}"/>
              </a:ext>
            </a:extLst>
          </p:cNvPr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4763" name="ZoneTexte 4762">
              <a:extLst>
                <a:ext uri="{FF2B5EF4-FFF2-40B4-BE49-F238E27FC236}">
                  <a16:creationId xmlns:a16="http://schemas.microsoft.com/office/drawing/2014/main" id="{A0A8422C-AF98-987A-AD2E-86518C1341EC}"/>
                </a:ext>
              </a:extLst>
            </p:cNvPr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>
                  <a:solidFill>
                    <a:srgbClr val="0070C0"/>
                  </a:solidFill>
                </a:rPr>
                <a:t>Pourquoi passer par le réseau de soin </a:t>
              </a:r>
              <a:r>
                <a:rPr lang="fr-FR" sz="2800" b="1" dirty="0" err="1">
                  <a:solidFill>
                    <a:srgbClr val="0070C0"/>
                  </a:solidFill>
                </a:rPr>
                <a:t>Santéclair</a:t>
              </a:r>
              <a:r>
                <a:rPr lang="fr-FR" sz="2800" b="1" dirty="0">
                  <a:solidFill>
                    <a:srgbClr val="0070C0"/>
                  </a:solidFill>
                </a:rPr>
                <a:t> ?</a:t>
              </a:r>
            </a:p>
          </p:txBody>
        </p:sp>
        <p:pic>
          <p:nvPicPr>
            <p:cNvPr id="4764" name="Image 4763">
              <a:hlinkClick r:id="rId8"/>
              <a:extLst>
                <a:ext uri="{FF2B5EF4-FFF2-40B4-BE49-F238E27FC236}">
                  <a16:creationId xmlns:a16="http://schemas.microsoft.com/office/drawing/2014/main" id="{7225BED3-8C98-DC91-BF1F-8F9994023D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5068" t="23731" r="7826" b="21180"/>
            <a:stretch/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</p:spPr>
        </p:pic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2F663306-4DA4-9AC2-075D-FE21D6E78F17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57B36651-1C36-90FC-E6F6-F1BCDB8BC3FF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D29658DF-A91F-1EAA-21E5-D6D3CF0363FC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Actif    by                                 assuré par                                 </a:t>
                </a:r>
              </a:p>
            </p:txBody>
          </p:sp>
          <p:pic>
            <p:nvPicPr>
              <p:cNvPr id="13" name="Image 12" descr="Coverity | LinkedIn">
                <a:hlinkClick r:id="rId10"/>
                <a:extLst>
                  <a:ext uri="{FF2B5EF4-FFF2-40B4-BE49-F238E27FC236}">
                    <a16:creationId xmlns:a16="http://schemas.microsoft.com/office/drawing/2014/main" id="{64819A91-4BFD-A880-61F4-5AADD576FC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2" descr="Insurem - Crunchbase Company Profile &amp; Funding">
              <a:extLst>
                <a:ext uri="{FF2B5EF4-FFF2-40B4-BE49-F238E27FC236}">
                  <a16:creationId xmlns:a16="http://schemas.microsoft.com/office/drawing/2014/main" id="{3856F96C-AEC5-7CB4-D1CE-FF1A943ECB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9116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3">
            <a:extLst>
              <a:ext uri="{FF2B5EF4-FFF2-40B4-BE49-F238E27FC236}">
                <a16:creationId xmlns:a16="http://schemas.microsoft.com/office/drawing/2014/main" id="{48C0AF2D-79A4-A3D1-A7B0-1BDF5C99461E}"/>
              </a:ext>
            </a:extLst>
          </p:cNvPr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MONDIAL ?</a:t>
            </a:r>
          </a:p>
        </p:txBody>
      </p:sp>
      <p:sp>
        <p:nvSpPr>
          <p:cNvPr id="3" name="ZoneTexte 11">
            <a:extLst>
              <a:ext uri="{FF2B5EF4-FFF2-40B4-BE49-F238E27FC236}">
                <a16:creationId xmlns:a16="http://schemas.microsoft.com/office/drawing/2014/main" id="{194C1409-BAD0-A388-37CD-329143A3B5C8}"/>
              </a:ext>
            </a:extLst>
          </p:cNvPr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MONDIAL Assistance, vous propose gratuitement: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E3E7E21-1E36-02F5-465C-3530E4084DCB}"/>
              </a:ext>
            </a:extLst>
          </p:cNvPr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25" name="ZoneTexte 12">
              <a:extLst>
                <a:ext uri="{FF2B5EF4-FFF2-40B4-BE49-F238E27FC236}">
                  <a16:creationId xmlns:a16="http://schemas.microsoft.com/office/drawing/2014/main" id="{0F1B82F0-F5F1-ADEB-C144-B4E7830E47E1}"/>
                </a:ext>
              </a:extLst>
            </p:cNvPr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proximité)</a:t>
              </a:r>
            </a:p>
          </p:txBody>
        </p:sp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9968E93F-160D-A179-D850-F4477F79B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FCD914FB-BB5A-AC03-BA19-D878523589A0}"/>
              </a:ext>
            </a:extLst>
          </p:cNvPr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22" name="ZoneTexte 16">
              <a:extLst>
                <a:ext uri="{FF2B5EF4-FFF2-40B4-BE49-F238E27FC236}">
                  <a16:creationId xmlns:a16="http://schemas.microsoft.com/office/drawing/2014/main" id="{A2544BD9-18B0-FA3F-DDA8-D48898F294E3}"/>
                </a:ext>
              </a:extLst>
            </p:cNvPr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Livraison des médicaments et matériel médical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2D18653E-F19D-05E6-1B4B-5D43A2068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74FB25D-6F9C-1F38-624F-9942F912BE50}"/>
              </a:ext>
            </a:extLst>
          </p:cNvPr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86955C32-EDC3-AFCD-EA4C-7DA5FA9FE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2596" y="7749113"/>
              <a:ext cx="765169" cy="698501"/>
            </a:xfrm>
            <a:prstGeom prst="rect">
              <a:avLst/>
            </a:prstGeom>
          </p:spPr>
        </p:pic>
        <p:sp>
          <p:nvSpPr>
            <p:cNvPr id="21" name="ZoneTexte 2074">
              <a:extLst>
                <a:ext uri="{FF2B5EF4-FFF2-40B4-BE49-F238E27FC236}">
                  <a16:creationId xmlns:a16="http://schemas.microsoft.com/office/drawing/2014/main" id="{F640C1A0-6035-E58B-0EE8-F0A642313C47}"/>
                </a:ext>
              </a:extLst>
            </p:cNvPr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Un soutien pédagogique pour les enfants immobilisés</a:t>
              </a:r>
            </a:p>
          </p:txBody>
        </p:sp>
      </p:grpSp>
      <p:pic>
        <p:nvPicPr>
          <p:cNvPr id="17" name="Image 16" descr="Mondial">
            <a:hlinkClick r:id="rId7"/>
            <a:extLst>
              <a:ext uri="{FF2B5EF4-FFF2-40B4-BE49-F238E27FC236}">
                <a16:creationId xmlns:a16="http://schemas.microsoft.com/office/drawing/2014/main" id="{0EA24949-80D0-BA4D-D6A5-A013A3F01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78237" y="2496834"/>
            <a:ext cx="1387521" cy="6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BF80897C-C8B7-80B2-AE4F-E617058280C8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2690B7C3-E9A3-1DD6-597B-1FF3DF1644C1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9" name="Rectangle : coins arrondis 18">
                <a:extLst>
                  <a:ext uri="{FF2B5EF4-FFF2-40B4-BE49-F238E27FC236}">
                    <a16:creationId xmlns:a16="http://schemas.microsoft.com/office/drawing/2014/main" id="{E8A78469-B86E-FCBA-9A71-E96A60E83463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Actif    by                                 assuré par                                 </a:t>
                </a:r>
              </a:p>
            </p:txBody>
          </p:sp>
          <p:pic>
            <p:nvPicPr>
              <p:cNvPr id="20" name="Image 19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0797DEBA-2A52-7808-F7D0-5F94080267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2" descr="Insurem - Crunchbase Company Profile &amp; Funding">
              <a:extLst>
                <a:ext uri="{FF2B5EF4-FFF2-40B4-BE49-F238E27FC236}">
                  <a16:creationId xmlns:a16="http://schemas.microsoft.com/office/drawing/2014/main" id="{364233DE-951E-46DF-6425-D511B36CF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45812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>
            <a:extLst>
              <a:ext uri="{FF2B5EF4-FFF2-40B4-BE49-F238E27FC236}">
                <a16:creationId xmlns:a16="http://schemas.microsoft.com/office/drawing/2014/main" id="{535F1D54-3CF9-96D7-AAF2-E939F78F3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/>
        </p:blipFill>
        <p:spPr bwMode="auto">
          <a:xfrm>
            <a:off x="2566913" y="105269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D70D5DE-DB6D-D176-9CAB-9DB15C044A5C}"/>
              </a:ext>
            </a:extLst>
          </p:cNvPr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</a:p>
          <a:p>
            <a:r>
              <a:rPr lang="fr-FR" sz="1600" dirty="0"/>
              <a:t>Si vous ne souhaitez pas bénéficier des équipements compris dans ces paniers, les remboursements se feront selon le niveau de garanties que vous avez choisi.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BD2300-AD32-5AA3-5AA3-24E9718EFC61}"/>
              </a:ext>
            </a:extLst>
          </p:cNvPr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r>
              <a:rPr lang="fr-FR" sz="1600" dirty="0"/>
              <a:t>QU’EST-CE QUI CHANGE EN PRATIQUE ?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71E66C1-A306-F7C2-3064-D3A2018F7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31" y="5368177"/>
            <a:ext cx="2158618" cy="18311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C47FEA0-F477-562D-7433-360467980C32}"/>
              </a:ext>
            </a:extLst>
          </p:cNvPr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Le professionnel de santé </a:t>
            </a:r>
          </a:p>
          <a:p>
            <a:pPr algn="ctr"/>
            <a:r>
              <a:rPr lang="fr-FR" sz="1600" dirty="0"/>
              <a:t>proposera obligatoirement </a:t>
            </a:r>
          </a:p>
          <a:p>
            <a:pPr algn="ctr"/>
            <a:r>
              <a:rPr lang="fr-FR" sz="1600" dirty="0">
                <a:solidFill>
                  <a:srgbClr val="0070C0"/>
                </a:solidFill>
              </a:rPr>
              <a:t>2 OFFRES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A3FF7B1-6127-0BF0-C7E9-3B7C18C3F8BC}"/>
              </a:ext>
            </a:extLst>
          </p:cNvPr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sans Reste à charge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F383C17-45A3-6E24-243D-E5B936A664DE}"/>
              </a:ext>
            </a:extLst>
          </p:cNvPr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« Classique »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4771CB4-EAF8-8909-5069-505185436213}"/>
              </a:ext>
            </a:extLst>
          </p:cNvPr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fr-FR" sz="1600" dirty="0"/>
              <a:t>Mais aussi: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ADC3DC0-D766-2449-5D66-95CDE9F708A7}"/>
              </a:ext>
            </a:extLst>
          </p:cNvPr>
          <p:cNvCxnSpPr>
            <a:cxnSpLocks/>
          </p:cNvCxnSpPr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58842E4-FE74-86E3-440A-096AB8845129}"/>
              </a:ext>
            </a:extLst>
          </p:cNvPr>
          <p:cNvCxnSpPr>
            <a:cxnSpLocks/>
          </p:cNvCxnSpPr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5" name="ZoneTexte 4514">
            <a:extLst>
              <a:ext uri="{FF2B5EF4-FFF2-40B4-BE49-F238E27FC236}">
                <a16:creationId xmlns:a16="http://schemas.microsoft.com/office/drawing/2014/main" id="{E20EF230-36C6-4E06-1C00-A04090AC41A5}"/>
              </a:ext>
            </a:extLst>
          </p:cNvPr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Soin ou équipement entrant dans le</a:t>
            </a:r>
          </a:p>
          <a:p>
            <a:r>
              <a:rPr lang="fr-FR" sz="1100" dirty="0"/>
              <a:t>panier 100% Santé</a:t>
            </a:r>
          </a:p>
        </p:txBody>
      </p:sp>
      <p:sp>
        <p:nvSpPr>
          <p:cNvPr id="4517" name="ZoneTexte 4516">
            <a:extLst>
              <a:ext uri="{FF2B5EF4-FFF2-40B4-BE49-F238E27FC236}">
                <a16:creationId xmlns:a16="http://schemas.microsoft.com/office/drawing/2014/main" id="{761E1492-A5E3-9AF6-8C9C-21D6ECB8B178}"/>
              </a:ext>
            </a:extLst>
          </p:cNvPr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/>
            </a:lvl1pPr>
          </a:lstStyle>
          <a:p>
            <a:pPr algn="ctr"/>
            <a:r>
              <a:rPr lang="fr-FR" dirty="0"/>
              <a:t>Panier à tarif libre et remboursé par</a:t>
            </a:r>
          </a:p>
          <a:p>
            <a:pPr algn="ctr"/>
            <a:r>
              <a:rPr lang="fr-FR" dirty="0"/>
              <a:t>l’assurance complémentaire dans les</a:t>
            </a:r>
          </a:p>
          <a:p>
            <a:pPr algn="ctr"/>
            <a:r>
              <a:rPr lang="fr-FR" dirty="0"/>
              <a:t>conditions prévues par le contrat</a:t>
            </a:r>
          </a:p>
        </p:txBody>
      </p:sp>
      <p:sp>
        <p:nvSpPr>
          <p:cNvPr id="4519" name="ZoneTexte 4518">
            <a:extLst>
              <a:ext uri="{FF2B5EF4-FFF2-40B4-BE49-F238E27FC236}">
                <a16:creationId xmlns:a16="http://schemas.microsoft.com/office/drawing/2014/main" id="{8CFAC478-7838-F018-5E51-DED49538B610}"/>
              </a:ext>
            </a:extLst>
          </p:cNvPr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600"/>
            </a:lvl1pPr>
          </a:lstStyle>
          <a:p>
            <a:r>
              <a:rPr lang="fr-FR" sz="1400" dirty="0"/>
              <a:t>&gt; Fixation de prix limites de vente (PLV) imposés aux professionnels de santé</a:t>
            </a:r>
          </a:p>
          <a:p>
            <a:r>
              <a:rPr lang="fr-FR" sz="1400" dirty="0"/>
              <a:t>&gt; Augmentation de la base de remboursement (BR) du régime obligatoire (RO) &amp; du remboursement des complémentaires santé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6486D8B-DDD6-FCA0-0673-EBD19D22C0F5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E0B0AD35-4CF0-DAE6-9C29-BBA5D423CA53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6" name="Rectangle : coins arrondis 15">
                <a:extLst>
                  <a:ext uri="{FF2B5EF4-FFF2-40B4-BE49-F238E27FC236}">
                    <a16:creationId xmlns:a16="http://schemas.microsoft.com/office/drawing/2014/main" id="{C0C1CC7D-B71B-6608-6A04-333B3BF4F697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Actif    by                                 assuré par                                 </a:t>
                </a:r>
              </a:p>
            </p:txBody>
          </p:sp>
          <p:pic>
            <p:nvPicPr>
              <p:cNvPr id="17" name="Image 16" descr="Coverity | LinkedIn">
                <a:hlinkClick r:id="rId6"/>
                <a:extLst>
                  <a:ext uri="{FF2B5EF4-FFF2-40B4-BE49-F238E27FC236}">
                    <a16:creationId xmlns:a16="http://schemas.microsoft.com/office/drawing/2014/main" id="{07AD1477-C895-D0AE-4E88-7FB31D7D6A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Picture 2" descr="Insurem - Crunchbase Company Profile &amp; Funding">
              <a:extLst>
                <a:ext uri="{FF2B5EF4-FFF2-40B4-BE49-F238E27FC236}">
                  <a16:creationId xmlns:a16="http://schemas.microsoft.com/office/drawing/2014/main" id="{6AD98B75-4924-C15B-8F80-EBB684DFAB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79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>
            <a:extLst>
              <a:ext uri="{FF2B5EF4-FFF2-40B4-BE49-F238E27FC236}">
                <a16:creationId xmlns:a16="http://schemas.microsoft.com/office/drawing/2014/main" id="{535F1D54-3CF9-96D7-AAF2-E939F78F3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/>
        </p:blipFill>
        <p:spPr bwMode="auto">
          <a:xfrm>
            <a:off x="2566913" y="98012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DC311B0-BB0D-C427-5533-FA4B6E6AB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98" y="1992003"/>
            <a:ext cx="5911752" cy="7546705"/>
          </a:xfrm>
          <a:prstGeom prst="rect">
            <a:avLst/>
          </a:prstGeom>
        </p:spPr>
      </p:pic>
      <p:pic>
        <p:nvPicPr>
          <p:cNvPr id="4521" name="Image 4520">
            <a:extLst>
              <a:ext uri="{FF2B5EF4-FFF2-40B4-BE49-F238E27FC236}">
                <a16:creationId xmlns:a16="http://schemas.microsoft.com/office/drawing/2014/main" id="{F2436BD2-3577-BD8A-85C5-5DC2CED6D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96154"/>
            <a:ext cx="1147989" cy="641789"/>
          </a:xfrm>
          <a:prstGeom prst="rect">
            <a:avLst/>
          </a:prstGeom>
        </p:spPr>
      </p:pic>
      <p:pic>
        <p:nvPicPr>
          <p:cNvPr id="4523" name="Image 4522">
            <a:extLst>
              <a:ext uri="{FF2B5EF4-FFF2-40B4-BE49-F238E27FC236}">
                <a16:creationId xmlns:a16="http://schemas.microsoft.com/office/drawing/2014/main" id="{8B48A7BA-1DFB-F2BE-DE2C-4BC7F7A60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5446720"/>
            <a:ext cx="1147989" cy="637269"/>
          </a:xfrm>
          <a:prstGeom prst="rect">
            <a:avLst/>
          </a:prstGeom>
        </p:spPr>
      </p:pic>
      <p:pic>
        <p:nvPicPr>
          <p:cNvPr id="4525" name="Image 4524">
            <a:extLst>
              <a:ext uri="{FF2B5EF4-FFF2-40B4-BE49-F238E27FC236}">
                <a16:creationId xmlns:a16="http://schemas.microsoft.com/office/drawing/2014/main" id="{1972CFFC-EBC6-164E-87F7-F7B190FCA7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991398"/>
            <a:ext cx="1138950" cy="601113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66B87925-0E74-0308-D8A6-DF06FE3CFEF8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7F8589DF-8968-8208-AA36-22799E0ECD61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D90E27E6-BF2E-28B4-4196-5053017E3652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        Cover Santé Actif    by                                 assuré par                                 </a:t>
                </a:r>
              </a:p>
            </p:txBody>
          </p:sp>
          <p:pic>
            <p:nvPicPr>
              <p:cNvPr id="11" name="Image 10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2E17A012-C007-DD6B-8AA6-C2F0D6ED32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2870425" y="186071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6795029A-747F-DD65-825F-88176A471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49026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1391</TotalTime>
  <Words>767</Words>
  <Application>Microsoft Office PowerPoint</Application>
  <PresentationFormat>Format A4 (210 x 297 mm)</PresentationFormat>
  <Paragraphs>92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Source Sans Pro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46</cp:revision>
  <cp:lastPrinted>2024-03-26T10:36:48Z</cp:lastPrinted>
  <dcterms:created xsi:type="dcterms:W3CDTF">2018-01-12T04:36:24Z</dcterms:created>
  <dcterms:modified xsi:type="dcterms:W3CDTF">2025-09-17T12:31:43Z</dcterms:modified>
</cp:coreProperties>
</file>