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9906000" cx="6858000"/>
  <p:notesSz cx="7104050" cy="102346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5" roundtripDataSignature="AMtx7mgnSbsEcOyYoFSwCo+/XYrGhJnW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2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3992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50" spcFirstLastPara="1" rIns="99050" wrap="square" tIns="49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50" spcFirstLastPara="1" rIns="99050" wrap="square" tIns="49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2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e14f18126_0_0:notes"/>
          <p:cNvSpPr/>
          <p:nvPr>
            <p:ph idx="2" type="sldImg"/>
          </p:nvPr>
        </p:nvSpPr>
        <p:spPr>
          <a:xfrm>
            <a:off x="2357438" y="1279525"/>
            <a:ext cx="23892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ce14f18126_0_0:notes"/>
          <p:cNvSpPr txBox="1"/>
          <p:nvPr>
            <p:ph idx="1" type="body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ce14f18126_0_0:notes"/>
          <p:cNvSpPr txBox="1"/>
          <p:nvPr>
            <p:ph idx="12" type="sldNum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</p:spPr>
        <p:txBody>
          <a:bodyPr anchorCtr="0" anchor="b" bIns="49500" lIns="99050" spcFirstLastPara="1" rIns="99050" wrap="square" tIns="49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p3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p4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p5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6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" name="Google Shape;215;p6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7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" name="Google Shape;237;p7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8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0" name="Google Shape;260;p8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0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1"/>
          <p:cNvSpPr txBox="1"/>
          <p:nvPr>
            <p:ph type="ctrTitle"/>
          </p:nvPr>
        </p:nvSpPr>
        <p:spPr>
          <a:xfrm>
            <a:off x="857250" y="1621191"/>
            <a:ext cx="51435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1pPr>
            <a:lvl2pPr lvl="1" algn="ctr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None/>
              <a:defRPr sz="1014"/>
            </a:lvl3pPr>
            <a:lvl4pPr lvl="3" algn="ctr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3" name="Google Shape;23;p11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2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2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3"/>
          <p:cNvSpPr txBox="1"/>
          <p:nvPr>
            <p:ph type="title"/>
          </p:nvPr>
        </p:nvSpPr>
        <p:spPr>
          <a:xfrm>
            <a:off x="467916" y="2469622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" type="body"/>
          </p:nvPr>
        </p:nvSpPr>
        <p:spPr>
          <a:xfrm>
            <a:off x="467916" y="6629225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5"/>
              <a:buNone/>
              <a:defRPr sz="1125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015"/>
              <a:buNone/>
              <a:defRPr sz="1014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13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3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4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4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472381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1pPr>
            <a:lvl2pPr indent="-2286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None/>
              <a:defRPr b="1" sz="1014"/>
            </a:lvl3pPr>
            <a:lvl4pPr indent="-2286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48" name="Google Shape;48;p15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1pPr>
            <a:lvl2pPr indent="-2286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None/>
              <a:defRPr b="1" sz="1014"/>
            </a:lvl3pPr>
            <a:lvl4pPr indent="-2286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50" name="Google Shape;50;p15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6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7"/>
          <p:cNvSpPr txBox="1"/>
          <p:nvPr>
            <p:ph type="title"/>
          </p:nvPr>
        </p:nvSpPr>
        <p:spPr>
          <a:xfrm>
            <a:off x="472381" y="660400"/>
            <a:ext cx="2211883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" type="body"/>
          </p:nvPr>
        </p:nvSpPr>
        <p:spPr>
          <a:xfrm>
            <a:off x="2915543" y="1426281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8612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575"/>
              <a:buChar char="•"/>
              <a:defRPr sz="1575"/>
            </a:lvl2pPr>
            <a:lvl3pPr indent="-314325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indent="-300037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4pPr>
            <a:lvl5pPr indent="-300037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5pPr>
            <a:lvl6pPr indent="-300037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6pPr>
            <a:lvl7pPr indent="-300037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7pPr>
            <a:lvl8pPr indent="-300037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8pPr>
            <a:lvl9pPr indent="-300037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9pPr>
          </a:lstStyle>
          <a:p/>
        </p:txBody>
      </p:sp>
      <p:sp>
        <p:nvSpPr>
          <p:cNvPr id="61" name="Google Shape;61;p17"/>
          <p:cNvSpPr txBox="1"/>
          <p:nvPr>
            <p:ph idx="2" type="body"/>
          </p:nvPr>
        </p:nvSpPr>
        <p:spPr>
          <a:xfrm>
            <a:off x="472381" y="2971800"/>
            <a:ext cx="2211883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790"/>
              <a:buNone/>
              <a:defRPr sz="790"/>
            </a:lvl2pPr>
            <a:lvl3pPr indent="-2286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4pPr>
            <a:lvl5pPr indent="-2286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5pPr>
            <a:lvl6pPr indent="-2286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6pPr>
            <a:lvl7pPr indent="-2286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7pPr>
            <a:lvl8pPr indent="-2286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8pPr>
            <a:lvl9pPr indent="-2286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9pPr>
          </a:lstStyle>
          <a:p/>
        </p:txBody>
      </p:sp>
      <p:sp>
        <p:nvSpPr>
          <p:cNvPr id="62" name="Google Shape;62;p17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7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/>
          <p:nvPr>
            <p:ph type="title"/>
          </p:nvPr>
        </p:nvSpPr>
        <p:spPr>
          <a:xfrm>
            <a:off x="472381" y="660400"/>
            <a:ext cx="2211883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/>
          <p:nvPr>
            <p:ph idx="2" type="pic"/>
          </p:nvPr>
        </p:nvSpPr>
        <p:spPr>
          <a:xfrm>
            <a:off x="2915543" y="1426281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8"/>
          <p:cNvSpPr txBox="1"/>
          <p:nvPr>
            <p:ph idx="1" type="body"/>
          </p:nvPr>
        </p:nvSpPr>
        <p:spPr>
          <a:xfrm>
            <a:off x="472381" y="2971800"/>
            <a:ext cx="2211883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790"/>
              <a:buNone/>
              <a:defRPr sz="790"/>
            </a:lvl2pPr>
            <a:lvl3pPr indent="-2286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4pPr>
            <a:lvl5pPr indent="-2286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5pPr>
            <a:lvl6pPr indent="-2286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6pPr>
            <a:lvl7pPr indent="-2286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7pPr>
            <a:lvl8pPr indent="-2286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8pPr>
            <a:lvl9pPr indent="-2286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9pPr>
          </a:lstStyle>
          <a:p/>
        </p:txBody>
      </p:sp>
      <p:sp>
        <p:nvSpPr>
          <p:cNvPr id="69" name="Google Shape;69;p18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type="title"/>
          </p:nvPr>
        </p:nvSpPr>
        <p:spPr>
          <a:xfrm rot="5400000">
            <a:off x="1449695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75"/>
              <a:buFont typeface="Calibri"/>
              <a:buNone/>
              <a:defRPr b="0" i="0" sz="24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8612" lvl="0" marL="457200" marR="0" rtl="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Char char="•"/>
              <a:defRPr b="0" i="0" sz="15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4325" lvl="1" marL="914400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0037" lvl="2" marL="1371600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Font typeface="Arial"/>
              <a:buChar char="•"/>
              <a:defRPr b="0" i="0" sz="11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3052" lvl="3" marL="1828800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Font typeface="Arial"/>
              <a:buChar char="•"/>
              <a:defRPr b="0" i="0" sz="101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3052" lvl="4" marL="2286000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Font typeface="Arial"/>
              <a:buChar char="•"/>
              <a:defRPr b="0" i="0" sz="101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3052" lvl="5" marL="2743200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Font typeface="Arial"/>
              <a:buChar char="•"/>
              <a:defRPr b="0" i="0" sz="101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3052" lvl="6" marL="3200400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Font typeface="Arial"/>
              <a:buChar char="•"/>
              <a:defRPr b="0" i="0" sz="101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3052" lvl="7" marL="3657600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Font typeface="Arial"/>
              <a:buChar char="•"/>
              <a:defRPr b="0" i="0" sz="101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3052" lvl="8" marL="4114800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Font typeface="Arial"/>
              <a:buChar char="•"/>
              <a:defRPr b="0" i="0" sz="101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4.jpg"/><Relationship Id="rId10" Type="http://schemas.openxmlformats.org/officeDocument/2006/relationships/hyperlink" Target="#'30'!A1" TargetMode="External"/><Relationship Id="rId13" Type="http://schemas.openxmlformats.org/officeDocument/2006/relationships/image" Target="../media/image9.png"/><Relationship Id="rId12" Type="http://schemas.openxmlformats.org/officeDocument/2006/relationships/hyperlink" Target="#'4'!A1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jpg"/><Relationship Id="rId9" Type="http://schemas.openxmlformats.org/officeDocument/2006/relationships/image" Target="../media/image7.png"/><Relationship Id="rId15" Type="http://schemas.openxmlformats.org/officeDocument/2006/relationships/hyperlink" Target="#'19'!A1" TargetMode="External"/><Relationship Id="rId14" Type="http://schemas.openxmlformats.org/officeDocument/2006/relationships/image" Target="../media/image12.jpg"/><Relationship Id="rId16" Type="http://schemas.openxmlformats.org/officeDocument/2006/relationships/image" Target="../media/image13.png"/><Relationship Id="rId5" Type="http://schemas.openxmlformats.org/officeDocument/2006/relationships/image" Target="../media/image3.png"/><Relationship Id="rId6" Type="http://schemas.openxmlformats.org/officeDocument/2006/relationships/image" Target="../media/image8.jpg"/><Relationship Id="rId7" Type="http://schemas.openxmlformats.org/officeDocument/2006/relationships/hyperlink" Target="#'6'!A1" TargetMode="External"/><Relationship Id="rId8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hyperlink" Target="#'30'!A1" TargetMode="External"/><Relationship Id="rId5" Type="http://schemas.openxmlformats.org/officeDocument/2006/relationships/image" Target="../media/image4.jpg"/><Relationship Id="rId6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jpg"/><Relationship Id="rId4" Type="http://schemas.openxmlformats.org/officeDocument/2006/relationships/hyperlink" Target="#'30'!A1" TargetMode="External"/><Relationship Id="rId5" Type="http://schemas.openxmlformats.org/officeDocument/2006/relationships/image" Target="../media/image4.jpg"/><Relationship Id="rId6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7.png"/><Relationship Id="rId10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hyperlink" Target="#'30'!A1" TargetMode="External"/><Relationship Id="rId5" Type="http://schemas.openxmlformats.org/officeDocument/2006/relationships/image" Target="../media/image16.jpg"/><Relationship Id="rId6" Type="http://schemas.openxmlformats.org/officeDocument/2006/relationships/image" Target="../media/image18.jpg"/><Relationship Id="rId7" Type="http://schemas.openxmlformats.org/officeDocument/2006/relationships/hyperlink" Target="#'4'!A1" TargetMode="External"/><Relationship Id="rId8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4.jpg"/><Relationship Id="rId10" Type="http://schemas.openxmlformats.org/officeDocument/2006/relationships/hyperlink" Target="#'30'!A1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7.png"/><Relationship Id="rId9" Type="http://schemas.openxmlformats.org/officeDocument/2006/relationships/image" Target="../media/image22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19.png"/><Relationship Id="rId8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0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Relationship Id="rId4" Type="http://schemas.openxmlformats.org/officeDocument/2006/relationships/hyperlink" Target="#'30'!A1" TargetMode="External"/><Relationship Id="rId9" Type="http://schemas.openxmlformats.org/officeDocument/2006/relationships/image" Target="../media/image33.png"/><Relationship Id="rId5" Type="http://schemas.openxmlformats.org/officeDocument/2006/relationships/image" Target="../media/image4.jpg"/><Relationship Id="rId6" Type="http://schemas.openxmlformats.org/officeDocument/2006/relationships/image" Target="../media/image7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29.png"/><Relationship Id="rId5" Type="http://schemas.openxmlformats.org/officeDocument/2006/relationships/image" Target="../media/image32.png"/><Relationship Id="rId6" Type="http://schemas.openxmlformats.org/officeDocument/2006/relationships/hyperlink" Target="#'30'!A1" TargetMode="External"/><Relationship Id="rId7" Type="http://schemas.openxmlformats.org/officeDocument/2006/relationships/image" Target="../media/image4.jpg"/><Relationship Id="rId8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7.png"/><Relationship Id="rId10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Relationship Id="rId4" Type="http://schemas.openxmlformats.org/officeDocument/2006/relationships/image" Target="../media/image29.png"/><Relationship Id="rId9" Type="http://schemas.openxmlformats.org/officeDocument/2006/relationships/hyperlink" Target="#'30'!A1" TargetMode="External"/><Relationship Id="rId5" Type="http://schemas.openxmlformats.org/officeDocument/2006/relationships/image" Target="../media/image31.png"/><Relationship Id="rId6" Type="http://schemas.openxmlformats.org/officeDocument/2006/relationships/image" Target="../media/image36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0" y="972075"/>
            <a:ext cx="6732802" cy="8385904"/>
          </a:xfrm>
          <a:prstGeom prst="rect">
            <a:avLst/>
          </a:prstGeom>
          <a:solidFill>
            <a:srgbClr val="2F5496"/>
          </a:solidFill>
          <a:ln cap="flat" cmpd="sng" w="25400">
            <a:solidFill>
              <a:srgbClr val="8DA9D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5461689" y="9642688"/>
            <a:ext cx="1388522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FICHE PRODUIT MARS 2014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1987886" y="1258563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323F4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Une complémentaire santé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</a:t>
            </a: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via</a:t>
            </a: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Contrat responsable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une option Renfort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2512386" y="2897599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</a:t>
            </a: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 Réseau de soins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Des professionnels  de santé pour des    équipements de qualité à prix réduit</a:t>
            </a:r>
            <a:endParaRPr/>
          </a:p>
        </p:txBody>
      </p:sp>
      <p:sp>
        <p:nvSpPr>
          <p:cNvPr id="92" name="Google Shape;92;p1"/>
          <p:cNvSpPr/>
          <p:nvPr/>
        </p:nvSpPr>
        <p:spPr>
          <a:xfrm>
            <a:off x="2569475" y="4575839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  Un Tiers payant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Un tiers payant national, qui vous évite d’avancer les frais médicaux.</a:t>
            </a:r>
            <a:endParaRPr/>
          </a:p>
        </p:txBody>
      </p:sp>
      <p:sp>
        <p:nvSpPr>
          <p:cNvPr id="93" name="Google Shape;93;p1"/>
          <p:cNvSpPr/>
          <p:nvPr/>
        </p:nvSpPr>
        <p:spPr>
          <a:xfrm>
            <a:off x="2509668" y="6235293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</a:t>
            </a: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Une assistance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</a:t>
            </a: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service haut de gamme 24h/24, 7j/7 pour vous accompagner en cas de coup dur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4" name="Google Shape;94;p1"/>
          <p:cNvGrpSpPr/>
          <p:nvPr/>
        </p:nvGrpSpPr>
        <p:grpSpPr>
          <a:xfrm>
            <a:off x="2045763" y="1495981"/>
            <a:ext cx="976837" cy="1010393"/>
            <a:chOff x="2109263" y="1465142"/>
            <a:chExt cx="976837" cy="1010393"/>
          </a:xfrm>
        </p:grpSpPr>
        <p:sp>
          <p:nvSpPr>
            <p:cNvPr id="95" name="Google Shape;95;p1"/>
            <p:cNvSpPr/>
            <p:nvPr/>
          </p:nvSpPr>
          <p:spPr>
            <a:xfrm>
              <a:off x="2109263" y="1465142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Modèle Logo Santé Et Forme Physique Logo Médical | PosterMyWall" id="96" name="Google Shape;96;p1"/>
            <p:cNvPicPr preferRelativeResize="0"/>
            <p:nvPr/>
          </p:nvPicPr>
          <p:blipFill rotWithShape="1">
            <a:blip r:embed="rId3">
              <a:alphaModFix/>
            </a:blip>
            <a:srcRect b="24816" l="23299" r="27063" t="11936"/>
            <a:stretch/>
          </p:blipFill>
          <p:spPr>
            <a:xfrm>
              <a:off x="2311520" y="1585367"/>
              <a:ext cx="596138" cy="75958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7" name="Google Shape;97;p1"/>
          <p:cNvGrpSpPr/>
          <p:nvPr/>
        </p:nvGrpSpPr>
        <p:grpSpPr>
          <a:xfrm>
            <a:off x="2573471" y="3115753"/>
            <a:ext cx="976837" cy="1010393"/>
            <a:chOff x="2548471" y="3049424"/>
            <a:chExt cx="976837" cy="1010393"/>
          </a:xfrm>
        </p:grpSpPr>
        <p:sp>
          <p:nvSpPr>
            <p:cNvPr id="98" name="Google Shape;98;p1"/>
            <p:cNvSpPr/>
            <p:nvPr/>
          </p:nvSpPr>
          <p:spPr>
            <a:xfrm>
              <a:off x="2548471" y="3049424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Réseaux de soins et de professionnels - Uneoreilleavertie.com" id="99" name="Google Shape;99;p1"/>
            <p:cNvPicPr preferRelativeResize="0"/>
            <p:nvPr/>
          </p:nvPicPr>
          <p:blipFill rotWithShape="1">
            <a:blip r:embed="rId4">
              <a:alphaModFix/>
            </a:blip>
            <a:srcRect b="17480" l="6111" r="8264" t="12370"/>
            <a:stretch/>
          </p:blipFill>
          <p:spPr>
            <a:xfrm>
              <a:off x="2693612" y="3280574"/>
              <a:ext cx="670266" cy="57719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0" name="Google Shape;100;p1"/>
          <p:cNvGrpSpPr/>
          <p:nvPr/>
        </p:nvGrpSpPr>
        <p:grpSpPr>
          <a:xfrm>
            <a:off x="2639176" y="4819230"/>
            <a:ext cx="976837" cy="1010393"/>
            <a:chOff x="2693612" y="4712978"/>
            <a:chExt cx="976837" cy="1010393"/>
          </a:xfrm>
        </p:grpSpPr>
        <p:sp>
          <p:nvSpPr>
            <p:cNvPr id="101" name="Google Shape;101;p1"/>
            <p:cNvSpPr/>
            <p:nvPr/>
          </p:nvSpPr>
          <p:spPr>
            <a:xfrm>
              <a:off x="2693612" y="4712978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Tiers payant : qu'est-ce que c'est et comment l'obtenir ?" id="102" name="Google Shape;102;p1"/>
            <p:cNvPicPr preferRelativeResize="0"/>
            <p:nvPr/>
          </p:nvPicPr>
          <p:blipFill rotWithShape="1">
            <a:blip r:embed="rId5">
              <a:alphaModFix/>
            </a:blip>
            <a:srcRect b="4849" l="19237" r="29792" t="4849"/>
            <a:stretch/>
          </p:blipFill>
          <p:spPr>
            <a:xfrm>
              <a:off x="2862942" y="4910684"/>
              <a:ext cx="638175" cy="59604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3" name="Google Shape;103;p1"/>
          <p:cNvGrpSpPr/>
          <p:nvPr/>
        </p:nvGrpSpPr>
        <p:grpSpPr>
          <a:xfrm>
            <a:off x="2590614" y="6480054"/>
            <a:ext cx="976837" cy="1010393"/>
            <a:chOff x="2566518" y="6340968"/>
            <a:chExt cx="976837" cy="1010393"/>
          </a:xfrm>
        </p:grpSpPr>
        <p:sp>
          <p:nvSpPr>
            <p:cNvPr id="104" name="Google Shape;104;p1"/>
            <p:cNvSpPr/>
            <p:nvPr/>
          </p:nvSpPr>
          <p:spPr>
            <a:xfrm>
              <a:off x="2566518" y="6340968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ssistance and protection logo work people sign Vector Image" id="105" name="Google Shape;105;p1"/>
            <p:cNvPicPr preferRelativeResize="0"/>
            <p:nvPr/>
          </p:nvPicPr>
          <p:blipFill rotWithShape="1">
            <a:blip r:embed="rId6">
              <a:alphaModFix/>
            </a:blip>
            <a:srcRect b="31895" l="20106" r="19154" t="9307"/>
            <a:stretch/>
          </p:blipFill>
          <p:spPr>
            <a:xfrm>
              <a:off x="2781449" y="6523581"/>
              <a:ext cx="577433" cy="60373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"/>
          <p:cNvSpPr/>
          <p:nvPr/>
        </p:nvSpPr>
        <p:spPr>
          <a:xfrm>
            <a:off x="-4107550" y="953182"/>
            <a:ext cx="6446849" cy="8404797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-240074" y="2351314"/>
            <a:ext cx="2488094" cy="5506457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 intégrale </a:t>
            </a: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séniors</a:t>
            </a:r>
            <a:endParaRPr/>
          </a:p>
        </p:txBody>
      </p:sp>
      <p:pic>
        <p:nvPicPr>
          <p:cNvPr id="108" name="Google Shape;108;p1">
            <a:hlinkClick r:id="rId7"/>
          </p:cNvPr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14913" y="4982475"/>
            <a:ext cx="1550630" cy="630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414913" y="1558412"/>
            <a:ext cx="780563" cy="769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0" name="Google Shape;110;p1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11" name="Google Shape;111;p1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112" name="Google Shape;112;p1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Cover Santé Sérénité    by                                 assuré par                                 </a:t>
                </a:r>
                <a:endParaRPr/>
              </a:p>
            </p:txBody>
          </p:sp>
          <p:pic>
            <p:nvPicPr>
              <p:cNvPr descr="Coverity | LinkedIn" id="113" name="Google Shape;113;p1">
                <a:hlinkClick r:id="rId10"/>
              </p:cNvPr>
              <p:cNvPicPr preferRelativeResize="0"/>
              <p:nvPr/>
            </p:nvPicPr>
            <p:blipFill rotWithShape="1">
              <a:blip r:embed="rId11">
                <a:alphaModFix/>
              </a:blip>
              <a:srcRect b="28501" l="0" r="0" t="33000"/>
              <a:stretch/>
            </p:blipFill>
            <p:spPr>
              <a:xfrm>
                <a:off x="3123790" y="186071"/>
                <a:ext cx="1017738" cy="43597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14" name="Google Shape;114;p1"/>
            <p:cNvPicPr preferRelativeResize="0"/>
            <p:nvPr/>
          </p:nvPicPr>
          <p:blipFill rotWithShape="1">
            <a:blip r:embed="rId9">
              <a:alphaModFix/>
            </a:blip>
            <a:srcRect b="27349" l="0" r="0" t="20248"/>
            <a:stretch/>
          </p:blipFill>
          <p:spPr>
            <a:xfrm>
              <a:off x="5600794" y="153274"/>
              <a:ext cx="968156" cy="49999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5" name="Google Shape;115;p1">
            <a:hlinkClick r:id="rId12"/>
          </p:cNvPr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389513" y="3330330"/>
            <a:ext cx="1356793" cy="571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"/>
          <p:cNvPicPr preferRelativeResize="0"/>
          <p:nvPr/>
        </p:nvPicPr>
        <p:blipFill rotWithShape="1">
          <a:blip r:embed="rId9">
            <a:alphaModFix/>
          </a:blip>
          <a:srcRect b="27349" l="0" r="0" t="20248"/>
          <a:stretch/>
        </p:blipFill>
        <p:spPr>
          <a:xfrm>
            <a:off x="4753363" y="6714535"/>
            <a:ext cx="968156" cy="49999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"/>
          <p:cNvSpPr/>
          <p:nvPr/>
        </p:nvSpPr>
        <p:spPr>
          <a:xfrm>
            <a:off x="1841594" y="7835563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fr-FR" sz="2000" u="non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Une Protection juridique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fr-FR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Un accompagnement en cas de litige,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8" name="Google Shape;118;p1"/>
          <p:cNvGrpSpPr/>
          <p:nvPr/>
        </p:nvGrpSpPr>
        <p:grpSpPr>
          <a:xfrm>
            <a:off x="1917471" y="8090600"/>
            <a:ext cx="976837" cy="1010393"/>
            <a:chOff x="1963799" y="8142480"/>
            <a:chExt cx="976837" cy="1010393"/>
          </a:xfrm>
        </p:grpSpPr>
        <p:sp>
          <p:nvSpPr>
            <p:cNvPr id="119" name="Google Shape;119;p1"/>
            <p:cNvSpPr/>
            <p:nvPr/>
          </p:nvSpPr>
          <p:spPr>
            <a:xfrm>
              <a:off x="1963799" y="8142480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Protection juridique" id="120" name="Google Shape;120;p1"/>
            <p:cNvPicPr preferRelativeResize="0"/>
            <p:nvPr/>
          </p:nvPicPr>
          <p:blipFill rotWithShape="1">
            <a:blip r:embed="rId14">
              <a:alphaModFix/>
            </a:blip>
            <a:srcRect b="29438" l="4035" r="4387" t="0"/>
            <a:stretch/>
          </p:blipFill>
          <p:spPr>
            <a:xfrm>
              <a:off x="2092593" y="8359486"/>
              <a:ext cx="726806" cy="56000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Juridica - Protection Juridique" id="121" name="Google Shape;121;p1">
            <a:hlinkClick r:id="rId15"/>
          </p:cNvPr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3707882" y="8298187"/>
            <a:ext cx="1087436" cy="6608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"/>
          <p:cNvSpPr/>
          <p:nvPr/>
        </p:nvSpPr>
        <p:spPr>
          <a:xfrm>
            <a:off x="329746" y="2235682"/>
            <a:ext cx="6198508" cy="988058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mutuelle spécialement conçue pour les seniors, avec des garanties ciblées sur leurs besoins: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hospitalisation, chambre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particulière, médecine naturelle, cure thermale, audiologie</a:t>
            </a:r>
            <a:endParaRPr/>
          </a:p>
        </p:txBody>
      </p:sp>
      <p:sp>
        <p:nvSpPr>
          <p:cNvPr id="127" name="Google Shape;127;p2"/>
          <p:cNvSpPr/>
          <p:nvPr/>
        </p:nvSpPr>
        <p:spPr>
          <a:xfrm>
            <a:off x="348343" y="3347335"/>
            <a:ext cx="6198508" cy="692059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adhésion rapide en ligne avec la signature électronique</a:t>
            </a:r>
            <a:endParaRPr/>
          </a:p>
        </p:txBody>
      </p:sp>
      <p:sp>
        <p:nvSpPr>
          <p:cNvPr id="128" name="Google Shape;128;p2"/>
          <p:cNvSpPr/>
          <p:nvPr/>
        </p:nvSpPr>
        <p:spPr>
          <a:xfrm>
            <a:off x="348343" y="4171328"/>
            <a:ext cx="6198508" cy="692060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reprise à la concurrence facilitée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avec la prise en charge de l’envoi de la résiliation en cas de RIA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"/>
          <p:cNvSpPr/>
          <p:nvPr/>
        </p:nvSpPr>
        <p:spPr>
          <a:xfrm>
            <a:off x="351970" y="5022334"/>
            <a:ext cx="6198508" cy="959405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option RENFORT pouvant être souscrite en complément de la formule de base à partir du niveau 2</a:t>
            </a:r>
            <a:endParaRPr/>
          </a:p>
        </p:txBody>
      </p:sp>
      <p:sp>
        <p:nvSpPr>
          <p:cNvPr id="130" name="Google Shape;130;p2"/>
          <p:cNvSpPr/>
          <p:nvPr/>
        </p:nvSpPr>
        <p:spPr>
          <a:xfrm>
            <a:off x="348343" y="6140685"/>
            <a:ext cx="6198508" cy="692061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 professions éligibles pour le poste médecine naturelle</a:t>
            </a:r>
            <a:endParaRPr/>
          </a:p>
        </p:txBody>
      </p:sp>
      <p:grpSp>
        <p:nvGrpSpPr>
          <p:cNvPr id="131" name="Google Shape;131;p2"/>
          <p:cNvGrpSpPr/>
          <p:nvPr/>
        </p:nvGrpSpPr>
        <p:grpSpPr>
          <a:xfrm>
            <a:off x="1248230" y="945460"/>
            <a:ext cx="5215617" cy="1038433"/>
            <a:chOff x="1248230" y="945460"/>
            <a:chExt cx="5215617" cy="1038433"/>
          </a:xfrm>
        </p:grpSpPr>
        <p:sp>
          <p:nvSpPr>
            <p:cNvPr id="132" name="Google Shape;132;p2"/>
            <p:cNvSpPr txBox="1"/>
            <p:nvPr/>
          </p:nvSpPr>
          <p:spPr>
            <a:xfrm>
              <a:off x="2283732" y="1029786"/>
              <a:ext cx="4180115" cy="954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Pourquoi choisir Cover Santé Sérénité ?</a:t>
              </a:r>
              <a:endParaRPr/>
            </a:p>
          </p:txBody>
        </p:sp>
        <p:pic>
          <p:nvPicPr>
            <p:cNvPr descr="Bonne idée - Icônes commercialisation gratuites" id="133" name="Google Shape;133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48230" y="945460"/>
              <a:ext cx="1035502" cy="103550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4" name="Google Shape;134;p2"/>
          <p:cNvSpPr/>
          <p:nvPr/>
        </p:nvSpPr>
        <p:spPr>
          <a:xfrm>
            <a:off x="348343" y="6964679"/>
            <a:ext cx="6198508" cy="809381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L’accès au réseau de soins Itélis,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 soins moins onéreux et de qualité, de meilleurs remboursements, des tarifs spécialement négociés auprès de professionnels sélectionnés pour leur expertise et leurs compétences</a:t>
            </a:r>
            <a:endParaRPr/>
          </a:p>
        </p:txBody>
      </p:sp>
      <p:sp>
        <p:nvSpPr>
          <p:cNvPr id="135" name="Google Shape;135;p2"/>
          <p:cNvSpPr/>
          <p:nvPr/>
        </p:nvSpPr>
        <p:spPr>
          <a:xfrm>
            <a:off x="348343" y="7882414"/>
            <a:ext cx="6198508" cy="1503336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L’assistance SMATIS ASSISTANCE SANTÉ À DOMICILE »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 inclusion : 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Services d’Assistance haut de gamme : téléconsultation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services d’aide à domicile, téléassistance, soutien psychologique,…</a:t>
            </a:r>
            <a:endParaRPr/>
          </a:p>
        </p:txBody>
      </p:sp>
      <p:grpSp>
        <p:nvGrpSpPr>
          <p:cNvPr id="136" name="Google Shape;136;p2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37" name="Google Shape;137;p2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138" name="Google Shape;138;p2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Cover Santé Sérénité    by                                 assuré par                                 </a:t>
                </a:r>
                <a:endParaRPr/>
              </a:p>
            </p:txBody>
          </p:sp>
          <p:pic>
            <p:nvPicPr>
              <p:cNvPr descr="Coverity | LinkedIn" id="139" name="Google Shape;139;p2">
                <a:hlinkClick r:id="rId4"/>
              </p:cNvPr>
              <p:cNvPicPr preferRelativeResize="0"/>
              <p:nvPr/>
            </p:nvPicPr>
            <p:blipFill rotWithShape="1">
              <a:blip r:embed="rId5">
                <a:alphaModFix/>
              </a:blip>
              <a:srcRect b="28501" l="0" r="0" t="33000"/>
              <a:stretch/>
            </p:blipFill>
            <p:spPr>
              <a:xfrm>
                <a:off x="3123790" y="186071"/>
                <a:ext cx="1017738" cy="43597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40" name="Google Shape;140;p2"/>
            <p:cNvPicPr preferRelativeResize="0"/>
            <p:nvPr/>
          </p:nvPicPr>
          <p:blipFill rotWithShape="1">
            <a:blip r:embed="rId6">
              <a:alphaModFix/>
            </a:blip>
            <a:srcRect b="27349" l="0" r="0" t="20248"/>
            <a:stretch/>
          </p:blipFill>
          <p:spPr>
            <a:xfrm>
              <a:off x="5600794" y="153274"/>
              <a:ext cx="968156" cy="49999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ce14f18126_0_0"/>
          <p:cNvSpPr txBox="1"/>
          <p:nvPr>
            <p:ph type="title"/>
          </p:nvPr>
        </p:nvSpPr>
        <p:spPr>
          <a:xfrm>
            <a:off x="471488" y="527404"/>
            <a:ext cx="5915100" cy="1914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"/>
          <p:cNvSpPr txBox="1"/>
          <p:nvPr/>
        </p:nvSpPr>
        <p:spPr>
          <a:xfrm>
            <a:off x="2283732" y="1029786"/>
            <a:ext cx="418011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2" name="Google Shape;152;p3"/>
          <p:cNvGrpSpPr/>
          <p:nvPr/>
        </p:nvGrpSpPr>
        <p:grpSpPr>
          <a:xfrm>
            <a:off x="829660" y="2290969"/>
            <a:ext cx="5099268" cy="1569660"/>
            <a:chOff x="976399" y="1029786"/>
            <a:chExt cx="5099268" cy="1569660"/>
          </a:xfrm>
        </p:grpSpPr>
        <p:pic>
          <p:nvPicPr>
            <p:cNvPr descr="ajuster la conception de l'icône créative 15456496 Art vectoriel chez  Vecteezy" id="153" name="Google Shape;153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76399" y="1152972"/>
              <a:ext cx="1408933" cy="10325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" name="Google Shape;154;p3"/>
            <p:cNvSpPr txBox="1"/>
            <p:nvPr/>
          </p:nvSpPr>
          <p:spPr>
            <a:xfrm>
              <a:off x="2283733" y="1029786"/>
              <a:ext cx="3791934" cy="15696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4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Avec l’option </a:t>
              </a:r>
              <a:r>
                <a:rPr b="1" lang="fr-FR" sz="2400" u="sng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Renfort</a:t>
              </a:r>
              <a:r>
                <a:rPr b="1" lang="fr-FR" sz="24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, Cover Santé Sérénité, vous donne la possibilité de renforcer toutes vos garanties</a:t>
              </a:r>
              <a:endParaRPr/>
            </a:p>
          </p:txBody>
        </p:sp>
      </p:grpSp>
      <p:sp>
        <p:nvSpPr>
          <p:cNvPr id="155" name="Google Shape;155;p3"/>
          <p:cNvSpPr txBox="1"/>
          <p:nvPr/>
        </p:nvSpPr>
        <p:spPr>
          <a:xfrm>
            <a:off x="1534126" y="5429514"/>
            <a:ext cx="4860512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161615"/>
              </a:buClr>
              <a:buSzPts val="2000"/>
              <a:buFont typeface="Noto Sans Symbols"/>
              <a:buChar char="▪"/>
            </a:pPr>
            <a:r>
              <a:rPr b="1" lang="fr-FR" sz="20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rPr>
              <a:t>Gagnez jusqu’à:</a:t>
            </a:r>
            <a:endParaRPr/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1" sz="2000">
              <a:solidFill>
                <a:srgbClr val="16161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rPr>
              <a:t>🡪 15% sur l’hospitalisation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rPr>
              <a:t>🡪 25% sur les soins courants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rPr>
              <a:t>🡪 50 € sur l’optique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61615"/>
              </a:buClr>
              <a:buSzPts val="2000"/>
              <a:buFont typeface="Noto Sans Symbols"/>
              <a:buChar char="🡪"/>
            </a:pPr>
            <a:r>
              <a:rPr b="1" lang="fr-FR" sz="20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rPr>
              <a:t>50% sur le dentaire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61615"/>
              </a:buClr>
              <a:buSzPts val="2000"/>
              <a:buFont typeface="Noto Sans Symbols"/>
              <a:buChar char="🡪"/>
            </a:pPr>
            <a:r>
              <a:rPr b="1" lang="fr-FR" sz="20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rPr>
              <a:t>100% sur les aides auditives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6161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6" name="Google Shape;156;p3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57" name="Google Shape;157;p3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158" name="Google Shape;158;p3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Cover Santé Sérénité    by                                 assuré par                                 </a:t>
                </a:r>
                <a:endParaRPr/>
              </a:p>
            </p:txBody>
          </p:sp>
          <p:pic>
            <p:nvPicPr>
              <p:cNvPr descr="Coverity | LinkedIn" id="159" name="Google Shape;159;p3">
                <a:hlinkClick r:id="rId4"/>
              </p:cNvPr>
              <p:cNvPicPr preferRelativeResize="0"/>
              <p:nvPr/>
            </p:nvPicPr>
            <p:blipFill rotWithShape="1">
              <a:blip r:embed="rId5">
                <a:alphaModFix/>
              </a:blip>
              <a:srcRect b="28501" l="0" r="0" t="33000"/>
              <a:stretch/>
            </p:blipFill>
            <p:spPr>
              <a:xfrm>
                <a:off x="3123790" y="186071"/>
                <a:ext cx="1017738" cy="43597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60" name="Google Shape;160;p3"/>
            <p:cNvPicPr preferRelativeResize="0"/>
            <p:nvPr/>
          </p:nvPicPr>
          <p:blipFill rotWithShape="1">
            <a:blip r:embed="rId6">
              <a:alphaModFix/>
            </a:blip>
            <a:srcRect b="27349" l="0" r="0" t="20248"/>
            <a:stretch/>
          </p:blipFill>
          <p:spPr>
            <a:xfrm>
              <a:off x="5600794" y="153274"/>
              <a:ext cx="968156" cy="49999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165" name="Google Shape;16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6" name="Google Shape;166;p4"/>
          <p:cNvGrpSpPr/>
          <p:nvPr/>
        </p:nvGrpSpPr>
        <p:grpSpPr>
          <a:xfrm>
            <a:off x="6762" y="2289760"/>
            <a:ext cx="6653978" cy="1600438"/>
            <a:chOff x="343724" y="2264276"/>
            <a:chExt cx="6464611" cy="1600438"/>
          </a:xfrm>
        </p:grpSpPr>
        <p:pic>
          <p:nvPicPr>
            <p:cNvPr descr="Feingeist - Lunette Pour Les Ecran - Free Transparent PNG Clipart Images  Download" id="167" name="Google Shape;167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43724" y="2264276"/>
              <a:ext cx="1272560" cy="57037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" name="Google Shape;168;p4"/>
            <p:cNvSpPr txBox="1"/>
            <p:nvPr/>
          </p:nvSpPr>
          <p:spPr>
            <a:xfrm>
              <a:off x="1382902" y="2264276"/>
              <a:ext cx="5425433" cy="16004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Le réseau optique de Itélis vous garantie: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</a:t>
              </a: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accès  à 3000 opticiens partenaires</a:t>
              </a:r>
              <a:endParaRPr b="0" i="0"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tarifs avantageux : jusqu’à – 40 % sur les verres; – 15% sur les solaires de grandes marques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une garantie casse sans franchise durant deux années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Une garantie d’adaptation de 2 mois sur les verres</a:t>
              </a:r>
              <a:endParaRPr b="0" i="0"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accès à 40 centres de chirurgie réfractive partenaires</a:t>
              </a:r>
              <a:endParaRPr b="0" i="0"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9" name="Google Shape;169;p4"/>
          <p:cNvGrpSpPr/>
          <p:nvPr/>
        </p:nvGrpSpPr>
        <p:grpSpPr>
          <a:xfrm>
            <a:off x="1308045" y="4338102"/>
            <a:ext cx="5409934" cy="1169551"/>
            <a:chOff x="1730184" y="4376845"/>
            <a:chExt cx="4992359" cy="1169551"/>
          </a:xfrm>
        </p:grpSpPr>
        <p:pic>
          <p:nvPicPr>
            <p:cNvPr descr="Icône D'oreille Pour Vos Sites De Conception Et Projets PNG , Audio, Oreille,  Écoutez Licône PNG et vecteur pour téléchargement gratuit" id="170" name="Google Shape;170;p4"/>
            <p:cNvPicPr preferRelativeResize="0"/>
            <p:nvPr/>
          </p:nvPicPr>
          <p:blipFill rotWithShape="1">
            <a:blip r:embed="rId5">
              <a:alphaModFix/>
            </a:blip>
            <a:srcRect b="18906" l="27976" r="29441" t="19011"/>
            <a:stretch/>
          </p:blipFill>
          <p:spPr>
            <a:xfrm>
              <a:off x="1730184" y="4471524"/>
              <a:ext cx="445059" cy="648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1" name="Google Shape;171;p4"/>
            <p:cNvSpPr txBox="1"/>
            <p:nvPr/>
          </p:nvSpPr>
          <p:spPr>
            <a:xfrm>
              <a:off x="2175244" y="4376845"/>
              <a:ext cx="4547299" cy="11695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Le réseau Audio de Itélis vous garantie: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tarifs avantageux : jusqu’à – 15% sur le prix du marché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-15% sur les accessoires, -10% sur les piles</a:t>
              </a:r>
              <a:endParaRPr b="0" i="0"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ne garantie « Satisfait ou échangé »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Une garantie de 4ans, en cas de casse, panne ou vol</a:t>
              </a:r>
              <a:endParaRPr/>
            </a:p>
          </p:txBody>
        </p:sp>
      </p:grpSp>
      <p:grpSp>
        <p:nvGrpSpPr>
          <p:cNvPr id="172" name="Google Shape;172;p4"/>
          <p:cNvGrpSpPr/>
          <p:nvPr/>
        </p:nvGrpSpPr>
        <p:grpSpPr>
          <a:xfrm>
            <a:off x="232858" y="5786457"/>
            <a:ext cx="5653180" cy="1169551"/>
            <a:chOff x="521694" y="6041286"/>
            <a:chExt cx="5653180" cy="1169551"/>
          </a:xfrm>
        </p:grpSpPr>
        <p:pic>
          <p:nvPicPr>
            <p:cNvPr descr="Bouton Logo Les Dents - Images vectorielles gratuites sur Pixabay - Pixabay" id="173" name="Google Shape;173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21694" y="6128182"/>
              <a:ext cx="665284" cy="6652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" name="Google Shape;174;p4"/>
            <p:cNvSpPr txBox="1"/>
            <p:nvPr/>
          </p:nvSpPr>
          <p:spPr>
            <a:xfrm>
              <a:off x="1144276" y="6041286"/>
              <a:ext cx="5030598" cy="11695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Le partenariat Dentaire de Itélis vous garantie: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L</a:t>
              </a: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’accès à 2500 chirurgiens dentistes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jusqu’à moins </a:t>
              </a: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 % par rapport aux prix habituellement pratiqué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Jusqu’à 25% de remise sur les traitements implantaires</a:t>
              </a:r>
              <a:endParaRPr b="0" i="0"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5" name="Google Shape;175;p4"/>
          <p:cNvGrpSpPr/>
          <p:nvPr/>
        </p:nvGrpSpPr>
        <p:grpSpPr>
          <a:xfrm>
            <a:off x="1324444" y="7315479"/>
            <a:ext cx="5526792" cy="1600438"/>
            <a:chOff x="1261356" y="7832744"/>
            <a:chExt cx="5406144" cy="1600438"/>
          </a:xfrm>
        </p:grpSpPr>
        <p:pic>
          <p:nvPicPr>
            <p:cNvPr descr="Centre d'ostéopathie - Roxane Gervais St-Amour D.O." id="176" name="Google Shape;176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261356" y="7910070"/>
              <a:ext cx="719680" cy="7228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" name="Google Shape;177;p4"/>
            <p:cNvSpPr txBox="1"/>
            <p:nvPr/>
          </p:nvSpPr>
          <p:spPr>
            <a:xfrm>
              <a:off x="1739850" y="7832744"/>
              <a:ext cx="4927650" cy="16004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Le réseau Ostéopathie de Itélis vous garantie: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accès à un réseau de 300 chiropracteurs et ostéopathes partenaires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accès à un réseau de 300 psychologues, en cabinet ou en téléconsultation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accès à un réseau de 200 diététiciens en téléconsultation sur la plateforme « Diet en Visio »</a:t>
              </a:r>
              <a:endParaRPr/>
            </a:p>
          </p:txBody>
        </p:sp>
      </p:grpSp>
      <p:grpSp>
        <p:nvGrpSpPr>
          <p:cNvPr id="178" name="Google Shape;178;p4"/>
          <p:cNvGrpSpPr/>
          <p:nvPr/>
        </p:nvGrpSpPr>
        <p:grpSpPr>
          <a:xfrm>
            <a:off x="621661" y="990082"/>
            <a:ext cx="5601154" cy="954107"/>
            <a:chOff x="628423" y="964598"/>
            <a:chExt cx="5601154" cy="954107"/>
          </a:xfrm>
        </p:grpSpPr>
        <p:sp>
          <p:nvSpPr>
            <p:cNvPr id="179" name="Google Shape;179;p4"/>
            <p:cNvSpPr txBox="1"/>
            <p:nvPr/>
          </p:nvSpPr>
          <p:spPr>
            <a:xfrm>
              <a:off x="2049462" y="964598"/>
              <a:ext cx="4180115" cy="954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8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Pourquoi passer par le réseau de soin Itélis ?</a:t>
              </a:r>
              <a:endParaRPr/>
            </a:p>
          </p:txBody>
        </p:sp>
        <p:pic>
          <p:nvPicPr>
            <p:cNvPr id="180" name="Google Shape;180;p4">
              <a:hlinkClick r:id="rId7"/>
            </p:cNvPr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628423" y="1051688"/>
              <a:ext cx="1726160" cy="72759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1" name="Google Shape;181;p4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82" name="Google Shape;182;p4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183" name="Google Shape;183;p4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Cover Santé Sérénité    by                                 assuré par                                 </a:t>
                </a:r>
                <a:endParaRPr/>
              </a:p>
            </p:txBody>
          </p:sp>
          <p:pic>
            <p:nvPicPr>
              <p:cNvPr descr="Coverity | LinkedIn" id="184" name="Google Shape;184;p4">
                <a:hlinkClick r:id="rId9"/>
              </p:cNvPr>
              <p:cNvPicPr preferRelativeResize="0"/>
              <p:nvPr/>
            </p:nvPicPr>
            <p:blipFill rotWithShape="1">
              <a:blip r:embed="rId10">
                <a:alphaModFix/>
              </a:blip>
              <a:srcRect b="28501" l="0" r="0" t="33000"/>
              <a:stretch/>
            </p:blipFill>
            <p:spPr>
              <a:xfrm>
                <a:off x="3123790" y="186071"/>
                <a:ext cx="1017738" cy="43597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85" name="Google Shape;185;p4"/>
            <p:cNvPicPr preferRelativeResize="0"/>
            <p:nvPr/>
          </p:nvPicPr>
          <p:blipFill rotWithShape="1">
            <a:blip r:embed="rId11">
              <a:alphaModFix/>
            </a:blip>
            <a:srcRect b="27349" l="0" r="0" t="20248"/>
            <a:stretch/>
          </p:blipFill>
          <p:spPr>
            <a:xfrm>
              <a:off x="5600794" y="153274"/>
              <a:ext cx="968156" cy="49999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190" name="Google Shape;19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5"/>
          <p:cNvSpPr txBox="1"/>
          <p:nvPr/>
        </p:nvSpPr>
        <p:spPr>
          <a:xfrm>
            <a:off x="1771536" y="1397776"/>
            <a:ext cx="468448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Pourquoi faire appel à l’assistance SMATIS ?</a:t>
            </a:r>
            <a:endParaRPr/>
          </a:p>
        </p:txBody>
      </p:sp>
      <p:pic>
        <p:nvPicPr>
          <p:cNvPr id="192" name="Google Shape;19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5696" y="1257062"/>
            <a:ext cx="1110922" cy="109482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3" name="Google Shape;193;p5"/>
          <p:cNvGrpSpPr/>
          <p:nvPr/>
        </p:nvGrpSpPr>
        <p:grpSpPr>
          <a:xfrm>
            <a:off x="401977" y="3027575"/>
            <a:ext cx="6020613" cy="811475"/>
            <a:chOff x="400050" y="2786464"/>
            <a:chExt cx="6020613" cy="811475"/>
          </a:xfrm>
        </p:grpSpPr>
        <p:sp>
          <p:nvSpPr>
            <p:cNvPr id="194" name="Google Shape;194;p5"/>
            <p:cNvSpPr txBox="1"/>
            <p:nvPr/>
          </p:nvSpPr>
          <p:spPr>
            <a:xfrm>
              <a:off x="987223" y="2897890"/>
              <a:ext cx="543344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 l’aide à domicile: (ménage, repas, vaisselle, course à proximité</a:t>
              </a:r>
              <a:endParaRPr/>
            </a:p>
          </p:txBody>
        </p:sp>
        <p:pic>
          <p:nvPicPr>
            <p:cNvPr id="195" name="Google Shape;195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00050" y="2786464"/>
              <a:ext cx="591075" cy="8114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6" name="Google Shape;196;p5"/>
          <p:cNvGrpSpPr/>
          <p:nvPr/>
        </p:nvGrpSpPr>
        <p:grpSpPr>
          <a:xfrm>
            <a:off x="1113779" y="3996002"/>
            <a:ext cx="5639929" cy="662278"/>
            <a:chOff x="222327" y="3957748"/>
            <a:chExt cx="6053947" cy="662278"/>
          </a:xfrm>
        </p:grpSpPr>
        <p:sp>
          <p:nvSpPr>
            <p:cNvPr id="197" name="Google Shape;197;p5"/>
            <p:cNvSpPr txBox="1"/>
            <p:nvPr/>
          </p:nvSpPr>
          <p:spPr>
            <a:xfrm>
              <a:off x="943701" y="4097900"/>
              <a:ext cx="533257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Livraison des repas</a:t>
              </a:r>
              <a:endParaRPr b="0" i="0"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98" name="Google Shape;198;p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22327" y="3957748"/>
              <a:ext cx="768798" cy="66227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9" name="Google Shape;199;p5"/>
          <p:cNvGrpSpPr/>
          <p:nvPr/>
        </p:nvGrpSpPr>
        <p:grpSpPr>
          <a:xfrm>
            <a:off x="401977" y="5031805"/>
            <a:ext cx="6198819" cy="733785"/>
            <a:chOff x="222327" y="5188381"/>
            <a:chExt cx="6198819" cy="733785"/>
          </a:xfrm>
        </p:grpSpPr>
        <p:pic>
          <p:nvPicPr>
            <p:cNvPr id="200" name="Google Shape;200;p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22327" y="5188381"/>
              <a:ext cx="836413" cy="7337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1" name="Google Shape;201;p5"/>
            <p:cNvSpPr txBox="1"/>
            <p:nvPr/>
          </p:nvSpPr>
          <p:spPr>
            <a:xfrm>
              <a:off x="1088573" y="5248670"/>
              <a:ext cx="5332573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La prise en charge l’animal chez l’adhérant, par un pet Sitter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 (Visite, promenade, garde, …)</a:t>
              </a:r>
              <a:endParaRPr/>
            </a:p>
          </p:txBody>
        </p:sp>
      </p:grpSp>
      <p:grpSp>
        <p:nvGrpSpPr>
          <p:cNvPr id="202" name="Google Shape;202;p5"/>
          <p:cNvGrpSpPr/>
          <p:nvPr/>
        </p:nvGrpSpPr>
        <p:grpSpPr>
          <a:xfrm>
            <a:off x="1268224" y="6301727"/>
            <a:ext cx="5451297" cy="762965"/>
            <a:chOff x="319683" y="6589531"/>
            <a:chExt cx="5980735" cy="762965"/>
          </a:xfrm>
        </p:grpSpPr>
        <p:pic>
          <p:nvPicPr>
            <p:cNvPr id="203" name="Google Shape;203;p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19683" y="6589531"/>
              <a:ext cx="593986" cy="7629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4" name="Google Shape;204;p5"/>
            <p:cNvSpPr txBox="1"/>
            <p:nvPr/>
          </p:nvSpPr>
          <p:spPr>
            <a:xfrm>
              <a:off x="967845" y="6709403"/>
              <a:ext cx="5332573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Prise en charge des enfants: (déplacement d’un proche, transfert, garde, conduite à l’école, </a:t>
              </a:r>
              <a:endParaRPr/>
            </a:p>
          </p:txBody>
        </p:sp>
      </p:grpSp>
      <p:grpSp>
        <p:nvGrpSpPr>
          <p:cNvPr id="205" name="Google Shape;205;p5"/>
          <p:cNvGrpSpPr/>
          <p:nvPr/>
        </p:nvGrpSpPr>
        <p:grpSpPr>
          <a:xfrm>
            <a:off x="534468" y="7600829"/>
            <a:ext cx="5625681" cy="698501"/>
            <a:chOff x="252596" y="7749113"/>
            <a:chExt cx="5625681" cy="698501"/>
          </a:xfrm>
        </p:grpSpPr>
        <p:pic>
          <p:nvPicPr>
            <p:cNvPr id="206" name="Google Shape;206;p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52596" y="7749113"/>
              <a:ext cx="765169" cy="698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" name="Google Shape;207;p5"/>
            <p:cNvSpPr txBox="1"/>
            <p:nvPr/>
          </p:nvSpPr>
          <p:spPr>
            <a:xfrm>
              <a:off x="1017765" y="7903002"/>
              <a:ext cx="486051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soutien pédagogique pour les enfants immobilisés</a:t>
              </a:r>
              <a:endParaRPr/>
            </a:p>
          </p:txBody>
        </p:sp>
      </p:grpSp>
      <p:grpSp>
        <p:nvGrpSpPr>
          <p:cNvPr id="208" name="Google Shape;208;p5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209" name="Google Shape;209;p5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210" name="Google Shape;210;p5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Cover Santé Sérénité    by                                 assuré par                                 </a:t>
                </a:r>
                <a:endParaRPr/>
              </a:p>
            </p:txBody>
          </p:sp>
          <p:pic>
            <p:nvPicPr>
              <p:cNvPr descr="Coverity | LinkedIn" id="211" name="Google Shape;211;p5">
                <a:hlinkClick r:id="rId10"/>
              </p:cNvPr>
              <p:cNvPicPr preferRelativeResize="0"/>
              <p:nvPr/>
            </p:nvPicPr>
            <p:blipFill rotWithShape="1">
              <a:blip r:embed="rId11">
                <a:alphaModFix/>
              </a:blip>
              <a:srcRect b="28501" l="0" r="0" t="33000"/>
              <a:stretch/>
            </p:blipFill>
            <p:spPr>
              <a:xfrm>
                <a:off x="3123790" y="186071"/>
                <a:ext cx="1017738" cy="43597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12" name="Google Shape;212;p5"/>
            <p:cNvPicPr preferRelativeResize="0"/>
            <p:nvPr/>
          </p:nvPicPr>
          <p:blipFill rotWithShape="1">
            <a:blip r:embed="rId4">
              <a:alphaModFix/>
            </a:blip>
            <a:srcRect b="27349" l="0" r="0" t="20248"/>
            <a:stretch/>
          </p:blipFill>
          <p:spPr>
            <a:xfrm>
              <a:off x="5600794" y="153274"/>
              <a:ext cx="968156" cy="49999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217" name="Google Shape;21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8" name="Google Shape;218;p6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219" name="Google Shape;219;p6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220" name="Google Shape;220;p6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Cover Santé Sérénité    by                                 assuré par                                 </a:t>
                </a:r>
                <a:endParaRPr/>
              </a:p>
            </p:txBody>
          </p:sp>
          <p:pic>
            <p:nvPicPr>
              <p:cNvPr descr="Coverity | LinkedIn" id="221" name="Google Shape;221;p6">
                <a:hlinkClick r:id="rId4"/>
              </p:cNvPr>
              <p:cNvPicPr preferRelativeResize="0"/>
              <p:nvPr/>
            </p:nvPicPr>
            <p:blipFill rotWithShape="1">
              <a:blip r:embed="rId5">
                <a:alphaModFix/>
              </a:blip>
              <a:srcRect b="28501" l="0" r="0" t="33000"/>
              <a:stretch/>
            </p:blipFill>
            <p:spPr>
              <a:xfrm>
                <a:off x="3123790" y="186071"/>
                <a:ext cx="1017738" cy="43597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22" name="Google Shape;222;p6"/>
            <p:cNvPicPr preferRelativeResize="0"/>
            <p:nvPr/>
          </p:nvPicPr>
          <p:blipFill rotWithShape="1">
            <a:blip r:embed="rId6">
              <a:alphaModFix/>
            </a:blip>
            <a:srcRect b="27349" l="0" r="0" t="20248"/>
            <a:stretch/>
          </p:blipFill>
          <p:spPr>
            <a:xfrm>
              <a:off x="5600794" y="153274"/>
              <a:ext cx="968156" cy="49999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23" name="Google Shape;223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54037" y="1360487"/>
            <a:ext cx="1495425" cy="149542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6"/>
          <p:cNvSpPr txBox="1"/>
          <p:nvPr/>
        </p:nvSpPr>
        <p:spPr>
          <a:xfrm>
            <a:off x="1971354" y="1379106"/>
            <a:ext cx="468448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Pourquoi faire appel à La protection juridique Juridica ?</a:t>
            </a:r>
            <a:endParaRPr/>
          </a:p>
        </p:txBody>
      </p:sp>
      <p:sp>
        <p:nvSpPr>
          <p:cNvPr id="225" name="Google Shape;225;p6"/>
          <p:cNvSpPr txBox="1"/>
          <p:nvPr/>
        </p:nvSpPr>
        <p:spPr>
          <a:xfrm>
            <a:off x="657829" y="3058414"/>
            <a:ext cx="571849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cas de litige ou de différend vous opposant à un tiers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 résultant d’un accident médical susceptible,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Juridica  met à votre disposition gratuitement:</a:t>
            </a:r>
            <a:endParaRPr/>
          </a:p>
        </p:txBody>
      </p:sp>
      <p:grpSp>
        <p:nvGrpSpPr>
          <p:cNvPr id="226" name="Google Shape;226;p6"/>
          <p:cNvGrpSpPr/>
          <p:nvPr/>
        </p:nvGrpSpPr>
        <p:grpSpPr>
          <a:xfrm>
            <a:off x="265567" y="4414886"/>
            <a:ext cx="5999299" cy="1253076"/>
            <a:chOff x="282356" y="3892553"/>
            <a:chExt cx="5999299" cy="1253076"/>
          </a:xfrm>
        </p:grpSpPr>
        <p:sp>
          <p:nvSpPr>
            <p:cNvPr id="227" name="Google Shape;227;p6"/>
            <p:cNvSpPr txBox="1"/>
            <p:nvPr/>
          </p:nvSpPr>
          <p:spPr>
            <a:xfrm>
              <a:off x="1817665" y="3976078"/>
              <a:ext cx="4463990" cy="11695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 service d’Assistance Juridique par téléphone</a:t>
              </a:r>
              <a:r>
                <a:rPr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qui répond aux questions </a:t>
              </a:r>
              <a:r>
                <a:rPr b="1"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d’ordre juridique </a:t>
              </a:r>
              <a:r>
                <a:rPr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que vous vous </a:t>
              </a:r>
              <a:r>
                <a:rPr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posez, vous informe sur vos droits, vous apporte une aide </a:t>
              </a:r>
              <a:r>
                <a:rPr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afin de prendre une décision et de trouver une solution à vos problèmes, 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8" name="Google Shape;228;p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82356" y="3892553"/>
              <a:ext cx="1535008" cy="1213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9" name="Google Shape;229;p6"/>
          <p:cNvGrpSpPr/>
          <p:nvPr/>
        </p:nvGrpSpPr>
        <p:grpSpPr>
          <a:xfrm>
            <a:off x="1228304" y="6323131"/>
            <a:ext cx="5242236" cy="923330"/>
            <a:chOff x="1295893" y="5584357"/>
            <a:chExt cx="5242236" cy="923330"/>
          </a:xfrm>
        </p:grpSpPr>
        <p:sp>
          <p:nvSpPr>
            <p:cNvPr id="230" name="Google Shape;230;p6"/>
            <p:cNvSpPr txBox="1"/>
            <p:nvPr/>
          </p:nvSpPr>
          <p:spPr>
            <a:xfrm>
              <a:off x="2654300" y="5640155"/>
              <a:ext cx="3883829" cy="738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 service d’Assistance Juridique</a:t>
              </a:r>
              <a:r>
                <a:rPr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sur rendez-vous 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lorsqu’un examen particulier de votre situation est nécessaire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31" name="Google Shape;231;p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295893" y="5584357"/>
              <a:ext cx="1358407" cy="92333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2" name="Google Shape;232;p6"/>
          <p:cNvGrpSpPr/>
          <p:nvPr/>
        </p:nvGrpSpPr>
        <p:grpSpPr>
          <a:xfrm>
            <a:off x="323016" y="7901631"/>
            <a:ext cx="5815469" cy="954107"/>
            <a:chOff x="352505" y="7329255"/>
            <a:chExt cx="5815469" cy="954107"/>
          </a:xfrm>
        </p:grpSpPr>
        <p:sp>
          <p:nvSpPr>
            <p:cNvPr id="233" name="Google Shape;233;p6"/>
            <p:cNvSpPr txBox="1"/>
            <p:nvPr/>
          </p:nvSpPr>
          <p:spPr>
            <a:xfrm>
              <a:off x="1830064" y="7329255"/>
              <a:ext cx="4337910" cy="9531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 service de gestion des sinistres </a:t>
              </a:r>
              <a:r>
                <a:rPr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qui prend les mesures utiles afin de faire valoir vos droits à </a:t>
              </a: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l’amiable </a:t>
              </a:r>
              <a:r>
                <a:rPr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et, au besoin, vous donne les moyens d’en poursuivre l’exercice en justice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34" name="Google Shape;234;p6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52505" y="7458293"/>
              <a:ext cx="1477559" cy="82506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239" name="Google Shape;23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00% Santé : des soins pour tous, 100% pris en charge" id="240" name="Google Shape;240;p7"/>
          <p:cNvPicPr preferRelativeResize="0"/>
          <p:nvPr/>
        </p:nvPicPr>
        <p:blipFill rotWithShape="1">
          <a:blip r:embed="rId4">
            <a:alphaModFix/>
          </a:blip>
          <a:srcRect b="13073" l="12590" r="12611" t="9007"/>
          <a:stretch/>
        </p:blipFill>
        <p:spPr>
          <a:xfrm>
            <a:off x="2566913" y="1052692"/>
            <a:ext cx="1489221" cy="1060948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7"/>
          <p:cNvSpPr txBox="1"/>
          <p:nvPr/>
        </p:nvSpPr>
        <p:spPr>
          <a:xfrm>
            <a:off x="468231" y="2476003"/>
            <a:ext cx="6078619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100% Santé vous permet d’accéder à une offre sans reste à charge sur une sélection d’équipements en dentaire, optique et pour les aides auditives. Les paniers 100% Santé seront pris en charge intégralement par la Sécurité Sociale et la complémentaire santé.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vous ne souhaitez pas bénéficier des équipements compris dans ces paniers, les remboursements se feront selon le niveau de garanties que vous avez choisi.</a:t>
            </a:r>
            <a:endParaRPr/>
          </a:p>
        </p:txBody>
      </p:sp>
      <p:sp>
        <p:nvSpPr>
          <p:cNvPr id="242" name="Google Shape;242;p7"/>
          <p:cNvSpPr txBox="1"/>
          <p:nvPr/>
        </p:nvSpPr>
        <p:spPr>
          <a:xfrm>
            <a:off x="196387" y="4506949"/>
            <a:ext cx="388067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QU’EST-CE QUI CHANGE EN PRATIQUE ?</a:t>
            </a:r>
            <a:endParaRPr/>
          </a:p>
        </p:txBody>
      </p:sp>
      <p:pic>
        <p:nvPicPr>
          <p:cNvPr id="243" name="Google Shape;243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8231" y="5368177"/>
            <a:ext cx="2158618" cy="1831149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7"/>
          <p:cNvSpPr txBox="1"/>
          <p:nvPr/>
        </p:nvSpPr>
        <p:spPr>
          <a:xfrm>
            <a:off x="3444875" y="4969962"/>
            <a:ext cx="2460289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professionnel de santé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proposera obligatoirement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2 OFFRES</a:t>
            </a:r>
            <a:endParaRPr/>
          </a:p>
        </p:txBody>
      </p:sp>
      <p:sp>
        <p:nvSpPr>
          <p:cNvPr id="245" name="Google Shape;245;p7"/>
          <p:cNvSpPr txBox="1"/>
          <p:nvPr/>
        </p:nvSpPr>
        <p:spPr>
          <a:xfrm>
            <a:off x="2578219" y="6211555"/>
            <a:ext cx="176005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 Devis sans Reste à charge</a:t>
            </a:r>
            <a:endParaRPr/>
          </a:p>
        </p:txBody>
      </p:sp>
      <p:sp>
        <p:nvSpPr>
          <p:cNvPr id="246" name="Google Shape;246;p7"/>
          <p:cNvSpPr txBox="1"/>
          <p:nvPr/>
        </p:nvSpPr>
        <p:spPr>
          <a:xfrm>
            <a:off x="4829920" y="6208601"/>
            <a:ext cx="202808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 Devis « Classique »</a:t>
            </a:r>
            <a:endParaRPr/>
          </a:p>
        </p:txBody>
      </p:sp>
      <p:sp>
        <p:nvSpPr>
          <p:cNvPr id="247" name="Google Shape;247;p7"/>
          <p:cNvSpPr txBox="1"/>
          <p:nvPr/>
        </p:nvSpPr>
        <p:spPr>
          <a:xfrm>
            <a:off x="320433" y="7864329"/>
            <a:ext cx="388067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Mais aussi:</a:t>
            </a:r>
            <a:endParaRPr/>
          </a:p>
        </p:txBody>
      </p:sp>
      <p:cxnSp>
        <p:nvCxnSpPr>
          <p:cNvPr id="248" name="Google Shape;248;p7"/>
          <p:cNvCxnSpPr/>
          <p:nvPr/>
        </p:nvCxnSpPr>
        <p:spPr>
          <a:xfrm>
            <a:off x="4760070" y="5831736"/>
            <a:ext cx="520276" cy="35051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49" name="Google Shape;249;p7"/>
          <p:cNvCxnSpPr/>
          <p:nvPr/>
        </p:nvCxnSpPr>
        <p:spPr>
          <a:xfrm flipH="1">
            <a:off x="4077063" y="5831736"/>
            <a:ext cx="433750" cy="36089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50" name="Google Shape;250;p7"/>
          <p:cNvSpPr txBox="1"/>
          <p:nvPr/>
        </p:nvSpPr>
        <p:spPr>
          <a:xfrm>
            <a:off x="2687429" y="6842131"/>
            <a:ext cx="1513680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Soin ou équipement entrant dans 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panier 100% Santé</a:t>
            </a:r>
            <a:endParaRPr/>
          </a:p>
        </p:txBody>
      </p:sp>
      <p:sp>
        <p:nvSpPr>
          <p:cNvPr id="251" name="Google Shape;251;p7"/>
          <p:cNvSpPr txBox="1"/>
          <p:nvPr/>
        </p:nvSpPr>
        <p:spPr>
          <a:xfrm>
            <a:off x="4500683" y="6854932"/>
            <a:ext cx="2385892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Panier à tarif libre et remboursé par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l’assurance complémentaire dans les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conditions prévues par le contrat</a:t>
            </a:r>
            <a:endParaRPr/>
          </a:p>
        </p:txBody>
      </p:sp>
      <p:sp>
        <p:nvSpPr>
          <p:cNvPr id="252" name="Google Shape;252;p7"/>
          <p:cNvSpPr txBox="1"/>
          <p:nvPr/>
        </p:nvSpPr>
        <p:spPr>
          <a:xfrm>
            <a:off x="330200" y="8327508"/>
            <a:ext cx="6556375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Fixation de prix limites de vente (PLV) imposés aux professionnels de santé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Augmentation de la base de remboursement (BR) du régime obligatoire (RO) &amp; du remboursement des complémentaires santé</a:t>
            </a:r>
            <a:endParaRPr/>
          </a:p>
        </p:txBody>
      </p:sp>
      <p:grpSp>
        <p:nvGrpSpPr>
          <p:cNvPr id="253" name="Google Shape;253;p7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254" name="Google Shape;254;p7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255" name="Google Shape;255;p7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Cover Santé Sérénité    by                                 assuré par                                 </a:t>
                </a:r>
                <a:endParaRPr/>
              </a:p>
            </p:txBody>
          </p:sp>
          <p:pic>
            <p:nvPicPr>
              <p:cNvPr descr="Coverity | LinkedIn" id="256" name="Google Shape;256;p7">
                <a:hlinkClick r:id="rId6"/>
              </p:cNvPr>
              <p:cNvPicPr preferRelativeResize="0"/>
              <p:nvPr/>
            </p:nvPicPr>
            <p:blipFill rotWithShape="1">
              <a:blip r:embed="rId7">
                <a:alphaModFix/>
              </a:blip>
              <a:srcRect b="28501" l="0" r="0" t="33000"/>
              <a:stretch/>
            </p:blipFill>
            <p:spPr>
              <a:xfrm>
                <a:off x="3123790" y="186071"/>
                <a:ext cx="1017738" cy="43597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57" name="Google Shape;257;p7"/>
            <p:cNvPicPr preferRelativeResize="0"/>
            <p:nvPr/>
          </p:nvPicPr>
          <p:blipFill rotWithShape="1">
            <a:blip r:embed="rId8">
              <a:alphaModFix/>
            </a:blip>
            <a:srcRect b="27349" l="0" r="0" t="20248"/>
            <a:stretch/>
          </p:blipFill>
          <p:spPr>
            <a:xfrm>
              <a:off x="5600794" y="153274"/>
              <a:ext cx="968156" cy="49999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262" name="Google Shape;26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00% Santé : des soins pour tous, 100% pris en charge" id="263" name="Google Shape;263;p8"/>
          <p:cNvPicPr preferRelativeResize="0"/>
          <p:nvPr/>
        </p:nvPicPr>
        <p:blipFill rotWithShape="1">
          <a:blip r:embed="rId4">
            <a:alphaModFix/>
          </a:blip>
          <a:srcRect b="13073" l="12590" r="12611" t="9007"/>
          <a:stretch/>
        </p:blipFill>
        <p:spPr>
          <a:xfrm>
            <a:off x="2566913" y="980122"/>
            <a:ext cx="1489221" cy="1060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6398" y="1992003"/>
            <a:ext cx="5911752" cy="7546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2996154"/>
            <a:ext cx="1147989" cy="641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1" y="5446720"/>
            <a:ext cx="1147989" cy="637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-1" y="7991398"/>
            <a:ext cx="1138950" cy="601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8" name="Google Shape;268;p8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269" name="Google Shape;269;p8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270" name="Google Shape;270;p8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Cover Santé Sérénité    by                                 assuré par                                 </a:t>
                </a:r>
                <a:endParaRPr/>
              </a:p>
            </p:txBody>
          </p:sp>
          <p:pic>
            <p:nvPicPr>
              <p:cNvPr descr="Coverity | LinkedIn" id="271" name="Google Shape;271;p8">
                <a:hlinkClick r:id="rId9"/>
              </p:cNvPr>
              <p:cNvPicPr preferRelativeResize="0"/>
              <p:nvPr/>
            </p:nvPicPr>
            <p:blipFill rotWithShape="1">
              <a:blip r:embed="rId10">
                <a:alphaModFix/>
              </a:blip>
              <a:srcRect b="28501" l="0" r="0" t="33000"/>
              <a:stretch/>
            </p:blipFill>
            <p:spPr>
              <a:xfrm>
                <a:off x="3123790" y="186071"/>
                <a:ext cx="1017738" cy="43597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72" name="Google Shape;272;p8"/>
            <p:cNvPicPr preferRelativeResize="0"/>
            <p:nvPr/>
          </p:nvPicPr>
          <p:blipFill rotWithShape="1">
            <a:blip r:embed="rId11">
              <a:alphaModFix/>
            </a:blip>
            <a:srcRect b="27349" l="0" r="0" t="20248"/>
            <a:stretch/>
          </p:blipFill>
          <p:spPr>
            <a:xfrm>
              <a:off x="5600794" y="153274"/>
              <a:ext cx="968156" cy="49999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2018-01-12T04:36:00Z</dcterms:created>
  <dc:creator>Aurelie Racamier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1C9749A8BE764D3A8F1A97C08CF7FA8D_12</vt:lpwstr>
  </property>
  <property fmtid="{D5CDD505-2E9C-101B-9397-08002B2CF9AE}" pid="3" name="KSOProductBuildVer">
    <vt:lpwstr>1036-12.2.0.22549</vt:lpwstr>
  </property>
</Properties>
</file>