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9"/>
  </p:notesMasterIdLst>
  <p:sldIdLst>
    <p:sldId id="257" r:id="rId2"/>
    <p:sldId id="258" r:id="rId3"/>
    <p:sldId id="262" r:id="rId4"/>
    <p:sldId id="260" r:id="rId5"/>
    <p:sldId id="266" r:id="rId6"/>
    <p:sldId id="263" r:id="rId7"/>
    <p:sldId id="265" r:id="rId8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RM5g9jOzKvKatFZesqbkETYK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450" y="9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‹N°›</a:t>
            </a:fld>
            <a:endParaRPr lang="fr-FR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54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317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3456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57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9C8928F-AEE0-5D33-708D-5E49EEA3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68BA3920-341C-A830-E5D8-0D10888A4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6F751269-258A-94C6-A2BD-205BA06AD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3895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0672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31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9F93D-8255-6088-978F-25DC26943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7BFAE2-4DDA-5CEB-A9B6-7D545867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B73B4B-47A0-53CE-FB4A-AD41B31C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0C3929-B721-1FD6-6598-B242CD10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F648CC-6D73-618F-316C-4C34386E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1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D3FED-8441-4FF5-F1F0-A30EF4C4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4C529-50E2-FFE9-B0D2-5F3CE75A5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D8057-FF2B-9856-98BD-4E857A25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D5ED8A-7AED-E653-D1EF-EE8C96F2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FE8BF-FB84-E3DB-A22B-F46BE701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61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29AA2-7A23-BF3D-289E-7FF50B5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421FF2-5439-BF21-C412-685553F9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EB08C0-77FA-5722-A86A-E6D8943D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BC8CAD-E33D-AE37-E4CD-E4F3F349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741DF6-21BA-D0FF-118F-31BCAD39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46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E797-B1F8-954A-2FCD-E1936621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56F958-B869-AD5F-5DF5-54B2731DD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29B082-B806-B1EB-76D2-D157D79FD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A437EF-E1D5-4506-6A95-EB99876C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DE150-0B3E-FAC3-8835-244B419C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5A06BD-CCC0-5601-CE7D-FD57F3F4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4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ACAED-B220-DE36-4BC0-07B2E9B2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8855D4-99FC-AA15-3986-F50C040E7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9FD663-E006-C456-79A4-4DBB71A9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B4238C-0499-8F34-0E58-D0C21C11F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993611-0F7E-2147-3300-0320286B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D3B29C-0CB3-376F-C603-483F2609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84CD4-DFF9-E770-EFAD-46C12CB2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3E3E8C-DEE2-B83F-75FF-B074ED0B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91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40DC6-2906-269F-B67E-ED3941EE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B189EC-D496-3FE3-3760-9959A094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702D2E-B2BD-1DED-CF8E-7BA263E3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0F1244-A899-ACD7-B1D9-001617F9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69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0E38EE-8952-23B4-2E92-2298A4D9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CBACE9-D3DB-9337-7CDA-7B0575CF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5077C4-3BD7-EAF7-C25D-2296B058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0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74707-CCCA-1559-2F58-90891138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13183F-431C-1322-E86E-6C67A3F6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F3E38C-97FB-9E66-E268-AD578DA70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81BB4D-FA63-2DED-8349-6FFDA0AC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312810-EE84-AB7C-4A60-4B3F52D9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8157E-05A9-F6F5-6BA7-0EEBFBD3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41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B92C1-B502-80FD-B5FF-7A6FA0D6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B1D321-502B-2A13-A328-CBD7F22D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5CA632-6A78-36DD-F377-B0EB9AB9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B572ED-A03B-85BE-C65F-84B0A27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29D9F9-E70D-72E5-67B8-A80BD4F3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85CFCE-6528-3C48-47B9-06997386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9719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830739-2A53-9F08-296C-9423F03C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6F5002-EE58-0EED-A9C4-8B5FBB3CE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F764B9-47A1-26C1-28F0-93D21761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C82DA-93DC-2508-A870-F83ABA69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79AC2-833F-8B72-F3B1-D753FC73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2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3ABFD9-2C9A-F88B-0765-0D03AE3DE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A08473-EF90-F0DC-EDFA-47E205D2C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FDCA93-AB4F-96F6-DB43-3E42B2D9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3099B5-E8F3-C8AF-B427-3888071F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C7DEFF-A670-934B-2676-17D05B4A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48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29D36A-551C-2B63-2C63-7AC113F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E106FF-0729-5625-3E57-62D8BB34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BB5502-3C28-EF77-0F65-3213F96AF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2A5075-5C48-4796-C2DB-2B2B53711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8000B2-DD91-18F1-D613-34CC3694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24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#'6'!A1"/><Relationship Id="rId13" Type="http://schemas.openxmlformats.org/officeDocument/2006/relationships/image" Target="../media/image7.png"/><Relationship Id="rId18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hyperlink" Target="#'12'!A1"/><Relationship Id="rId1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hyperlink" Target="#'30'!A1"/><Relationship Id="rId10" Type="http://schemas.openxmlformats.org/officeDocument/2006/relationships/hyperlink" Target="#'3'!A1"/><Relationship Id="rId4" Type="http://schemas.openxmlformats.org/officeDocument/2006/relationships/image" Target="../media/image2.jpeg"/><Relationship Id="rId9" Type="http://schemas.openxmlformats.org/officeDocument/2006/relationships/image" Target="../media/image5.png"/><Relationship Id="rId1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9.jpeg"/><Relationship Id="rId4" Type="http://schemas.openxmlformats.org/officeDocument/2006/relationships/hyperlink" Target="#'30'!A1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#'3'!A1"/><Relationship Id="rId3" Type="http://schemas.openxmlformats.org/officeDocument/2006/relationships/image" Target="../media/image13.png"/><Relationship Id="rId7" Type="http://schemas.openxmlformats.org/officeDocument/2006/relationships/image" Target="../media/image16.jpeg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11" Type="http://schemas.openxmlformats.org/officeDocument/2006/relationships/image" Target="../media/image9.jpeg"/><Relationship Id="rId5" Type="http://schemas.microsoft.com/office/2007/relationships/hdphoto" Target="../media/hdphoto2.wdp"/><Relationship Id="rId10" Type="http://schemas.openxmlformats.org/officeDocument/2006/relationships/hyperlink" Target="#'30'!A1"/><Relationship Id="rId4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11" Type="http://schemas.openxmlformats.org/officeDocument/2006/relationships/image" Target="../media/image7.png"/><Relationship Id="rId5" Type="http://schemas.openxmlformats.org/officeDocument/2006/relationships/image" Target="../media/image9.jpeg"/><Relationship Id="rId10" Type="http://schemas.openxmlformats.org/officeDocument/2006/relationships/hyperlink" Target="#'12'!A1"/><Relationship Id="rId4" Type="http://schemas.openxmlformats.org/officeDocument/2006/relationships/hyperlink" Target="#'30'!A1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9.jpeg"/><Relationship Id="rId10" Type="http://schemas.openxmlformats.org/officeDocument/2006/relationships/image" Target="../media/image23.png"/><Relationship Id="rId4" Type="http://schemas.openxmlformats.org/officeDocument/2006/relationships/hyperlink" Target="#'30'!A1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3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#'30'!A1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8.jpeg"/><Relationship Id="rId5" Type="http://schemas.openxmlformats.org/officeDocument/2006/relationships/image" Target="../media/image26.png"/><Relationship Id="rId10" Type="http://schemas.openxmlformats.org/officeDocument/2006/relationships/image" Target="../media/image9.jpeg"/><Relationship Id="rId4" Type="http://schemas.openxmlformats.org/officeDocument/2006/relationships/image" Target="../media/image24.png"/><Relationship Id="rId9" Type="http://schemas.openxmlformats.org/officeDocument/2006/relationships/hyperlink" Target="#'30'!A1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C5A1A0-D5D0-53B1-3FC3-1CF496B243BA}"/>
              </a:ext>
            </a:extLst>
          </p:cNvPr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Aé</a:t>
            </a:r>
            <a:r>
              <a:rPr lang="fr-FR" dirty="0"/>
              <a:t>-*</a:t>
            </a:r>
          </a:p>
          <a:p>
            <a:pPr algn="ctr"/>
            <a:r>
              <a:rPr lang="fr-FR" dirty="0"/>
              <a:t>+*</a:t>
            </a:r>
          </a:p>
          <a:p>
            <a:pPr algn="ctr"/>
            <a:r>
              <a:rPr lang="fr-FR" dirty="0"/>
              <a:t>+*</a:t>
            </a:r>
          </a:p>
          <a:p>
            <a:pPr algn="ctr"/>
            <a:r>
              <a:rPr lang="fr-FR" dirty="0"/>
              <a:t>+*</a:t>
            </a:r>
          </a:p>
          <a:p>
            <a:pPr algn="ctr"/>
            <a:r>
              <a:rPr lang="fr-FR" dirty="0"/>
              <a:t>+*</a:t>
            </a:r>
          </a:p>
          <a:p>
            <a:pPr algn="ctr"/>
            <a:r>
              <a:rPr lang="fr-FR" dirty="0"/>
              <a:t>+*</a:t>
            </a:r>
          </a:p>
          <a:p>
            <a:pPr algn="ctr"/>
            <a:r>
              <a:rPr lang="fr-FR" dirty="0"/>
              <a:t>+*</a:t>
            </a:r>
          </a:p>
          <a:p>
            <a:pPr algn="ctr"/>
            <a:r>
              <a:rPr lang="fr-FR" dirty="0"/>
              <a:t>+	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89BE9C-A09E-398F-D26D-5B377BEE5F62}"/>
              </a:ext>
            </a:extLst>
          </p:cNvPr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034" name="Rectangle : coins arrondis 1033">
            <a:extLst>
              <a:ext uri="{FF2B5EF4-FFF2-40B4-BE49-F238E27FC236}">
                <a16:creationId xmlns:a16="http://schemas.microsoft.com/office/drawing/2014/main" id="{820F75DD-2243-24D9-F91B-F3FC463E36A2}"/>
              </a:ext>
            </a:extLst>
          </p:cNvPr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responsable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Avec des bonus de fidélité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5" name="Rectangle : coins arrondis 1034">
            <a:extLst>
              <a:ext uri="{FF2B5EF4-FFF2-40B4-BE49-F238E27FC236}">
                <a16:creationId xmlns:a16="http://schemas.microsoft.com/office/drawing/2014/main" id="{25A7A354-9C6E-790D-9150-6891635EC413}"/>
              </a:ext>
            </a:extLst>
          </p:cNvPr>
          <p:cNvSpPr/>
          <p:nvPr/>
        </p:nvSpPr>
        <p:spPr>
          <a:xfrm>
            <a:off x="2537786" y="285949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600" b="1" dirty="0">
                <a:solidFill>
                  <a:schemeClr val="tx1"/>
                </a:solidFill>
              </a:rPr>
              <a:t>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 Réseau de soins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</a:t>
            </a:r>
          </a:p>
          <a:p>
            <a:pPr algn="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    Des professionnels  de santé pour des    équipements de qualité à prix réduit</a:t>
            </a:r>
          </a:p>
        </p:txBody>
      </p:sp>
      <p:sp>
        <p:nvSpPr>
          <p:cNvPr id="1037" name="Rectangle : coins arrondis 1036">
            <a:extLst>
              <a:ext uri="{FF2B5EF4-FFF2-40B4-BE49-F238E27FC236}">
                <a16:creationId xmlns:a16="http://schemas.microsoft.com/office/drawing/2014/main" id="{2E2C7234-7ACB-651B-0D87-2C363492D917}"/>
              </a:ext>
            </a:extLst>
          </p:cNvPr>
          <p:cNvSpPr/>
          <p:nvPr/>
        </p:nvSpPr>
        <p:spPr>
          <a:xfrm>
            <a:off x="2594875" y="448693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>
            <a:extLst>
              <a:ext uri="{FF2B5EF4-FFF2-40B4-BE49-F238E27FC236}">
                <a16:creationId xmlns:a16="http://schemas.microsoft.com/office/drawing/2014/main" id="{6E0F4B50-B72E-3280-5CE3-3A2DC04BFD4D}"/>
              </a:ext>
            </a:extLst>
          </p:cNvPr>
          <p:cNvSpPr/>
          <p:nvPr/>
        </p:nvSpPr>
        <p:spPr>
          <a:xfrm>
            <a:off x="2369968" y="610829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>
                <a:solidFill>
                  <a:schemeClr val="tx1"/>
                </a:solidFill>
              </a:rPr>
              <a:t>                </a:t>
            </a:r>
            <a:r>
              <a:rPr lang="fr-FR" sz="1200">
                <a:solidFill>
                  <a:schemeClr val="tx1"/>
                </a:solidFill>
              </a:rPr>
              <a:t>Un </a:t>
            </a:r>
            <a:r>
              <a:rPr lang="fr-FR" sz="1200" dirty="0">
                <a:solidFill>
                  <a:schemeClr val="tx1"/>
                </a:solidFill>
              </a:rPr>
              <a:t>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>
            <a:extLst>
              <a:ext uri="{FF2B5EF4-FFF2-40B4-BE49-F238E27FC236}">
                <a16:creationId xmlns:a16="http://schemas.microsoft.com/office/drawing/2014/main" id="{1B98BC47-454E-7573-3854-004087E54ABF}"/>
              </a:ext>
            </a:extLst>
          </p:cNvPr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>
              <a:extLst>
                <a:ext uri="{FF2B5EF4-FFF2-40B4-BE49-F238E27FC236}">
                  <a16:creationId xmlns:a16="http://schemas.microsoft.com/office/drawing/2014/main" id="{FD26AE43-9742-47B6-8BDA-2D79D26DE0F8}"/>
                </a:ext>
              </a:extLst>
            </p:cNvPr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>
              <a:extLst>
                <a:ext uri="{FF2B5EF4-FFF2-40B4-BE49-F238E27FC236}">
                  <a16:creationId xmlns:a16="http://schemas.microsoft.com/office/drawing/2014/main" id="{5596F68D-AA41-DFE9-E9A2-B9194E9FAF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/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Groupe 1050">
            <a:extLst>
              <a:ext uri="{FF2B5EF4-FFF2-40B4-BE49-F238E27FC236}">
                <a16:creationId xmlns:a16="http://schemas.microsoft.com/office/drawing/2014/main" id="{19917A48-6579-23BF-68BB-3305C9CD7759}"/>
              </a:ext>
            </a:extLst>
          </p:cNvPr>
          <p:cNvGrpSpPr/>
          <p:nvPr/>
        </p:nvGrpSpPr>
        <p:grpSpPr>
          <a:xfrm>
            <a:off x="2598871" y="3077653"/>
            <a:ext cx="976837" cy="1010393"/>
            <a:chOff x="2548471" y="3049424"/>
            <a:chExt cx="976837" cy="1010393"/>
          </a:xfrm>
        </p:grpSpPr>
        <p:sp>
          <p:nvSpPr>
            <p:cNvPr id="1047" name="Ellipse 1046">
              <a:extLst>
                <a:ext uri="{FF2B5EF4-FFF2-40B4-BE49-F238E27FC236}">
                  <a16:creationId xmlns:a16="http://schemas.microsoft.com/office/drawing/2014/main" id="{C3E8B297-BFBE-B461-7C3B-64B5339A7D05}"/>
                </a:ext>
              </a:extLst>
            </p:cNvPr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3" name="Picture 14" descr="Réseaux de soins et de professionnels - Uneoreilleavertie.com">
              <a:extLst>
                <a:ext uri="{FF2B5EF4-FFF2-40B4-BE49-F238E27FC236}">
                  <a16:creationId xmlns:a16="http://schemas.microsoft.com/office/drawing/2014/main" id="{CB98C6EB-B01A-C73B-FDB4-23B060A3F0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1" t="12370" r="8264" b="17480"/>
            <a:stretch/>
          </p:blipFill>
          <p:spPr bwMode="auto">
            <a:xfrm>
              <a:off x="2693612" y="3280574"/>
              <a:ext cx="670266" cy="57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>
            <a:extLst>
              <a:ext uri="{FF2B5EF4-FFF2-40B4-BE49-F238E27FC236}">
                <a16:creationId xmlns:a16="http://schemas.microsoft.com/office/drawing/2014/main" id="{EE3E8E91-2656-D7E0-F4AE-A7310F23F8C3}"/>
              </a:ext>
            </a:extLst>
          </p:cNvPr>
          <p:cNvGrpSpPr/>
          <p:nvPr/>
        </p:nvGrpSpPr>
        <p:grpSpPr>
          <a:xfrm>
            <a:off x="2664576" y="4730330"/>
            <a:ext cx="976837" cy="1010393"/>
            <a:chOff x="2693612" y="4712978"/>
            <a:chExt cx="976837" cy="1010393"/>
          </a:xfrm>
        </p:grpSpPr>
        <p:sp>
          <p:nvSpPr>
            <p:cNvPr id="1048" name="Ellipse 1047">
              <a:extLst>
                <a:ext uri="{FF2B5EF4-FFF2-40B4-BE49-F238E27FC236}">
                  <a16:creationId xmlns:a16="http://schemas.microsoft.com/office/drawing/2014/main" id="{5EB7E7A5-A185-101D-7EF8-35F0B21685CA}"/>
                </a:ext>
              </a:extLst>
            </p:cNvPr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>
              <a:extLst>
                <a:ext uri="{FF2B5EF4-FFF2-40B4-BE49-F238E27FC236}">
                  <a16:creationId xmlns:a16="http://schemas.microsoft.com/office/drawing/2014/main" id="{5CDEE249-5D62-70AB-1349-DE31685588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/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>
            <a:extLst>
              <a:ext uri="{FF2B5EF4-FFF2-40B4-BE49-F238E27FC236}">
                <a16:creationId xmlns:a16="http://schemas.microsoft.com/office/drawing/2014/main" id="{F550A18B-95EE-2E1E-9130-47CFB6DF9D71}"/>
              </a:ext>
            </a:extLst>
          </p:cNvPr>
          <p:cNvGrpSpPr/>
          <p:nvPr/>
        </p:nvGrpSpPr>
        <p:grpSpPr>
          <a:xfrm>
            <a:off x="2450914" y="6353054"/>
            <a:ext cx="976837" cy="1010393"/>
            <a:chOff x="2566518" y="6340968"/>
            <a:chExt cx="976837" cy="1010393"/>
          </a:xfrm>
        </p:grpSpPr>
        <p:sp>
          <p:nvSpPr>
            <p:cNvPr id="1049" name="Ellipse 1048">
              <a:extLst>
                <a:ext uri="{FF2B5EF4-FFF2-40B4-BE49-F238E27FC236}">
                  <a16:creationId xmlns:a16="http://schemas.microsoft.com/office/drawing/2014/main" id="{730A0AD9-7704-2C4D-8F51-ADBAE8A79602}"/>
                </a:ext>
              </a:extLst>
            </p:cNvPr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>
              <a:extLst>
                <a:ext uri="{FF2B5EF4-FFF2-40B4-BE49-F238E27FC236}">
                  <a16:creationId xmlns:a16="http://schemas.microsoft.com/office/drawing/2014/main" id="{5AEC9FC8-7B96-4C39-B3A2-834ABE81C9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/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>
            <a:extLst>
              <a:ext uri="{FF2B5EF4-FFF2-40B4-BE49-F238E27FC236}">
                <a16:creationId xmlns:a16="http://schemas.microsoft.com/office/drawing/2014/main" id="{0F42D8DA-AD12-EFA1-5581-09AE50177610}"/>
              </a:ext>
            </a:extLst>
          </p:cNvPr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5AF282E-3905-B58E-2934-CA8B2EF3B131}"/>
              </a:ext>
            </a:extLst>
          </p:cNvPr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18 -85 ans</a:t>
            </a:r>
          </a:p>
        </p:txBody>
      </p:sp>
      <p:pic>
        <p:nvPicPr>
          <p:cNvPr id="7" name="Image 6">
            <a:hlinkClick r:id="rId8"/>
            <a:extLst>
              <a:ext uri="{FF2B5EF4-FFF2-40B4-BE49-F238E27FC236}">
                <a16:creationId xmlns:a16="http://schemas.microsoft.com/office/drawing/2014/main" id="{3D4A27B7-84FA-4457-8F57-CC8FAB8E57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0313" y="4893575"/>
            <a:ext cx="1550630" cy="630506"/>
          </a:xfrm>
          <a:prstGeom prst="rect">
            <a:avLst/>
          </a:prstGeom>
        </p:spPr>
      </p:pic>
      <p:pic>
        <p:nvPicPr>
          <p:cNvPr id="8" name="Image 7">
            <a:hlinkClick r:id="rId10"/>
            <a:extLst>
              <a:ext uri="{FF2B5EF4-FFF2-40B4-BE49-F238E27FC236}">
                <a16:creationId xmlns:a16="http://schemas.microsoft.com/office/drawing/2014/main" id="{80FF9EA5-B8E0-41B2-AEED-02A57A5D594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068" t="23731" r="7826" b="21180"/>
          <a:stretch/>
        </p:blipFill>
        <p:spPr>
          <a:xfrm>
            <a:off x="4235450" y="3233926"/>
            <a:ext cx="1264018" cy="652073"/>
          </a:xfrm>
          <a:prstGeom prst="rect">
            <a:avLst/>
          </a:prstGeom>
        </p:spPr>
      </p:pic>
      <p:pic>
        <p:nvPicPr>
          <p:cNvPr id="10" name="Image 9" descr="Mondial">
            <a:hlinkClick r:id="rId12"/>
            <a:extLst>
              <a:ext uri="{FF2B5EF4-FFF2-40B4-BE49-F238E27FC236}">
                <a16:creationId xmlns:a16="http://schemas.microsoft.com/office/drawing/2014/main" id="{5BBA1EDE-B7C0-4CB2-B5A6-1BFAEB8ED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/>
        </p:blipFill>
        <p:spPr bwMode="auto">
          <a:xfrm>
            <a:off x="4451350" y="6453917"/>
            <a:ext cx="1365344" cy="68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urem - Crunchbase Company Profile &amp; Funding">
            <a:extLst>
              <a:ext uri="{FF2B5EF4-FFF2-40B4-BE49-F238E27FC236}">
                <a16:creationId xmlns:a16="http://schemas.microsoft.com/office/drawing/2014/main" id="{8D1950AC-A1C4-BE7F-0186-5EBE4F5B0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301" y="1634576"/>
            <a:ext cx="697923" cy="69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44CD0549-02C7-5D77-61AD-25B26B7EC076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B4E015CD-F400-5ABD-30AF-C20436F3B646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7FF4382F-F447-B488-AEDB-4175D1E1A303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2" name="Image 1" descr="Coverity | LinkedIn">
                <a:hlinkClick r:id="rId15"/>
                <a:extLst>
                  <a:ext uri="{FF2B5EF4-FFF2-40B4-BE49-F238E27FC236}">
                    <a16:creationId xmlns:a16="http://schemas.microsoft.com/office/drawing/2014/main" id="{F6AABE8C-0AB1-469D-B2C0-A9F9DBE30A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9BDA8CF7-2B12-3786-D131-9044AC3604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B130C0C-B590-6D2A-403A-092101133670}"/>
              </a:ext>
            </a:extLst>
          </p:cNvPr>
          <p:cNvSpPr/>
          <p:nvPr/>
        </p:nvSpPr>
        <p:spPr>
          <a:xfrm>
            <a:off x="1867964" y="774230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>
              <a:solidFill>
                <a:schemeClr val="tx1"/>
              </a:solidFill>
            </a:endParaRPr>
          </a:p>
          <a:p>
            <a:pPr algn="r"/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Protection juridique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</a:t>
            </a:r>
          </a:p>
          <a:p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Un accompagnement en cas de litige,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Et un service de gestion </a:t>
            </a:r>
            <a:r>
              <a:rPr lang="fr-FR" sz="1200">
                <a:solidFill>
                  <a:schemeClr val="tx1"/>
                </a:solidFill>
              </a:rPr>
              <a:t>de sinistres</a:t>
            </a:r>
            <a:endParaRPr lang="fr-FR" sz="1200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5446977-9875-3AD7-0155-E2E5B86C4418}"/>
              </a:ext>
            </a:extLst>
          </p:cNvPr>
          <p:cNvGrpSpPr/>
          <p:nvPr/>
        </p:nvGrpSpPr>
        <p:grpSpPr>
          <a:xfrm>
            <a:off x="1943841" y="7997340"/>
            <a:ext cx="976837" cy="1010393"/>
            <a:chOff x="1963799" y="8142480"/>
            <a:chExt cx="976837" cy="1010393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6ED7635-9208-9A2B-C663-A987D1291686}"/>
                </a:ext>
              </a:extLst>
            </p:cNvPr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7" name="Picture 2" descr="Protection juridique">
              <a:extLst>
                <a:ext uri="{FF2B5EF4-FFF2-40B4-BE49-F238E27FC236}">
                  <a16:creationId xmlns:a16="http://schemas.microsoft.com/office/drawing/2014/main" id="{543D154F-AAA5-7AF4-2D99-87BB5CA39D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5" r="4387" b="29438"/>
            <a:stretch/>
          </p:blipFill>
          <p:spPr bwMode="auto">
            <a:xfrm>
              <a:off x="2092593" y="8359486"/>
              <a:ext cx="726806" cy="560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 descr="CFDP ASSURANCES">
            <a:extLst>
              <a:ext uri="{FF2B5EF4-FFF2-40B4-BE49-F238E27FC236}">
                <a16:creationId xmlns:a16="http://schemas.microsoft.com/office/drawing/2014/main" id="{4A0355D9-0663-011E-E2D9-FA9E1C157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113" y="8088086"/>
            <a:ext cx="779899" cy="73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84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02B7F33-65FE-131C-4919-2C329A23EB0A}"/>
              </a:ext>
            </a:extLst>
          </p:cNvPr>
          <p:cNvSpPr/>
          <p:nvPr/>
        </p:nvSpPr>
        <p:spPr>
          <a:xfrm>
            <a:off x="329746" y="2235682"/>
            <a:ext cx="6198508" cy="9880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 contrat Santé avec des garanties équilibrées et complètes au juste prix !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E162AE4-139C-BD01-2988-DE899990DAEC}"/>
              </a:ext>
            </a:extLst>
          </p:cNvPr>
          <p:cNvSpPr/>
          <p:nvPr/>
        </p:nvSpPr>
        <p:spPr>
          <a:xfrm>
            <a:off x="348343" y="3347335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411AD06-7738-5C96-7B86-AF3B1A6DA279}"/>
              </a:ext>
            </a:extLst>
          </p:cNvPr>
          <p:cNvSpPr/>
          <p:nvPr/>
        </p:nvSpPr>
        <p:spPr>
          <a:xfrm>
            <a:off x="348343" y="4171328"/>
            <a:ext cx="6198508" cy="6920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F402B8E-6734-2A19-3272-812721C6F109}"/>
              </a:ext>
            </a:extLst>
          </p:cNvPr>
          <p:cNvSpPr/>
          <p:nvPr/>
        </p:nvSpPr>
        <p:spPr>
          <a:xfrm>
            <a:off x="351970" y="5022334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bonus fidélité à partir de 12 mois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9C93BDE-EA47-7BB9-5461-311B0E551E51}"/>
              </a:ext>
            </a:extLst>
          </p:cNvPr>
          <p:cNvSpPr/>
          <p:nvPr/>
        </p:nvSpPr>
        <p:spPr>
          <a:xfrm>
            <a:off x="348343" y="6140685"/>
            <a:ext cx="6198508" cy="6920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14 professions éligibles pour le poste médecine naturelle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13EFFF2-864A-4877-4886-9A5855A88DDC}"/>
              </a:ext>
            </a:extLst>
          </p:cNvPr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E60AE9E-7261-071B-B3E5-A4F8FD7257F9}"/>
                </a:ext>
              </a:extLst>
            </p:cNvPr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</a:t>
              </a:r>
              <a:r>
                <a:rPr lang="fr-FR" sz="2800" b="1" dirty="0" err="1"/>
                <a:t>Coverity</a:t>
              </a:r>
              <a:r>
                <a:rPr lang="fr-FR" sz="2800" b="1" dirty="0"/>
                <a:t> New cover 100%Santé ?</a:t>
              </a:r>
            </a:p>
          </p:txBody>
        </p:sp>
        <p:pic>
          <p:nvPicPr>
            <p:cNvPr id="3074" name="Picture 2" descr="Bonne idée - Icônes commercialisation gratuites">
              <a:extLst>
                <a:ext uri="{FF2B5EF4-FFF2-40B4-BE49-F238E27FC236}">
                  <a16:creationId xmlns:a16="http://schemas.microsoft.com/office/drawing/2014/main" id="{C58FC8EA-8503-2CE3-1B86-5D230745A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B1C63B2-1724-1D35-05AA-173A0C278905}"/>
              </a:ext>
            </a:extLst>
          </p:cNvPr>
          <p:cNvSpPr/>
          <p:nvPr/>
        </p:nvSpPr>
        <p:spPr>
          <a:xfrm>
            <a:off x="348343" y="6964679"/>
            <a:ext cx="6198508" cy="80938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L’accès au réseau de soins </a:t>
            </a:r>
            <a:r>
              <a:rPr lang="fr-FR" b="1" dirty="0" err="1">
                <a:solidFill>
                  <a:schemeClr val="bg1"/>
                </a:solidFill>
              </a:rPr>
              <a:t>Santéclair</a:t>
            </a:r>
            <a:r>
              <a:rPr lang="fr-FR" b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</a:rPr>
              <a:t>Des soins moins onéreux et de qualité, de meilleurs remboursements, des tarifs spécialement négociés auprès de professionnels sélectionnés pour leur expertise et leurs compétences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914D48B-1535-6083-5086-2BF19F9C2A97}"/>
              </a:ext>
            </a:extLst>
          </p:cNvPr>
          <p:cNvSpPr/>
          <p:nvPr/>
        </p:nvSpPr>
        <p:spPr>
          <a:xfrm>
            <a:off x="348343" y="7882414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MONDIALE ASSISTANCE en inclusion : 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Services d’Assistance haut de gamme : téléconsultation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(5 consultations /an /bénéficiaire), services d’aide à domicile, téléassistance soutien psychologique, portail coach bienêtre, conseil santé &amp; bien-être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34F1F64-88BC-F1E9-3CBC-CAF2930E3DC2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45401C27-300F-BA07-E1B1-EC1CE01B9D80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5" name="Rectangle : coins arrondis 14">
                <a:extLst>
                  <a:ext uri="{FF2B5EF4-FFF2-40B4-BE49-F238E27FC236}">
                    <a16:creationId xmlns:a16="http://schemas.microsoft.com/office/drawing/2014/main" id="{E99D2AE9-7C11-D52A-9E59-4F8603F7D4FD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17" name="Image 16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06490F99-2CD0-D9B0-1A5A-8D433CC0E2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CECFCFEC-1325-C498-7DBD-717A40F0B4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2545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50" name="Groupe 4749">
            <a:extLst>
              <a:ext uri="{FF2B5EF4-FFF2-40B4-BE49-F238E27FC236}">
                <a16:creationId xmlns:a16="http://schemas.microsoft.com/office/drawing/2014/main" id="{F6B41AFA-A3C1-DC99-5F8C-A7F50D242A9A}"/>
              </a:ext>
            </a:extLst>
          </p:cNvPr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id="4751" name="Picture 4" descr="Feingeist - Lunette Pour Les Ecran - Free Transparent PNG Clipart Images  Download">
              <a:extLst>
                <a:ext uri="{FF2B5EF4-FFF2-40B4-BE49-F238E27FC236}">
                  <a16:creationId xmlns:a16="http://schemas.microsoft.com/office/drawing/2014/main" id="{EC045240-2841-25D2-6DBC-987599D267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24" y="2264276"/>
              <a:ext cx="1272560" cy="570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2" name="ZoneTexte 4751">
              <a:extLst>
                <a:ext uri="{FF2B5EF4-FFF2-40B4-BE49-F238E27FC236}">
                  <a16:creationId xmlns:a16="http://schemas.microsoft.com/office/drawing/2014/main" id="{F605E150-ACE1-8507-6AD7-9018A2C2A758}"/>
                </a:ext>
              </a:extLst>
            </p:cNvPr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optique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choix parmi 80 montures exclusives de la collection « Nove Design »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20 % sur les montures; – 15% sur les solaires de grandes marques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garantie casse sans franchise durant deux années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verres de grandes marques: (Essilor, Nikon, </a:t>
              </a:r>
              <a:r>
                <a:rPr lang="fr-FR" sz="1400" dirty="0" err="1">
                  <a:solidFill>
                    <a:srgbClr val="161615"/>
                  </a:solidFill>
                  <a:latin typeface="Source Sans Pro" panose="020B0503030403020204" pitchFamily="34" charset="0"/>
                </a:rPr>
                <a:t>Optiswiss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 ou Zeiss).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53" name="Groupe 4752">
            <a:extLst>
              <a:ext uri="{FF2B5EF4-FFF2-40B4-BE49-F238E27FC236}">
                <a16:creationId xmlns:a16="http://schemas.microsoft.com/office/drawing/2014/main" id="{EAC51DAE-DC33-0ECF-E34B-82B132756E35}"/>
              </a:ext>
            </a:extLst>
          </p:cNvPr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id="4754" name="Picture 2" descr="Icône D'oreille Pour Vos Sites De Conception Et Projets PNG , Audio, Oreille,  Écoutez Licône PNG et vecteur pour téléchargement gratuit">
              <a:extLst>
                <a:ext uri="{FF2B5EF4-FFF2-40B4-BE49-F238E27FC236}">
                  <a16:creationId xmlns:a16="http://schemas.microsoft.com/office/drawing/2014/main" id="{D22DC320-A3CA-F64F-79CA-055B14B73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76" t="19011" r="29441" b="18906"/>
            <a:stretch/>
          </p:blipFill>
          <p:spPr bwMode="auto">
            <a:xfrm>
              <a:off x="1730184" y="4471524"/>
              <a:ext cx="445059" cy="64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5" name="ZoneTexte 4754">
              <a:extLst>
                <a:ext uri="{FF2B5EF4-FFF2-40B4-BE49-F238E27FC236}">
                  <a16:creationId xmlns:a16="http://schemas.microsoft.com/office/drawing/2014/main" id="{5B69B77E-FAC4-1C5B-4493-9671048403A8}"/>
                </a:ext>
              </a:extLst>
            </p:cNvPr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Audio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35% sur le prix du marché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-10% sur les accessoires, -20% sur les piles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ne garantie « Satisfait ou échangé »</a:t>
              </a:r>
            </a:p>
          </p:txBody>
        </p:sp>
      </p:grpSp>
      <p:grpSp>
        <p:nvGrpSpPr>
          <p:cNvPr id="4756" name="Groupe 4755">
            <a:extLst>
              <a:ext uri="{FF2B5EF4-FFF2-40B4-BE49-F238E27FC236}">
                <a16:creationId xmlns:a16="http://schemas.microsoft.com/office/drawing/2014/main" id="{9823DB62-766F-1CF4-AA4E-D8B4A61D35D3}"/>
              </a:ext>
            </a:extLst>
          </p:cNvPr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id="4757" name="Picture 2" descr="Bouton Logo Les Dents - Images vectorielles gratuites sur Pixabay - Pixabay">
              <a:extLst>
                <a:ext uri="{FF2B5EF4-FFF2-40B4-BE49-F238E27FC236}">
                  <a16:creationId xmlns:a16="http://schemas.microsoft.com/office/drawing/2014/main" id="{B9D2FF19-6D44-CCCB-31B9-92DD2E937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94" y="6128182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8" name="ZoneTexte 4757">
              <a:extLst>
                <a:ext uri="{FF2B5EF4-FFF2-40B4-BE49-F238E27FC236}">
                  <a16:creationId xmlns:a16="http://schemas.microsoft.com/office/drawing/2014/main" id="{C50CB6C6-90C6-CB09-770A-375B96F5B8F8}"/>
                </a:ext>
              </a:extLst>
            </p:cNvPr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Le partenariat Dentaire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’accès à 50 cabinets spécialisés en implantologie dentaire, avec 50 chirurgiens-dentistes spécialistes de cette discipline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jusqu’à moins 40 % par rapport aux prix habituellement pratiqué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 certificat qui vous garantira la provenance de l’implant ou de la prothèse.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annuaire de géolocalisation</a:t>
              </a:r>
            </a:p>
          </p:txBody>
        </p:sp>
      </p:grpSp>
      <p:grpSp>
        <p:nvGrpSpPr>
          <p:cNvPr id="4759" name="Groupe 4758">
            <a:extLst>
              <a:ext uri="{FF2B5EF4-FFF2-40B4-BE49-F238E27FC236}">
                <a16:creationId xmlns:a16="http://schemas.microsoft.com/office/drawing/2014/main" id="{D5649696-71B3-BB60-2985-03762B609C05}"/>
              </a:ext>
            </a:extLst>
          </p:cNvPr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id="4760" name="Picture 4" descr="Centre d'ostéopathie - Roxane Gervais St-Amour D.O.">
              <a:extLst>
                <a:ext uri="{FF2B5EF4-FFF2-40B4-BE49-F238E27FC236}">
                  <a16:creationId xmlns:a16="http://schemas.microsoft.com/office/drawing/2014/main" id="{C56023A9-AE9A-B764-1904-902120961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356" y="7910070"/>
              <a:ext cx="719680" cy="72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1" name="ZoneTexte 4760">
              <a:extLst>
                <a:ext uri="{FF2B5EF4-FFF2-40B4-BE49-F238E27FC236}">
                  <a16:creationId xmlns:a16="http://schemas.microsoft.com/office/drawing/2014/main" id="{20969644-DA15-8034-C0DB-DEEEB782F2EF}"/>
                </a:ext>
              </a:extLst>
            </p:cNvPr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Ostéopathie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accès Un réseau d’ostéopathes et de diététiciennes choisis en fonction de leur compétence et de leur sérieux.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es tarifs encadrés et calculés en fonction de leurs zones géographiques, du tiers payant, et de la rapidité du traitement de leur prise en charge grâce aux services en ligne.</a:t>
              </a:r>
            </a:p>
          </p:txBody>
        </p:sp>
      </p:grpSp>
      <p:grpSp>
        <p:nvGrpSpPr>
          <p:cNvPr id="4762" name="Groupe 4761">
            <a:extLst>
              <a:ext uri="{FF2B5EF4-FFF2-40B4-BE49-F238E27FC236}">
                <a16:creationId xmlns:a16="http://schemas.microsoft.com/office/drawing/2014/main" id="{6160EE5F-D0A0-7862-5943-8E8F2A811578}"/>
              </a:ext>
            </a:extLst>
          </p:cNvPr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4763" name="ZoneTexte 4762">
              <a:extLst>
                <a:ext uri="{FF2B5EF4-FFF2-40B4-BE49-F238E27FC236}">
                  <a16:creationId xmlns:a16="http://schemas.microsoft.com/office/drawing/2014/main" id="{A0A8422C-AF98-987A-AD2E-86518C1341EC}"/>
                </a:ext>
              </a:extLst>
            </p:cNvPr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>
                  <a:solidFill>
                    <a:srgbClr val="0070C0"/>
                  </a:solidFill>
                </a:rPr>
                <a:t>Pourquoi passer par le réseau de soin </a:t>
              </a:r>
              <a:r>
                <a:rPr lang="fr-FR" sz="2800" b="1" dirty="0" err="1">
                  <a:solidFill>
                    <a:srgbClr val="0070C0"/>
                  </a:solidFill>
                </a:rPr>
                <a:t>Santéclair</a:t>
              </a:r>
              <a:r>
                <a:rPr lang="fr-FR" sz="2800" b="1" dirty="0">
                  <a:solidFill>
                    <a:srgbClr val="0070C0"/>
                  </a:solidFill>
                </a:rPr>
                <a:t> ?</a:t>
              </a:r>
            </a:p>
          </p:txBody>
        </p:sp>
        <p:pic>
          <p:nvPicPr>
            <p:cNvPr id="4764" name="Image 4763">
              <a:hlinkClick r:id="rId8"/>
              <a:extLst>
                <a:ext uri="{FF2B5EF4-FFF2-40B4-BE49-F238E27FC236}">
                  <a16:creationId xmlns:a16="http://schemas.microsoft.com/office/drawing/2014/main" id="{7225BED3-8C98-DC91-BF1F-8F9994023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5068" t="23731" r="7826" b="21180"/>
            <a:stretch/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</p:spPr>
        </p:pic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9C489B46-BFD7-8C49-4600-FE7249EB307E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56818BEE-F19B-56F3-6235-8171E39E3DB0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2F1C3ED9-8A72-7BB8-BC57-1259C7B6581F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9" name="Image 8" descr="Coverity | LinkedIn">
                <a:hlinkClick r:id="rId10"/>
                <a:extLst>
                  <a:ext uri="{FF2B5EF4-FFF2-40B4-BE49-F238E27FC236}">
                    <a16:creationId xmlns:a16="http://schemas.microsoft.com/office/drawing/2014/main" id="{8070ED63-70B0-E34C-CF18-9F4A537BD1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" name="Picture 2" descr="Insurem - Crunchbase Company Profile &amp; Funding">
              <a:extLst>
                <a:ext uri="{FF2B5EF4-FFF2-40B4-BE49-F238E27FC236}">
                  <a16:creationId xmlns:a16="http://schemas.microsoft.com/office/drawing/2014/main" id="{E9B417C4-7F01-E115-FCC8-7F9D10378C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9116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C41BBF96-14C0-F9BE-2D74-D045A3A6C0FF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A877DC09-5214-5FA6-97C9-9A1B20BEC466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852D5C83-4C4F-F627-AE8D-E32708229D85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15" name="Image 14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B5F4199D-39D2-C981-F51D-9B03FD4C21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" name="Picture 2" descr="Insurem - Crunchbase Company Profile &amp; Funding">
              <a:extLst>
                <a:ext uri="{FF2B5EF4-FFF2-40B4-BE49-F238E27FC236}">
                  <a16:creationId xmlns:a16="http://schemas.microsoft.com/office/drawing/2014/main" id="{39B6A020-7E56-0AEA-F6EE-5777ADEDED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ZoneTexte 3">
            <a:extLst>
              <a:ext uri="{FF2B5EF4-FFF2-40B4-BE49-F238E27FC236}">
                <a16:creationId xmlns:a16="http://schemas.microsoft.com/office/drawing/2014/main" id="{A70E5BF6-34D1-56D5-D3CE-E752B4BB38CC}"/>
              </a:ext>
            </a:extLst>
          </p:cNvPr>
          <p:cNvSpPr txBox="1"/>
          <p:nvPr/>
        </p:nvSpPr>
        <p:spPr>
          <a:xfrm>
            <a:off x="1771536" y="166447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MONDIAL ?</a:t>
            </a:r>
          </a:p>
        </p:txBody>
      </p:sp>
      <p:sp>
        <p:nvSpPr>
          <p:cNvPr id="8" name="ZoneTexte 11">
            <a:extLst>
              <a:ext uri="{FF2B5EF4-FFF2-40B4-BE49-F238E27FC236}">
                <a16:creationId xmlns:a16="http://schemas.microsoft.com/office/drawing/2014/main" id="{040D360E-FC4F-8F61-CBBA-971614EB923A}"/>
              </a:ext>
            </a:extLst>
          </p:cNvPr>
          <p:cNvSpPr txBox="1"/>
          <p:nvPr/>
        </p:nvSpPr>
        <p:spPr>
          <a:xfrm>
            <a:off x="1089547" y="2843569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MONDIAL Assistance, vous propose gratuitement: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5C590092-9419-080B-00D5-A9B1150E4D6D}"/>
              </a:ext>
            </a:extLst>
          </p:cNvPr>
          <p:cNvGrpSpPr/>
          <p:nvPr/>
        </p:nvGrpSpPr>
        <p:grpSpPr>
          <a:xfrm>
            <a:off x="253134" y="3775142"/>
            <a:ext cx="6020613" cy="811475"/>
            <a:chOff x="400050" y="2786464"/>
            <a:chExt cx="6020613" cy="811475"/>
          </a:xfrm>
        </p:grpSpPr>
        <p:sp>
          <p:nvSpPr>
            <p:cNvPr id="4651" name="ZoneTexte 12">
              <a:extLst>
                <a:ext uri="{FF2B5EF4-FFF2-40B4-BE49-F238E27FC236}">
                  <a16:creationId xmlns:a16="http://schemas.microsoft.com/office/drawing/2014/main" id="{E2341A3A-1C95-E9A7-75BF-76F224006CC7}"/>
                </a:ext>
              </a:extLst>
            </p:cNvPr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proximité)</a:t>
              </a:r>
            </a:p>
          </p:txBody>
        </p:sp>
        <p:pic>
          <p:nvPicPr>
            <p:cNvPr id="4652" name="Image 4651">
              <a:extLst>
                <a:ext uri="{FF2B5EF4-FFF2-40B4-BE49-F238E27FC236}">
                  <a16:creationId xmlns:a16="http://schemas.microsoft.com/office/drawing/2014/main" id="{B5A46B72-8FA0-1146-AFD3-B758C88FB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039EE86-0479-3541-5FC3-F68E3EBE8C27}"/>
              </a:ext>
            </a:extLst>
          </p:cNvPr>
          <p:cNvGrpSpPr/>
          <p:nvPr/>
        </p:nvGrpSpPr>
        <p:grpSpPr>
          <a:xfrm>
            <a:off x="964936" y="4743569"/>
            <a:ext cx="5639929" cy="662278"/>
            <a:chOff x="222327" y="3957748"/>
            <a:chExt cx="6053947" cy="662278"/>
          </a:xfrm>
        </p:grpSpPr>
        <p:sp>
          <p:nvSpPr>
            <p:cNvPr id="4645" name="ZoneTexte 16">
              <a:extLst>
                <a:ext uri="{FF2B5EF4-FFF2-40B4-BE49-F238E27FC236}">
                  <a16:creationId xmlns:a16="http://schemas.microsoft.com/office/drawing/2014/main" id="{3D328255-D12F-1FE0-2E86-E992498AD866}"/>
                </a:ext>
              </a:extLst>
            </p:cNvPr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Livraison des médicaments et matériel médical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4646" name="Image 4645">
              <a:extLst>
                <a:ext uri="{FF2B5EF4-FFF2-40B4-BE49-F238E27FC236}">
                  <a16:creationId xmlns:a16="http://schemas.microsoft.com/office/drawing/2014/main" id="{39190672-F5C2-5A53-803E-31375372F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E8800A6-F9CC-A93F-F919-DD01DE955295}"/>
              </a:ext>
            </a:extLst>
          </p:cNvPr>
          <p:cNvGrpSpPr/>
          <p:nvPr/>
        </p:nvGrpSpPr>
        <p:grpSpPr>
          <a:xfrm>
            <a:off x="478237" y="6095223"/>
            <a:ext cx="5625681" cy="698501"/>
            <a:chOff x="252596" y="7749113"/>
            <a:chExt cx="5625681" cy="698501"/>
          </a:xfrm>
        </p:grpSpPr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D44EE6C-AF29-EBBE-E527-22B49862E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596" y="7749113"/>
              <a:ext cx="765169" cy="698501"/>
            </a:xfrm>
            <a:prstGeom prst="rect">
              <a:avLst/>
            </a:prstGeom>
          </p:spPr>
        </p:pic>
        <p:sp>
          <p:nvSpPr>
            <p:cNvPr id="27" name="ZoneTexte 2074">
              <a:extLst>
                <a:ext uri="{FF2B5EF4-FFF2-40B4-BE49-F238E27FC236}">
                  <a16:creationId xmlns:a16="http://schemas.microsoft.com/office/drawing/2014/main" id="{2B9075A4-9987-BA04-DE61-C797C6C85062}"/>
                </a:ext>
              </a:extLst>
            </p:cNvPr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Un soutien pédagogique pour les enfants immobilisés</a:t>
              </a:r>
            </a:p>
          </p:txBody>
        </p:sp>
      </p:grpSp>
      <p:pic>
        <p:nvPicPr>
          <p:cNvPr id="14" name="Image 13" descr="Mondial">
            <a:hlinkClick r:id="rId10"/>
            <a:extLst>
              <a:ext uri="{FF2B5EF4-FFF2-40B4-BE49-F238E27FC236}">
                <a16:creationId xmlns:a16="http://schemas.microsoft.com/office/drawing/2014/main" id="{D290F7E8-472A-EB26-6730-A6C2B2A7C4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78237" y="1772934"/>
            <a:ext cx="1387521" cy="6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81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34D986C-7A77-C457-C065-020DAA72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2B9D88C9-6572-21C4-74C3-80E3C080E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726A3560-CD0D-B7BA-F802-4A47F1B9B087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614644CE-629E-0B62-284E-7F5B42BCFEA8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5F06F626-3B69-F539-F152-ABD46B9020DB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15" name="Image 14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B4E59496-AC0B-5276-D007-AC04484510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" name="Picture 2" descr="Insurem - Crunchbase Company Profile &amp; Funding">
              <a:extLst>
                <a:ext uri="{FF2B5EF4-FFF2-40B4-BE49-F238E27FC236}">
                  <a16:creationId xmlns:a16="http://schemas.microsoft.com/office/drawing/2014/main" id="{81E1816C-E363-01DD-C8EC-E54CFAB8AF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ZoneTexte 1">
            <a:extLst>
              <a:ext uri="{FF2B5EF4-FFF2-40B4-BE49-F238E27FC236}">
                <a16:creationId xmlns:a16="http://schemas.microsoft.com/office/drawing/2014/main" id="{2AC986ED-B669-E4C2-3D6C-0EBF3C19FEAB}"/>
              </a:ext>
            </a:extLst>
          </p:cNvPr>
          <p:cNvSpPr txBox="1"/>
          <p:nvPr/>
        </p:nvSpPr>
        <p:spPr>
          <a:xfrm>
            <a:off x="1971354" y="137910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La protection juridique CFDP ?</a:t>
            </a:r>
          </a:p>
        </p:txBody>
      </p:sp>
      <p:sp>
        <p:nvSpPr>
          <p:cNvPr id="11" name="ZoneTexte 4">
            <a:extLst>
              <a:ext uri="{FF2B5EF4-FFF2-40B4-BE49-F238E27FC236}">
                <a16:creationId xmlns:a16="http://schemas.microsoft.com/office/drawing/2014/main" id="{78ED6184-3A9E-8C6E-CEBA-B0210E141BA0}"/>
              </a:ext>
            </a:extLst>
          </p:cNvPr>
          <p:cNvSpPr txBox="1"/>
          <p:nvPr/>
        </p:nvSpPr>
        <p:spPr>
          <a:xfrm>
            <a:off x="657829" y="2804414"/>
            <a:ext cx="57184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de litige ou de différend vous opposant à un tiers </a:t>
            </a:r>
          </a:p>
          <a:p>
            <a:r>
              <a:rPr lang="fr-FR" b="1" dirty="0"/>
              <a:t>et résultant d’un accident médical susceptible, </a:t>
            </a:r>
          </a:p>
          <a:p>
            <a:r>
              <a:rPr lang="fr-FR" b="1" dirty="0"/>
              <a:t>La CFDP met à votre disposition gratuitement: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C56B84A-0501-1B62-A74D-20223411A59F}"/>
              </a:ext>
            </a:extLst>
          </p:cNvPr>
          <p:cNvGrpSpPr/>
          <p:nvPr/>
        </p:nvGrpSpPr>
        <p:grpSpPr>
          <a:xfrm>
            <a:off x="265567" y="4160886"/>
            <a:ext cx="5999299" cy="1253076"/>
            <a:chOff x="282356" y="3892553"/>
            <a:chExt cx="5999299" cy="1253076"/>
          </a:xfrm>
        </p:grpSpPr>
        <p:sp>
          <p:nvSpPr>
            <p:cNvPr id="23" name="ZoneTexte 13">
              <a:extLst>
                <a:ext uri="{FF2B5EF4-FFF2-40B4-BE49-F238E27FC236}">
                  <a16:creationId xmlns:a16="http://schemas.microsoft.com/office/drawing/2014/main" id="{B6C662FA-43C3-D768-7426-81ECED1BF362}"/>
                </a:ext>
              </a:extLst>
            </p:cNvPr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un service d’Assistance Juridique par téléphone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 qui répond aux questions </a:t>
              </a: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d’ordre juridique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que vous vous </a:t>
              </a:r>
              <a:r>
                <a:rPr lang="fr-FR" sz="1400" dirty="0"/>
                <a:t>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posez, vous informe sur vos droits, vous apporte une aide </a:t>
              </a:r>
              <a:r>
                <a:rPr lang="fr-FR" sz="1400" dirty="0"/>
                <a:t>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afin de prendre une décision et de trouver une solution à vos problèmes, </a:t>
              </a:r>
              <a:endParaRPr lang="fr-FR" sz="1400" dirty="0"/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DCB630ED-8FD7-34CD-D835-577E4211D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</p:spPr>
        </p:pic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6922D29-5FA6-F286-AAE3-6A444EAFCD46}"/>
              </a:ext>
            </a:extLst>
          </p:cNvPr>
          <p:cNvGrpSpPr/>
          <p:nvPr/>
        </p:nvGrpSpPr>
        <p:grpSpPr>
          <a:xfrm>
            <a:off x="1228304" y="6069131"/>
            <a:ext cx="5242236" cy="1008933"/>
            <a:chOff x="1295893" y="5584357"/>
            <a:chExt cx="5242236" cy="1008933"/>
          </a:xfrm>
        </p:grpSpPr>
        <p:sp>
          <p:nvSpPr>
            <p:cNvPr id="21" name="ZoneTexte 19">
              <a:extLst>
                <a:ext uri="{FF2B5EF4-FFF2-40B4-BE49-F238E27FC236}">
                  <a16:creationId xmlns:a16="http://schemas.microsoft.com/office/drawing/2014/main" id="{F0753FE1-C5E3-BE67-C232-9BA2A8BF83F8}"/>
                </a:ext>
              </a:extLst>
            </p:cNvPr>
            <p:cNvSpPr txBox="1"/>
            <p:nvPr/>
          </p:nvSpPr>
          <p:spPr>
            <a:xfrm>
              <a:off x="2654300" y="5640155"/>
              <a:ext cx="3883829" cy="953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un service d’Assistance Juridique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 </a:t>
              </a:r>
            </a:p>
            <a:p>
              <a:pPr>
                <a:buNone/>
              </a:pP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sur rendez-vous </a:t>
              </a:r>
              <a:endParaRPr lang="fr-FR" sz="1400" dirty="0"/>
            </a:p>
            <a:p>
              <a:pPr>
                <a:buNone/>
              </a:pP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lorsqu’un examen particulier de votre situation est nécessaire</a:t>
              </a:r>
              <a:endParaRPr lang="fr-FR" sz="1400" dirty="0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A77E62D6-82D4-9283-90E3-827E2EDB8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78F1F6F7-A8C9-5050-2B6D-08BFDCC7BD4C}"/>
              </a:ext>
            </a:extLst>
          </p:cNvPr>
          <p:cNvGrpSpPr/>
          <p:nvPr/>
        </p:nvGrpSpPr>
        <p:grpSpPr>
          <a:xfrm>
            <a:off x="323016" y="7647631"/>
            <a:ext cx="5815469" cy="954107"/>
            <a:chOff x="352505" y="7329255"/>
            <a:chExt cx="5815469" cy="954107"/>
          </a:xfrm>
        </p:grpSpPr>
        <p:sp>
          <p:nvSpPr>
            <p:cNvPr id="19" name="ZoneTexte 22">
              <a:extLst>
                <a:ext uri="{FF2B5EF4-FFF2-40B4-BE49-F238E27FC236}">
                  <a16:creationId xmlns:a16="http://schemas.microsoft.com/office/drawing/2014/main" id="{5FE7D718-1BDA-2FBA-7D4B-2D5D4B80A0DC}"/>
                </a:ext>
              </a:extLst>
            </p:cNvPr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un service de gestion des sinistres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qui prend les mesures utiles afin de faire valoir vos droits à 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l’amiable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et, au besoin, vous donne les moyens d’en poursuivre l’exercice en justice</a:t>
              </a:r>
              <a:endParaRPr lang="fr-FR" sz="1400" dirty="0"/>
            </a:p>
          </p:txBody>
        </p: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96748F5A-86C8-20B5-F532-954C79538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</p:spPr>
        </p:pic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31ADB6F2-3651-6982-1AE5-9FFFEDB90E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159" y="1304262"/>
            <a:ext cx="1769195" cy="97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4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>
            <a:extLst>
              <a:ext uri="{FF2B5EF4-FFF2-40B4-BE49-F238E27FC236}">
                <a16:creationId xmlns:a16="http://schemas.microsoft.com/office/drawing/2014/main" id="{535F1D54-3CF9-96D7-AAF2-E939F78F3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/>
        </p:blipFill>
        <p:spPr bwMode="auto">
          <a:xfrm>
            <a:off x="2566913" y="105269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D70D5DE-DB6D-D176-9CAB-9DB15C044A5C}"/>
              </a:ext>
            </a:extLst>
          </p:cNvPr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</a:p>
          <a:p>
            <a:r>
              <a:rPr lang="fr-FR" sz="1600" dirty="0"/>
              <a:t>Si vous ne souhaitez pas bénéficier des équipements compris dans ces paniers, les remboursements se feront selon le niveau de garanties que vous avez choisi.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BD2300-AD32-5AA3-5AA3-24E9718EFC61}"/>
              </a:ext>
            </a:extLst>
          </p:cNvPr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r>
              <a:rPr lang="fr-FR" sz="1600" dirty="0"/>
              <a:t>QU’EST-CE QUI CHANGE EN PRATIQUE ?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71E66C1-A306-F7C2-3064-D3A2018F7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31" y="5368177"/>
            <a:ext cx="2158618" cy="18311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C47FEA0-F477-562D-7433-360467980C32}"/>
              </a:ext>
            </a:extLst>
          </p:cNvPr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Le professionnel de santé </a:t>
            </a:r>
          </a:p>
          <a:p>
            <a:pPr algn="ctr"/>
            <a:r>
              <a:rPr lang="fr-FR" sz="1600" dirty="0"/>
              <a:t>proposera obligatoirement </a:t>
            </a:r>
          </a:p>
          <a:p>
            <a:pPr algn="ctr"/>
            <a:r>
              <a:rPr lang="fr-FR" sz="1600" dirty="0">
                <a:solidFill>
                  <a:srgbClr val="0070C0"/>
                </a:solidFill>
              </a:rPr>
              <a:t>2 OFFRES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A3FF7B1-6127-0BF0-C7E9-3B7C18C3F8BC}"/>
              </a:ext>
            </a:extLst>
          </p:cNvPr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sans Reste à charge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F383C17-45A3-6E24-243D-E5B936A664DE}"/>
              </a:ext>
            </a:extLst>
          </p:cNvPr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« Classique »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4771CB4-EAF8-8909-5069-505185436213}"/>
              </a:ext>
            </a:extLst>
          </p:cNvPr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fr-FR" sz="1600" dirty="0"/>
              <a:t>Mais aussi: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ADC3DC0-D766-2449-5D66-95CDE9F708A7}"/>
              </a:ext>
            </a:extLst>
          </p:cNvPr>
          <p:cNvCxnSpPr>
            <a:cxnSpLocks/>
          </p:cNvCxnSpPr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58842E4-FE74-86E3-440A-096AB8845129}"/>
              </a:ext>
            </a:extLst>
          </p:cNvPr>
          <p:cNvCxnSpPr>
            <a:cxnSpLocks/>
          </p:cNvCxnSpPr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5" name="ZoneTexte 4514">
            <a:extLst>
              <a:ext uri="{FF2B5EF4-FFF2-40B4-BE49-F238E27FC236}">
                <a16:creationId xmlns:a16="http://schemas.microsoft.com/office/drawing/2014/main" id="{E20EF230-36C6-4E06-1C00-A04090AC41A5}"/>
              </a:ext>
            </a:extLst>
          </p:cNvPr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Soin ou équipement entrant dans le</a:t>
            </a:r>
          </a:p>
          <a:p>
            <a:r>
              <a:rPr lang="fr-FR" sz="1100" dirty="0"/>
              <a:t>panier 100% Santé</a:t>
            </a:r>
          </a:p>
        </p:txBody>
      </p:sp>
      <p:sp>
        <p:nvSpPr>
          <p:cNvPr id="4517" name="ZoneTexte 4516">
            <a:extLst>
              <a:ext uri="{FF2B5EF4-FFF2-40B4-BE49-F238E27FC236}">
                <a16:creationId xmlns:a16="http://schemas.microsoft.com/office/drawing/2014/main" id="{761E1492-A5E3-9AF6-8C9C-21D6ECB8B178}"/>
              </a:ext>
            </a:extLst>
          </p:cNvPr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/>
            </a:lvl1pPr>
          </a:lstStyle>
          <a:p>
            <a:pPr algn="ctr"/>
            <a:r>
              <a:rPr lang="fr-FR" dirty="0"/>
              <a:t>Panier à tarif libre et remboursé par</a:t>
            </a:r>
          </a:p>
          <a:p>
            <a:pPr algn="ctr"/>
            <a:r>
              <a:rPr lang="fr-FR" dirty="0"/>
              <a:t>l’assurance complémentaire dans les</a:t>
            </a:r>
          </a:p>
          <a:p>
            <a:pPr algn="ctr"/>
            <a:r>
              <a:rPr lang="fr-FR" dirty="0"/>
              <a:t>conditions prévues par le contrat</a:t>
            </a:r>
          </a:p>
        </p:txBody>
      </p:sp>
      <p:sp>
        <p:nvSpPr>
          <p:cNvPr id="4519" name="ZoneTexte 4518">
            <a:extLst>
              <a:ext uri="{FF2B5EF4-FFF2-40B4-BE49-F238E27FC236}">
                <a16:creationId xmlns:a16="http://schemas.microsoft.com/office/drawing/2014/main" id="{8CFAC478-7838-F018-5E51-DED49538B610}"/>
              </a:ext>
            </a:extLst>
          </p:cNvPr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600"/>
            </a:lvl1pPr>
          </a:lstStyle>
          <a:p>
            <a:r>
              <a:rPr lang="fr-FR" sz="1400" dirty="0"/>
              <a:t>&gt; Fixation de prix limites de vente (PLV) imposés aux professionnels de santé</a:t>
            </a:r>
          </a:p>
          <a:p>
            <a:r>
              <a:rPr lang="fr-FR" sz="1400" dirty="0"/>
              <a:t>&gt; Augmentation de la base de remboursement (BR) du régime obligatoire (RO) &amp; du remboursement des complémentaires santé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C06CE79-B922-D227-8B2C-6893845E7175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6EECB753-8AD0-11BF-5BE5-AE79A127B54F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0776E545-A562-1EA5-D61A-69EB86D0EF08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13" name="Image 12" descr="Coverity | LinkedIn">
                <a:hlinkClick r:id="rId6"/>
                <a:extLst>
                  <a:ext uri="{FF2B5EF4-FFF2-40B4-BE49-F238E27FC236}">
                    <a16:creationId xmlns:a16="http://schemas.microsoft.com/office/drawing/2014/main" id="{D81EA37D-9DD1-30C2-BA4A-0AEAFA684C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195A56AC-DE71-9475-9D90-7C8FAF3C7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79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>
            <a:extLst>
              <a:ext uri="{FF2B5EF4-FFF2-40B4-BE49-F238E27FC236}">
                <a16:creationId xmlns:a16="http://schemas.microsoft.com/office/drawing/2014/main" id="{535F1D54-3CF9-96D7-AAF2-E939F78F3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/>
        </p:blipFill>
        <p:spPr bwMode="auto">
          <a:xfrm>
            <a:off x="2566913" y="98012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DC311B0-BB0D-C427-5533-FA4B6E6AB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98" y="1992003"/>
            <a:ext cx="5911752" cy="7546705"/>
          </a:xfrm>
          <a:prstGeom prst="rect">
            <a:avLst/>
          </a:prstGeom>
        </p:spPr>
      </p:pic>
      <p:pic>
        <p:nvPicPr>
          <p:cNvPr id="4521" name="Image 4520">
            <a:extLst>
              <a:ext uri="{FF2B5EF4-FFF2-40B4-BE49-F238E27FC236}">
                <a16:creationId xmlns:a16="http://schemas.microsoft.com/office/drawing/2014/main" id="{F2436BD2-3577-BD8A-85C5-5DC2CED6D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96154"/>
            <a:ext cx="1147989" cy="641789"/>
          </a:xfrm>
          <a:prstGeom prst="rect">
            <a:avLst/>
          </a:prstGeom>
        </p:spPr>
      </p:pic>
      <p:pic>
        <p:nvPicPr>
          <p:cNvPr id="4523" name="Image 4522">
            <a:extLst>
              <a:ext uri="{FF2B5EF4-FFF2-40B4-BE49-F238E27FC236}">
                <a16:creationId xmlns:a16="http://schemas.microsoft.com/office/drawing/2014/main" id="{8B48A7BA-1DFB-F2BE-DE2C-4BC7F7A60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5446720"/>
            <a:ext cx="1147989" cy="637269"/>
          </a:xfrm>
          <a:prstGeom prst="rect">
            <a:avLst/>
          </a:prstGeom>
        </p:spPr>
      </p:pic>
      <p:pic>
        <p:nvPicPr>
          <p:cNvPr id="4525" name="Image 4524">
            <a:extLst>
              <a:ext uri="{FF2B5EF4-FFF2-40B4-BE49-F238E27FC236}">
                <a16:creationId xmlns:a16="http://schemas.microsoft.com/office/drawing/2014/main" id="{1972CFFC-EBC6-164E-87F7-F7B190FCA7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991398"/>
            <a:ext cx="1138950" cy="601113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5DD8F497-92B4-9656-EADE-51C4B45C740A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33B41ED8-F697-B767-7975-4D66B8E4AB82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C4898EB4-CF0B-250F-F294-D29B74054546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New Cover 100% Santé by                             assuré par                                 </a:t>
                </a:r>
              </a:p>
            </p:txBody>
          </p:sp>
          <p:pic>
            <p:nvPicPr>
              <p:cNvPr id="11" name="Image 10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06B11C9E-A548-C138-4F2E-E1E3A58E10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9593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67E179C2-F946-887F-6DAE-ABC45710B8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5025" y="154758"/>
              <a:ext cx="520037" cy="520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49026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2536</TotalTime>
  <Words>898</Words>
  <Application>Microsoft Office PowerPoint</Application>
  <PresentationFormat>Format A4 (210 x 297 mm)</PresentationFormat>
  <Paragraphs>109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Source Sans Pro</vt:lpstr>
      <vt:lpstr>SourceSansPro</vt:lpstr>
      <vt:lpstr>SourceSansPro-Bold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51</cp:revision>
  <cp:lastPrinted>2024-03-26T10:36:48Z</cp:lastPrinted>
  <dcterms:created xsi:type="dcterms:W3CDTF">2018-01-12T04:36:24Z</dcterms:created>
  <dcterms:modified xsi:type="dcterms:W3CDTF">2025-09-17T08:47:47Z</dcterms:modified>
</cp:coreProperties>
</file>