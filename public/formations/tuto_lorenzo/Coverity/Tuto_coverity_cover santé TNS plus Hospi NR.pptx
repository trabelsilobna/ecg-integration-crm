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6858000" cy="9906000" type="A4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gRM5g9jOzKvKatFZesqbkETYKt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65A"/>
    <a:srgbClr val="EDE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 snapToGrid="0">
      <p:cViewPr varScale="1">
        <p:scale>
          <a:sx n="76" d="100"/>
          <a:sy n="76" d="100"/>
        </p:scale>
        <p:origin x="3450" y="-52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‹N°›</a:t>
            </a:fld>
            <a:endParaRPr lang="fr-FR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354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317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5282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0571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19F93D-8255-6088-978F-25DC26943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7BFAE2-4DDA-5CEB-A9B6-7D545867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B73B4B-47A0-53CE-FB4A-AD41B31C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0C3929-B721-1FD6-6598-B242CD10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F648CC-6D73-618F-316C-4C34386E4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41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ED3FED-8441-4FF5-F1F0-A30EF4C4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A4C529-50E2-FFE9-B0D2-5F3CE75A5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9D8057-FF2B-9856-98BD-4E857A25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D5ED8A-7AED-E653-D1EF-EE8C96F2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3FE8BF-FB84-E3DB-A22B-F46BE701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61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829AA2-7A23-BF3D-289E-7FF50B55F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421FF2-5439-BF21-C412-685553F9C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EB08C0-77FA-5722-A86A-E6D8943D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BC8CAD-E33D-AE37-E4CD-E4F3F349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741DF6-21BA-D0FF-118F-31BCAD39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46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CE797-B1F8-954A-2FCD-E1936621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56F958-B869-AD5F-5DF5-54B2731DD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229B082-B806-B1EB-76D2-D157D79FD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A437EF-E1D5-4506-6A95-EB99876C6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ADE150-0B3E-FAC3-8835-244B419C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5A06BD-CCC0-5601-CE7D-FD57F3F4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84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ACAED-B220-DE36-4BC0-07B2E9B28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8855D4-99FC-AA15-3986-F50C040E7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9FD663-E006-C456-79A4-4DBB71A93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CB4238C-0499-8F34-0E58-D0C21C11F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8993611-0F7E-2147-3300-0320286B0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D3B29C-0CB3-376F-C603-483F2609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484CD4-DFF9-E770-EFAD-46C12CB2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D3E3E8C-DEE2-B83F-75FF-B074ED0B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491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740DC6-2906-269F-B67E-ED3941EE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8B189EC-D496-3FE3-3760-9959A094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702D2E-B2BD-1DED-CF8E-7BA263E3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0F1244-A899-ACD7-B1D9-001617F9E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69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0E38EE-8952-23B4-2E92-2298A4D9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FCBACE9-D3DB-9337-7CDA-7B0575CFC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5077C4-3BD7-EAF7-C25D-2296B058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610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D74707-CCCA-1559-2F58-90891138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13183F-431C-1322-E86E-6C67A3F6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F3E38C-97FB-9E66-E268-AD578DA70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81BB4D-FA63-2DED-8349-6FFDA0AC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312810-EE84-AB7C-4A60-4B3F52D9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C8157E-05A9-F6F5-6BA7-0EEBFBD34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41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B92C1-B502-80FD-B5FF-7A6FA0D63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3B1D321-502B-2A13-A328-CBD7F22D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65CA632-6A78-36DD-F377-B0EB9AB98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B572ED-A03B-85BE-C65F-84B0A27E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29D9F9-E70D-72E5-67B8-A80BD4F3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85CFCE-6528-3C48-47B9-06997386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9719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830739-2A53-9F08-296C-9423F03C5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6F5002-EE58-0EED-A9C4-8B5FBB3CE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F764B9-47A1-26C1-28F0-93D21761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4C82DA-93DC-2508-A870-F83ABA690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579AC2-833F-8B72-F3B1-D753FC730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82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3ABFD9-2C9A-F88B-0765-0D03AE3DE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A08473-EF90-F0DC-EDFA-47E205D2C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FDCA93-AB4F-96F6-DB43-3E42B2D92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3099B5-E8F3-C8AF-B427-3888071F6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C7DEFF-A670-934B-2676-17D05B4A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48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29D36A-551C-2B63-2C63-7AC113F4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E106FF-0729-5625-3E57-62D8BB341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BB5502-3C28-EF77-0F65-3213F96AF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2A5075-5C48-4796-C2DB-2B2B537115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8000B2-DD91-18F1-D613-34CC36949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247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jpeg"/><Relationship Id="rId3" Type="http://schemas.openxmlformats.org/officeDocument/2006/relationships/image" Target="../media/image1.png"/><Relationship Id="rId7" Type="http://schemas.openxmlformats.org/officeDocument/2006/relationships/hyperlink" Target="#'6'!A1"/><Relationship Id="rId12" Type="http://schemas.openxmlformats.org/officeDocument/2006/relationships/hyperlink" Target="#'30'!A1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jpeg"/><Relationship Id="rId11" Type="http://schemas.openxmlformats.org/officeDocument/2006/relationships/image" Target="../media/image6.jpeg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hyperlink" Target="#'12'!A1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7.jpeg"/><Relationship Id="rId4" Type="http://schemas.openxmlformats.org/officeDocument/2006/relationships/hyperlink" Target="#'30'!A1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7.jpeg"/><Relationship Id="rId4" Type="http://schemas.openxmlformats.org/officeDocument/2006/relationships/hyperlink" Target="#'30'!A1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png"/><Relationship Id="rId7" Type="http://schemas.openxmlformats.org/officeDocument/2006/relationships/hyperlink" Target="#'12'!A1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6.jpeg"/><Relationship Id="rId5" Type="http://schemas.openxmlformats.org/officeDocument/2006/relationships/image" Target="../media/image12.png"/><Relationship Id="rId10" Type="http://schemas.openxmlformats.org/officeDocument/2006/relationships/image" Target="../media/image7.jpeg"/><Relationship Id="rId4" Type="http://schemas.openxmlformats.org/officeDocument/2006/relationships/image" Target="../media/image11.png"/><Relationship Id="rId9" Type="http://schemas.openxmlformats.org/officeDocument/2006/relationships/hyperlink" Target="#'30'!A1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C5A1A0-D5D0-53B1-3FC3-1CF496B243BA}"/>
              </a:ext>
            </a:extLst>
          </p:cNvPr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4" name="Rectangle : coins arrondis 1033">
            <a:extLst>
              <a:ext uri="{FF2B5EF4-FFF2-40B4-BE49-F238E27FC236}">
                <a16:creationId xmlns:a16="http://schemas.microsoft.com/office/drawing/2014/main" id="{820F75DD-2243-24D9-F91B-F3FC463E36A2}"/>
              </a:ext>
            </a:extLst>
          </p:cNvPr>
          <p:cNvSpPr/>
          <p:nvPr/>
        </p:nvSpPr>
        <p:spPr>
          <a:xfrm>
            <a:off x="1987886" y="1258563"/>
            <a:ext cx="3759200" cy="146393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complémentaire santé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via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Contrat NON responsable</a:t>
            </a: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037" name="Rectangle : coins arrondis 1036">
            <a:extLst>
              <a:ext uri="{FF2B5EF4-FFF2-40B4-BE49-F238E27FC236}">
                <a16:creationId xmlns:a16="http://schemas.microsoft.com/office/drawing/2014/main" id="{2E2C7234-7ACB-651B-0D87-2C363492D917}"/>
              </a:ext>
            </a:extLst>
          </p:cNvPr>
          <p:cNvSpPr/>
          <p:nvPr/>
        </p:nvSpPr>
        <p:spPr>
          <a:xfrm>
            <a:off x="2754706" y="3467167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  Un Tiers payant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 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Un tiers payant national, qui vous évite d’avancer les frais médicaux.</a:t>
            </a:r>
          </a:p>
        </p:txBody>
      </p:sp>
      <p:sp>
        <p:nvSpPr>
          <p:cNvPr id="1039" name="Rectangle : coins arrondis 1038">
            <a:extLst>
              <a:ext uri="{FF2B5EF4-FFF2-40B4-BE49-F238E27FC236}">
                <a16:creationId xmlns:a16="http://schemas.microsoft.com/office/drawing/2014/main" id="{6E0F4B50-B72E-3280-5CE3-3A2DC04BFD4D}"/>
              </a:ext>
            </a:extLst>
          </p:cNvPr>
          <p:cNvSpPr/>
          <p:nvPr/>
        </p:nvSpPr>
        <p:spPr>
          <a:xfrm>
            <a:off x="2504399" y="5520321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tx1"/>
                </a:solidFill>
              </a:rPr>
              <a:t>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assistance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</a:t>
            </a:r>
          </a:p>
          <a:p>
            <a:pPr algn="r"/>
            <a:endParaRPr lang="fr-FR" sz="1400" b="1" dirty="0">
              <a:solidFill>
                <a:schemeClr val="tx1"/>
              </a:solidFill>
            </a:endParaRPr>
          </a:p>
          <a:p>
            <a:pPr algn="r"/>
            <a:r>
              <a:rPr lang="fr-FR" sz="1600" dirty="0">
                <a:solidFill>
                  <a:schemeClr val="tx1"/>
                </a:solidFill>
              </a:rPr>
              <a:t>                </a:t>
            </a:r>
            <a:r>
              <a:rPr lang="fr-FR" sz="1200" dirty="0">
                <a:solidFill>
                  <a:schemeClr val="tx1"/>
                </a:solidFill>
              </a:rPr>
              <a:t>Un service haut de gamme 24h/24, 7j/7 pour vous accompagner en cas de coup dur</a:t>
            </a:r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052" name="Groupe 1051">
            <a:extLst>
              <a:ext uri="{FF2B5EF4-FFF2-40B4-BE49-F238E27FC236}">
                <a16:creationId xmlns:a16="http://schemas.microsoft.com/office/drawing/2014/main" id="{1B98BC47-454E-7573-3854-004087E54ABF}"/>
              </a:ext>
            </a:extLst>
          </p:cNvPr>
          <p:cNvGrpSpPr/>
          <p:nvPr/>
        </p:nvGrpSpPr>
        <p:grpSpPr>
          <a:xfrm>
            <a:off x="2045763" y="1584881"/>
            <a:ext cx="976837" cy="1010393"/>
            <a:chOff x="2109263" y="1465142"/>
            <a:chExt cx="976837" cy="1010393"/>
          </a:xfrm>
        </p:grpSpPr>
        <p:sp>
          <p:nvSpPr>
            <p:cNvPr id="1045" name="Ellipse 1044">
              <a:extLst>
                <a:ext uri="{FF2B5EF4-FFF2-40B4-BE49-F238E27FC236}">
                  <a16:creationId xmlns:a16="http://schemas.microsoft.com/office/drawing/2014/main" id="{FD26AE43-9742-47B6-8BDA-2D79D26DE0F8}"/>
                </a:ext>
              </a:extLst>
            </p:cNvPr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1" name="Picture 18" descr="Modèle Logo Santé Et Forme Physique Logo Médical | PosterMyWall">
              <a:extLst>
                <a:ext uri="{FF2B5EF4-FFF2-40B4-BE49-F238E27FC236}">
                  <a16:creationId xmlns:a16="http://schemas.microsoft.com/office/drawing/2014/main" id="{5596F68D-AA41-DFE9-E9A2-B9194E9FAF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9" t="11936" r="27063" b="24816"/>
            <a:stretch/>
          </p:blipFill>
          <p:spPr bwMode="auto">
            <a:xfrm>
              <a:off x="2311520" y="1585367"/>
              <a:ext cx="596138" cy="759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0" name="Groupe 1049">
            <a:extLst>
              <a:ext uri="{FF2B5EF4-FFF2-40B4-BE49-F238E27FC236}">
                <a16:creationId xmlns:a16="http://schemas.microsoft.com/office/drawing/2014/main" id="{EE3E8E91-2656-D7E0-F4AE-A7310F23F8C3}"/>
              </a:ext>
            </a:extLst>
          </p:cNvPr>
          <p:cNvGrpSpPr/>
          <p:nvPr/>
        </p:nvGrpSpPr>
        <p:grpSpPr>
          <a:xfrm>
            <a:off x="2824407" y="3710558"/>
            <a:ext cx="976837" cy="1010393"/>
            <a:chOff x="2693612" y="4712978"/>
            <a:chExt cx="976837" cy="1010393"/>
          </a:xfrm>
        </p:grpSpPr>
        <p:sp>
          <p:nvSpPr>
            <p:cNvPr id="1048" name="Ellipse 1047">
              <a:extLst>
                <a:ext uri="{FF2B5EF4-FFF2-40B4-BE49-F238E27FC236}">
                  <a16:creationId xmlns:a16="http://schemas.microsoft.com/office/drawing/2014/main" id="{5EB7E7A5-A185-101D-7EF8-35F0B21685CA}"/>
                </a:ext>
              </a:extLst>
            </p:cNvPr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44" name="Picture 16" descr="Tiers payant : qu'est-ce que c'est et comment l'obtenir ?">
              <a:extLst>
                <a:ext uri="{FF2B5EF4-FFF2-40B4-BE49-F238E27FC236}">
                  <a16:creationId xmlns:a16="http://schemas.microsoft.com/office/drawing/2014/main" id="{5CDEE249-5D62-70AB-1349-DE31685588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4849" r="29792" b="4849"/>
            <a:stretch/>
          </p:blipFill>
          <p:spPr bwMode="auto">
            <a:xfrm>
              <a:off x="2862942" y="4910684"/>
              <a:ext cx="638175" cy="596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4" name="Groupe 1053">
            <a:extLst>
              <a:ext uri="{FF2B5EF4-FFF2-40B4-BE49-F238E27FC236}">
                <a16:creationId xmlns:a16="http://schemas.microsoft.com/office/drawing/2014/main" id="{F550A18B-95EE-2E1E-9130-47CFB6DF9D71}"/>
              </a:ext>
            </a:extLst>
          </p:cNvPr>
          <p:cNvGrpSpPr/>
          <p:nvPr/>
        </p:nvGrpSpPr>
        <p:grpSpPr>
          <a:xfrm>
            <a:off x="2585345" y="5765082"/>
            <a:ext cx="976837" cy="1010393"/>
            <a:chOff x="2566518" y="6340968"/>
            <a:chExt cx="976837" cy="1010393"/>
          </a:xfrm>
        </p:grpSpPr>
        <p:sp>
          <p:nvSpPr>
            <p:cNvPr id="1049" name="Ellipse 1048">
              <a:extLst>
                <a:ext uri="{FF2B5EF4-FFF2-40B4-BE49-F238E27FC236}">
                  <a16:creationId xmlns:a16="http://schemas.microsoft.com/office/drawing/2014/main" id="{730A0AD9-7704-2C4D-8F51-ADBAE8A79602}"/>
                </a:ext>
              </a:extLst>
            </p:cNvPr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>
                <a:solidFill>
                  <a:schemeClr val="tx1"/>
                </a:solidFill>
              </a:endParaRPr>
            </a:p>
          </p:txBody>
        </p:sp>
        <p:pic>
          <p:nvPicPr>
            <p:cNvPr id="1053" name="Picture 8" descr="Assistance and protection logo work people sign Vector Image">
              <a:extLst>
                <a:ext uri="{FF2B5EF4-FFF2-40B4-BE49-F238E27FC236}">
                  <a16:creationId xmlns:a16="http://schemas.microsoft.com/office/drawing/2014/main" id="{5AEC9FC8-7B96-4C39-B3A2-834ABE81C9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06" t="9307" r="19154" b="31895"/>
            <a:stretch/>
          </p:blipFill>
          <p:spPr bwMode="auto">
            <a:xfrm>
              <a:off x="2781449" y="6523581"/>
              <a:ext cx="577433" cy="60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63" name="Ellipse 1062">
            <a:extLst>
              <a:ext uri="{FF2B5EF4-FFF2-40B4-BE49-F238E27FC236}">
                <a16:creationId xmlns:a16="http://schemas.microsoft.com/office/drawing/2014/main" id="{0F42D8DA-AD12-EFA1-5581-09AE50177610}"/>
              </a:ext>
            </a:extLst>
          </p:cNvPr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75AF282E-3905-B58E-2934-CA8B2EF3B131}"/>
              </a:ext>
            </a:extLst>
          </p:cNvPr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</a:rPr>
              <a:t>Une </a:t>
            </a:r>
          </a:p>
          <a:p>
            <a:pPr algn="ctr"/>
            <a:r>
              <a:rPr lang="fr-FR" sz="3200" b="1" dirty="0">
                <a:solidFill>
                  <a:schemeClr val="tx1"/>
                </a:solidFill>
              </a:rPr>
              <a:t>solution intégrale </a:t>
            </a:r>
            <a:r>
              <a:rPr lang="fr-FR" b="1" dirty="0">
                <a:solidFill>
                  <a:schemeClr val="tx1"/>
                </a:solidFill>
              </a:rPr>
              <a:t>Pour </a:t>
            </a: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Les TNS</a:t>
            </a:r>
          </a:p>
        </p:txBody>
      </p:sp>
      <p:pic>
        <p:nvPicPr>
          <p:cNvPr id="7" name="Image 6">
            <a:hlinkClick r:id="rId7"/>
            <a:extLst>
              <a:ext uri="{FF2B5EF4-FFF2-40B4-BE49-F238E27FC236}">
                <a16:creationId xmlns:a16="http://schemas.microsoft.com/office/drawing/2014/main" id="{3D4A27B7-84FA-4457-8F57-CC8FAB8E57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0144" y="3873803"/>
            <a:ext cx="1550630" cy="630506"/>
          </a:xfrm>
          <a:prstGeom prst="rect">
            <a:avLst/>
          </a:prstGeom>
        </p:spPr>
      </p:pic>
      <p:pic>
        <p:nvPicPr>
          <p:cNvPr id="10" name="Image 9" descr="Mondial">
            <a:hlinkClick r:id="rId9"/>
            <a:extLst>
              <a:ext uri="{FF2B5EF4-FFF2-40B4-BE49-F238E27FC236}">
                <a16:creationId xmlns:a16="http://schemas.microsoft.com/office/drawing/2014/main" id="{5BBA1EDE-B7C0-4CB2-B5A6-1BFAEB8ED0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/>
        </p:blipFill>
        <p:spPr bwMode="auto">
          <a:xfrm>
            <a:off x="4585781" y="5865945"/>
            <a:ext cx="1365344" cy="685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nsurem - Crunchbase Company Profile &amp; Funding">
            <a:extLst>
              <a:ext uri="{FF2B5EF4-FFF2-40B4-BE49-F238E27FC236}">
                <a16:creationId xmlns:a16="http://schemas.microsoft.com/office/drawing/2014/main" id="{DAD6B588-8063-7F97-60EB-322F6498A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160" y="1677865"/>
            <a:ext cx="697923" cy="69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7522086E-80B2-2FD7-D441-6D4BAA369450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B4E015CD-F400-5ABD-30AF-C20436F3B646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3" name="Rectangle : coins arrondis 2">
                <a:extLst>
                  <a:ext uri="{FF2B5EF4-FFF2-40B4-BE49-F238E27FC236}">
                    <a16:creationId xmlns:a16="http://schemas.microsoft.com/office/drawing/2014/main" id="{7FF4382F-F447-B488-AEDB-4175D1E1A303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Cover Santé TNS Plus </a:t>
                </a:r>
                <a:r>
                  <a:rPr lang="fr-FR" b="1" dirty="0" err="1">
                    <a:solidFill>
                      <a:schemeClr val="tx1"/>
                    </a:solidFill>
                  </a:rPr>
                  <a:t>Hospi</a:t>
                </a:r>
                <a:r>
                  <a:rPr lang="fr-FR" b="1" dirty="0">
                    <a:solidFill>
                      <a:schemeClr val="tx1"/>
                    </a:solidFill>
                  </a:rPr>
                  <a:t>   by                               assuré par                                 </a:t>
                </a:r>
              </a:p>
            </p:txBody>
          </p:sp>
          <p:pic>
            <p:nvPicPr>
              <p:cNvPr id="2" name="Image 1" descr="Coverity | LinkedIn">
                <a:hlinkClick r:id="rId12"/>
                <a:extLst>
                  <a:ext uri="{FF2B5EF4-FFF2-40B4-BE49-F238E27FC236}">
                    <a16:creationId xmlns:a16="http://schemas.microsoft.com/office/drawing/2014/main" id="{F6AABE8C-0AB1-469D-B2C0-A9F9DBE30A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3551422" y="225487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" name="Picture 2" descr="Insurem - Crunchbase Company Profile &amp; Funding">
              <a:extLst>
                <a:ext uri="{FF2B5EF4-FFF2-40B4-BE49-F238E27FC236}">
                  <a16:creationId xmlns:a16="http://schemas.microsoft.com/office/drawing/2014/main" id="{10EE4714-F235-B14F-C1E2-BFD2DD9AA0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6484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02B7F33-65FE-131C-4919-2C329A23EB0A}"/>
              </a:ext>
            </a:extLst>
          </p:cNvPr>
          <p:cNvSpPr/>
          <p:nvPr/>
        </p:nvSpPr>
        <p:spPr>
          <a:xfrm>
            <a:off x="329746" y="2235682"/>
            <a:ext cx="6198508" cy="98805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Des garanties particulièrement performantes en terme de rapport qualité /prix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E162AE4-139C-BD01-2988-DE899990DAEC}"/>
              </a:ext>
            </a:extLst>
          </p:cNvPr>
          <p:cNvSpPr/>
          <p:nvPr/>
        </p:nvSpPr>
        <p:spPr>
          <a:xfrm>
            <a:off x="348343" y="3347335"/>
            <a:ext cx="6198508" cy="6920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adhésion rapide en ligne avec la signature électronique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411AD06-7738-5C96-7B86-AF3B1A6DA279}"/>
              </a:ext>
            </a:extLst>
          </p:cNvPr>
          <p:cNvSpPr/>
          <p:nvPr/>
        </p:nvSpPr>
        <p:spPr>
          <a:xfrm>
            <a:off x="348343" y="4171328"/>
            <a:ext cx="6198508" cy="6920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reprise à la concurrence facilitée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avec la prise en charge de l’envoi de la résiliation en cas de RIA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9C93BDE-EA47-7BB9-5461-311B0E551E51}"/>
              </a:ext>
            </a:extLst>
          </p:cNvPr>
          <p:cNvSpPr/>
          <p:nvPr/>
        </p:nvSpPr>
        <p:spPr>
          <a:xfrm>
            <a:off x="348343" y="6140685"/>
            <a:ext cx="6198508" cy="95940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Une Indemnité journalière Hospitalisation </a:t>
            </a:r>
          </a:p>
          <a:p>
            <a:pPr algn="ctr"/>
            <a:r>
              <a:rPr lang="fr-FR" b="1" dirty="0"/>
              <a:t>à la suite d’un accident en inclusion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Jusqu’à 35 €/Jour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713EFFF2-864A-4877-4886-9A5855A88DDC}"/>
              </a:ext>
            </a:extLst>
          </p:cNvPr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EE60AE9E-7261-071B-B3E5-A4F8FD7257F9}"/>
                </a:ext>
              </a:extLst>
            </p:cNvPr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/>
                <a:t>Pourquoi choisir Cover Santé TNS Plus </a:t>
              </a:r>
              <a:r>
                <a:rPr lang="fr-FR" sz="2800" b="1" dirty="0" err="1"/>
                <a:t>Hospi</a:t>
              </a:r>
              <a:r>
                <a:rPr lang="fr-FR" sz="2800" b="1" dirty="0"/>
                <a:t> ?</a:t>
              </a:r>
            </a:p>
          </p:txBody>
        </p:sp>
        <p:pic>
          <p:nvPicPr>
            <p:cNvPr id="3074" name="Picture 2" descr="Bonne idée - Icônes commercialisation gratuites">
              <a:extLst>
                <a:ext uri="{FF2B5EF4-FFF2-40B4-BE49-F238E27FC236}">
                  <a16:creationId xmlns:a16="http://schemas.microsoft.com/office/drawing/2014/main" id="{C58FC8EA-8503-2CE3-1B86-5D230745AD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230" y="945460"/>
              <a:ext cx="1035502" cy="103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914D48B-1535-6083-5086-2BF19F9C2A97}"/>
              </a:ext>
            </a:extLst>
          </p:cNvPr>
          <p:cNvSpPr/>
          <p:nvPr/>
        </p:nvSpPr>
        <p:spPr>
          <a:xfrm>
            <a:off x="345621" y="7259037"/>
            <a:ext cx="6198508" cy="122456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L’assistance MONDIALE ASSISTANCE en inclusion :  </a:t>
            </a:r>
          </a:p>
          <a:p>
            <a:pPr algn="ctr"/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Services d’Assistance haut de gamme : téléconsultation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(5 consultations /an /bénéficiaire), services d’aide à domicile, téléassistance soutien psychologique, portail coach bienêtre, conseil santé &amp; bien-être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CA643D25-4A39-9DE0-7790-3BDE3C5DFC35}"/>
              </a:ext>
            </a:extLst>
          </p:cNvPr>
          <p:cNvSpPr/>
          <p:nvPr/>
        </p:nvSpPr>
        <p:spPr>
          <a:xfrm>
            <a:off x="345621" y="5022334"/>
            <a:ext cx="6198508" cy="95940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>
                <a:solidFill>
                  <a:schemeClr val="bg1"/>
                </a:solidFill>
              </a:rPr>
              <a:t>Une option SURCO pouvant être souscrite en complément de la formule de base à partir du niveau 2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79EE654-2604-97C0-1D04-884E842C23B7}"/>
              </a:ext>
            </a:extLst>
          </p:cNvPr>
          <p:cNvSpPr/>
          <p:nvPr/>
        </p:nvSpPr>
        <p:spPr>
          <a:xfrm>
            <a:off x="329746" y="8614510"/>
            <a:ext cx="6198508" cy="69205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>
                <a:solidFill>
                  <a:schemeClr val="bg1"/>
                </a:solidFill>
              </a:rPr>
              <a:t>La téléconsultation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577660BE-0CC6-1EA1-9466-064B7E00A429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FD9C9985-1F72-1FDF-A96F-001A459B03A9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6" name="Rectangle : coins arrondis 15">
                <a:extLst>
                  <a:ext uri="{FF2B5EF4-FFF2-40B4-BE49-F238E27FC236}">
                    <a16:creationId xmlns:a16="http://schemas.microsoft.com/office/drawing/2014/main" id="{311C5B1A-621A-5472-3BF6-5B30E94C9102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Cover Santé TNS Plus </a:t>
                </a:r>
                <a:r>
                  <a:rPr lang="fr-FR" b="1" dirty="0" err="1">
                    <a:solidFill>
                      <a:schemeClr val="tx1"/>
                    </a:solidFill>
                  </a:rPr>
                  <a:t>Hospi</a:t>
                </a:r>
                <a:r>
                  <a:rPr lang="fr-FR" b="1" dirty="0">
                    <a:solidFill>
                      <a:schemeClr val="tx1"/>
                    </a:solidFill>
                  </a:rPr>
                  <a:t>   by                               assuré par                                 </a:t>
                </a:r>
              </a:p>
            </p:txBody>
          </p:sp>
          <p:pic>
            <p:nvPicPr>
              <p:cNvPr id="21" name="Image 20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E1067E15-F161-6083-91C6-11FC2D539D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3551422" y="225487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" name="Picture 2" descr="Insurem - Crunchbase Company Profile &amp; Funding">
              <a:extLst>
                <a:ext uri="{FF2B5EF4-FFF2-40B4-BE49-F238E27FC236}">
                  <a16:creationId xmlns:a16="http://schemas.microsoft.com/office/drawing/2014/main" id="{4418B96F-F42B-2674-430E-FE9A716AEC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2545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D0FF6F0-5F64-873F-FF86-A7326CDB5291}"/>
              </a:ext>
            </a:extLst>
          </p:cNvPr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2800" b="1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C5986D92-99B8-6E4D-FE84-54066FA29E96}"/>
              </a:ext>
            </a:extLst>
          </p:cNvPr>
          <p:cNvGrpSpPr/>
          <p:nvPr/>
        </p:nvGrpSpPr>
        <p:grpSpPr>
          <a:xfrm>
            <a:off x="1083167" y="2059970"/>
            <a:ext cx="5099268" cy="1938992"/>
            <a:chOff x="976399" y="1029786"/>
            <a:chExt cx="5099268" cy="1938992"/>
          </a:xfrm>
        </p:grpSpPr>
        <p:pic>
          <p:nvPicPr>
            <p:cNvPr id="4" name="Picture 4" descr="ajuster la conception de l'icône créative 15456496 Art vectoriel chez  Vecteezy">
              <a:extLst>
                <a:ext uri="{FF2B5EF4-FFF2-40B4-BE49-F238E27FC236}">
                  <a16:creationId xmlns:a16="http://schemas.microsoft.com/office/drawing/2014/main" id="{EBA2BF3B-2AAE-90E9-933E-886B791FB2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399" y="1152972"/>
              <a:ext cx="1408933" cy="1032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ZoneTexte 6">
              <a:extLst>
                <a:ext uri="{FF2B5EF4-FFF2-40B4-BE49-F238E27FC236}">
                  <a16:creationId xmlns:a16="http://schemas.microsoft.com/office/drawing/2014/main" id="{9ABACAA6-DE62-5ED1-2AE5-1B7DC150853D}"/>
                </a:ext>
              </a:extLst>
            </p:cNvPr>
            <p:cNvSpPr txBox="1"/>
            <p:nvPr/>
          </p:nvSpPr>
          <p:spPr>
            <a:xfrm>
              <a:off x="2283733" y="1029786"/>
              <a:ext cx="3791934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sz="2400" b="1" dirty="0">
                  <a:solidFill>
                    <a:srgbClr val="0070C0"/>
                  </a:solidFill>
                </a:rPr>
                <a:t>Avec l’option </a:t>
              </a:r>
              <a:r>
                <a:rPr lang="fr-FR" sz="2400" b="1" u="sng" dirty="0">
                  <a:solidFill>
                    <a:srgbClr val="0070C0"/>
                  </a:solidFill>
                </a:rPr>
                <a:t>SURCO</a:t>
              </a:r>
              <a:r>
                <a:rPr lang="fr-FR" sz="2400" b="1" dirty="0">
                  <a:solidFill>
                    <a:srgbClr val="0070C0"/>
                  </a:solidFill>
                </a:rPr>
                <a:t>, Cover Santé TNS Plus </a:t>
              </a:r>
              <a:r>
                <a:rPr lang="fr-FR" sz="2400" b="1" dirty="0" err="1">
                  <a:solidFill>
                    <a:srgbClr val="0070C0"/>
                  </a:solidFill>
                </a:rPr>
                <a:t>Hospi</a:t>
              </a:r>
              <a:r>
                <a:rPr lang="fr-FR" sz="2400" b="1" dirty="0">
                  <a:solidFill>
                    <a:srgbClr val="0070C0"/>
                  </a:solidFill>
                </a:rPr>
                <a:t>, vous donne la possibilité de renforcer toutes vos garanties</a:t>
              </a:r>
            </a:p>
          </p:txBody>
        </p:sp>
      </p:grpSp>
      <p:sp>
        <p:nvSpPr>
          <p:cNvPr id="11" name="ZoneTexte 2074">
            <a:extLst>
              <a:ext uri="{FF2B5EF4-FFF2-40B4-BE49-F238E27FC236}">
                <a16:creationId xmlns:a16="http://schemas.microsoft.com/office/drawing/2014/main" id="{5BD53B45-C007-1682-7612-8CB41CD391B4}"/>
              </a:ext>
            </a:extLst>
          </p:cNvPr>
          <p:cNvSpPr txBox="1"/>
          <p:nvPr/>
        </p:nvSpPr>
        <p:spPr>
          <a:xfrm>
            <a:off x="1261323" y="5874672"/>
            <a:ext cx="48605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</a:rPr>
              <a:t>Gagnez jusqu’à: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15% sur les honoraires</a:t>
            </a:r>
          </a:p>
          <a:p>
            <a:r>
              <a:rPr lang="fr-FR" sz="2000" b="1" dirty="0">
                <a:solidFill>
                  <a:srgbClr val="161615"/>
                </a:solidFill>
                <a:latin typeface="Source Sans Pro" panose="020B0503030403020204" pitchFamily="34" charset="0"/>
                <a:sym typeface="Wingdings" panose="05000000000000000000" pitchFamily="2" charset="2"/>
              </a:rPr>
              <a:t>30€/Jour sur le confort à l’hôpital</a:t>
            </a:r>
          </a:p>
          <a:p>
            <a:endParaRPr lang="fr-FR" sz="2000" b="1" dirty="0">
              <a:solidFill>
                <a:srgbClr val="161615"/>
              </a:solidFill>
              <a:latin typeface="Source Sans Pro" panose="020B0503030403020204" pitchFamily="34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46EC1AF-3EF3-75B0-3CA4-5F6348F5F95D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7551ECF1-3980-AAF9-08EE-C098477D6742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0" name="Rectangle : coins arrondis 19">
                <a:extLst>
                  <a:ext uri="{FF2B5EF4-FFF2-40B4-BE49-F238E27FC236}">
                    <a16:creationId xmlns:a16="http://schemas.microsoft.com/office/drawing/2014/main" id="{1898D6C2-1C79-0A05-B310-57E309F68B4F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Cover Santé TNS Plus </a:t>
                </a:r>
                <a:r>
                  <a:rPr lang="fr-FR" b="1" dirty="0" err="1">
                    <a:solidFill>
                      <a:schemeClr val="tx1"/>
                    </a:solidFill>
                  </a:rPr>
                  <a:t>Hospi</a:t>
                </a:r>
                <a:r>
                  <a:rPr lang="fr-FR" b="1" dirty="0">
                    <a:solidFill>
                      <a:schemeClr val="tx1"/>
                    </a:solidFill>
                  </a:rPr>
                  <a:t>   by                               assuré par                                 </a:t>
                </a:r>
              </a:p>
            </p:txBody>
          </p:sp>
          <p:pic>
            <p:nvPicPr>
              <p:cNvPr id="21" name="Image 20" descr="Coverity | LinkedIn">
                <a:hlinkClick r:id="rId4"/>
                <a:extLst>
                  <a:ext uri="{FF2B5EF4-FFF2-40B4-BE49-F238E27FC236}">
                    <a16:creationId xmlns:a16="http://schemas.microsoft.com/office/drawing/2014/main" id="{9BC540EA-D634-E7C8-442B-CCBACBE38E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3551422" y="225487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8" name="Picture 2" descr="Insurem - Crunchbase Company Profile &amp; Funding">
              <a:extLst>
                <a:ext uri="{FF2B5EF4-FFF2-40B4-BE49-F238E27FC236}">
                  <a16:creationId xmlns:a16="http://schemas.microsoft.com/office/drawing/2014/main" id="{79DA7AA5-CB6A-AE07-2E53-B4930B2BEA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12734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>
            <a:extLst>
              <a:ext uri="{FF2B5EF4-FFF2-40B4-BE49-F238E27FC236}">
                <a16:creationId xmlns:a16="http://schemas.microsoft.com/office/drawing/2014/main" id="{C2F6C4BB-EA66-D03A-153B-2D61066C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3">
            <a:extLst>
              <a:ext uri="{FF2B5EF4-FFF2-40B4-BE49-F238E27FC236}">
                <a16:creationId xmlns:a16="http://schemas.microsoft.com/office/drawing/2014/main" id="{48C0AF2D-79A4-A3D1-A7B0-1BDF5C99461E}"/>
              </a:ext>
            </a:extLst>
          </p:cNvPr>
          <p:cNvSpPr txBox="1"/>
          <p:nvPr/>
        </p:nvSpPr>
        <p:spPr>
          <a:xfrm>
            <a:off x="1771536" y="2388376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l’assistance MONDIAL ?</a:t>
            </a:r>
          </a:p>
        </p:txBody>
      </p:sp>
      <p:sp>
        <p:nvSpPr>
          <p:cNvPr id="3" name="ZoneTexte 11">
            <a:extLst>
              <a:ext uri="{FF2B5EF4-FFF2-40B4-BE49-F238E27FC236}">
                <a16:creationId xmlns:a16="http://schemas.microsoft.com/office/drawing/2014/main" id="{194C1409-BAD0-A388-37CD-329143A3B5C8}"/>
              </a:ext>
            </a:extLst>
          </p:cNvPr>
          <p:cNvSpPr txBox="1"/>
          <p:nvPr/>
        </p:nvSpPr>
        <p:spPr>
          <a:xfrm>
            <a:off x="1089547" y="3567469"/>
            <a:ext cx="491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d’hospitalisation ou d’immobilisation, </a:t>
            </a:r>
          </a:p>
          <a:p>
            <a:pPr algn="ctr"/>
            <a:r>
              <a:rPr lang="fr-FR" b="1" dirty="0"/>
              <a:t>MONDIAL Assistance, vous propose gratuitement: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6E3E7E21-1E36-02F5-465C-3530E4084DCB}"/>
              </a:ext>
            </a:extLst>
          </p:cNvPr>
          <p:cNvGrpSpPr/>
          <p:nvPr/>
        </p:nvGrpSpPr>
        <p:grpSpPr>
          <a:xfrm>
            <a:off x="253134" y="4499042"/>
            <a:ext cx="6020613" cy="811475"/>
            <a:chOff x="400050" y="2786464"/>
            <a:chExt cx="6020613" cy="811475"/>
          </a:xfrm>
        </p:grpSpPr>
        <p:sp>
          <p:nvSpPr>
            <p:cNvPr id="25" name="ZoneTexte 12">
              <a:extLst>
                <a:ext uri="{FF2B5EF4-FFF2-40B4-BE49-F238E27FC236}">
                  <a16:creationId xmlns:a16="http://schemas.microsoft.com/office/drawing/2014/main" id="{0F1B82F0-F5F1-ADEB-C144-B4E7830E47E1}"/>
                </a:ext>
              </a:extLst>
            </p:cNvPr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 l’aide à domicile: (ménage, repas, vaisselle, course à proximité)</a:t>
              </a:r>
            </a:p>
          </p:txBody>
        </p:sp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9968E93F-160D-A179-D850-F4477F79B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050" y="2786464"/>
              <a:ext cx="591075" cy="811475"/>
            </a:xfrm>
            <a:prstGeom prst="rect">
              <a:avLst/>
            </a:prstGeom>
          </p:spPr>
        </p:pic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FCD914FB-BB5A-AC03-BA19-D878523589A0}"/>
              </a:ext>
            </a:extLst>
          </p:cNvPr>
          <p:cNvGrpSpPr/>
          <p:nvPr/>
        </p:nvGrpSpPr>
        <p:grpSpPr>
          <a:xfrm>
            <a:off x="964936" y="5467469"/>
            <a:ext cx="5639929" cy="662278"/>
            <a:chOff x="222327" y="3957748"/>
            <a:chExt cx="6053947" cy="662278"/>
          </a:xfrm>
        </p:grpSpPr>
        <p:sp>
          <p:nvSpPr>
            <p:cNvPr id="22" name="ZoneTexte 16">
              <a:extLst>
                <a:ext uri="{FF2B5EF4-FFF2-40B4-BE49-F238E27FC236}">
                  <a16:creationId xmlns:a16="http://schemas.microsoft.com/office/drawing/2014/main" id="{A2544BD9-18B0-FA3F-DDA8-D48898F294E3}"/>
                </a:ext>
              </a:extLst>
            </p:cNvPr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Livraison des médicaments et matériel médical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2D18653E-F19D-05E6-1B4B-5D43A2068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2327" y="3957748"/>
              <a:ext cx="768798" cy="662278"/>
            </a:xfrm>
            <a:prstGeom prst="rect">
              <a:avLst/>
            </a:prstGeom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74FB25D-6F9C-1F38-624F-9942F912BE50}"/>
              </a:ext>
            </a:extLst>
          </p:cNvPr>
          <p:cNvGrpSpPr/>
          <p:nvPr/>
        </p:nvGrpSpPr>
        <p:grpSpPr>
          <a:xfrm>
            <a:off x="478237" y="6819123"/>
            <a:ext cx="5625681" cy="698501"/>
            <a:chOff x="252596" y="7749113"/>
            <a:chExt cx="5625681" cy="698501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86955C32-EDC3-AFCD-EA4C-7DA5FA9FE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2596" y="7749113"/>
              <a:ext cx="765169" cy="698501"/>
            </a:xfrm>
            <a:prstGeom prst="rect">
              <a:avLst/>
            </a:prstGeom>
          </p:spPr>
        </p:pic>
        <p:sp>
          <p:nvSpPr>
            <p:cNvPr id="21" name="ZoneTexte 2074">
              <a:extLst>
                <a:ext uri="{FF2B5EF4-FFF2-40B4-BE49-F238E27FC236}">
                  <a16:creationId xmlns:a16="http://schemas.microsoft.com/office/drawing/2014/main" id="{F640C1A0-6035-E58B-0EE8-F0A642313C47}"/>
                </a:ext>
              </a:extLst>
            </p:cNvPr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Un soutien pédagogique pour les enfants immobilisés</a:t>
              </a:r>
            </a:p>
          </p:txBody>
        </p:sp>
      </p:grpSp>
      <p:pic>
        <p:nvPicPr>
          <p:cNvPr id="17" name="Image 16" descr="Mondial">
            <a:hlinkClick r:id="rId7"/>
            <a:extLst>
              <a:ext uri="{FF2B5EF4-FFF2-40B4-BE49-F238E27FC236}">
                <a16:creationId xmlns:a16="http://schemas.microsoft.com/office/drawing/2014/main" id="{0EA24949-80D0-BA4D-D6A5-A013A3F01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1" t="6452" r="5199" b="7097"/>
          <a:stretch>
            <a:fillRect/>
          </a:stretch>
        </p:blipFill>
        <p:spPr bwMode="auto">
          <a:xfrm>
            <a:off x="478237" y="2496834"/>
            <a:ext cx="1387521" cy="69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8B1AA187-4968-CCAE-DD7B-0EB8667B26E6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3091DB41-CEC5-F067-A6A0-57C1F82DC205}"/>
                </a:ext>
              </a:extLst>
            </p:cNvPr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9" name="Rectangle : coins arrondis 8">
                <a:extLst>
                  <a:ext uri="{FF2B5EF4-FFF2-40B4-BE49-F238E27FC236}">
                    <a16:creationId xmlns:a16="http://schemas.microsoft.com/office/drawing/2014/main" id="{EF4FB0C1-F42C-E28A-E376-8EC5649512DC}"/>
                  </a:ext>
                </a:extLst>
              </p:cNvPr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/>
              </a:prstGeom>
              <a:solidFill>
                <a:schemeClr val="bg1"/>
              </a:solidFill>
              <a:ln w="44450">
                <a:solidFill>
                  <a:schemeClr val="accent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b="1" dirty="0">
                    <a:solidFill>
                      <a:schemeClr val="tx1"/>
                    </a:solidFill>
                  </a:rPr>
                  <a:t>Cover Santé TNS Plus </a:t>
                </a:r>
                <a:r>
                  <a:rPr lang="fr-FR" b="1" dirty="0" err="1">
                    <a:solidFill>
                      <a:schemeClr val="tx1"/>
                    </a:solidFill>
                  </a:rPr>
                  <a:t>Hospi</a:t>
                </a:r>
                <a:r>
                  <a:rPr lang="fr-FR" b="1" dirty="0">
                    <a:solidFill>
                      <a:schemeClr val="tx1"/>
                    </a:solidFill>
                  </a:rPr>
                  <a:t>   by                               assuré par                                 </a:t>
                </a:r>
              </a:p>
            </p:txBody>
          </p:sp>
          <p:pic>
            <p:nvPicPr>
              <p:cNvPr id="10" name="Image 9" descr="Coverity | LinkedIn">
                <a:hlinkClick r:id="rId9"/>
                <a:extLst>
                  <a:ext uri="{FF2B5EF4-FFF2-40B4-BE49-F238E27FC236}">
                    <a16:creationId xmlns:a16="http://schemas.microsoft.com/office/drawing/2014/main" id="{3F6C1ED0-D4D9-25D4-2000-1C02621CB3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00" b="28501"/>
              <a:stretch/>
            </p:blipFill>
            <p:spPr bwMode="auto">
              <a:xfrm>
                <a:off x="3551422" y="225487"/>
                <a:ext cx="1017738" cy="43597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" name="Picture 2" descr="Insurem - Crunchbase Company Profile &amp; Funding">
              <a:extLst>
                <a:ext uri="{FF2B5EF4-FFF2-40B4-BE49-F238E27FC236}">
                  <a16:creationId xmlns:a16="http://schemas.microsoft.com/office/drawing/2014/main" id="{1F8C8279-7FAF-4DB4-C455-4641A97000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3269" y="138489"/>
              <a:ext cx="538332" cy="538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4581263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1400</TotalTime>
  <Words>306</Words>
  <Application>Microsoft Office PowerPoint</Application>
  <PresentationFormat>Format A4 (210 x 297 mm)</PresentationFormat>
  <Paragraphs>47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Source Sans Pro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Racamier</dc:creator>
  <cp:lastModifiedBy>SOFIANE DEKKAK</cp:lastModifiedBy>
  <cp:revision>47</cp:revision>
  <cp:lastPrinted>2024-03-26T10:36:48Z</cp:lastPrinted>
  <dcterms:created xsi:type="dcterms:W3CDTF">2018-01-12T04:36:24Z</dcterms:created>
  <dcterms:modified xsi:type="dcterms:W3CDTF">2025-09-17T12:41:02Z</dcterms:modified>
</cp:coreProperties>
</file>