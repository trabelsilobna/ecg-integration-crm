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2" r:id="rId5"/>
    <p:sldId id="260" r:id="rId6"/>
    <p:sldId id="263" r:id="rId7"/>
    <p:sldId id="265" r:id="rId8"/>
  </p:sldIdLst>
  <p:sldSz cx="6858000" cy="9906000" type="A4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C65A"/>
    <a:srgbClr val="EDE0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3450" y="9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pPr algn="r"/>
            <a:fld id="{00000000-1234-1234-1234-123412341234}" type="slidenum">
              <a:rPr lang="fr-FR" sz="130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‹N°›</a:t>
            </a:fld>
            <a:endParaRPr lang="fr-FR"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905" indent="-128905" algn="l" defTabSz="514350" rtl="0" eaLnBrk="1" latinLnBrk="0" hangingPunct="1">
        <a:lnSpc>
          <a:spcPct val="90000"/>
        </a:lnSpc>
        <a:spcBef>
          <a:spcPts val="56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60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2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1576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4147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#'6'!A1"/><Relationship Id="rId13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jpeg"/><Relationship Id="rId12" Type="http://schemas.openxmlformats.org/officeDocument/2006/relationships/hyperlink" Target="#'12'!A1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jpeg"/><Relationship Id="rId10" Type="http://schemas.openxmlformats.org/officeDocument/2006/relationships/hyperlink" Target="#'3'!A1"/><Relationship Id="rId4" Type="http://schemas.openxmlformats.org/officeDocument/2006/relationships/image" Target="../media/image2.jpeg"/><Relationship Id="rId9" Type="http://schemas.openxmlformats.org/officeDocument/2006/relationships/image" Target="../media/image5.png"/><Relationship Id="rId14" Type="http://schemas.openxmlformats.org/officeDocument/2006/relationships/hyperlink" Target="#'30'!A1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hyperlink" Target="#'30'!A1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hyperlink" Target="#'30'!A1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#'3'!A1"/><Relationship Id="rId3" Type="http://schemas.openxmlformats.org/officeDocument/2006/relationships/image" Target="../media/image12.png"/><Relationship Id="rId7" Type="http://schemas.openxmlformats.org/officeDocument/2006/relationships/image" Target="../media/image15.jpeg"/><Relationship Id="rId12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jpeg"/><Relationship Id="rId11" Type="http://schemas.openxmlformats.org/officeDocument/2006/relationships/image" Target="../media/image8.jpeg"/><Relationship Id="rId5" Type="http://schemas.microsoft.com/office/2007/relationships/hdphoto" Target="../media/hdphoto2.wdp"/><Relationship Id="rId10" Type="http://schemas.openxmlformats.org/officeDocument/2006/relationships/hyperlink" Target="#'30'!A1"/><Relationship Id="rId4" Type="http://schemas.openxmlformats.org/officeDocument/2006/relationships/image" Target="../media/image13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hyperlink" Target="#'12'!A1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11" Type="http://schemas.openxmlformats.org/officeDocument/2006/relationships/image" Target="../media/image9.jpeg"/><Relationship Id="rId5" Type="http://schemas.openxmlformats.org/officeDocument/2006/relationships/image" Target="../media/image17.png"/><Relationship Id="rId10" Type="http://schemas.openxmlformats.org/officeDocument/2006/relationships/image" Target="../media/image8.jpeg"/><Relationship Id="rId4" Type="http://schemas.openxmlformats.org/officeDocument/2006/relationships/image" Target="../media/image16.png"/><Relationship Id="rId9" Type="http://schemas.openxmlformats.org/officeDocument/2006/relationships/hyperlink" Target="#'30'!A1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12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hyperlink" Target="#'30'!A1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9.jpeg"/><Relationship Id="rId5" Type="http://schemas.openxmlformats.org/officeDocument/2006/relationships/image" Target="../media/image21.png"/><Relationship Id="rId10" Type="http://schemas.openxmlformats.org/officeDocument/2006/relationships/image" Target="../media/image8.jpeg"/><Relationship Id="rId4" Type="http://schemas.openxmlformats.org/officeDocument/2006/relationships/image" Target="../media/image19.png"/><Relationship Id="rId9" Type="http://schemas.openxmlformats.org/officeDocument/2006/relationships/hyperlink" Target="#'30'!A1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dirty="0"/>
              <a:t>FICHE PRODUIT MARS 2014</a:t>
            </a:r>
          </a:p>
        </p:txBody>
      </p:sp>
      <p:sp>
        <p:nvSpPr>
          <p:cNvPr id="1034" name="Rectangle : coins arrondis 1033"/>
          <p:cNvSpPr/>
          <p:nvPr/>
        </p:nvSpPr>
        <p:spPr>
          <a:xfrm>
            <a:off x="1987886" y="1258563"/>
            <a:ext cx="3759200" cy="146393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1600" b="1" dirty="0">
              <a:solidFill>
                <a:schemeClr val="tx1"/>
              </a:solidFill>
            </a:endParaRPr>
          </a:p>
          <a:p>
            <a:pPr algn="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complémentaire santé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via</a:t>
            </a:r>
            <a:r>
              <a:rPr lang="fr-FR" sz="1600" b="1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Contrat responsable</a:t>
            </a: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 une option SURCO</a:t>
            </a:r>
            <a:endParaRPr lang="fr-FR" sz="1600" b="1" dirty="0">
              <a:solidFill>
                <a:schemeClr val="tx1"/>
              </a:solidFill>
            </a:endParaRPr>
          </a:p>
          <a:p>
            <a:pPr algn="r"/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1035" name="Rectangle : coins arrondis 1034"/>
          <p:cNvSpPr/>
          <p:nvPr/>
        </p:nvSpPr>
        <p:spPr>
          <a:xfrm>
            <a:off x="2537786" y="3303999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1600" b="1" dirty="0">
                <a:solidFill>
                  <a:schemeClr val="tx1"/>
                </a:solidFill>
              </a:rPr>
              <a:t>   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 Réseau de soins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</a:t>
            </a:r>
          </a:p>
          <a:p>
            <a:pPr algn="r"/>
            <a:endParaRPr lang="fr-FR" sz="1200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                 Des professionnels  de santé pour des    équipements de qualité à prix réduit</a:t>
            </a:r>
          </a:p>
        </p:txBody>
      </p:sp>
      <p:sp>
        <p:nvSpPr>
          <p:cNvPr id="1037" name="Rectangle : coins arrondis 1036"/>
          <p:cNvSpPr/>
          <p:nvPr/>
        </p:nvSpPr>
        <p:spPr>
          <a:xfrm>
            <a:off x="2569475" y="5452139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   Un Tiers payant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  </a:t>
            </a: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             Un tiers payant national, qui vous évite d’avancer les frais médicaux.</a:t>
            </a:r>
          </a:p>
        </p:txBody>
      </p:sp>
      <p:sp>
        <p:nvSpPr>
          <p:cNvPr id="1039" name="Rectangle : coins arrondis 1038"/>
          <p:cNvSpPr/>
          <p:nvPr/>
        </p:nvSpPr>
        <p:spPr>
          <a:xfrm>
            <a:off x="2154068" y="7505293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000" b="1" dirty="0">
                <a:solidFill>
                  <a:schemeClr val="tx1"/>
                </a:solidFill>
              </a:rPr>
              <a:t>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assistance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</a:t>
            </a:r>
          </a:p>
          <a:p>
            <a:pPr algn="r"/>
            <a:endParaRPr lang="fr-FR" sz="1400" b="1" dirty="0">
              <a:solidFill>
                <a:schemeClr val="tx1"/>
              </a:solidFill>
            </a:endParaRPr>
          </a:p>
          <a:p>
            <a:pPr algn="r"/>
            <a:r>
              <a:rPr lang="fr-FR" sz="1600">
                <a:solidFill>
                  <a:schemeClr val="tx1"/>
                </a:solidFill>
              </a:rPr>
              <a:t>                </a:t>
            </a:r>
            <a:r>
              <a:rPr lang="fr-FR" sz="1200">
                <a:solidFill>
                  <a:schemeClr val="tx1"/>
                </a:solidFill>
              </a:rPr>
              <a:t>Un </a:t>
            </a:r>
            <a:r>
              <a:rPr lang="fr-FR" sz="1200" dirty="0">
                <a:solidFill>
                  <a:schemeClr val="tx1"/>
                </a:solidFill>
              </a:rPr>
              <a:t>service haut de gamme 24h/24, 7j/7 pour vous accompagner en cas de coup dur</a:t>
            </a:r>
            <a:endParaRPr lang="fr-FR" sz="1600" b="1" dirty="0">
              <a:solidFill>
                <a:schemeClr val="tx1"/>
              </a:solidFill>
            </a:endParaRPr>
          </a:p>
        </p:txBody>
      </p:sp>
      <p:grpSp>
        <p:nvGrpSpPr>
          <p:cNvPr id="1052" name="Groupe 1051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1045" name="Ellipse 104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41" name="Picture 18" descr="Modèle Logo Santé Et Forme Physique Logo Médical | PosterMyWall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9" t="11936" r="27063" b="24816"/>
            <a:stretch>
              <a:fillRect/>
            </a:stretch>
          </p:blipFill>
          <p:spPr bwMode="auto">
            <a:xfrm>
              <a:off x="2311520" y="1585367"/>
              <a:ext cx="596138" cy="759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1" name="Groupe 1050"/>
          <p:cNvGrpSpPr/>
          <p:nvPr/>
        </p:nvGrpSpPr>
        <p:grpSpPr>
          <a:xfrm>
            <a:off x="2598871" y="3522153"/>
            <a:ext cx="976837" cy="1010393"/>
            <a:chOff x="2548471" y="3049424"/>
            <a:chExt cx="976837" cy="1010393"/>
          </a:xfrm>
        </p:grpSpPr>
        <p:sp>
          <p:nvSpPr>
            <p:cNvPr id="1047" name="Ellipse 1046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43" name="Picture 14" descr="Réseaux de soins et de professionnels - Uneoreilleavertie.com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11" t="12370" r="8264" b="17480"/>
            <a:stretch>
              <a:fillRect/>
            </a:stretch>
          </p:blipFill>
          <p:spPr bwMode="auto">
            <a:xfrm>
              <a:off x="2693612" y="3280574"/>
              <a:ext cx="670266" cy="5771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0" name="Groupe 1049"/>
          <p:cNvGrpSpPr/>
          <p:nvPr/>
        </p:nvGrpSpPr>
        <p:grpSpPr>
          <a:xfrm>
            <a:off x="2639176" y="5695530"/>
            <a:ext cx="976837" cy="1010393"/>
            <a:chOff x="2693612" y="4712978"/>
            <a:chExt cx="976837" cy="1010393"/>
          </a:xfrm>
        </p:grpSpPr>
        <p:sp>
          <p:nvSpPr>
            <p:cNvPr id="1048" name="Ellipse 1047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44" name="Picture 16" descr="Tiers payant : qu'est-ce que c'est et comment l'obtenir ?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37" t="4849" r="29792" b="4849"/>
            <a:stretch>
              <a:fillRect/>
            </a:stretch>
          </p:blipFill>
          <p:spPr bwMode="auto">
            <a:xfrm>
              <a:off x="2862942" y="4910684"/>
              <a:ext cx="638175" cy="5960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4" name="Groupe 1053"/>
          <p:cNvGrpSpPr/>
          <p:nvPr/>
        </p:nvGrpSpPr>
        <p:grpSpPr>
          <a:xfrm>
            <a:off x="2235014" y="7750054"/>
            <a:ext cx="976837" cy="1010393"/>
            <a:chOff x="2566518" y="6340968"/>
            <a:chExt cx="976837" cy="1010393"/>
          </a:xfrm>
        </p:grpSpPr>
        <p:sp>
          <p:nvSpPr>
            <p:cNvPr id="1049" name="Ellipse 1048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53" name="Picture 8" descr="Assistance and protection logo work people sign Vector Image"/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06" t="9307" r="19154" b="31895"/>
            <a:stretch>
              <a:fillRect/>
            </a:stretch>
          </p:blipFill>
          <p:spPr bwMode="auto">
            <a:xfrm>
              <a:off x="2781449" y="6523581"/>
              <a:ext cx="577433" cy="603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63" name="Ellipse 1062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2800" b="1" dirty="0">
              <a:solidFill>
                <a:schemeClr val="tx1"/>
              </a:solidFill>
            </a:endParaRPr>
          </a:p>
        </p:txBody>
      </p:sp>
      <p:sp>
        <p:nvSpPr>
          <p:cNvPr id="26" name="Ellipse 25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</a:rPr>
              <a:t>Une </a:t>
            </a:r>
          </a:p>
          <a:p>
            <a:pPr algn="ctr"/>
            <a:r>
              <a:rPr lang="fr-FR" sz="3200" b="1" dirty="0">
                <a:solidFill>
                  <a:schemeClr val="tx1"/>
                </a:solidFill>
              </a:rPr>
              <a:t>solution intégrale </a:t>
            </a:r>
            <a:r>
              <a:rPr lang="fr-FR" b="1" dirty="0">
                <a:solidFill>
                  <a:schemeClr val="tx1"/>
                </a:solidFill>
              </a:rPr>
              <a:t>Pour </a:t>
            </a:r>
          </a:p>
          <a:p>
            <a:pPr algn="ctr"/>
            <a:r>
              <a:rPr lang="fr-FR" b="1" dirty="0">
                <a:solidFill>
                  <a:schemeClr val="tx1"/>
                </a:solidFill>
              </a:rPr>
              <a:t>Les +55 ans</a:t>
            </a:r>
          </a:p>
        </p:txBody>
      </p:sp>
      <p:pic>
        <p:nvPicPr>
          <p:cNvPr id="7" name="Image 6">
            <a:hlinkClick r:id="rId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4913" y="5858775"/>
            <a:ext cx="1550630" cy="630506"/>
          </a:xfrm>
          <a:prstGeom prst="rect">
            <a:avLst/>
          </a:prstGeom>
        </p:spPr>
      </p:pic>
      <p:pic>
        <p:nvPicPr>
          <p:cNvPr id="8" name="Image 7">
            <a:hlinkClick r:id="rId10"/>
          </p:cNvPr>
          <p:cNvPicPr>
            <a:picLocks noChangeAspect="1"/>
          </p:cNvPicPr>
          <p:nvPr/>
        </p:nvPicPr>
        <p:blipFill rotWithShape="1">
          <a:blip r:embed="rId11"/>
          <a:srcRect l="5068" t="23731" r="7826" b="21180"/>
          <a:stretch>
            <a:fillRect/>
          </a:stretch>
        </p:blipFill>
        <p:spPr>
          <a:xfrm>
            <a:off x="4235450" y="3678426"/>
            <a:ext cx="1264018" cy="652073"/>
          </a:xfrm>
          <a:prstGeom prst="rect">
            <a:avLst/>
          </a:prstGeom>
        </p:spPr>
      </p:pic>
      <p:pic>
        <p:nvPicPr>
          <p:cNvPr id="10" name="Image 9" descr="Mondial">
            <a:hlinkClick r:id="rId12"/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1" t="6452" r="5199" b="7097"/>
          <a:stretch>
            <a:fillRect/>
          </a:stretch>
        </p:blipFill>
        <p:spPr bwMode="auto">
          <a:xfrm>
            <a:off x="4235450" y="7850917"/>
            <a:ext cx="1365344" cy="685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e 5">
            <a:extLst>
              <a:ext uri="{FF2B5EF4-FFF2-40B4-BE49-F238E27FC236}">
                <a16:creationId xmlns:a16="http://schemas.microsoft.com/office/drawing/2014/main" id="{1A42FB90-199F-637E-1544-BD631775742F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1" name="Groupe 10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3" name="Rectangle : coins arrondis 2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Santé Cover 55 Plus   by                               assuré par                                 </a:t>
                </a:r>
              </a:p>
            </p:txBody>
          </p:sp>
          <p:pic>
            <p:nvPicPr>
              <p:cNvPr id="2" name="Image 1" descr="Coverity | LinkedIn">
                <a:hlinkClick r:id="rId14"/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>
                <a:fillRect/>
              </a:stretch>
            </p:blipFill>
            <p:spPr bwMode="auto">
              <a:xfrm>
                <a:off x="2628490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" name="Picture 2" descr="Acheel (@acheel_com) / X">
              <a:extLst>
                <a:ext uri="{FF2B5EF4-FFF2-40B4-BE49-F238E27FC236}">
                  <a16:creationId xmlns:a16="http://schemas.microsoft.com/office/drawing/2014/main" id="{2AF8186E-5E6D-BA5B-0719-6EAD1FD804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368" b="29294"/>
            <a:stretch>
              <a:fillRect/>
            </a:stretch>
          </p:blipFill>
          <p:spPr bwMode="auto">
            <a:xfrm>
              <a:off x="5461689" y="164525"/>
              <a:ext cx="1195640" cy="482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2" descr="Acheel (@acheel_com) / X">
            <a:extLst>
              <a:ext uri="{FF2B5EF4-FFF2-40B4-BE49-F238E27FC236}">
                <a16:creationId xmlns:a16="http://schemas.microsoft.com/office/drawing/2014/main" id="{DCF427FD-2BAD-6873-1E5C-AA2CE638F2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68" b="29294"/>
          <a:stretch>
            <a:fillRect/>
          </a:stretch>
        </p:blipFill>
        <p:spPr bwMode="auto">
          <a:xfrm>
            <a:off x="4141528" y="1701888"/>
            <a:ext cx="1195640" cy="48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/>
          <p:cNvSpPr/>
          <p:nvPr/>
        </p:nvSpPr>
        <p:spPr>
          <a:xfrm>
            <a:off x="329746" y="2235682"/>
            <a:ext cx="6198508" cy="98805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Des garanties renforcées sur les postes plébiscités par les + de 55 ans : </a:t>
            </a:r>
            <a:r>
              <a:rPr lang="fr-FR" sz="1400" dirty="0">
                <a:solidFill>
                  <a:schemeClr val="bg1"/>
                </a:solidFill>
              </a:rPr>
              <a:t>hospitalisation, chambre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particulière, médecine naturelle, cure thermale, audiologie</a:t>
            </a:r>
          </a:p>
        </p:txBody>
      </p:sp>
      <p:sp>
        <p:nvSpPr>
          <p:cNvPr id="11" name="Rectangle : coins arrondis 10"/>
          <p:cNvSpPr/>
          <p:nvPr/>
        </p:nvSpPr>
        <p:spPr>
          <a:xfrm>
            <a:off x="348343" y="3347335"/>
            <a:ext cx="6198508" cy="69205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adhésion rapide en ligne avec la signature électronique</a:t>
            </a:r>
          </a:p>
        </p:txBody>
      </p:sp>
      <p:sp>
        <p:nvSpPr>
          <p:cNvPr id="12" name="Rectangle : coins arrondis 11"/>
          <p:cNvSpPr/>
          <p:nvPr/>
        </p:nvSpPr>
        <p:spPr>
          <a:xfrm>
            <a:off x="348343" y="4171328"/>
            <a:ext cx="6198508" cy="6920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reprise à la concurrence facilitée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 </a:t>
            </a:r>
            <a:r>
              <a:rPr lang="fr-FR" sz="1400" dirty="0">
                <a:solidFill>
                  <a:schemeClr val="bg1"/>
                </a:solidFill>
              </a:rPr>
              <a:t>avec la prise en charge de l’envoi de la résiliation en cas de RIA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3" name="Rectangle : coins arrondis 12"/>
          <p:cNvSpPr/>
          <p:nvPr/>
        </p:nvSpPr>
        <p:spPr>
          <a:xfrm>
            <a:off x="351970" y="5022334"/>
            <a:ext cx="6198508" cy="95940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option SURCO pouvant être souscrite en complément de la formule de base à partir du niveau 2</a:t>
            </a:r>
          </a:p>
        </p:txBody>
      </p:sp>
      <p:sp>
        <p:nvSpPr>
          <p:cNvPr id="14" name="Rectangle : coins arrondis 13"/>
          <p:cNvSpPr/>
          <p:nvPr/>
        </p:nvSpPr>
        <p:spPr>
          <a:xfrm>
            <a:off x="348343" y="6140685"/>
            <a:ext cx="6198508" cy="69206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14 professions éligibles pour le poste médecine naturelle</a:t>
            </a:r>
          </a:p>
        </p:txBody>
      </p:sp>
      <p:grpSp>
        <p:nvGrpSpPr>
          <p:cNvPr id="20" name="Groupe 19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5" name="ZoneTexte 4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800" b="1" dirty="0"/>
                <a:t>Pourquoi choisir </a:t>
              </a:r>
              <a:r>
                <a:rPr lang="fr-FR" sz="2800" b="1" dirty="0" err="1"/>
                <a:t>Coverity</a:t>
              </a:r>
              <a:r>
                <a:rPr lang="fr-FR" sz="2800" b="1" dirty="0"/>
                <a:t> Santé Sénior Plus ?</a:t>
              </a:r>
            </a:p>
          </p:txBody>
        </p:sp>
        <p:pic>
          <p:nvPicPr>
            <p:cNvPr id="3074" name="Picture 2" descr="Bonne idée - Icônes commercialisation gratuites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230" y="945460"/>
              <a:ext cx="1035502" cy="1035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 : coins arrondis 1"/>
          <p:cNvSpPr/>
          <p:nvPr/>
        </p:nvSpPr>
        <p:spPr>
          <a:xfrm>
            <a:off x="348343" y="6964679"/>
            <a:ext cx="6198508" cy="80938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L’accès au réseau de soins </a:t>
            </a:r>
            <a:r>
              <a:rPr lang="fr-FR" b="1" dirty="0" err="1">
                <a:solidFill>
                  <a:schemeClr val="bg1"/>
                </a:solidFill>
              </a:rPr>
              <a:t>Santéclair</a:t>
            </a:r>
            <a:r>
              <a:rPr lang="fr-FR" b="1" dirty="0">
                <a:solidFill>
                  <a:schemeClr val="bg1"/>
                </a:solidFill>
              </a:rPr>
              <a:t>, </a:t>
            </a:r>
          </a:p>
          <a:p>
            <a:pPr algn="ctr"/>
            <a:r>
              <a:rPr lang="fr-FR" sz="1200" dirty="0">
                <a:solidFill>
                  <a:schemeClr val="bg1"/>
                </a:solidFill>
              </a:rPr>
              <a:t>Des soins moins onéreux et de qualité, de meilleurs remboursements, des tarifs spécialement négociés auprès de professionnels sélectionnés pour leur expertise et leurs compétences</a:t>
            </a:r>
          </a:p>
        </p:txBody>
      </p:sp>
      <p:sp>
        <p:nvSpPr>
          <p:cNvPr id="7" name="Rectangle : coins arrondis 6"/>
          <p:cNvSpPr/>
          <p:nvPr/>
        </p:nvSpPr>
        <p:spPr>
          <a:xfrm>
            <a:off x="348343" y="7882414"/>
            <a:ext cx="6198508" cy="150333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L’assistance MONDIALE ASSISTANCE en inclusion :  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400" dirty="0">
                <a:solidFill>
                  <a:schemeClr val="bg1"/>
                </a:solidFill>
              </a:rPr>
              <a:t>Services d’Assistance haut de gamme : téléconsultation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(5 consultations /an /bénéficiaire), services d’aide à domicile, téléassistance soutien psychologique, portail coach bienêtre, conseil santé &amp; bien-être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F1C9D3C0-ABD1-A8F0-9A72-EC2FF59C0FFD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9" name="Groupe 18">
              <a:extLst>
                <a:ext uri="{FF2B5EF4-FFF2-40B4-BE49-F238E27FC236}">
                  <a16:creationId xmlns:a16="http://schemas.microsoft.com/office/drawing/2014/main" id="{88447054-0D0F-215F-921B-61E7BDE7BA10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2" name="Rectangle : coins arrondis 21">
                <a:extLst>
                  <a:ext uri="{FF2B5EF4-FFF2-40B4-BE49-F238E27FC236}">
                    <a16:creationId xmlns:a16="http://schemas.microsoft.com/office/drawing/2014/main" id="{61B268A5-65F4-F86B-B80B-CA619323F72A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Santé Cover 55 Plus   by                               assuré par                                 </a:t>
                </a:r>
              </a:p>
            </p:txBody>
          </p:sp>
          <p:pic>
            <p:nvPicPr>
              <p:cNvPr id="23" name="Image 22" descr="Coverity | LinkedIn">
                <a:hlinkClick r:id="rId4"/>
                <a:extLst>
                  <a:ext uri="{FF2B5EF4-FFF2-40B4-BE49-F238E27FC236}">
                    <a16:creationId xmlns:a16="http://schemas.microsoft.com/office/drawing/2014/main" id="{92960D14-F8AE-1438-E477-2D6EAD6F0A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>
                <a:fillRect/>
              </a:stretch>
            </p:blipFill>
            <p:spPr bwMode="auto">
              <a:xfrm>
                <a:off x="2628490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1" name="Picture 2" descr="Acheel (@acheel_com) / X">
              <a:extLst>
                <a:ext uri="{FF2B5EF4-FFF2-40B4-BE49-F238E27FC236}">
                  <a16:creationId xmlns:a16="http://schemas.microsoft.com/office/drawing/2014/main" id="{BC8951DF-D6F5-4816-CB05-72B0FF2BF2B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368" b="29294"/>
            <a:stretch>
              <a:fillRect/>
            </a:stretch>
          </p:blipFill>
          <p:spPr bwMode="auto">
            <a:xfrm>
              <a:off x="5461689" y="164525"/>
              <a:ext cx="1195640" cy="482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2800" b="1" dirty="0"/>
          </a:p>
        </p:txBody>
      </p:sp>
      <p:grpSp>
        <p:nvGrpSpPr>
          <p:cNvPr id="8" name="Groupe 7"/>
          <p:cNvGrpSpPr/>
          <p:nvPr/>
        </p:nvGrpSpPr>
        <p:grpSpPr>
          <a:xfrm>
            <a:off x="829660" y="2290969"/>
            <a:ext cx="5099268" cy="1569660"/>
            <a:chOff x="976399" y="1029786"/>
            <a:chExt cx="5099268" cy="1569660"/>
          </a:xfrm>
        </p:grpSpPr>
        <p:pic>
          <p:nvPicPr>
            <p:cNvPr id="4100" name="Picture 4" descr="ajuster la conception de l'icône créative 15456496 Art vectoriel chez  Vecteezy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6399" y="1152972"/>
              <a:ext cx="1408933" cy="10325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ZoneTexte 6"/>
            <p:cNvSpPr txBox="1"/>
            <p:nvPr/>
          </p:nvSpPr>
          <p:spPr>
            <a:xfrm>
              <a:off x="2283733" y="1029786"/>
              <a:ext cx="3791934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400" b="1" dirty="0">
                  <a:solidFill>
                    <a:srgbClr val="0070C0"/>
                  </a:solidFill>
                </a:rPr>
                <a:t>Avec l’option </a:t>
              </a:r>
              <a:r>
                <a:rPr lang="fr-FR" sz="2400" b="1" u="sng" dirty="0">
                  <a:solidFill>
                    <a:srgbClr val="0070C0"/>
                  </a:solidFill>
                </a:rPr>
                <a:t>SURCO</a:t>
              </a:r>
              <a:r>
                <a:rPr lang="fr-FR" sz="2400" b="1" dirty="0">
                  <a:solidFill>
                    <a:srgbClr val="0070C0"/>
                  </a:solidFill>
                </a:rPr>
                <a:t>, Santé sénior plus, vous donne la possibilité de renforcer toutes vos garanties</a:t>
              </a:r>
            </a:p>
          </p:txBody>
        </p:sp>
      </p:grpSp>
      <p:sp>
        <p:nvSpPr>
          <p:cNvPr id="14" name="ZoneTexte 13"/>
          <p:cNvSpPr txBox="1"/>
          <p:nvPr/>
        </p:nvSpPr>
        <p:spPr>
          <a:xfrm>
            <a:off x="1491774" y="4691551"/>
            <a:ext cx="39062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chemeClr val="bg1">
                    <a:lumMod val="50000"/>
                  </a:schemeClr>
                </a:solidFill>
              </a:rPr>
              <a:t>Gagnez jusqu’à:</a:t>
            </a:r>
          </a:p>
          <a:p>
            <a:endParaRPr lang="fr-FR" sz="2400" b="1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sz="2400" b="1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15% sur l’hospitalisation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sz="2400" b="1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15% sur les soins courants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sz="2400" b="1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25€ sur l’optique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sz="2400" b="1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25% sur le dentaire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sz="2400" b="1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15% sur les aides auditives</a:t>
            </a:r>
            <a:endParaRPr lang="fr-FR" sz="2400" b="1" dirty="0">
              <a:solidFill>
                <a:schemeClr val="bg1">
                  <a:lumMod val="50000"/>
                </a:schemeClr>
              </a:solidFill>
            </a:endParaRPr>
          </a:p>
          <a:p>
            <a:endParaRPr lang="fr-FR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6ABD56E8-516D-5D72-48AD-91C5ACAFFA6C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142A95AE-E6EB-6A14-C55E-194AE71E17B4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2" name="Rectangle : coins arrondis 21">
                <a:extLst>
                  <a:ext uri="{FF2B5EF4-FFF2-40B4-BE49-F238E27FC236}">
                    <a16:creationId xmlns:a16="http://schemas.microsoft.com/office/drawing/2014/main" id="{4575C19E-E8CF-8A7E-8E67-53ACE8B4F9A4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Santé Cover 55 Plus   by                               assuré par                                 </a:t>
                </a:r>
              </a:p>
            </p:txBody>
          </p:sp>
          <p:pic>
            <p:nvPicPr>
              <p:cNvPr id="23" name="Image 22" descr="Coverity | LinkedIn">
                <a:hlinkClick r:id="rId4"/>
                <a:extLst>
                  <a:ext uri="{FF2B5EF4-FFF2-40B4-BE49-F238E27FC236}">
                    <a16:creationId xmlns:a16="http://schemas.microsoft.com/office/drawing/2014/main" id="{F36A74FD-421F-BAE9-AD7F-5CE502EA2E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>
                <a:fillRect/>
              </a:stretch>
            </p:blipFill>
            <p:spPr bwMode="auto">
              <a:xfrm>
                <a:off x="2628490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1" name="Picture 2" descr="Acheel (@acheel_com) / X">
              <a:extLst>
                <a:ext uri="{FF2B5EF4-FFF2-40B4-BE49-F238E27FC236}">
                  <a16:creationId xmlns:a16="http://schemas.microsoft.com/office/drawing/2014/main" id="{26EF93A8-F69B-0C50-5777-98DA5D4A9CE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368" b="29294"/>
            <a:stretch>
              <a:fillRect/>
            </a:stretch>
          </p:blipFill>
          <p:spPr bwMode="auto">
            <a:xfrm>
              <a:off x="5461689" y="164525"/>
              <a:ext cx="1195640" cy="482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50" name="Groupe 4749"/>
          <p:cNvGrpSpPr/>
          <p:nvPr/>
        </p:nvGrpSpPr>
        <p:grpSpPr>
          <a:xfrm>
            <a:off x="13524" y="2264276"/>
            <a:ext cx="6653977" cy="1600438"/>
            <a:chOff x="343724" y="2264276"/>
            <a:chExt cx="6464611" cy="1600438"/>
          </a:xfrm>
        </p:grpSpPr>
        <p:pic>
          <p:nvPicPr>
            <p:cNvPr id="4751" name="Picture 4" descr="Feingeist - Lunette Pour Les Ecran - Free Transparent PNG Clipart Images  Downloa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724" y="2264276"/>
              <a:ext cx="1272560" cy="5703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52" name="ZoneTexte 4751"/>
            <p:cNvSpPr txBox="1"/>
            <p:nvPr/>
          </p:nvSpPr>
          <p:spPr>
            <a:xfrm>
              <a:off x="1382902" y="2264276"/>
              <a:ext cx="5425433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 Le réseau optique de </a:t>
              </a:r>
              <a:r>
                <a:rPr lang="fr-FR" sz="1400" b="1" dirty="0" err="1"/>
                <a:t>Santéclair</a:t>
              </a:r>
              <a:r>
                <a:rPr lang="fr-FR" sz="1400" b="1" dirty="0"/>
                <a:t>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 choix parmi 80 montures exclusives de la collection « Nove Design »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Des tarifs avantageux : jusqu’à – 20 % sur les montures; – 15% sur les solaires de grandes marques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une garantie casse sans franchise durant deux années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Des verres de grandes marques: (Essilor, Nikon, </a:t>
              </a:r>
              <a:r>
                <a:rPr lang="fr-FR" sz="1400" dirty="0" err="1">
                  <a:solidFill>
                    <a:srgbClr val="161615"/>
                  </a:solidFill>
                  <a:latin typeface="Source Sans Pro" panose="020B0503030403020204" pitchFamily="34" charset="0"/>
                </a:rPr>
                <a:t>Optiswiss</a:t>
              </a: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 ou Zeiss).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4753" name="Groupe 4752"/>
          <p:cNvGrpSpPr/>
          <p:nvPr/>
        </p:nvGrpSpPr>
        <p:grpSpPr>
          <a:xfrm>
            <a:off x="1314808" y="4312618"/>
            <a:ext cx="5409936" cy="954107"/>
            <a:chOff x="1730184" y="4376845"/>
            <a:chExt cx="4992359" cy="954107"/>
          </a:xfrm>
        </p:grpSpPr>
        <p:pic>
          <p:nvPicPr>
            <p:cNvPr id="4754" name="Picture 2" descr="Icône D'oreille Pour Vos Sites De Conception Et Projets PNG , Audio, Oreille,  Écoutez Licône PNG et vecteur pour téléchargement gratuit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76" t="19011" r="29441" b="18906"/>
            <a:stretch>
              <a:fillRect/>
            </a:stretch>
          </p:blipFill>
          <p:spPr bwMode="auto">
            <a:xfrm>
              <a:off x="1730184" y="4471524"/>
              <a:ext cx="445059" cy="6488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55" name="ZoneTexte 4754"/>
            <p:cNvSpPr txBox="1"/>
            <p:nvPr/>
          </p:nvSpPr>
          <p:spPr>
            <a:xfrm>
              <a:off x="2175244" y="4376845"/>
              <a:ext cx="4547299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 Le réseau Audio de </a:t>
              </a:r>
              <a:r>
                <a:rPr lang="fr-FR" sz="1400" b="1" dirty="0" err="1"/>
                <a:t>Santéclair</a:t>
              </a:r>
              <a:r>
                <a:rPr lang="fr-FR" sz="1400" b="1" dirty="0"/>
                <a:t>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Des tarifs avantageux : jusqu’à – 35% sur le prix du marché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-10% sur les accessoires, -20% sur les piles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U</a:t>
              </a: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ne garantie « Satisfait ou échangé »</a:t>
              </a:r>
            </a:p>
          </p:txBody>
        </p:sp>
      </p:grpSp>
      <p:grpSp>
        <p:nvGrpSpPr>
          <p:cNvPr id="4756" name="Groupe 4755"/>
          <p:cNvGrpSpPr/>
          <p:nvPr/>
        </p:nvGrpSpPr>
        <p:grpSpPr>
          <a:xfrm>
            <a:off x="239620" y="5760973"/>
            <a:ext cx="5653180" cy="1815882"/>
            <a:chOff x="521694" y="6041286"/>
            <a:chExt cx="5653180" cy="1815882"/>
          </a:xfrm>
        </p:grpSpPr>
        <p:pic>
          <p:nvPicPr>
            <p:cNvPr id="4757" name="Picture 2" descr="Bouton Logo Les Dents - Images vectorielles gratuites sur Pixabay - Pixabay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694" y="6128182"/>
              <a:ext cx="665284" cy="665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58" name="ZoneTexte 4757"/>
            <p:cNvSpPr txBox="1"/>
            <p:nvPr/>
          </p:nvSpPr>
          <p:spPr>
            <a:xfrm>
              <a:off x="1144276" y="6041286"/>
              <a:ext cx="5030598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Le partenariat Dentaire de </a:t>
              </a:r>
              <a:r>
                <a:rPr lang="fr-FR" sz="1400" b="1" dirty="0" err="1"/>
                <a:t>Santéclair</a:t>
              </a:r>
              <a:r>
                <a:rPr lang="fr-FR" sz="1400" b="1" dirty="0"/>
                <a:t>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L</a:t>
              </a: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’accès à 50 cabinets spécialisés en implantologie dentaire, avec 50 chirurgiens-dentistes spécialistes de cette discipline</a:t>
              </a: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.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jusqu’à moins 40 % par rapport aux prix habituellement pratiqué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U</a:t>
              </a: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n certificat qui vous garantira la provenance de l’implant ou de la prothèse.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 annuaire de géolocalisation</a:t>
              </a:r>
            </a:p>
          </p:txBody>
        </p:sp>
      </p:grpSp>
      <p:grpSp>
        <p:nvGrpSpPr>
          <p:cNvPr id="4759" name="Groupe 4758"/>
          <p:cNvGrpSpPr/>
          <p:nvPr/>
        </p:nvGrpSpPr>
        <p:grpSpPr>
          <a:xfrm>
            <a:off x="1261356" y="7858144"/>
            <a:ext cx="5526794" cy="1384995"/>
            <a:chOff x="1261356" y="7832744"/>
            <a:chExt cx="5406144" cy="1384995"/>
          </a:xfrm>
        </p:grpSpPr>
        <p:pic>
          <p:nvPicPr>
            <p:cNvPr id="4760" name="Picture 4" descr="Centre d'ostéopathie - Roxane Gervais St-Amour D.O.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1356" y="7910070"/>
              <a:ext cx="719680" cy="7228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61" name="ZoneTexte 4760"/>
            <p:cNvSpPr txBox="1"/>
            <p:nvPr/>
          </p:nvSpPr>
          <p:spPr>
            <a:xfrm>
              <a:off x="1739850" y="7832744"/>
              <a:ext cx="492765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 Le réseau Ostéopathie de </a:t>
              </a:r>
              <a:r>
                <a:rPr lang="fr-FR" sz="1400" b="1" dirty="0" err="1"/>
                <a:t>Santéclair</a:t>
              </a:r>
              <a:r>
                <a:rPr lang="fr-FR" sz="1400" b="1" dirty="0"/>
                <a:t>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 accès Un réseau d’ostéopathes et de diététiciennes choisis en fonction de leur compétence et de leur sérieux.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D</a:t>
              </a: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es tarifs encadrés et calculés en fonction de leurs zones géographiques, du tiers payant, et de la rapidité du traitement de leur prise en charge grâce aux services en ligne.</a:t>
              </a:r>
            </a:p>
          </p:txBody>
        </p:sp>
      </p:grpSp>
      <p:grpSp>
        <p:nvGrpSpPr>
          <p:cNvPr id="4762" name="Groupe 4761"/>
          <p:cNvGrpSpPr/>
          <p:nvPr/>
        </p:nvGrpSpPr>
        <p:grpSpPr>
          <a:xfrm>
            <a:off x="668442" y="964598"/>
            <a:ext cx="5561135" cy="954107"/>
            <a:chOff x="668442" y="964598"/>
            <a:chExt cx="5561135" cy="954107"/>
          </a:xfrm>
        </p:grpSpPr>
        <p:sp>
          <p:nvSpPr>
            <p:cNvPr id="4763" name="ZoneTexte 4762"/>
            <p:cNvSpPr txBox="1"/>
            <p:nvPr/>
          </p:nvSpPr>
          <p:spPr>
            <a:xfrm>
              <a:off x="2049462" y="964598"/>
              <a:ext cx="418011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800" b="1" dirty="0">
                  <a:solidFill>
                    <a:srgbClr val="0070C0"/>
                  </a:solidFill>
                </a:rPr>
                <a:t>Pourquoi passer par le réseau de soin </a:t>
              </a:r>
              <a:r>
                <a:rPr lang="fr-FR" sz="2800" b="1" dirty="0" err="1">
                  <a:solidFill>
                    <a:srgbClr val="0070C0"/>
                  </a:solidFill>
                </a:rPr>
                <a:t>Santéclair</a:t>
              </a:r>
              <a:r>
                <a:rPr lang="fr-FR" sz="2800" b="1" dirty="0">
                  <a:solidFill>
                    <a:srgbClr val="0070C0"/>
                  </a:solidFill>
                </a:rPr>
                <a:t> ?</a:t>
              </a:r>
            </a:p>
          </p:txBody>
        </p:sp>
        <p:pic>
          <p:nvPicPr>
            <p:cNvPr id="4764" name="Image 4763">
              <a:hlinkClick r:id="rId8"/>
            </p:cNvPr>
            <p:cNvPicPr>
              <a:picLocks noChangeAspect="1"/>
            </p:cNvPicPr>
            <p:nvPr/>
          </p:nvPicPr>
          <p:blipFill rotWithShape="1">
            <a:blip r:embed="rId9"/>
            <a:srcRect l="5068" t="23731" r="7826" b="21180"/>
            <a:stretch>
              <a:fillRect/>
            </a:stretch>
          </p:blipFill>
          <p:spPr>
            <a:xfrm>
              <a:off x="668442" y="1078629"/>
              <a:ext cx="1430087" cy="737743"/>
            </a:xfrm>
            <a:prstGeom prst="rect">
              <a:avLst/>
            </a:prstGeom>
          </p:spPr>
        </p:pic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A45A0855-0E30-A61B-B727-48146F5405C7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2690B68B-5AD4-5E59-1613-D46BE0639BE0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3" name="Rectangle : coins arrondis 12">
                <a:extLst>
                  <a:ext uri="{FF2B5EF4-FFF2-40B4-BE49-F238E27FC236}">
                    <a16:creationId xmlns:a16="http://schemas.microsoft.com/office/drawing/2014/main" id="{CA0B5DB9-EA0C-90C0-D360-203ABEE8833E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Santé Cover 55 Plus   by                               assuré par                                 </a:t>
                </a:r>
              </a:p>
            </p:txBody>
          </p:sp>
          <p:pic>
            <p:nvPicPr>
              <p:cNvPr id="14" name="Image 13" descr="Coverity | LinkedIn">
                <a:hlinkClick r:id="rId10"/>
                <a:extLst>
                  <a:ext uri="{FF2B5EF4-FFF2-40B4-BE49-F238E27FC236}">
                    <a16:creationId xmlns:a16="http://schemas.microsoft.com/office/drawing/2014/main" id="{E812E3A7-78A5-5420-6A48-BFD2EDF986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>
                <a:fillRect/>
              </a:stretch>
            </p:blipFill>
            <p:spPr bwMode="auto">
              <a:xfrm>
                <a:off x="2628490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2" descr="Acheel (@acheel_com) / X">
              <a:extLst>
                <a:ext uri="{FF2B5EF4-FFF2-40B4-BE49-F238E27FC236}">
                  <a16:creationId xmlns:a16="http://schemas.microsoft.com/office/drawing/2014/main" id="{CA383D07-8555-A7A0-4922-EF4BE6933F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368" b="29294"/>
            <a:stretch>
              <a:fillRect/>
            </a:stretch>
          </p:blipFill>
          <p:spPr bwMode="auto">
            <a:xfrm>
              <a:off x="5461689" y="164525"/>
              <a:ext cx="1195640" cy="482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3"/>
          <p:cNvSpPr txBox="1"/>
          <p:nvPr/>
        </p:nvSpPr>
        <p:spPr>
          <a:xfrm>
            <a:off x="1771536" y="2388376"/>
            <a:ext cx="46844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800" b="1" dirty="0">
                <a:solidFill>
                  <a:srgbClr val="0070C0"/>
                </a:solidFill>
              </a:rPr>
              <a:t>Pourquoi faire appel à l’assistance MONDIAL ?</a:t>
            </a:r>
          </a:p>
        </p:txBody>
      </p:sp>
      <p:sp>
        <p:nvSpPr>
          <p:cNvPr id="3" name="ZoneTexte 11"/>
          <p:cNvSpPr txBox="1"/>
          <p:nvPr/>
        </p:nvSpPr>
        <p:spPr>
          <a:xfrm>
            <a:off x="1089547" y="3567469"/>
            <a:ext cx="4910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En cas d’hospitalisation ou d’immobilisation, </a:t>
            </a:r>
          </a:p>
          <a:p>
            <a:pPr algn="ctr"/>
            <a:r>
              <a:rPr lang="fr-FR" b="1" dirty="0"/>
              <a:t>MONDIAL Assistance, vous propose gratuitement:</a:t>
            </a:r>
          </a:p>
        </p:txBody>
      </p:sp>
      <p:grpSp>
        <p:nvGrpSpPr>
          <p:cNvPr id="4" name="Groupe 3"/>
          <p:cNvGrpSpPr/>
          <p:nvPr/>
        </p:nvGrpSpPr>
        <p:grpSpPr>
          <a:xfrm>
            <a:off x="253134" y="4499042"/>
            <a:ext cx="6020613" cy="811475"/>
            <a:chOff x="400050" y="2786464"/>
            <a:chExt cx="6020613" cy="811475"/>
          </a:xfrm>
        </p:grpSpPr>
        <p:sp>
          <p:nvSpPr>
            <p:cNvPr id="25" name="ZoneTexte 12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 l’aide à domicile: (ménage, repas, vaisselle, course à proximité)</a:t>
              </a:r>
            </a:p>
          </p:txBody>
        </p:sp>
        <p:pic>
          <p:nvPicPr>
            <p:cNvPr id="26" name="Image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050" y="2786464"/>
              <a:ext cx="591075" cy="811475"/>
            </a:xfrm>
            <a:prstGeom prst="rect">
              <a:avLst/>
            </a:prstGeom>
          </p:spPr>
        </p:pic>
      </p:grpSp>
      <p:grpSp>
        <p:nvGrpSpPr>
          <p:cNvPr id="6" name="Groupe 5"/>
          <p:cNvGrpSpPr/>
          <p:nvPr/>
        </p:nvGrpSpPr>
        <p:grpSpPr>
          <a:xfrm>
            <a:off x="964936" y="5467469"/>
            <a:ext cx="5639929" cy="662278"/>
            <a:chOff x="222327" y="3957748"/>
            <a:chExt cx="6053947" cy="662278"/>
          </a:xfrm>
        </p:grpSpPr>
        <p:sp>
          <p:nvSpPr>
            <p:cNvPr id="22" name="ZoneTexte 16"/>
            <p:cNvSpPr txBox="1"/>
            <p:nvPr/>
          </p:nvSpPr>
          <p:spPr>
            <a:xfrm>
              <a:off x="943701" y="4097900"/>
              <a:ext cx="533257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Livraison des médicaments et matériel médical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</p:txBody>
        </p:sp>
        <p:pic>
          <p:nvPicPr>
            <p:cNvPr id="23" name="Image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2327" y="3957748"/>
              <a:ext cx="768798" cy="662278"/>
            </a:xfrm>
            <a:prstGeom prst="rect">
              <a:avLst/>
            </a:prstGeom>
          </p:spPr>
        </p:pic>
      </p:grpSp>
      <p:grpSp>
        <p:nvGrpSpPr>
          <p:cNvPr id="15" name="Groupe 14"/>
          <p:cNvGrpSpPr/>
          <p:nvPr/>
        </p:nvGrpSpPr>
        <p:grpSpPr>
          <a:xfrm>
            <a:off x="478237" y="6819123"/>
            <a:ext cx="5625681" cy="698501"/>
            <a:chOff x="252596" y="7749113"/>
            <a:chExt cx="5625681" cy="698501"/>
          </a:xfrm>
        </p:grpSpPr>
        <p:pic>
          <p:nvPicPr>
            <p:cNvPr id="18" name="Image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2596" y="7749113"/>
              <a:ext cx="765169" cy="698501"/>
            </a:xfrm>
            <a:prstGeom prst="rect">
              <a:avLst/>
            </a:prstGeom>
          </p:spPr>
        </p:pic>
        <p:sp>
          <p:nvSpPr>
            <p:cNvPr id="21" name="ZoneTexte 2074"/>
            <p:cNvSpPr txBox="1"/>
            <p:nvPr/>
          </p:nvSpPr>
          <p:spPr>
            <a:xfrm>
              <a:off x="1017765" y="7903002"/>
              <a:ext cx="486051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Un soutien pédagogique pour les enfants immobilisés</a:t>
              </a:r>
            </a:p>
          </p:txBody>
        </p:sp>
      </p:grpSp>
      <p:pic>
        <p:nvPicPr>
          <p:cNvPr id="17" name="Image 16" descr="Mondial">
            <a:hlinkClick r:id="rId7"/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1" t="6452" r="5199" b="7097"/>
          <a:stretch>
            <a:fillRect/>
          </a:stretch>
        </p:blipFill>
        <p:spPr bwMode="auto">
          <a:xfrm>
            <a:off x="478237" y="2496834"/>
            <a:ext cx="1387521" cy="69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e 13">
            <a:extLst>
              <a:ext uri="{FF2B5EF4-FFF2-40B4-BE49-F238E27FC236}">
                <a16:creationId xmlns:a16="http://schemas.microsoft.com/office/drawing/2014/main" id="{47B3B01D-C10E-0917-118A-649E7FEC20A7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AD044988-3FD5-CA48-BD0C-03D79C462FF4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0" name="Rectangle : coins arrondis 19">
                <a:extLst>
                  <a:ext uri="{FF2B5EF4-FFF2-40B4-BE49-F238E27FC236}">
                    <a16:creationId xmlns:a16="http://schemas.microsoft.com/office/drawing/2014/main" id="{B22716A4-B172-9D3D-342C-28ABE2D2CF52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Santé Cover 55 Plus   by                               assuré par                                 </a:t>
                </a:r>
              </a:p>
            </p:txBody>
          </p:sp>
          <p:pic>
            <p:nvPicPr>
              <p:cNvPr id="24" name="Image 23" descr="Coverity | LinkedIn">
                <a:hlinkClick r:id="rId9"/>
                <a:extLst>
                  <a:ext uri="{FF2B5EF4-FFF2-40B4-BE49-F238E27FC236}">
                    <a16:creationId xmlns:a16="http://schemas.microsoft.com/office/drawing/2014/main" id="{C2F49578-1A81-FB3E-41E9-71819B9790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>
                <a:fillRect/>
              </a:stretch>
            </p:blipFill>
            <p:spPr bwMode="auto">
              <a:xfrm>
                <a:off x="2628490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9" name="Picture 2" descr="Acheel (@acheel_com) / X">
              <a:extLst>
                <a:ext uri="{FF2B5EF4-FFF2-40B4-BE49-F238E27FC236}">
                  <a16:creationId xmlns:a16="http://schemas.microsoft.com/office/drawing/2014/main" id="{D759BBC6-6167-1DC5-0E78-4638185993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368" b="29294"/>
            <a:stretch>
              <a:fillRect/>
            </a:stretch>
          </p:blipFill>
          <p:spPr bwMode="auto">
            <a:xfrm>
              <a:off x="5461689" y="164525"/>
              <a:ext cx="1195640" cy="482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100% Santé : des soins pour tous, 100% pris en charg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0" t="9007" r="12611" b="13073"/>
          <a:stretch>
            <a:fillRect/>
          </a:stretch>
        </p:blipFill>
        <p:spPr bwMode="auto">
          <a:xfrm>
            <a:off x="2566913" y="1052692"/>
            <a:ext cx="1489221" cy="106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</a:p>
          <a:p>
            <a:r>
              <a:rPr lang="fr-FR" sz="1600" dirty="0"/>
              <a:t>Si vous ne souhaitez pas bénéficier des équipements compris dans ces paniers, les remboursements se feront selon le niveau de garanties que vous avez choisi.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2400" b="1">
                <a:solidFill>
                  <a:srgbClr val="0070C0"/>
                </a:solidFill>
              </a:defRPr>
            </a:lvl1pPr>
          </a:lstStyle>
          <a:p>
            <a:r>
              <a:rPr lang="fr-FR" sz="1600" dirty="0"/>
              <a:t>QU’EST-CE QUI CHANGE EN PRATIQUE ?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231" y="5368177"/>
            <a:ext cx="2158618" cy="1831149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600" dirty="0"/>
              <a:t>Le professionnel de santé </a:t>
            </a:r>
          </a:p>
          <a:p>
            <a:pPr algn="ctr"/>
            <a:r>
              <a:rPr lang="fr-FR" sz="1600" dirty="0"/>
              <a:t>proposera obligatoirement </a:t>
            </a:r>
          </a:p>
          <a:p>
            <a:pPr algn="ctr"/>
            <a:r>
              <a:rPr lang="fr-FR" sz="1600" dirty="0">
                <a:solidFill>
                  <a:srgbClr val="0070C0"/>
                </a:solidFill>
              </a:rPr>
              <a:t>2 OFFRES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1 Devis sans Reste à charge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1 Devis « Classique »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2400" b="1">
                <a:solidFill>
                  <a:srgbClr val="0070C0"/>
                </a:solidFill>
              </a:defRPr>
            </a:lvl1pPr>
          </a:lstStyle>
          <a:p>
            <a:pPr algn="l"/>
            <a:r>
              <a:rPr lang="fr-FR" sz="1600" dirty="0"/>
              <a:t>Mais aussi:</a:t>
            </a:r>
          </a:p>
        </p:txBody>
      </p:sp>
      <p:cxnSp>
        <p:nvCxnSpPr>
          <p:cNvPr id="27" name="Connecteur droit avec flèche 26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15" name="ZoneTexte 4514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/>
              <a:t>Soin ou équipement entrant dans le</a:t>
            </a:r>
          </a:p>
          <a:p>
            <a:r>
              <a:rPr lang="fr-FR" sz="1100" dirty="0"/>
              <a:t>panier 100% Santé</a:t>
            </a:r>
          </a:p>
        </p:txBody>
      </p:sp>
      <p:sp>
        <p:nvSpPr>
          <p:cNvPr id="4517" name="ZoneTexte 4516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/>
            </a:lvl1pPr>
          </a:lstStyle>
          <a:p>
            <a:pPr algn="ctr"/>
            <a:r>
              <a:rPr lang="fr-FR" dirty="0"/>
              <a:t>Panier à tarif libre et remboursé par</a:t>
            </a:r>
          </a:p>
          <a:p>
            <a:pPr algn="ctr"/>
            <a:r>
              <a:rPr lang="fr-FR" dirty="0"/>
              <a:t>l’assurance complémentaire dans les</a:t>
            </a:r>
          </a:p>
          <a:p>
            <a:pPr algn="ctr"/>
            <a:r>
              <a:rPr lang="fr-FR" dirty="0"/>
              <a:t>conditions prévues par le contrat</a:t>
            </a:r>
          </a:p>
        </p:txBody>
      </p:sp>
      <p:sp>
        <p:nvSpPr>
          <p:cNvPr id="4519" name="ZoneTexte 4518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600"/>
            </a:lvl1pPr>
          </a:lstStyle>
          <a:p>
            <a:r>
              <a:rPr lang="fr-FR" sz="1400" dirty="0"/>
              <a:t>&gt; Fixation de prix limites de vente (PLV) imposés aux professionnels de santé</a:t>
            </a:r>
          </a:p>
          <a:p>
            <a:r>
              <a:rPr lang="fr-FR" sz="1400" dirty="0"/>
              <a:t>&gt; Augmentation de la base de remboursement (BR) du régime obligatoire (RO) &amp; du remboursement des complémentaires santé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A960B99-32F1-9859-631D-10F9133652DE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B2105CFF-360D-CDDE-354A-A441B68FB6E8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7" name="Rectangle : coins arrondis 16">
                <a:extLst>
                  <a:ext uri="{FF2B5EF4-FFF2-40B4-BE49-F238E27FC236}">
                    <a16:creationId xmlns:a16="http://schemas.microsoft.com/office/drawing/2014/main" id="{5C171D2A-DBD6-6B55-A98E-775F90D66A1E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Santé Cover 55 Plus   by                               assuré par                                 </a:t>
                </a:r>
              </a:p>
            </p:txBody>
          </p:sp>
          <p:pic>
            <p:nvPicPr>
              <p:cNvPr id="18" name="Image 17" descr="Coverity | LinkedIn">
                <a:hlinkClick r:id="rId6"/>
                <a:extLst>
                  <a:ext uri="{FF2B5EF4-FFF2-40B4-BE49-F238E27FC236}">
                    <a16:creationId xmlns:a16="http://schemas.microsoft.com/office/drawing/2014/main" id="{83437843-0FBE-0948-C9D6-F8481DA3C5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>
                <a:fillRect/>
              </a:stretch>
            </p:blipFill>
            <p:spPr bwMode="auto">
              <a:xfrm>
                <a:off x="2628490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" name="Picture 2" descr="Acheel (@acheel_com) / X">
              <a:extLst>
                <a:ext uri="{FF2B5EF4-FFF2-40B4-BE49-F238E27FC236}">
                  <a16:creationId xmlns:a16="http://schemas.microsoft.com/office/drawing/2014/main" id="{64FDEBDC-D590-2C5D-BFEB-E2B1CB1E999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368" b="29294"/>
            <a:stretch>
              <a:fillRect/>
            </a:stretch>
          </p:blipFill>
          <p:spPr bwMode="auto">
            <a:xfrm>
              <a:off x="5461689" y="164525"/>
              <a:ext cx="1195640" cy="482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100% Santé : des soins pour tous, 100% pris en charg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0" t="9007" r="12611" b="13073"/>
          <a:stretch>
            <a:fillRect/>
          </a:stretch>
        </p:blipFill>
        <p:spPr bwMode="auto">
          <a:xfrm>
            <a:off x="2566913" y="980122"/>
            <a:ext cx="1489221" cy="106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98" y="1992003"/>
            <a:ext cx="5911752" cy="7546705"/>
          </a:xfrm>
          <a:prstGeom prst="rect">
            <a:avLst/>
          </a:prstGeom>
        </p:spPr>
      </p:pic>
      <p:pic>
        <p:nvPicPr>
          <p:cNvPr id="4521" name="Image 45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996154"/>
            <a:ext cx="1147989" cy="641789"/>
          </a:xfrm>
          <a:prstGeom prst="rect">
            <a:avLst/>
          </a:prstGeom>
        </p:spPr>
      </p:pic>
      <p:pic>
        <p:nvPicPr>
          <p:cNvPr id="4523" name="Image 45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5446720"/>
            <a:ext cx="1147989" cy="637269"/>
          </a:xfrm>
          <a:prstGeom prst="rect">
            <a:avLst/>
          </a:prstGeom>
        </p:spPr>
      </p:pic>
      <p:pic>
        <p:nvPicPr>
          <p:cNvPr id="4525" name="Image 45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7991398"/>
            <a:ext cx="1138950" cy="601113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1E01CDC7-3C04-6C3F-FBB4-73B771E2B5C8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F57EA218-1B28-39C3-F505-A89DDDE714BD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4" name="Rectangle : coins arrondis 13">
                <a:extLst>
                  <a:ext uri="{FF2B5EF4-FFF2-40B4-BE49-F238E27FC236}">
                    <a16:creationId xmlns:a16="http://schemas.microsoft.com/office/drawing/2014/main" id="{A090F4DF-88A4-95B4-CD62-6F23815AD07D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Santé Cover 55 Plus   by                               assuré par                                 </a:t>
                </a:r>
              </a:p>
            </p:txBody>
          </p:sp>
          <p:pic>
            <p:nvPicPr>
              <p:cNvPr id="15" name="Image 14" descr="Coverity | LinkedIn">
                <a:hlinkClick r:id="rId9"/>
                <a:extLst>
                  <a:ext uri="{FF2B5EF4-FFF2-40B4-BE49-F238E27FC236}">
                    <a16:creationId xmlns:a16="http://schemas.microsoft.com/office/drawing/2014/main" id="{8ED52916-2141-5F8C-0268-B6118C0A8BE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>
                <a:fillRect/>
              </a:stretch>
            </p:blipFill>
            <p:spPr bwMode="auto">
              <a:xfrm>
                <a:off x="2628490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3" name="Picture 2" descr="Acheel (@acheel_com) / X">
              <a:extLst>
                <a:ext uri="{FF2B5EF4-FFF2-40B4-BE49-F238E27FC236}">
                  <a16:creationId xmlns:a16="http://schemas.microsoft.com/office/drawing/2014/main" id="{1AFA676E-9098-4699-3751-F06221806B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368" b="29294"/>
            <a:stretch>
              <a:fillRect/>
            </a:stretch>
          </p:blipFill>
          <p:spPr bwMode="auto">
            <a:xfrm>
              <a:off x="5461689" y="164525"/>
              <a:ext cx="1195640" cy="482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</TotalTime>
  <Words>800</Words>
  <Application>Microsoft Office PowerPoint</Application>
  <PresentationFormat>Format A4 (210 x 297 mm)</PresentationFormat>
  <Paragraphs>94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Source Sans Pro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Aurelie Racamier</dc:creator>
  <cp:lastModifiedBy>SOFIANE DEKKAK</cp:lastModifiedBy>
  <cp:revision>45</cp:revision>
  <cp:lastPrinted>2024-03-26T10:36:00Z</cp:lastPrinted>
  <dcterms:created xsi:type="dcterms:W3CDTF">2018-01-12T04:36:00Z</dcterms:created>
  <dcterms:modified xsi:type="dcterms:W3CDTF">2025-09-17T14:19:35Z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1C9749A8BE764D3A8F1A97C08CF7FA8D_12</vt:lpwstr>
  </property>
  <property fmtid="{D5CDD505-2E9C-101B-9397-08002B2CF9AE}" pid="3" name="KSOProductBuildVer">
    <vt:lpwstr>1036-12.2.0.22549</vt:lpwstr>
  </property>
</Properties>
</file>