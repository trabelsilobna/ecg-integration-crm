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2" r:id="rId7"/>
    <p:sldId id="260" r:id="rId8"/>
    <p:sldId id="263" r:id="rId9"/>
    <p:sldId id="265" r:id="rId10"/>
  </p:sldIdLst>
  <p:sldSz cx="6858000" cy="9906000" type="A4"/>
  <p:notesSz cx="710374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50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fr-FR"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905" algn="l" defTabSz="514350" rtl="0" eaLnBrk="1" latinLnBrk="0" hangingPunct="1">
        <a:lnSpc>
          <a:spcPct val="90000"/>
        </a:lnSpc>
        <a:spcBef>
          <a:spcPts val="56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hyperlink" Target="#'3'!A1" TargetMode="External"/><Relationship Id="rId7" Type="http://schemas.openxmlformats.org/officeDocument/2006/relationships/image" Target="../media/image6.png"/><Relationship Id="rId6" Type="http://schemas.openxmlformats.org/officeDocument/2006/relationships/hyperlink" Target="#'6'!A1" TargetMode="External"/><Relationship Id="rId5" Type="http://schemas.openxmlformats.org/officeDocument/2006/relationships/image" Target="../media/image5.jpeg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0.jpeg"/><Relationship Id="rId13" Type="http://schemas.openxmlformats.org/officeDocument/2006/relationships/hyperlink" Target="#'30'!A1" TargetMode="External"/><Relationship Id="rId12" Type="http://schemas.openxmlformats.org/officeDocument/2006/relationships/image" Target="../media/image9.png"/><Relationship Id="rId11" Type="http://schemas.openxmlformats.org/officeDocument/2006/relationships/image" Target="../media/image8.png"/><Relationship Id="rId10" Type="http://schemas.openxmlformats.org/officeDocument/2006/relationships/hyperlink" Target="#'12'!A1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openxmlformats.org/officeDocument/2006/relationships/hyperlink" Target="#'30'!A1" TargetMode="Externa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openxmlformats.org/officeDocument/2006/relationships/hyperlink" Target="#'30'!A1" TargetMode="Externa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hyperlink" Target="#'30'!A1" TargetMode="External"/><Relationship Id="rId7" Type="http://schemas.openxmlformats.org/officeDocument/2006/relationships/image" Target="../media/image7.png"/><Relationship Id="rId6" Type="http://schemas.openxmlformats.org/officeDocument/2006/relationships/hyperlink" Target="#'3'!A1" TargetMode="External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microsoft.com/office/2007/relationships/hdphoto" Target="../media/image15.wdp"/><Relationship Id="rId2" Type="http://schemas.openxmlformats.org/officeDocument/2006/relationships/image" Target="../media/image14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9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0.jpeg"/><Relationship Id="rId7" Type="http://schemas.openxmlformats.org/officeDocument/2006/relationships/hyperlink" Target="#'30'!A1" TargetMode="External"/><Relationship Id="rId6" Type="http://schemas.openxmlformats.org/officeDocument/2006/relationships/image" Target="../media/image8.png"/><Relationship Id="rId5" Type="http://schemas.openxmlformats.org/officeDocument/2006/relationships/hyperlink" Target="#'12'!A1" TargetMode="Externa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hyperlink" Target="#'30'!A1" TargetMode="Externa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0.jpeg"/><Relationship Id="rId7" Type="http://schemas.openxmlformats.org/officeDocument/2006/relationships/hyperlink" Target="#'30'!A1" TargetMode="Externa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  <a:endParaRPr lang="fr-FR" sz="700" dirty="0"/>
          </a:p>
        </p:txBody>
      </p:sp>
      <p:sp>
        <p:nvSpPr>
          <p:cNvPr id="1034" name="Rectangle : coins arrondis 1033"/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  <a:endParaRPr lang="fr-FR" sz="1600" b="1" dirty="0">
              <a:solidFill>
                <a:schemeClr val="tx1"/>
              </a:solidFill>
            </a:endParaRP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deux options SURCO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/>
          <p:cNvSpPr/>
          <p:nvPr/>
        </p:nvSpPr>
        <p:spPr>
          <a:xfrm>
            <a:off x="2537786" y="330399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Des professionnels  de santé pour des    équipements de qualité à prix réduit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037" name="Rectangle : coins arrondis 1036"/>
          <p:cNvSpPr/>
          <p:nvPr/>
        </p:nvSpPr>
        <p:spPr>
          <a:xfrm>
            <a:off x="2569475" y="545213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  <a:endParaRPr lang="fr-FR" sz="14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039" name="Rectangle : coins arrondis 1038"/>
          <p:cNvSpPr/>
          <p:nvPr/>
        </p:nvSpPr>
        <p:spPr>
          <a:xfrm>
            <a:off x="2154068" y="750529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>
                <a:solidFill>
                  <a:schemeClr val="tx1"/>
                </a:solidFill>
              </a:rPr>
              <a:t>                </a:t>
            </a:r>
            <a:r>
              <a:rPr lang="fr-FR" sz="1200">
                <a:solidFill>
                  <a:schemeClr val="tx1"/>
                </a:solidFill>
              </a:rPr>
              <a:t>Un </a:t>
            </a:r>
            <a:r>
              <a:rPr lang="fr-FR" sz="1200" dirty="0">
                <a:solidFill>
                  <a:schemeClr val="tx1"/>
                </a:solidFill>
              </a:rPr>
              <a:t>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>
              <a:fillRect/>
            </a:stretch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/>
          <p:cNvGrpSpPr/>
          <p:nvPr/>
        </p:nvGrpSpPr>
        <p:grpSpPr>
          <a:xfrm>
            <a:off x="2598871" y="3522153"/>
            <a:ext cx="976837" cy="1010393"/>
            <a:chOff x="2548471" y="3049424"/>
            <a:chExt cx="976837" cy="1010393"/>
          </a:xfrm>
        </p:grpSpPr>
        <p:sp>
          <p:nvSpPr>
            <p:cNvPr id="1047" name="Ellipse 1046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>
              <a:fillRect/>
            </a:stretch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/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48" name="Ellipse 1047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>
              <a:fillRect/>
            </a:stretch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/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9" name="Ellipse 1048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  <a:endParaRPr lang="fr-FR" sz="3200" b="1" dirty="0">
              <a:solidFill>
                <a:schemeClr val="tx1"/>
              </a:solidFill>
            </a:endParaRP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+ 55 ans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7" name="Image 6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913" y="5858775"/>
            <a:ext cx="1550630" cy="630506"/>
          </a:xfrm>
          <a:prstGeom prst="rect">
            <a:avLst/>
          </a:prstGeom>
        </p:spPr>
      </p:pic>
      <p:pic>
        <p:nvPicPr>
          <p:cNvPr id="8" name="Image 7">
            <a:hlinkClick r:id="rId8"/>
          </p:cNvPr>
          <p:cNvPicPr>
            <a:picLocks noChangeAspect="1"/>
          </p:cNvPicPr>
          <p:nvPr/>
        </p:nvPicPr>
        <p:blipFill rotWithShape="1">
          <a:blip r:embed="rId9"/>
          <a:srcRect l="5068" t="23731" r="7826" b="21180"/>
          <a:stretch>
            <a:fillRect/>
          </a:stretch>
        </p:blipFill>
        <p:spPr>
          <a:xfrm>
            <a:off x="4235450" y="3678426"/>
            <a:ext cx="1264018" cy="652073"/>
          </a:xfrm>
          <a:prstGeom prst="rect">
            <a:avLst/>
          </a:prstGeom>
        </p:spPr>
      </p:pic>
      <p:pic>
        <p:nvPicPr>
          <p:cNvPr id="10" name="Image 9" descr="Mondial">
            <a:hlinkClick r:id="rId10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235450" y="7850917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5823" y="1641929"/>
            <a:ext cx="949325" cy="676356"/>
          </a:xfrm>
          <a:prstGeom prst="rect">
            <a:avLst/>
          </a:prstGeom>
        </p:spPr>
      </p:pic>
      <p:grpSp>
        <p:nvGrpSpPr>
          <p:cNvPr id="13" name="Groupe 1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" name="Image 1" descr="Coverity | LinkedIn">
                <a:hlinkClick r:id="rId13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/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renforcées sur les postes plébiscités par les + de 55 ans : </a:t>
            </a:r>
            <a:r>
              <a:rPr lang="fr-FR" sz="1400" dirty="0">
                <a:solidFill>
                  <a:schemeClr val="bg1"/>
                </a:solidFill>
              </a:rPr>
              <a:t>hospitalisation, chambre</a:t>
            </a:r>
            <a:endParaRPr lang="fr-FR" sz="1400" dirty="0">
              <a:solidFill>
                <a:schemeClr val="bg1"/>
              </a:solidFill>
            </a:endParaRP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particulière, médecine naturelle, cure thermale, audiologie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/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2" name="Rectangle : coins arrondis 11"/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  <a:endParaRPr lang="fr-FR" b="1" dirty="0">
              <a:solidFill>
                <a:schemeClr val="bg1"/>
              </a:solidFill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/>
          <p:cNvSpPr/>
          <p:nvPr/>
        </p:nvSpPr>
        <p:spPr>
          <a:xfrm>
            <a:off x="351970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Deux options SURCO pouvant être souscrites en complément de la formule de base à partir du niveau 3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/>
          <p:cNvSpPr/>
          <p:nvPr/>
        </p:nvSpPr>
        <p:spPr>
          <a:xfrm>
            <a:off x="348343" y="6140685"/>
            <a:ext cx="6198508" cy="6920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14 professions éligibles pour le poste médecine naturelle</a:t>
            </a:r>
            <a:endParaRPr lang="fr-FR" b="1" dirty="0">
              <a:solidFill>
                <a:schemeClr val="bg1"/>
              </a:solidFill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</a:t>
              </a:r>
              <a:r>
                <a:rPr lang="fr-FR" sz="2800" b="1" dirty="0" err="1"/>
                <a:t>Coverity</a:t>
              </a:r>
              <a:r>
                <a:rPr lang="fr-FR" sz="2800" b="1" dirty="0"/>
                <a:t> Santé Sénior Plus ?</a:t>
              </a:r>
              <a:endParaRPr lang="fr-FR" sz="2800" b="1" dirty="0"/>
            </a:p>
          </p:txBody>
        </p:sp>
        <p:pic>
          <p:nvPicPr>
            <p:cNvPr id="3074" name="Picture 2" descr="Bonne idée - Icônes commercialisation gratuite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 : coins arrondis 1"/>
          <p:cNvSpPr/>
          <p:nvPr/>
        </p:nvSpPr>
        <p:spPr>
          <a:xfrm>
            <a:off x="348343" y="6964679"/>
            <a:ext cx="6198508" cy="80938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</a:t>
            </a:r>
            <a:r>
              <a:rPr lang="fr-FR" b="1" dirty="0" err="1">
                <a:solidFill>
                  <a:schemeClr val="bg1"/>
                </a:solidFill>
              </a:rPr>
              <a:t>Santéclair</a:t>
            </a:r>
            <a:r>
              <a:rPr lang="fr-FR" b="1" dirty="0">
                <a:solidFill>
                  <a:schemeClr val="bg1"/>
                </a:solidFill>
              </a:rPr>
              <a:t>, </a:t>
            </a:r>
            <a:endParaRPr lang="fr-FR" b="1" dirty="0">
              <a:solidFill>
                <a:schemeClr val="bg1"/>
              </a:solidFill>
            </a:endParaRP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348343" y="7882414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  <a:endParaRPr lang="fr-FR" b="1" dirty="0">
              <a:solidFill>
                <a:schemeClr val="bg1"/>
              </a:solidFill>
            </a:endParaRP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  <a:endParaRPr lang="fr-FR" sz="1400" dirty="0">
              <a:solidFill>
                <a:schemeClr val="bg1"/>
              </a:solidFill>
            </a:endParaRP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  <a:endParaRPr lang="fr-FR" sz="1400" dirty="0">
              <a:solidFill>
                <a:schemeClr val="bg1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9" name="Groupe 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" name="Rectangle : coins arrondis 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7" name="Image 16" descr="Coverity | LinkedIn">
                <a:hlinkClick r:id="rId2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8" name="Groupe 7"/>
          <p:cNvGrpSpPr/>
          <p:nvPr/>
        </p:nvGrpSpPr>
        <p:grpSpPr>
          <a:xfrm>
            <a:off x="829660" y="2290969"/>
            <a:ext cx="5099268" cy="1938992"/>
            <a:chOff x="976399" y="1029786"/>
            <a:chExt cx="5099268" cy="1938992"/>
          </a:xfrm>
        </p:grpSpPr>
        <p:pic>
          <p:nvPicPr>
            <p:cNvPr id="4100" name="Picture 4" descr="ajuster la conception de l'icône créative 15456496 Art vectoriel chez  Vecteezy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/>
            <p:cNvSpPr txBox="1"/>
            <p:nvPr/>
          </p:nvSpPr>
          <p:spPr>
            <a:xfrm>
              <a:off x="2283733" y="1029786"/>
              <a:ext cx="379193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Avec les options </a:t>
              </a:r>
              <a:r>
                <a:rPr lang="fr-FR" sz="2400" b="1" u="sng" dirty="0">
                  <a:solidFill>
                    <a:srgbClr val="0070C0"/>
                  </a:solidFill>
                </a:rPr>
                <a:t>SURCO</a:t>
              </a:r>
              <a:r>
                <a:rPr lang="fr-FR" sz="2400" b="1" dirty="0">
                  <a:solidFill>
                    <a:srgbClr val="0070C0"/>
                  </a:solidFill>
                </a:rPr>
                <a:t>, Santé sénior plus, vous donne la possibilité de renforcer toutes vos garanties</a:t>
              </a:r>
              <a:endParaRPr lang="fr-FR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5" name="ZoneTexte 2074"/>
          <p:cNvSpPr txBox="1"/>
          <p:nvPr/>
        </p:nvSpPr>
        <p:spPr>
          <a:xfrm>
            <a:off x="829660" y="4598593"/>
            <a:ext cx="48605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Avec </a:t>
            </a:r>
            <a:r>
              <a:rPr lang="fr-FR" sz="2000" b="1" dirty="0" err="1">
                <a:solidFill>
                  <a:srgbClr val="161615"/>
                </a:solidFill>
                <a:latin typeface="Source Sans Pro" panose="020B0503030403020204" pitchFamily="34" charset="0"/>
              </a:rPr>
              <a:t>Surco</a:t>
            </a: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 1, gagnez jusqu’à: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15% sur l’hospitalisation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  <a:sym typeface="Wingdings" panose="05000000000000000000" pitchFamily="2" charset="2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15% sur les soins courants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ZoneTexte 2074"/>
          <p:cNvSpPr txBox="1"/>
          <p:nvPr/>
        </p:nvSpPr>
        <p:spPr>
          <a:xfrm>
            <a:off x="1573951" y="6404235"/>
            <a:ext cx="4860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Avec </a:t>
            </a:r>
            <a:r>
              <a:rPr lang="fr-FR" sz="2000" b="1" dirty="0" err="1">
                <a:solidFill>
                  <a:srgbClr val="161615"/>
                </a:solidFill>
                <a:latin typeface="Source Sans Pro" panose="020B0503030403020204" pitchFamily="34" charset="0"/>
              </a:rPr>
              <a:t>Surco</a:t>
            </a: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 2, gagnez jusqu’à: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100 € sur l’optique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25% et 200€ sur le dentaire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100% sur les aides auditives</a:t>
            </a: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  <a:sym typeface="Wingdings" panose="05000000000000000000" pitchFamily="2" charset="2"/>
            </a:endParaRPr>
          </a:p>
          <a:p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" name="Rectangle : coins arrondis 1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Image 14" descr="Coverity | LinkedIn">
                <a:hlinkClick r:id="rId2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50" name="Groupe 4749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id="4751" name="Picture 4" descr="Feingeist - Lunette Pour Les Ecran - Free Transparent PNG Clipart Images  Downloa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2" name="ZoneTexte 4751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  <a:endParaRPr lang="fr-FR" sz="1400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choix parmi 80 montures exclusives de la collection « Nove Design »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20 % sur les montures; – 15% sur les solaires de grandes marques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casse sans franchise durant deux années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verres de grandes marques: (Essilor, Nikon, </a:t>
              </a:r>
              <a:r>
                <a:rPr lang="fr-FR" sz="1400" dirty="0" err="1">
                  <a:solidFill>
                    <a:srgbClr val="161615"/>
                  </a:solidFill>
                  <a:latin typeface="Source Sans Pro" panose="020B0503030403020204" pitchFamily="34" charset="0"/>
                </a:rPr>
                <a:t>Optiswiss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 ou Zeiss).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3" name="Groupe 4752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id="4754" name="Picture 2" descr="Icône D'oreille Pour Vos Sites De Conception Et Projets PNG , Audio, Oreille,  Écoutez Licône PNG et vecteur pour téléchargement gratui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>
              <a:fillRect/>
            </a:stretch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5" name="ZoneTexte 4754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  <a:endParaRPr lang="fr-FR" sz="1400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35% sur le prix du marché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-10% sur les accessoires, -20% sur les piles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ne garantie « Satisfait ou échangé »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6" name="Groupe 4755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4757" name="Picture 2" descr="Bouton Logo Les Dents - Images vectorielles gratuites sur Pixabay - Pixabay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8" name="ZoneTexte 475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  <a:endParaRPr lang="fr-FR" sz="1400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’accès à 50 cabinets spécialisés en implantologie dentaire, avec 50 chirurgiens-dentistes spécialistes de cette discipline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jusqu’à moins 40 % par rapport aux prix habituellement pratiqué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 certificat qui vous garantira la provenance de l’implant ou de la prothèse.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annuaire de géolocalisation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9" name="Groupe 4758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id="4760" name="Picture 4" descr="Centre d'ostéopathie - Roxane Gervais St-Amour D.O.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1" name="ZoneTexte 4760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  <a:endParaRPr lang="fr-FR" sz="1400" b="1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Un réseau d’ostéopathes et de diététiciennes choisis en fonction de leur compétence et de leur sérieux.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es tarifs encadrés et calculés en fonction de leurs zones géographiques, du tiers payant, et de la rapidité du traitement de leur prise en charge grâce aux services en ligne.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62" name="Groupe 4761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4763" name="ZoneTexte 4762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</a:t>
              </a:r>
              <a:r>
                <a:rPr lang="fr-FR" sz="2800" b="1" dirty="0" err="1">
                  <a:solidFill>
                    <a:srgbClr val="0070C0"/>
                  </a:solidFill>
                </a:rPr>
                <a:t>Santéclair</a:t>
              </a:r>
              <a:r>
                <a:rPr lang="fr-FR" sz="2800" b="1" dirty="0">
                  <a:solidFill>
                    <a:srgbClr val="0070C0"/>
                  </a:solidFill>
                </a:rPr>
                <a:t> ?</a:t>
              </a:r>
              <a:endParaRPr lang="fr-FR" sz="2800" b="1" dirty="0">
                <a:solidFill>
                  <a:srgbClr val="0070C0"/>
                </a:solidFill>
              </a:endParaRPr>
            </a:p>
          </p:txBody>
        </p:sp>
        <p:pic>
          <p:nvPicPr>
            <p:cNvPr id="4764" name="Image 4763">
              <a:hlinkClick r:id="rId6"/>
            </p:cNvPr>
            <p:cNvPicPr>
              <a:picLocks noChangeAspect="1"/>
            </p:cNvPicPr>
            <p:nvPr/>
          </p:nvPicPr>
          <p:blipFill rotWithShape="1">
            <a:blip r:embed="rId7"/>
            <a:srcRect l="5068" t="23731" r="7826" b="21180"/>
            <a:stretch>
              <a:fillRect/>
            </a:stretch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</p:spPr>
        </p:pic>
      </p:grpSp>
      <p:grpSp>
        <p:nvGrpSpPr>
          <p:cNvPr id="2" name="Groupe 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5" name="Groupe 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7" name="Rectangle : coins arrondis 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8" name="Image 7" descr="Coverity | LinkedIn">
                <a:hlinkClick r:id="rId8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3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3" name="ZoneTexte 11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  <a:endParaRPr lang="fr-FR" b="1" dirty="0"/>
          </a:p>
          <a:p>
            <a:pPr algn="ctr"/>
            <a:r>
              <a:rPr lang="fr-FR" b="1" dirty="0"/>
              <a:t>MONDIAL Assistance, vous propose gratuitement:</a:t>
            </a:r>
            <a:endParaRPr lang="fr-FR" b="1" dirty="0"/>
          </a:p>
        </p:txBody>
      </p:sp>
      <p:grpSp>
        <p:nvGrpSpPr>
          <p:cNvPr id="4" name="Groupe 3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25" name="ZoneTexte 12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6" name="Groupe 5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22" name="ZoneTexte 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5" name="Groupe 14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1" name="ZoneTexte 2074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  <a:endParaRPr lang="fr-FR" sz="1400" dirty="0">
                <a:solidFill>
                  <a:srgbClr val="161615"/>
                </a:solidFill>
                <a:latin typeface="Source Sans Pro" panose="020B0503030403020204" pitchFamily="34" charset="0"/>
              </a:endParaRPr>
            </a:p>
          </p:txBody>
        </p:sp>
      </p:grpSp>
      <p:pic>
        <p:nvPicPr>
          <p:cNvPr id="17" name="Image 16" descr="Mondial">
            <a:hlinkClick r:id="rId5"/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24968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8" name="Groupe 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" name="Rectangle : coins arrondis 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" name="Image 12" descr="Coverity | LinkedIn">
                <a:hlinkClick r:id="rId7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 lang="fr-FR" sz="1600" dirty="0"/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  <a:endParaRPr lang="fr-FR" sz="1600" dirty="0"/>
          </a:p>
        </p:txBody>
      </p:sp>
      <p:sp>
        <p:nvSpPr>
          <p:cNvPr id="7" name="ZoneTexte 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  <a:endParaRPr lang="fr-FR" sz="16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  <a:endParaRPr lang="fr-FR" sz="1600" dirty="0"/>
          </a:p>
          <a:p>
            <a:pPr algn="ctr"/>
            <a:r>
              <a:rPr lang="fr-FR" sz="1600" dirty="0"/>
              <a:t>proposera obligatoirement </a:t>
            </a:r>
            <a:endParaRPr lang="fr-FR" sz="1600" dirty="0"/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  <a:endParaRPr lang="fr-FR" sz="1600" dirty="0">
              <a:solidFill>
                <a:srgbClr val="0070C0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  <a:endParaRPr lang="fr-FR" sz="1600" dirty="0"/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  <a:endParaRPr lang="fr-FR" sz="1100" dirty="0"/>
          </a:p>
          <a:p>
            <a:r>
              <a:rPr lang="fr-FR" sz="1100" dirty="0"/>
              <a:t>panier 100% Santé</a:t>
            </a:r>
            <a:endParaRPr lang="fr-FR" sz="1100" dirty="0"/>
          </a:p>
        </p:txBody>
      </p:sp>
      <p:sp>
        <p:nvSpPr>
          <p:cNvPr id="4517" name="ZoneTexte 451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  <a:endParaRPr lang="fr-FR" dirty="0"/>
          </a:p>
          <a:p>
            <a:pPr algn="ctr"/>
            <a:r>
              <a:rPr lang="fr-FR" dirty="0"/>
              <a:t>l’assurance complémentaire dans les</a:t>
            </a:r>
            <a:endParaRPr lang="fr-FR" dirty="0"/>
          </a:p>
          <a:p>
            <a:pPr algn="ctr"/>
            <a:r>
              <a:rPr lang="fr-FR" dirty="0"/>
              <a:t>conditions prévues par le contrat</a:t>
            </a:r>
            <a:endParaRPr lang="fr-FR" dirty="0"/>
          </a:p>
        </p:txBody>
      </p:sp>
      <p:sp>
        <p:nvSpPr>
          <p:cNvPr id="4519" name="ZoneTexte 45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  <a:endParaRPr lang="fr-FR" sz="1400" dirty="0"/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  <a:endParaRPr lang="fr-FR" sz="1400" dirty="0"/>
          </a:p>
        </p:txBody>
      </p:sp>
      <p:grpSp>
        <p:nvGrpSpPr>
          <p:cNvPr id="5" name="Groupe 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6" name="Groupe 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9" name="Rectangle : coins arrondis 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Image 9" descr="Coverity | LinkedIn">
                <a:hlinkClick r:id="rId4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  <p:grpSp>
        <p:nvGrpSpPr>
          <p:cNvPr id="2" name="Groupe 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5" name="Groupe 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7" name="Rectangle : coins arrondis 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Santé Sénior             by                               assuré par                                 </a:t>
                </a:r>
                <a:endParaRPr lang="fr-FR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9" name="Image 8" descr="Coverity | LinkedIn">
                <a:hlinkClick r:id="rId7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99804" y="214732"/>
              <a:ext cx="531477" cy="378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5374</Words>
  <Application>WPS Presentation</Application>
  <PresentationFormat>Format A4 (210 x 297 mm)</PresentationFormat>
  <Paragraphs>140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Arial</vt:lpstr>
      <vt:lpstr>Source Sans Pro</vt:lpstr>
      <vt:lpstr>Microsoft YaHei</vt:lpstr>
      <vt:lpstr>Arial Unicode MS</vt:lpstr>
      <vt:lpstr>Calibri Light</vt:lpstr>
      <vt:lpstr>Calibri</vt:lpstr>
      <vt:lpstr>Thème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46</cp:revision>
  <cp:lastPrinted>2024-03-26T10:36:00Z</cp:lastPrinted>
  <dcterms:created xsi:type="dcterms:W3CDTF">2018-01-12T04:36:00Z</dcterms:created>
  <dcterms:modified xsi:type="dcterms:W3CDTF">2025-09-17T14:39:37Z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1C9749A8BE764D3A8F1A97C08CF7FA8D_12</vt:lpwstr>
  </property>
  <property fmtid="{D5CDD505-2E9C-101B-9397-08002B2CF9AE}" pid="3" name="KSOProductBuildVer">
    <vt:lpwstr>1036-12.2.0.22549</vt:lpwstr>
  </property>
</Properties>
</file>