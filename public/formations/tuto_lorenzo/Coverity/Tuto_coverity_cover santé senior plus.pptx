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iA3AvkL6kWbBrL7b68I+VLMdeO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sz="1014"/>
            </a:lvl3pPr>
            <a:lvl4pPr lvl="3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15"/>
              <a:buNone/>
              <a:defRPr sz="101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3052" lvl="3" marL="1828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3052" lvl="4" marL="22860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3052" lvl="5" marL="27432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3052" lvl="6" marL="3200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3052" lvl="7" marL="3657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3052" lvl="8" marL="4114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hyperlink" Target="#'6'!A1" TargetMode="External"/><Relationship Id="rId13" Type="http://schemas.openxmlformats.org/officeDocument/2006/relationships/image" Target="../media/image17.png"/><Relationship Id="rId12" Type="http://schemas.openxmlformats.org/officeDocument/2006/relationships/hyperlink" Target="#'3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4.jpg"/><Relationship Id="rId15" Type="http://schemas.openxmlformats.org/officeDocument/2006/relationships/image" Target="../media/image13.png"/><Relationship Id="rId14" Type="http://schemas.openxmlformats.org/officeDocument/2006/relationships/hyperlink" Target="#'12'!A1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hyperlink" Target="#'30'!A1" TargetMode="External"/><Relationship Id="rId8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1.jpg"/><Relationship Id="rId6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1.jpg"/><Relationship Id="rId6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jpg"/><Relationship Id="rId1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22.jpg"/><Relationship Id="rId7" Type="http://schemas.openxmlformats.org/officeDocument/2006/relationships/hyperlink" Target="#'3'!A1" TargetMode="External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jpg"/><Relationship Id="rId1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hyperlink" Target="#'12'!A1" TargetMode="External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hyperlink" Target="#'30'!A1" TargetMode="External"/><Relationship Id="rId7" Type="http://schemas.openxmlformats.org/officeDocument/2006/relationships/image" Target="../media/image1.jpg"/><Relationship Id="rId8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jpg"/><Relationship Id="rId1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une option SURCO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537786" y="3303999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Des professionnels  de santé pour des    équipements de qualité à prix réduit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569475" y="5452139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154068" y="750529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5" name="Google Shape;95;p1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6" name="Google Shape;96;p1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"/>
          <p:cNvGrpSpPr/>
          <p:nvPr/>
        </p:nvGrpSpPr>
        <p:grpSpPr>
          <a:xfrm>
            <a:off x="2598871" y="3522153"/>
            <a:ext cx="976837" cy="1010393"/>
            <a:chOff x="2548471" y="3049424"/>
            <a:chExt cx="976837" cy="1010393"/>
          </a:xfrm>
        </p:grpSpPr>
        <p:sp>
          <p:nvSpPr>
            <p:cNvPr id="98" name="Google Shape;98;p1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9" name="Google Shape;99;p1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1"/>
          <p:cNvGrpSpPr/>
          <p:nvPr/>
        </p:nvGrpSpPr>
        <p:grpSpPr>
          <a:xfrm>
            <a:off x="2639176" y="5695530"/>
            <a:ext cx="976837" cy="1010393"/>
            <a:chOff x="2693612" y="4712978"/>
            <a:chExt cx="976837" cy="1010393"/>
          </a:xfrm>
        </p:grpSpPr>
        <p:sp>
          <p:nvSpPr>
            <p:cNvPr id="101" name="Google Shape;101;p1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2" name="Google Shape;102;p1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"/>
          <p:cNvGrpSpPr/>
          <p:nvPr/>
        </p:nvGrpSpPr>
        <p:grpSpPr>
          <a:xfrm>
            <a:off x="2235014" y="7750054"/>
            <a:ext cx="976837" cy="1010393"/>
            <a:chOff x="2566518" y="6340968"/>
            <a:chExt cx="976837" cy="1010393"/>
          </a:xfrm>
        </p:grpSpPr>
        <p:sp>
          <p:nvSpPr>
            <p:cNvPr id="104" name="Google Shape;104;p1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5" name="Google Shape;105;p1"/>
            <p:cNvPicPr preferRelativeResize="0"/>
            <p:nvPr/>
          </p:nvPicPr>
          <p:blipFill rotWithShape="1">
            <a:blip r:embed="rId6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séniors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09" name="Google Shape;109;p1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Cover Santé sénior plus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10" name="Google Shape;110;p1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28501" l="0" r="0" t="33000"/>
            <a:stretch/>
          </p:blipFill>
          <p:spPr>
            <a:xfrm>
              <a:off x="3123790" y="186071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11" name="Google Shape;111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690664" y="122385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Mutuelle Générale de la Distribution - MGD | LinkedIn" id="112" name="Google Shape;11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9075" y="1585376"/>
            <a:ext cx="765938" cy="76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14913" y="5858775"/>
            <a:ext cx="1550630" cy="63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21179" l="5068" r="7825" t="23731"/>
          <a:stretch/>
        </p:blipFill>
        <p:spPr>
          <a:xfrm>
            <a:off x="4235450" y="3678426"/>
            <a:ext cx="1264018" cy="652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dial" id="115" name="Google Shape;115;p1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7096" l="5390" r="5199" t="6452"/>
          <a:stretch/>
        </p:blipFill>
        <p:spPr>
          <a:xfrm>
            <a:off x="4235450" y="7850917"/>
            <a:ext cx="1365344" cy="68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/>
          <p:nvPr/>
        </p:nvSpPr>
        <p:spPr>
          <a:xfrm>
            <a:off x="329746" y="2235682"/>
            <a:ext cx="6198508" cy="9880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renforcées sur les postes plébiscités par les + de 55 ans 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hospitalisation, chambre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particulière, médecine naturelle, cure thermale, audiologie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48343" y="3347335"/>
            <a:ext cx="6198508" cy="69205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48343" y="4171328"/>
            <a:ext cx="6198508" cy="69206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351970" y="5022334"/>
            <a:ext cx="6198508" cy="95940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option SURCO pouvant être souscrite en complément de la formule de base à partir du niveau 2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348343" y="6140685"/>
            <a:ext cx="6198508" cy="692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 professions éligibles pour le poste médecine naturelle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2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6" name="Google Shape;126;p2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Coverity Santé Sénior Plus ?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Bonne idée - Icônes commercialisation gratuites" id="127" name="Google Shape;12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2"/>
          <p:cNvSpPr/>
          <p:nvPr/>
        </p:nvSpPr>
        <p:spPr>
          <a:xfrm>
            <a:off x="348343" y="696467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Santéclair,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soins moins onéreux et de qualité, de meilleurs remboursements, des tarifs spécialement négociés auprès de professionnels sélectionnés pour leur expertise et leurs compétences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48343" y="788241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MONDIALE ASSISTANCE en inclusion : 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 téléconsultation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(5 consultations /an /bénéficiaire), services d’aide à domicile, téléassistance soutien psychologique, portail coach bienêtre, conseil santé &amp; bien-être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2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31" name="Google Shape;131;p2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Cover Santé sénior plus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32" name="Google Shape;132;p2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28501" l="0" r="0" t="33000"/>
            <a:stretch/>
          </p:blipFill>
          <p:spPr>
            <a:xfrm>
              <a:off x="3123790" y="186071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33" name="Google Shape;133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90664" y="122385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829660" y="2290969"/>
            <a:ext cx="5099268" cy="1569660"/>
            <a:chOff x="976399" y="1029786"/>
            <a:chExt cx="5099268" cy="1569660"/>
          </a:xfrm>
        </p:grpSpPr>
        <p:pic>
          <p:nvPicPr>
            <p:cNvPr descr="ajuster la conception de l'icône créative 15456496 Art vectoriel chez  Vecteezy"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3"/>
            <p:cNvSpPr txBox="1"/>
            <p:nvPr/>
          </p:nvSpPr>
          <p:spPr>
            <a:xfrm>
              <a:off x="2283733" y="1029786"/>
              <a:ext cx="3791934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Avec l’option </a:t>
              </a:r>
              <a:r>
                <a:rPr b="1" lang="fr-FR" sz="2400" u="sng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SURCO</a:t>
              </a: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, Santé sénior plus, vous donne la possibilité de renforcer toutes vos garanties</a:t>
              </a:r>
              <a:endParaRPr b="1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3"/>
          <p:cNvSpPr txBox="1"/>
          <p:nvPr/>
        </p:nvSpPr>
        <p:spPr>
          <a:xfrm>
            <a:off x="1491774" y="4691551"/>
            <a:ext cx="3906201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Gagnez jusqu’à:</a:t>
            </a:r>
            <a:endParaRPr b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🡪"/>
            </a:pPr>
            <a:r>
              <a:rPr b="1" lang="fr-FR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15% sur l’hospitalisation</a:t>
            </a:r>
            <a:endParaRPr b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🡪"/>
            </a:pPr>
            <a:r>
              <a:rPr b="1" lang="fr-FR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15% sur les soins courants</a:t>
            </a:r>
            <a:endParaRPr b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🡪"/>
            </a:pPr>
            <a:r>
              <a:rPr b="1" lang="fr-FR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25€ sur l’optique</a:t>
            </a:r>
            <a:endParaRPr b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🡪"/>
            </a:pPr>
            <a:r>
              <a:rPr b="1" lang="fr-FR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25% sur le dentaire</a:t>
            </a:r>
            <a:endParaRPr b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🡪"/>
            </a:pPr>
            <a:r>
              <a:rPr b="1" lang="fr-FR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15% sur les aides auditives</a:t>
            </a:r>
            <a:endParaRPr b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44" name="Google Shape;144;p3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Cover Santé sénior plus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45" name="Google Shape;145;p3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28501" l="0" r="0" t="33000"/>
            <a:stretch/>
          </p:blipFill>
          <p:spPr>
            <a:xfrm>
              <a:off x="3123790" y="186071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46" name="Google Shape;146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90664" y="122385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descr="Feingeist - Lunette Pour Les Ecran - Free Transparent PNG Clipart Images  Download" id="153" name="Google Shape;153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4"/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Santéclair vous garantie:</a:t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choix parmi 80 montures exclusives de la collection « Nove Design »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20 % sur les montures; – 15% sur les solaires de grandes marques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casse sans franchise durant deux années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verres de grandes marques: (Essilor, Nikon, Optiswiss ou Zeiss).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4"/>
          <p:cNvGrpSpPr/>
          <p:nvPr/>
        </p:nvGrpSpPr>
        <p:grpSpPr>
          <a:xfrm>
            <a:off x="1314808" y="4312618"/>
            <a:ext cx="5409936" cy="954107"/>
            <a:chOff x="1730184" y="4376845"/>
            <a:chExt cx="4992359" cy="954107"/>
          </a:xfrm>
        </p:grpSpPr>
        <p:pic>
          <p:nvPicPr>
            <p:cNvPr descr="Icône D'oreille Pour Vos Sites De Conception Et Projets PNG , Audio, Oreille,  Écoutez Licône PNG et vecteur pour téléchargement gratuit" id="156" name="Google Shape;156;p4"/>
            <p:cNvPicPr preferRelativeResize="0"/>
            <p:nvPr/>
          </p:nvPicPr>
          <p:blipFill rotWithShape="1">
            <a:blip r:embed="rId5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4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Santéclair vous garantie:</a:t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35% sur le prix du marché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-10% sur les accessoires, -20% sur les piles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ne garantie « Satisfait ou échangé »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4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59" name="Google Shape;15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4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Santéclair vous garantie:</a:t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’accès à 50 cabinets spécialisés en implantologie dentaire, avec 50 chirurgiens-dentistes spécialistes de cette discipline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moins 40 % par rapport aux prix habituellement pratiqué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 certificat qui vous garantira la provenance de l’implant ou de la prothèse.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annuaire de géolocalisation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4"/>
          <p:cNvGrpSpPr/>
          <p:nvPr/>
        </p:nvGrpSpPr>
        <p:grpSpPr>
          <a:xfrm>
            <a:off x="1261356" y="7858144"/>
            <a:ext cx="552679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62" name="Google Shape;162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4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Santéclair vous garantie:</a:t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Un réseau d’ostéopathes et de diététiciennes choisis en fonction de leur compétence et de leur sérieux.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es tarifs encadrés et calculés en fonction de leurs zones géographiques, du tiers payant, et de la rapidité du traitement de leur prise en charge grâce aux services en ligne.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668442" y="964598"/>
            <a:ext cx="5561135" cy="954107"/>
            <a:chOff x="668442" y="964598"/>
            <a:chExt cx="5561135" cy="954107"/>
          </a:xfrm>
        </p:grpSpPr>
        <p:sp>
          <p:nvSpPr>
            <p:cNvPr id="165" name="Google Shape;165;p4"/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Santéclair ?</a:t>
              </a:r>
              <a:endParaRPr b="1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6" name="Google Shape;166;p4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21179" l="5068" r="7825" t="23731"/>
            <a:stretch/>
          </p:blipFill>
          <p:spPr>
            <a:xfrm>
              <a:off x="668442" y="1078629"/>
              <a:ext cx="1430087" cy="7377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" name="Google Shape;167;p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68" name="Google Shape;168;p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Cover Santé sénior plus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69" name="Google Shape;169;p4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28501" l="0" r="0" t="33000"/>
            <a:stretch/>
          </p:blipFill>
          <p:spPr>
            <a:xfrm>
              <a:off x="3123790" y="186071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70" name="Google Shape;170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90664" y="122385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1771536" y="238837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MONDIAL ?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089547" y="3567469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MONDIAL Assistance, vous propose gratuitement: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5"/>
          <p:cNvGrpSpPr/>
          <p:nvPr/>
        </p:nvGrpSpPr>
        <p:grpSpPr>
          <a:xfrm>
            <a:off x="253134" y="4499042"/>
            <a:ext cx="6020613" cy="811475"/>
            <a:chOff x="400050" y="2786464"/>
            <a:chExt cx="6020613" cy="811475"/>
          </a:xfrm>
        </p:grpSpPr>
        <p:sp>
          <p:nvSpPr>
            <p:cNvPr id="179" name="Google Shape;179;p5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0" name="Google Shape;18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5"/>
          <p:cNvGrpSpPr/>
          <p:nvPr/>
        </p:nvGrpSpPr>
        <p:grpSpPr>
          <a:xfrm>
            <a:off x="964936" y="5467469"/>
            <a:ext cx="5639929" cy="662278"/>
            <a:chOff x="222327" y="3957748"/>
            <a:chExt cx="6053947" cy="662278"/>
          </a:xfrm>
        </p:grpSpPr>
        <p:sp>
          <p:nvSpPr>
            <p:cNvPr id="182" name="Google Shape;182;p5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médicaments et matériel médical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" name="Google Shape;183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5"/>
          <p:cNvGrpSpPr/>
          <p:nvPr/>
        </p:nvGrpSpPr>
        <p:grpSpPr>
          <a:xfrm>
            <a:off x="478237" y="6819123"/>
            <a:ext cx="5625681" cy="698501"/>
            <a:chOff x="252596" y="7749113"/>
            <a:chExt cx="5625681" cy="698501"/>
          </a:xfrm>
        </p:grpSpPr>
        <p:pic>
          <p:nvPicPr>
            <p:cNvPr id="185" name="Google Shape;185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2596" y="7749113"/>
              <a:ext cx="765169" cy="698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5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soutien pédagogique pour les enfants immobilisés</a:t>
              </a:r>
              <a:endParaRPr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Mondial" id="187" name="Google Shape;187;p5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7096" l="5390" r="5199" t="6452"/>
          <a:stretch/>
        </p:blipFill>
        <p:spPr>
          <a:xfrm>
            <a:off x="478237" y="2496834"/>
            <a:ext cx="1387521" cy="696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89" name="Google Shape;189;p5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Cover Santé sénior plus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190" name="Google Shape;190;p5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28501" l="0" r="0" t="33000"/>
            <a:stretch/>
          </p:blipFill>
          <p:spPr>
            <a:xfrm>
              <a:off x="3123790" y="186071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191" name="Google Shape;191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90664" y="122385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197" name="Google Shape;197;p6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 b="1"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 b="1"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6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6" name="Google Shape;206;p6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7" name="Google Shape;207;p6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11" name="Google Shape;211;p6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Cover Santé sénior plus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212" name="Google Shape;212;p6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28501" l="0" r="0" t="33000"/>
            <a:stretch/>
          </p:blipFill>
          <p:spPr>
            <a:xfrm>
              <a:off x="3123790" y="186071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213" name="Google Shape;213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90664" y="122385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18" name="Google Shape;2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19" name="Google Shape;219;p7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25" name="Google Shape;225;p7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Cover Santé sénior plus    by                           assuré par                                 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verity | LinkedIn" id="226" name="Google Shape;226;p7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28501" l="0" r="0" t="33000"/>
            <a:stretch/>
          </p:blipFill>
          <p:spPr>
            <a:xfrm>
              <a:off x="3123790" y="186071"/>
              <a:ext cx="1017738" cy="43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utuelle Générale de la Distribution - MGD | LinkedIn" id="227" name="Google Shape;227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90664" y="122385"/>
              <a:ext cx="532336" cy="53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2018-01-12T04:36:00Z</dcterms:created>
  <dc:creator>Aurelie Racamier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1C9749A8BE764D3A8F1A97C08CF7FA8D_12</vt:lpwstr>
  </property>
  <property fmtid="{D5CDD505-2E9C-101B-9397-08002B2CF9AE}" pid="3" name="KSOProductBuildVer">
    <vt:lpwstr>1036-12.2.0.22549</vt:lpwstr>
  </property>
</Properties>
</file>