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50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‹N°›</a:t>
            </a:fld>
            <a:endParaRPr lang="fr-FR"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905" algn="l" defTabSz="514350" rtl="0" eaLnBrk="1" latinLnBrk="0" hangingPunct="1">
        <a:lnSpc>
          <a:spcPct val="90000"/>
        </a:lnSpc>
        <a:spcBef>
          <a:spcPts val="56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hyperlink" Target="#'6'!A1"/><Relationship Id="rId12" Type="http://schemas.openxmlformats.org/officeDocument/2006/relationships/hyperlink" Target="#'30'!A1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#'12'!A1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7.jpeg"/><Relationship Id="rId4" Type="http://schemas.openxmlformats.org/officeDocument/2006/relationships/hyperlink" Target="#'30'!A1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7.jpeg"/><Relationship Id="rId4" Type="http://schemas.openxmlformats.org/officeDocument/2006/relationships/hyperlink" Target="#'30'!A1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hyperlink" Target="#'12'!A1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openxmlformats.org/officeDocument/2006/relationships/hyperlink" Target="#'30'!A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/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NON responsable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une option SURCO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7" name="Rectangle : coins arrondis 1036"/>
          <p:cNvSpPr/>
          <p:nvPr/>
        </p:nvSpPr>
        <p:spPr>
          <a:xfrm>
            <a:off x="2569475" y="545213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/>
          <p:cNvSpPr/>
          <p:nvPr/>
        </p:nvSpPr>
        <p:spPr>
          <a:xfrm>
            <a:off x="2154068" y="750529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>
                <a:solidFill>
                  <a:schemeClr val="tx1"/>
                </a:solidFill>
              </a:rPr>
              <a:t>                </a:t>
            </a:r>
            <a:r>
              <a:rPr lang="fr-FR" sz="1200">
                <a:solidFill>
                  <a:schemeClr val="tx1"/>
                </a:solidFill>
              </a:rPr>
              <a:t>Un </a:t>
            </a:r>
            <a:r>
              <a:rPr lang="fr-FR" sz="1200" dirty="0">
                <a:solidFill>
                  <a:schemeClr val="tx1"/>
                </a:solidFill>
              </a:rPr>
              <a:t>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>
              <a:fillRect/>
            </a:stretch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/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48" name="Ellipse 1047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>
              <a:fillRect/>
            </a:stretch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/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9" name="Ellipse 1048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+ 55 ans</a:t>
            </a:r>
          </a:p>
        </p:txBody>
      </p:sp>
      <p:pic>
        <p:nvPicPr>
          <p:cNvPr id="7" name="Imag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4913" y="5858775"/>
            <a:ext cx="1550630" cy="630506"/>
          </a:xfrm>
          <a:prstGeom prst="rect">
            <a:avLst/>
          </a:prstGeom>
        </p:spPr>
      </p:pic>
      <p:pic>
        <p:nvPicPr>
          <p:cNvPr id="10" name="Image 9" descr="Mondial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235450" y="7850917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CCD9D99-CD70-CB72-CB52-BFF8749C51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5823" y="1641929"/>
            <a:ext cx="949325" cy="676356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0A724B98-5C3A-624E-9781-2475634C58D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   by                               assuré par                                 </a:t>
                </a:r>
              </a:p>
            </p:txBody>
          </p:sp>
          <p:pic>
            <p:nvPicPr>
              <p:cNvPr id="2" name="Image 1" descr="Coverity | LinkedIn">
                <a:hlinkClick r:id="rId12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1A0CF701-8E6E-A983-B533-23F9DA434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/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renforcées sur les postes plébiscités par les + de 55 ans : </a:t>
            </a:r>
            <a:r>
              <a:rPr lang="fr-FR" sz="1400" dirty="0">
                <a:solidFill>
                  <a:schemeClr val="bg1"/>
                </a:solidFill>
              </a:rPr>
              <a:t>hospitalisation, chambre particulière, …</a:t>
            </a:r>
          </a:p>
        </p:txBody>
      </p:sp>
      <p:sp>
        <p:nvSpPr>
          <p:cNvPr id="11" name="Rectangle : coins arrondis 10"/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/>
          <p:cNvSpPr/>
          <p:nvPr/>
        </p:nvSpPr>
        <p:spPr>
          <a:xfrm>
            <a:off x="351970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option SURCO pouvant être souscrite en complément de la formule de base à partir du niveau 3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</a:t>
              </a:r>
              <a:r>
                <a:rPr lang="fr-FR" sz="2800" b="1" dirty="0" err="1"/>
                <a:t>Coverity</a:t>
              </a:r>
              <a:r>
                <a:rPr lang="fr-FR" sz="2800" b="1" dirty="0"/>
                <a:t> Santé Sénior </a:t>
              </a:r>
              <a:r>
                <a:rPr lang="fr-FR" sz="2800" b="1" dirty="0" err="1"/>
                <a:t>Hospi</a:t>
              </a:r>
              <a:r>
                <a:rPr lang="fr-FR" sz="2800" b="1" dirty="0"/>
                <a:t> ?</a:t>
              </a:r>
            </a:p>
          </p:txBody>
        </p:sp>
        <p:pic>
          <p:nvPicPr>
            <p:cNvPr id="3074" name="Picture 2" descr="Bonne idée - Icônes commercialisation gratuit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 : coins arrondis 6"/>
          <p:cNvSpPr/>
          <p:nvPr/>
        </p:nvSpPr>
        <p:spPr>
          <a:xfrm>
            <a:off x="348343" y="6155214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320A8C6-9BD7-198F-9715-B6A4F5E43D66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978B5775-476C-9BBF-A2D5-F1B903506A64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C6D9FC7B-C898-9E9B-DC58-2196F91C08E6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   by                               assuré par                                 </a:t>
                </a:r>
              </a:p>
            </p:txBody>
          </p:sp>
          <p:pic>
            <p:nvPicPr>
              <p:cNvPr id="23" name="Image 22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AC7AB79A-A97D-777B-816E-451607EA7E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C1FD2EC5-C1A3-2DC1-E60C-9C6C43C15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8" name="Groupe 7"/>
          <p:cNvGrpSpPr/>
          <p:nvPr/>
        </p:nvGrpSpPr>
        <p:grpSpPr>
          <a:xfrm>
            <a:off x="829660" y="2290969"/>
            <a:ext cx="5099268" cy="1569660"/>
            <a:chOff x="976399" y="1029786"/>
            <a:chExt cx="5099268" cy="1569660"/>
          </a:xfrm>
        </p:grpSpPr>
        <p:pic>
          <p:nvPicPr>
            <p:cNvPr id="4100" name="Picture 4" descr="ajuster la conception de l'icône créative 15456496 Art vectoriel chez  Vecteez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/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Avec l’option </a:t>
              </a:r>
              <a:r>
                <a:rPr lang="fr-FR" sz="2400" b="1" u="sng" dirty="0">
                  <a:solidFill>
                    <a:srgbClr val="0070C0"/>
                  </a:solidFill>
                </a:rPr>
                <a:t>SURCO</a:t>
              </a:r>
              <a:r>
                <a:rPr lang="fr-FR" sz="2400" b="1" dirty="0">
                  <a:solidFill>
                    <a:srgbClr val="0070C0"/>
                  </a:solidFill>
                </a:rPr>
                <a:t>, Santé sénior </a:t>
              </a:r>
              <a:r>
                <a:rPr lang="fr-FR" sz="2400" b="1" dirty="0" err="1">
                  <a:solidFill>
                    <a:srgbClr val="0070C0"/>
                  </a:solidFill>
                </a:rPr>
                <a:t>Hospi</a:t>
              </a:r>
              <a:r>
                <a:rPr lang="fr-FR" sz="2400" b="1" dirty="0">
                  <a:solidFill>
                    <a:srgbClr val="0070C0"/>
                  </a:solidFill>
                </a:rPr>
                <a:t>, vous donne la possibilité de renforcer toutes vos garanties</a:t>
              </a:r>
            </a:p>
          </p:txBody>
        </p:sp>
      </p:grpSp>
      <p:sp>
        <p:nvSpPr>
          <p:cNvPr id="16" name="ZoneTexte 2074">
            <a:extLst>
              <a:ext uri="{FF2B5EF4-FFF2-40B4-BE49-F238E27FC236}">
                <a16:creationId xmlns:a16="http://schemas.microsoft.com/office/drawing/2014/main" id="{316720DA-1A29-1509-5864-D5B4B0904B74}"/>
              </a:ext>
            </a:extLst>
          </p:cNvPr>
          <p:cNvSpPr txBox="1"/>
          <p:nvPr/>
        </p:nvSpPr>
        <p:spPr>
          <a:xfrm>
            <a:off x="1202403" y="5798846"/>
            <a:ext cx="48605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Gagnez jusqu’à: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15% sur les honoraires</a:t>
            </a: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30€/Jour sur le confort à l’hôpital</a:t>
            </a:r>
          </a:p>
          <a:p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0421621-1348-F2FC-A01D-C89FE7619253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157E2FF6-F8CF-C371-272A-B449D800738B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D2A4783E-4A3D-F499-5A92-DDF8EB3FB6B7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   by                               assuré par                                 </a:t>
                </a:r>
              </a:p>
            </p:txBody>
          </p:sp>
          <p:pic>
            <p:nvPicPr>
              <p:cNvPr id="21" name="Image 20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C5FD8815-DE52-3333-651B-41CEB56817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6622F958-FED4-E88A-0F97-0BD940AE7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3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</a:p>
        </p:txBody>
      </p:sp>
      <p:sp>
        <p:nvSpPr>
          <p:cNvPr id="3" name="ZoneTexte 11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MONDIAL Assistance, vous propose gratuitement: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25" name="ZoneTexte 12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</a:p>
          </p:txBody>
        </p: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6" name="Groupe 5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22" name="ZoneTexte 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5" name="Groupe 14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1" name="ZoneTexte 2074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</a:p>
          </p:txBody>
        </p:sp>
      </p:grpSp>
      <p:pic>
        <p:nvPicPr>
          <p:cNvPr id="17" name="Image 16" descr="Mondial">
            <a:hlinkClick r:id="rId7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24968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75545FD9-D246-3DF3-9B3F-B18179B43584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72D02CAD-D9A4-92F0-C992-02BC8DA63F47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83B987BA-8359-9997-9E4E-CC9BF78AC37F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   by                               assuré par                                 </a:t>
                </a:r>
              </a:p>
            </p:txBody>
          </p:sp>
          <p:pic>
            <p:nvPicPr>
              <p:cNvPr id="24" name="Image 23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77FA238E-FC98-AFD9-5354-E0FB109394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10BCF6D2-D6EE-818E-0A5D-C43004274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</TotalTime>
  <Words>300</Words>
  <Application>Microsoft Office PowerPoint</Application>
  <PresentationFormat>Format A4 (210 x 297 mm)</PresentationFormat>
  <Paragraphs>45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46</cp:revision>
  <cp:lastPrinted>2024-03-26T10:36:00Z</cp:lastPrinted>
  <dcterms:created xsi:type="dcterms:W3CDTF">2018-01-12T04:36:00Z</dcterms:created>
  <dcterms:modified xsi:type="dcterms:W3CDTF">2025-09-17T14:43:29Z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1C9749A8BE764D3A8F1A97C08CF7FA8D_12</vt:lpwstr>
  </property>
  <property fmtid="{D5CDD505-2E9C-101B-9397-08002B2CF9AE}" pid="3" name="KSOProductBuildVer">
    <vt:lpwstr>1036-12.2.0.22549</vt:lpwstr>
  </property>
</Properties>
</file>