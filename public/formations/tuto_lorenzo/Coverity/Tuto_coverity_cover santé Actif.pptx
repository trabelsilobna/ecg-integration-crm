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E+0PK80thpaOJEavjtafM4gn/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12'!A1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7.jp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3.jpg"/><Relationship Id="rId9" Type="http://schemas.openxmlformats.org/officeDocument/2006/relationships/hyperlink" Target="#'3'!A1" TargetMode="External"/><Relationship Id="rId15" Type="http://schemas.openxmlformats.org/officeDocument/2006/relationships/image" Target="../media/image4.jpg"/><Relationship Id="rId14" Type="http://schemas.openxmlformats.org/officeDocument/2006/relationships/hyperlink" Target="#'30'!A1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22.jpg"/><Relationship Id="rId7" Type="http://schemas.openxmlformats.org/officeDocument/2006/relationships/hyperlink" Target="#'6'!A1" TargetMode="External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7.jp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jpg"/><Relationship Id="rId1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14.jpg"/><Relationship Id="rId6" Type="http://schemas.openxmlformats.org/officeDocument/2006/relationships/image" Target="../media/image21.jpg"/><Relationship Id="rId7" Type="http://schemas.openxmlformats.org/officeDocument/2006/relationships/hyperlink" Target="#'3'!A1" TargetMode="External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jpg"/><Relationship Id="rId1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hyperlink" Target="#'12'!A1" TargetMode="External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5.png"/><Relationship Id="rId6" Type="http://schemas.openxmlformats.org/officeDocument/2006/relationships/hyperlink" Target="#'30'!A1" TargetMode="External"/><Relationship Id="rId7" Type="http://schemas.openxmlformats.org/officeDocument/2006/relationships/image" Target="../media/image4.jpg"/><Relationship Id="rId8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jpg"/><Relationship Id="rId1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537786" y="330399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Des professionnels  de santé pour des    équipements de qualité à prix réduit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2569475" y="545213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154068" y="750529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4"/>
          <p:cNvGrpSpPr/>
          <p:nvPr/>
        </p:nvGrpSpPr>
        <p:grpSpPr>
          <a:xfrm>
            <a:off x="2598871" y="3522153"/>
            <a:ext cx="976837" cy="1010393"/>
            <a:chOff x="2548471" y="3049424"/>
            <a:chExt cx="976837" cy="1010393"/>
          </a:xfrm>
        </p:grpSpPr>
        <p:sp>
          <p:nvSpPr>
            <p:cNvPr id="98" name="Google Shape;98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4"/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1" name="Google Shape;101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4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4"/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" name="Google Shape;10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– 80 ans</a:t>
            </a:r>
            <a:endParaRPr/>
          </a:p>
        </p:txBody>
      </p:sp>
      <p:pic>
        <p:nvPicPr>
          <p:cNvPr id="108" name="Google Shape;108;p1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4913" y="5858775"/>
            <a:ext cx="1550630" cy="63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21179" l="5068" r="7825" t="23731"/>
          <a:stretch/>
        </p:blipFill>
        <p:spPr>
          <a:xfrm>
            <a:off x="4235450" y="3678426"/>
            <a:ext cx="1264018" cy="652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dial" id="110" name="Google Shape;110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7096" l="5390" r="5199" t="6452"/>
          <a:stretch/>
        </p:blipFill>
        <p:spPr>
          <a:xfrm>
            <a:off x="4235450" y="7850917"/>
            <a:ext cx="1365344" cy="68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urem - Crunchbase Company Profile &amp; Funding" id="111" name="Google Shape;11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69160" y="1677865"/>
            <a:ext cx="697923" cy="697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3" name="Google Shape;11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15" name="Google Shape;115;p14">
                <a:hlinkClick r:id="rId14"/>
              </p:cNvPr>
              <p:cNvPicPr preferRelativeResize="0"/>
              <p:nvPr/>
            </p:nvPicPr>
            <p:blipFill rotWithShape="1">
              <a:blip r:embed="rId15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16" name="Google Shape;116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329746" y="2235682"/>
            <a:ext cx="6198508" cy="9880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particulièrement performantes en terme de rapport qualité /prix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48343" y="3347335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48343" y="4171328"/>
            <a:ext cx="6198508" cy="6920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51970" y="5022334"/>
            <a:ext cx="6198508" cy="9594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option Renforts, permettant de renforcer les garanties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48343" y="6140685"/>
            <a:ext cx="6198508" cy="692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professions éligibles pour le poste médecine naturelle</a:t>
            </a:r>
            <a:endParaRPr/>
          </a:p>
        </p:txBody>
      </p:sp>
      <p:grpSp>
        <p:nvGrpSpPr>
          <p:cNvPr id="126" name="Google Shape;126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7" name="Google Shape;127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Coverity Santé Sénior Plus ?</a:t>
              </a:r>
              <a:endParaRPr/>
            </a:p>
          </p:txBody>
        </p:sp>
        <p:pic>
          <p:nvPicPr>
            <p:cNvPr descr="Bonne idée - Icônes commercialisation gratuites" id="128" name="Google Shape;12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5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Santéclair,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MONDIALE ASSISTANCE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(5 consultations /an /bénéficiaire), 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2" name="Google Shape;132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34" name="Google Shape;134;p15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35" name="Google Shape;135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16"/>
          <p:cNvGrpSpPr/>
          <p:nvPr/>
        </p:nvGrpSpPr>
        <p:grpSpPr>
          <a:xfrm>
            <a:off x="829660" y="2290969"/>
            <a:ext cx="5099268" cy="1938992"/>
            <a:chOff x="976399" y="1029786"/>
            <a:chExt cx="5099268" cy="1938992"/>
          </a:xfrm>
        </p:grpSpPr>
        <p:pic>
          <p:nvPicPr>
            <p:cNvPr descr="ajuster la conception de l'icône créative 15456496 Art vectoriel chez  Vecteezy" id="142" name="Google Shape;14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6"/>
            <p:cNvSpPr txBox="1"/>
            <p:nvPr/>
          </p:nvSpPr>
          <p:spPr>
            <a:xfrm>
              <a:off x="2283733" y="1029786"/>
              <a:ext cx="3791934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Avec l’option </a:t>
              </a:r>
              <a:r>
                <a:rPr b="1" lang="fr-FR" sz="2400" u="sng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Renforts</a:t>
              </a: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, Cover Santé Actif, vous donne la possibilité de renforcer toutes vos garanties</a:t>
              </a: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5" name="Google Shape;145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47" name="Google Shape;147;p16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48" name="Google Shape;14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744" y="5258030"/>
            <a:ext cx="5928928" cy="2017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7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56" name="Google Shape;15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7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choix parmi 80 montures exclusives de la collection « Nove Design »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20 % sur les montures; – 15% sur les solaires de grandes marques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verres de grandes marques: (Essilor, Nikon, Optiswiss ou Zeiss).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59" name="Google Shape;159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35% sur le prix du marché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-10% sur les accessoires, -20%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/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50 cabinets spécialisés en implantologie dentaire, avec 50 chirurgiens-dentistes spécialistes de cette discipline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40 % par rapport aux prix habituellement pratiqué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 certificat qui vous garantira la provenance de l’implant ou de la prothèse.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 géolocalisation</a:t>
              </a:r>
              <a:endParaRPr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65" name="Google Shape;16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Un réseau d’ostéopathes et de diététiciennes choisis en fonction de leur compétence et de leur sérieux.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es tarifs encadrés et calculés en fonction de leurs zones géographiques, du tiers payant, et de la rapidité du traitement de leur prise en charge grâce aux services en ligne.</a:t>
              </a:r>
              <a:endParaRPr/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168" name="Google Shape;168;p17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Santéclair ?</a:t>
              </a:r>
              <a:endParaRPr/>
            </a:p>
          </p:txBody>
        </p:sp>
        <p:pic>
          <p:nvPicPr>
            <p:cNvPr id="169" name="Google Shape;169;p17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21179" l="5068" r="7825" t="23731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1" name="Google Shape;171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73" name="Google Shape;173;p17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74" name="Google Shape;174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MONDIAL ?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MONDIAL Assistance, vous propose gratuitement:</a:t>
            </a:r>
            <a:endParaRPr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183" name="Google Shape;183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proximité)</a:t>
              </a:r>
              <a:endParaRPr/>
            </a:p>
          </p:txBody>
        </p:sp>
        <p:pic>
          <p:nvPicPr>
            <p:cNvPr id="184" name="Google Shape;18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8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186" name="Google Shape;186;p18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 et matériel médical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8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9" name="Google Shape;189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8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  <p:pic>
        <p:nvPicPr>
          <p:cNvPr descr="Mondial" id="191" name="Google Shape;191;p18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7096" l="5390" r="5199" t="6452"/>
          <a:stretch/>
        </p:blipFill>
        <p:spPr>
          <a:xfrm>
            <a:off x="478237" y="2496834"/>
            <a:ext cx="1387521" cy="696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3" name="Google Shape;193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4" name="Google Shape;194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95" name="Google Shape;195;p18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96" name="Google Shape;196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2" name="Google Shape;202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10" name="Google Shape;210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15" name="Google Shape;215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16" name="Google Shape;216;p19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17" name="Google Shape;217;p1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18" name="Google Shape;218;p19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219" name="Google Shape;219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5" name="Google Shape;225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20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31" name="Google Shape;231;p2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32" name="Google Shape;232;p20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Cover Santé Actif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33" name="Google Shape;233;p2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234" name="Google Shape;234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13269" y="138489"/>
              <a:ext cx="538332" cy="5383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