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9906000" cx="6858000"/>
  <p:notesSz cx="7103725" cy="102342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2" roundtripDataSignature="AMtx7mipcTP4UaD3mXg0G2w0pR9Gz2QF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2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4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5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6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8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/>
          <p:nvPr>
            <p:ph type="ctrTitle"/>
          </p:nvPr>
        </p:nvSpPr>
        <p:spPr>
          <a:xfrm>
            <a:off x="857250" y="1621191"/>
            <a:ext cx="51435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None/>
              <a:defRPr sz="1014"/>
            </a:lvl3pPr>
            <a:lvl4pPr lvl="3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3" name="Google Shape;23;p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0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1"/>
          <p:cNvSpPr txBox="1"/>
          <p:nvPr>
            <p:ph type="title"/>
          </p:nvPr>
        </p:nvSpPr>
        <p:spPr>
          <a:xfrm>
            <a:off x="467916" y="2469622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" type="body"/>
          </p:nvPr>
        </p:nvSpPr>
        <p:spPr>
          <a:xfrm>
            <a:off x="467916" y="6629225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5"/>
              <a:buNone/>
              <a:defRPr sz="112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015"/>
              <a:buNone/>
              <a:defRPr sz="1014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1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1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1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2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2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472381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None/>
              <a:defRPr b="1" sz="1014"/>
            </a:lvl3pPr>
            <a:lvl4pPr indent="-2286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48" name="Google Shape;48;p13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None/>
              <a:defRPr b="1" sz="1014"/>
            </a:lvl3pPr>
            <a:lvl4pPr indent="-2286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50" name="Google Shape;50;p13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8612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575"/>
              <a:buChar char="•"/>
              <a:defRPr sz="1575"/>
            </a:lvl2pPr>
            <a:lvl3pPr indent="-314325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indent="-300037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4pPr>
            <a:lvl5pPr indent="-300037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5pPr>
            <a:lvl6pPr indent="-300037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6pPr>
            <a:lvl7pPr indent="-300037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7pPr>
            <a:lvl8pPr indent="-300037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8pPr>
            <a:lvl9pPr indent="-300037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9pPr>
          </a:lstStyle>
          <a:p/>
        </p:txBody>
      </p:sp>
      <p:sp>
        <p:nvSpPr>
          <p:cNvPr id="61" name="Google Shape;61;p15"/>
          <p:cNvSpPr txBox="1"/>
          <p:nvPr>
            <p:ph idx="2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790"/>
              <a:buNone/>
              <a:defRPr sz="790"/>
            </a:lvl2pPr>
            <a:lvl3pPr indent="-2286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4pPr>
            <a:lvl5pPr indent="-2286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5pPr>
            <a:lvl6pPr indent="-2286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6pPr>
            <a:lvl7pPr indent="-2286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7pPr>
            <a:lvl8pPr indent="-2286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8pPr>
            <a:lvl9pPr indent="-2286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9pPr>
          </a:lstStyle>
          <a:p/>
        </p:txBody>
      </p:sp>
      <p:sp>
        <p:nvSpPr>
          <p:cNvPr id="62" name="Google Shape;62;p15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/>
          <p:nvPr>
            <p:ph idx="2" type="pic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790"/>
              <a:buNone/>
              <a:defRPr sz="790"/>
            </a:lvl2pPr>
            <a:lvl3pPr indent="-2286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4pPr>
            <a:lvl5pPr indent="-2286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5pPr>
            <a:lvl6pPr indent="-2286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6pPr>
            <a:lvl7pPr indent="-2286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7pPr>
            <a:lvl8pPr indent="-2286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8pPr>
            <a:lvl9pPr indent="-2286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 rot="5400000">
            <a:off x="1449695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Calibri"/>
              <a:buNone/>
              <a:defRPr b="0" i="0" sz="24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612" lvl="0" marL="457200" marR="0" rtl="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0037" lvl="2" marL="13716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Font typeface="Arial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3052" lvl="3" marL="18288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3052" lvl="4" marL="22860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3052" lvl="5" marL="27432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3052" lvl="6" marL="32004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3052" lvl="7" marL="36576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3052" lvl="8" marL="41148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7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4.jpg"/><Relationship Id="rId10" Type="http://schemas.openxmlformats.org/officeDocument/2006/relationships/image" Target="../media/image3.png"/><Relationship Id="rId9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13.jpg"/><Relationship Id="rId7" Type="http://schemas.openxmlformats.org/officeDocument/2006/relationships/image" Target="../media/image10.png"/><Relationship Id="rId8" Type="http://schemas.openxmlformats.org/officeDocument/2006/relationships/hyperlink" Target="#'5'!A1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4.jp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Relationship Id="rId4" Type="http://schemas.openxmlformats.org/officeDocument/2006/relationships/image" Target="../media/image15.png"/><Relationship Id="rId5" Type="http://schemas.openxmlformats.org/officeDocument/2006/relationships/image" Target="../media/image4.jp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10" Type="http://schemas.openxmlformats.org/officeDocument/2006/relationships/image" Target="../media/image3.png"/><Relationship Id="rId9" Type="http://schemas.openxmlformats.org/officeDocument/2006/relationships/image" Target="../media/image4.jpg"/><Relationship Id="rId5" Type="http://schemas.openxmlformats.org/officeDocument/2006/relationships/image" Target="../media/image12.png"/><Relationship Id="rId6" Type="http://schemas.openxmlformats.org/officeDocument/2006/relationships/image" Target="../media/image14.png"/><Relationship Id="rId7" Type="http://schemas.openxmlformats.org/officeDocument/2006/relationships/image" Target="../media/image10.png"/><Relationship Id="rId8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Relationship Id="rId6" Type="http://schemas.openxmlformats.org/officeDocument/2006/relationships/image" Target="../media/image4.jpg"/><Relationship Id="rId7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10" Type="http://schemas.openxmlformats.org/officeDocument/2006/relationships/image" Target="../media/image3.png"/><Relationship Id="rId9" Type="http://schemas.openxmlformats.org/officeDocument/2006/relationships/image" Target="../media/image4.jpg"/><Relationship Id="rId5" Type="http://schemas.openxmlformats.org/officeDocument/2006/relationships/image" Target="../media/image16.png"/><Relationship Id="rId6" Type="http://schemas.openxmlformats.org/officeDocument/2006/relationships/image" Target="../media/image23.png"/><Relationship Id="rId7" Type="http://schemas.openxmlformats.org/officeDocument/2006/relationships/image" Target="../media/image25.png"/><Relationship Id="rId8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972075"/>
            <a:ext cx="6732802" cy="8385904"/>
          </a:xfrm>
          <a:prstGeom prst="rect">
            <a:avLst/>
          </a:prstGeom>
          <a:solidFill>
            <a:srgbClr val="2F5496"/>
          </a:solidFill>
          <a:ln cap="flat" cmpd="sng" w="25400">
            <a:solidFill>
              <a:srgbClr val="8DA9D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5461689" y="9642688"/>
            <a:ext cx="1388522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FICHE PRODUIT MARS 2014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1987886" y="125856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323F4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complémentaire santé</a:t>
            </a:r>
            <a:endParaRPr b="1" sz="20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via</a:t>
            </a: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Contrat responsable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Avec deux options de </a:t>
            </a:r>
            <a:r>
              <a:rPr b="1"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réduction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1"/>
          <p:cNvGrpSpPr/>
          <p:nvPr/>
        </p:nvGrpSpPr>
        <p:grpSpPr>
          <a:xfrm>
            <a:off x="2045763" y="1579801"/>
            <a:ext cx="976837" cy="1010393"/>
            <a:chOff x="2109263" y="1465142"/>
            <a:chExt cx="976837" cy="1010393"/>
          </a:xfrm>
        </p:grpSpPr>
        <p:sp>
          <p:nvSpPr>
            <p:cNvPr id="92" name="Google Shape;92;p1"/>
            <p:cNvSpPr/>
            <p:nvPr/>
          </p:nvSpPr>
          <p:spPr>
            <a:xfrm>
              <a:off x="2109263" y="1465142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Modèle Logo Santé Et Forme Physique Logo Médical | PosterMyWall" id="93" name="Google Shape;93;p1"/>
            <p:cNvPicPr preferRelativeResize="0"/>
            <p:nvPr/>
          </p:nvPicPr>
          <p:blipFill rotWithShape="1">
            <a:blip r:embed="rId3">
              <a:alphaModFix/>
            </a:blip>
            <a:srcRect b="24816" l="23299" r="27063" t="11936"/>
            <a:stretch/>
          </p:blipFill>
          <p:spPr>
            <a:xfrm>
              <a:off x="2311520" y="1585367"/>
              <a:ext cx="596138" cy="75958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1"/>
          <p:cNvSpPr/>
          <p:nvPr/>
        </p:nvSpPr>
        <p:spPr>
          <a:xfrm>
            <a:off x="-4107550" y="953182"/>
            <a:ext cx="6446849" cy="840479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-240074" y="2351314"/>
            <a:ext cx="2488094" cy="550645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intégrale </a:t>
            </a: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18-85 ans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cheel (@acheel_com) / X" id="96" name="Google Shape;96;p1"/>
          <p:cNvPicPr preferRelativeResize="0"/>
          <p:nvPr/>
        </p:nvPicPr>
        <p:blipFill rotWithShape="1">
          <a:blip r:embed="rId4">
            <a:alphaModFix/>
          </a:blip>
          <a:srcRect b="29293" l="0" r="0" t="30368"/>
          <a:stretch/>
        </p:blipFill>
        <p:spPr>
          <a:xfrm>
            <a:off x="4200193" y="1710871"/>
            <a:ext cx="1195640" cy="4822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1"/>
          <p:cNvGrpSpPr/>
          <p:nvPr/>
        </p:nvGrpSpPr>
        <p:grpSpPr>
          <a:xfrm>
            <a:off x="2739041" y="4221033"/>
            <a:ext cx="3759200" cy="1463934"/>
            <a:chOff x="2841625" y="4500433"/>
            <a:chExt cx="3759200" cy="1463934"/>
          </a:xfrm>
        </p:grpSpPr>
        <p:sp>
          <p:nvSpPr>
            <p:cNvPr id="98" name="Google Shape;98;p1"/>
            <p:cNvSpPr/>
            <p:nvPr/>
          </p:nvSpPr>
          <p:spPr>
            <a:xfrm>
              <a:off x="2841625" y="4500433"/>
              <a:ext cx="3759200" cy="1463934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rgbClr val="2F5496"/>
                  </a:solidFill>
                  <a:latin typeface="Calibri"/>
                  <a:ea typeface="Calibri"/>
                  <a:cs typeface="Calibri"/>
                  <a:sym typeface="Calibri"/>
                </a:rPr>
                <a:t>   Un Tiers payant</a:t>
              </a:r>
              <a:endParaRPr b="1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           </a:t>
              </a:r>
              <a:endParaRPr b="1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        </a:t>
              </a:r>
              <a:endParaRPr b="1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Un tiers payant national, qui vous évite d’avancer les frais médicaux.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9" name="Google Shape;99;p1"/>
            <p:cNvGrpSpPr/>
            <p:nvPr/>
          </p:nvGrpSpPr>
          <p:grpSpPr>
            <a:xfrm>
              <a:off x="2911326" y="4743824"/>
              <a:ext cx="976837" cy="1010393"/>
              <a:chOff x="2693612" y="4712978"/>
              <a:chExt cx="976837" cy="1010393"/>
            </a:xfrm>
          </p:grpSpPr>
          <p:sp>
            <p:nvSpPr>
              <p:cNvPr id="100" name="Google Shape;100;p1"/>
              <p:cNvSpPr/>
              <p:nvPr/>
            </p:nvSpPr>
            <p:spPr>
              <a:xfrm>
                <a:off x="2693612" y="4712978"/>
                <a:ext cx="976837" cy="1010393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1C305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Tiers payant : qu'est-ce que c'est et comment l'obtenir ?" id="101" name="Google Shape;101;p1"/>
              <p:cNvPicPr preferRelativeResize="0"/>
              <p:nvPr/>
            </p:nvPicPr>
            <p:blipFill rotWithShape="1">
              <a:blip r:embed="rId5">
                <a:alphaModFix/>
              </a:blip>
              <a:srcRect b="4848" l="19237" r="29792" t="4849"/>
              <a:stretch/>
            </p:blipFill>
            <p:spPr>
              <a:xfrm>
                <a:off x="2862942" y="4910684"/>
                <a:ext cx="638175" cy="59604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02" name="Google Shape;102;p1"/>
          <p:cNvGrpSpPr/>
          <p:nvPr/>
        </p:nvGrpSpPr>
        <p:grpSpPr>
          <a:xfrm>
            <a:off x="2045763" y="7369195"/>
            <a:ext cx="3759200" cy="1463934"/>
            <a:chOff x="2463800" y="6116167"/>
            <a:chExt cx="3759200" cy="1463934"/>
          </a:xfrm>
        </p:grpSpPr>
        <p:sp>
          <p:nvSpPr>
            <p:cNvPr id="103" name="Google Shape;103;p1"/>
            <p:cNvSpPr/>
            <p:nvPr/>
          </p:nvSpPr>
          <p:spPr>
            <a:xfrm>
              <a:off x="2463800" y="6116167"/>
              <a:ext cx="3759200" cy="1463934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</a:t>
              </a:r>
              <a:r>
                <a:rPr b="1" lang="fr-FR" sz="2000">
                  <a:solidFill>
                    <a:srgbClr val="2F5496"/>
                  </a:solidFill>
                  <a:latin typeface="Calibri"/>
                  <a:ea typeface="Calibri"/>
                  <a:cs typeface="Calibri"/>
                  <a:sym typeface="Calibri"/>
                </a:rPr>
                <a:t>Une assistance </a:t>
              </a:r>
              <a:endParaRPr b="1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           </a:t>
              </a:r>
              <a:endParaRPr b="1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          </a:t>
              </a:r>
              <a:endParaRPr b="1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</a:t>
              </a:r>
              <a:r>
                <a:rPr lang="fr-F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 service haut de gamme 24h/24, 7j/7 pour vous accompagner en cas de coup dur</a:t>
              </a:r>
              <a:endParaRPr b="1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4" name="Google Shape;104;p1"/>
            <p:cNvGrpSpPr/>
            <p:nvPr/>
          </p:nvGrpSpPr>
          <p:grpSpPr>
            <a:xfrm>
              <a:off x="2544746" y="6360928"/>
              <a:ext cx="976837" cy="1010393"/>
              <a:chOff x="2566518" y="6340968"/>
              <a:chExt cx="976837" cy="1010393"/>
            </a:xfrm>
          </p:grpSpPr>
          <p:sp>
            <p:nvSpPr>
              <p:cNvPr id="105" name="Google Shape;105;p1"/>
              <p:cNvSpPr/>
              <p:nvPr/>
            </p:nvSpPr>
            <p:spPr>
              <a:xfrm>
                <a:off x="2566518" y="6340968"/>
                <a:ext cx="976837" cy="1010393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1C305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Assistance and protection logo work people sign Vector Image" id="106" name="Google Shape;106;p1"/>
              <p:cNvPicPr preferRelativeResize="0"/>
              <p:nvPr/>
            </p:nvPicPr>
            <p:blipFill rotWithShape="1">
              <a:blip r:embed="rId6">
                <a:alphaModFix/>
              </a:blip>
              <a:srcRect b="31895" l="20105" r="19154" t="9307"/>
              <a:stretch/>
            </p:blipFill>
            <p:spPr>
              <a:xfrm>
                <a:off x="2781449" y="6523581"/>
                <a:ext cx="577433" cy="60373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07" name="Google Shape;107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00193" y="7751334"/>
            <a:ext cx="1193800" cy="648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">
            <a:hlinkClick r:id="rId8"/>
          </p:cNvPr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28687" y="4679851"/>
            <a:ext cx="930612" cy="5236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" name="Google Shape;109;p1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Golden Santé  by                                    assuré par                                 </a:t>
                </a:r>
                <a:endParaRPr b="1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Acheel (@acheel_com) / X" id="112" name="Google Shape;112;p1"/>
              <p:cNvPicPr preferRelativeResize="0"/>
              <p:nvPr/>
            </p:nvPicPr>
            <p:blipFill rotWithShape="1">
              <a:blip r:embed="rId4">
                <a:alphaModFix/>
              </a:blip>
              <a:srcRect b="29293" l="0" r="0" t="30368"/>
              <a:stretch/>
            </p:blipFill>
            <p:spPr>
              <a:xfrm>
                <a:off x="5149266" y="160550"/>
                <a:ext cx="1195640" cy="4822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13" name="Google Shape;113;p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226491" y="198841"/>
              <a:ext cx="1503161" cy="43215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/>
          <p:nvPr/>
        </p:nvSpPr>
        <p:spPr>
          <a:xfrm>
            <a:off x="329746" y="2894441"/>
            <a:ext cx="6198508" cy="385430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adhésion rapide en ligne avec la signature électronique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348343" y="3377037"/>
            <a:ext cx="6198508" cy="5414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reprise à la concurrence facilitée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avec la prise en charge de l’envoi de la résiliation en cas de RIA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348343" y="4687253"/>
            <a:ext cx="6198508" cy="748347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11 professions éligibles pour le poste médecine naturelle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348615" y="5531485"/>
            <a:ext cx="6198235" cy="786130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maîtrise du budget grâce aux 2 Options A &amp; B :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jusqu’à 12% de réduction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348343" y="6437943"/>
            <a:ext cx="6198508" cy="1503336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L’assistance MUTUAIDE en inclusion :  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Services d’Assistance haut de gamme : téléconsultation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services d’aide à domicile, téléassistance soutien psychologique, portail coach bienêtre, conseil santé &amp; bien-être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2"/>
          <p:cNvGrpSpPr/>
          <p:nvPr/>
        </p:nvGrpSpPr>
        <p:grpSpPr>
          <a:xfrm>
            <a:off x="1248230" y="945460"/>
            <a:ext cx="5215702" cy="1038626"/>
            <a:chOff x="1248230" y="945460"/>
            <a:chExt cx="5215702" cy="1038626"/>
          </a:xfrm>
        </p:grpSpPr>
        <p:sp>
          <p:nvSpPr>
            <p:cNvPr id="124" name="Google Shape;124;p2"/>
            <p:cNvSpPr txBox="1"/>
            <p:nvPr/>
          </p:nvSpPr>
          <p:spPr>
            <a:xfrm>
              <a:off x="2283732" y="1029786"/>
              <a:ext cx="4180200" cy="95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Pourquoi choisir Kiassure Golden Santé ?</a:t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Bonne idée - Icônes commercialisation gratuites" id="125" name="Google Shape;125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48230" y="945460"/>
              <a:ext cx="1035502" cy="10355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2"/>
          <p:cNvSpPr/>
          <p:nvPr/>
        </p:nvSpPr>
        <p:spPr>
          <a:xfrm>
            <a:off x="329746" y="2120838"/>
            <a:ext cx="6198508" cy="685061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UNE OFFRE COMPÉTITIVE ET ADAPTÉE AU BUDGET DE CHAQUE PROFIL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" name="Google Shape;127;p2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28" name="Google Shape;128;p2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29" name="Google Shape;129;p2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Golden Santé  by                                    assuré par                                 </a:t>
                </a:r>
                <a:endParaRPr b="1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Acheel (@acheel_com) / X" id="130" name="Google Shape;130;p2"/>
              <p:cNvPicPr preferRelativeResize="0"/>
              <p:nvPr/>
            </p:nvPicPr>
            <p:blipFill rotWithShape="1">
              <a:blip r:embed="rId4">
                <a:alphaModFix/>
              </a:blip>
              <a:srcRect b="29293" l="0" r="0" t="30368"/>
              <a:stretch/>
            </p:blipFill>
            <p:spPr>
              <a:xfrm>
                <a:off x="5149266" y="160550"/>
                <a:ext cx="1195640" cy="4822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31" name="Google Shape;131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226491" y="198841"/>
              <a:ext cx="1503161" cy="43215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2" name="Google Shape;132;p2"/>
          <p:cNvSpPr/>
          <p:nvPr/>
        </p:nvSpPr>
        <p:spPr>
          <a:xfrm>
            <a:off x="348343" y="4032357"/>
            <a:ext cx="6198508" cy="5414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Réduction pour les </a:t>
            </a: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couples</a:t>
            </a: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et les familles -10%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348796" y="8048797"/>
            <a:ext cx="6198508" cy="1503336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Service CPMS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Test de vue (En ligne)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Prise de Rendez-vous (Ophtalmologues partenaires)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100% SANTÉ étendu sur 300 références de montures et les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verres HOYA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"/>
          <p:cNvSpPr txBox="1"/>
          <p:nvPr/>
        </p:nvSpPr>
        <p:spPr>
          <a:xfrm>
            <a:off x="2283732" y="1029786"/>
            <a:ext cx="418011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9" name="Google Shape;139;p3"/>
          <p:cNvGrpSpPr/>
          <p:nvPr/>
        </p:nvGrpSpPr>
        <p:grpSpPr>
          <a:xfrm>
            <a:off x="869841" y="1447807"/>
            <a:ext cx="5150068" cy="1200329"/>
            <a:chOff x="925599" y="1029786"/>
            <a:chExt cx="5150068" cy="1200329"/>
          </a:xfrm>
        </p:grpSpPr>
        <p:pic>
          <p:nvPicPr>
            <p:cNvPr descr="ajuster la conception de l'icône créative 15456496 Art vectoriel chez  Vecteezy" id="140" name="Google Shape;140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25599" y="1152972"/>
              <a:ext cx="1408933" cy="10325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3"/>
            <p:cNvSpPr txBox="1"/>
            <p:nvPr/>
          </p:nvSpPr>
          <p:spPr>
            <a:xfrm>
              <a:off x="2283733" y="1029786"/>
              <a:ext cx="3791934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4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Golden Santé, vous donne la possibilité de réduire votre cotisation</a:t>
              </a:r>
              <a:endParaRPr b="1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3"/>
          <p:cNvGrpSpPr/>
          <p:nvPr/>
        </p:nvGrpSpPr>
        <p:grpSpPr>
          <a:xfrm>
            <a:off x="491448" y="3397629"/>
            <a:ext cx="4694179" cy="1091998"/>
            <a:chOff x="2024458" y="4953000"/>
            <a:chExt cx="4694179" cy="1091998"/>
          </a:xfrm>
        </p:grpSpPr>
        <p:sp>
          <p:nvSpPr>
            <p:cNvPr id="143" name="Google Shape;143;p3"/>
            <p:cNvSpPr txBox="1"/>
            <p:nvPr/>
          </p:nvSpPr>
          <p:spPr>
            <a:xfrm>
              <a:off x="2024458" y="5036832"/>
              <a:ext cx="4605216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rgbClr val="2F5496"/>
                  </a:solidFill>
                  <a:latin typeface="Calibri"/>
                  <a:ea typeface="Calibri"/>
                  <a:cs typeface="Calibri"/>
                  <a:sym typeface="Calibri"/>
                </a:rPr>
                <a:t>Avec les options A &amp; B</a:t>
              </a:r>
              <a:endParaRPr b="1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rgbClr val="2F5496"/>
                  </a:solidFill>
                  <a:latin typeface="Calibri"/>
                  <a:ea typeface="Calibri"/>
                  <a:cs typeface="Calibri"/>
                  <a:sym typeface="Calibri"/>
                </a:rPr>
                <a:t>jusqu’à 12 % de réduction</a:t>
              </a:r>
              <a:endParaRPr b="1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Illustration Vectorielle Sac De Banque Vert Avec Signe Dollar Argent  Comptant Symbole De L'économie Bancaire | Vecteur Premium" id="144" name="Google Shape;144;p3"/>
            <p:cNvPicPr preferRelativeResize="0"/>
            <p:nvPr/>
          </p:nvPicPr>
          <p:blipFill rotWithShape="1">
            <a:blip r:embed="rId4">
              <a:alphaModFix/>
            </a:blip>
            <a:srcRect b="14167" l="19530" r="18885" t="12806"/>
            <a:stretch/>
          </p:blipFill>
          <p:spPr>
            <a:xfrm>
              <a:off x="5797719" y="4953000"/>
              <a:ext cx="920918" cy="109199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5" name="Google Shape;145;p3"/>
          <p:cNvGrpSpPr/>
          <p:nvPr/>
        </p:nvGrpSpPr>
        <p:grpSpPr>
          <a:xfrm>
            <a:off x="1005091" y="5169547"/>
            <a:ext cx="5590222" cy="830997"/>
            <a:chOff x="2463800" y="6214899"/>
            <a:chExt cx="5217832" cy="830997"/>
          </a:xfrm>
        </p:grpSpPr>
        <p:sp>
          <p:nvSpPr>
            <p:cNvPr id="146" name="Google Shape;146;p3"/>
            <p:cNvSpPr txBox="1"/>
            <p:nvPr/>
          </p:nvSpPr>
          <p:spPr>
            <a:xfrm>
              <a:off x="3779972" y="6214899"/>
              <a:ext cx="3901660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Garanties exclues :</a:t>
              </a:r>
              <a:endParaRPr b="1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Suppression de la Chambre particulière et 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des médicaments prescrits et non pris en charge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2463800" y="6266685"/>
              <a:ext cx="1316172" cy="692196"/>
            </a:xfrm>
            <a:prstGeom prst="rect">
              <a:avLst/>
            </a:prstGeom>
            <a:solidFill>
              <a:srgbClr val="92D050"/>
            </a:solidFill>
            <a:ln cap="flat" cmpd="sng" w="12700">
              <a:solidFill>
                <a:srgbClr val="92D05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Option A </a:t>
              </a:r>
              <a:endParaRPr b="1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-5%</a:t>
              </a:r>
              <a:endParaRPr b="1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8" name="Google Shape;148;p3"/>
          <p:cNvGrpSpPr/>
          <p:nvPr/>
        </p:nvGrpSpPr>
        <p:grpSpPr>
          <a:xfrm>
            <a:off x="206901" y="6926686"/>
            <a:ext cx="6071979" cy="1408321"/>
            <a:chOff x="1898870" y="6233876"/>
            <a:chExt cx="5376265" cy="1408321"/>
          </a:xfrm>
        </p:grpSpPr>
        <p:sp>
          <p:nvSpPr>
            <p:cNvPr id="149" name="Google Shape;149;p3"/>
            <p:cNvSpPr txBox="1"/>
            <p:nvPr/>
          </p:nvSpPr>
          <p:spPr>
            <a:xfrm>
              <a:off x="3312341" y="6233876"/>
              <a:ext cx="3962794" cy="13234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Garanties exclues :</a:t>
              </a:r>
              <a:endParaRPr b="1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Suppression de la Chambre particulière, des 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médicaments prescrits et non pris en charge et des postes : Optique, Dentaire et Prothèses auditives, remboursés  exclusivement en 100% santé</a:t>
              </a:r>
              <a:endParaRPr b="1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1898870" y="6335091"/>
              <a:ext cx="1413471" cy="1307106"/>
            </a:xfrm>
            <a:prstGeom prst="rect">
              <a:avLst/>
            </a:prstGeom>
            <a:solidFill>
              <a:srgbClr val="92D050"/>
            </a:solidFill>
            <a:ln cap="flat" cmpd="sng" w="12700">
              <a:solidFill>
                <a:srgbClr val="92D05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Option B </a:t>
              </a:r>
              <a:endParaRPr b="1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-12%</a:t>
              </a:r>
              <a:endParaRPr b="1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3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52" name="Google Shape;152;p3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53" name="Google Shape;153;p3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Golden Santé  by                                    assuré par                                 </a:t>
                </a:r>
                <a:endParaRPr b="1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Acheel (@acheel_com) / X" id="154" name="Google Shape;154;p3"/>
              <p:cNvPicPr preferRelativeResize="0"/>
              <p:nvPr/>
            </p:nvPicPr>
            <p:blipFill rotWithShape="1">
              <a:blip r:embed="rId5">
                <a:alphaModFix/>
              </a:blip>
              <a:srcRect b="29293" l="0" r="0" t="30368"/>
              <a:stretch/>
            </p:blipFill>
            <p:spPr>
              <a:xfrm>
                <a:off x="5149266" y="160550"/>
                <a:ext cx="1195640" cy="4822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55" name="Google Shape;155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226491" y="198841"/>
              <a:ext cx="1503161" cy="43215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60" name="Google Shape;16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4"/>
          <p:cNvSpPr txBox="1"/>
          <p:nvPr/>
        </p:nvSpPr>
        <p:spPr>
          <a:xfrm>
            <a:off x="2026535" y="1686566"/>
            <a:ext cx="468448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Pourquoi faire appel à l’assistance MUTUAIDE ?</a:t>
            </a:r>
            <a:endParaRPr b="1" sz="2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 txBox="1"/>
          <p:nvPr/>
        </p:nvSpPr>
        <p:spPr>
          <a:xfrm>
            <a:off x="983391" y="3429737"/>
            <a:ext cx="49103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cas d’hospitalisation ou d’immobilisation,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MUTUAIDE vous propose gratuitement: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3" name="Google Shape;163;p4"/>
          <p:cNvGrpSpPr/>
          <p:nvPr/>
        </p:nvGrpSpPr>
        <p:grpSpPr>
          <a:xfrm>
            <a:off x="146978" y="4361310"/>
            <a:ext cx="6020613" cy="811475"/>
            <a:chOff x="400050" y="2786464"/>
            <a:chExt cx="6020613" cy="811475"/>
          </a:xfrm>
        </p:grpSpPr>
        <p:sp>
          <p:nvSpPr>
            <p:cNvPr id="164" name="Google Shape;164;p4"/>
            <p:cNvSpPr txBox="1"/>
            <p:nvPr/>
          </p:nvSpPr>
          <p:spPr>
            <a:xfrm>
              <a:off x="987223" y="2897890"/>
              <a:ext cx="54334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 l’aide à domicile: (ménage, repas, vaisselle, course à proximité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5" name="Google Shape;165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00050" y="2786464"/>
              <a:ext cx="591075" cy="811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6" name="Google Shape;166;p4"/>
          <p:cNvGrpSpPr/>
          <p:nvPr/>
        </p:nvGrpSpPr>
        <p:grpSpPr>
          <a:xfrm>
            <a:off x="858780" y="5329737"/>
            <a:ext cx="5639929" cy="662278"/>
            <a:chOff x="222327" y="3957748"/>
            <a:chExt cx="6053947" cy="662278"/>
          </a:xfrm>
        </p:grpSpPr>
        <p:sp>
          <p:nvSpPr>
            <p:cNvPr id="167" name="Google Shape;167;p4"/>
            <p:cNvSpPr txBox="1"/>
            <p:nvPr/>
          </p:nvSpPr>
          <p:spPr>
            <a:xfrm>
              <a:off x="943701" y="4097900"/>
              <a:ext cx="533257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LA livraison des médicaments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8" name="Google Shape;168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22327" y="3957748"/>
              <a:ext cx="768798" cy="6622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9" name="Google Shape;169;p4"/>
          <p:cNvGrpSpPr/>
          <p:nvPr/>
        </p:nvGrpSpPr>
        <p:grpSpPr>
          <a:xfrm>
            <a:off x="146978" y="6365540"/>
            <a:ext cx="6198819" cy="733785"/>
            <a:chOff x="222327" y="5188381"/>
            <a:chExt cx="6198819" cy="733785"/>
          </a:xfrm>
        </p:grpSpPr>
        <p:pic>
          <p:nvPicPr>
            <p:cNvPr id="170" name="Google Shape;170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22327" y="5188381"/>
              <a:ext cx="836413" cy="7337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" name="Google Shape;171;p4"/>
            <p:cNvSpPr txBox="1"/>
            <p:nvPr/>
          </p:nvSpPr>
          <p:spPr>
            <a:xfrm>
              <a:off x="1088573" y="5248670"/>
              <a:ext cx="533257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La prise en charge l’animal chez </a:t>
              </a:r>
              <a:r>
                <a:rPr lang="fr-FR">
                  <a:solidFill>
                    <a:srgbClr val="161615"/>
                  </a:solidFill>
                </a:rPr>
                <a:t>l'adhérent</a:t>
              </a: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, par un pet Sitter </a:t>
              </a:r>
              <a:endParaRPr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 (Visite, promenade, garde, …)</a:t>
              </a:r>
              <a:endParaRPr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72" name="Google Shape;172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053" y="1786624"/>
            <a:ext cx="1255309" cy="6824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3" name="Google Shape;173;p4"/>
          <p:cNvGrpSpPr/>
          <p:nvPr/>
        </p:nvGrpSpPr>
        <p:grpSpPr>
          <a:xfrm>
            <a:off x="974262" y="7609729"/>
            <a:ext cx="5524447" cy="609704"/>
            <a:chOff x="194325" y="7406539"/>
            <a:chExt cx="6214502" cy="609704"/>
          </a:xfrm>
        </p:grpSpPr>
        <p:sp>
          <p:nvSpPr>
            <p:cNvPr id="174" name="Google Shape;174;p4"/>
            <p:cNvSpPr txBox="1"/>
            <p:nvPr/>
          </p:nvSpPr>
          <p:spPr>
            <a:xfrm>
              <a:off x="1076254" y="7449781"/>
              <a:ext cx="533257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Le déplacement aller et retour, d’un proche et son hébergement pendant 6 nuits</a:t>
              </a:r>
              <a:endParaRPr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5" name="Google Shape;175;p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94325" y="7406539"/>
              <a:ext cx="848744" cy="60970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6" name="Google Shape;176;p4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77" name="Google Shape;177;p4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78" name="Google Shape;178;p4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Golden Santé  by                                    assuré par                                 </a:t>
                </a:r>
                <a:endParaRPr b="1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Acheel (@acheel_com) / X" id="179" name="Google Shape;179;p4"/>
              <p:cNvPicPr preferRelativeResize="0"/>
              <p:nvPr/>
            </p:nvPicPr>
            <p:blipFill rotWithShape="1">
              <a:blip r:embed="rId9">
                <a:alphaModFix/>
              </a:blip>
              <a:srcRect b="29293" l="0" r="0" t="30368"/>
              <a:stretch/>
            </p:blipFill>
            <p:spPr>
              <a:xfrm>
                <a:off x="5149266" y="160550"/>
                <a:ext cx="1195640" cy="4822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80" name="Google Shape;180;p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226491" y="198841"/>
              <a:ext cx="1503161" cy="43215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85" name="Google Shape;18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% Santé : des soins pour tous, 100% pris en charge" id="186" name="Google Shape;186;p5"/>
          <p:cNvPicPr preferRelativeResize="0"/>
          <p:nvPr/>
        </p:nvPicPr>
        <p:blipFill rotWithShape="1">
          <a:blip r:embed="rId4">
            <a:alphaModFix/>
          </a:blip>
          <a:srcRect b="13073" l="12590" r="12610" t="9007"/>
          <a:stretch/>
        </p:blipFill>
        <p:spPr>
          <a:xfrm>
            <a:off x="2566913" y="1052692"/>
            <a:ext cx="1489221" cy="106094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5"/>
          <p:cNvSpPr txBox="1"/>
          <p:nvPr/>
        </p:nvSpPr>
        <p:spPr>
          <a:xfrm>
            <a:off x="468231" y="2476003"/>
            <a:ext cx="6078619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100% Santé vous permet d’accéder à une offre sans reste à charge sur une sélection d’équipements en dentaire, optique et pour les aides auditives. Les paniers 100% Santé seront pris en charge intégralement par la Sécurité Sociale et la complémentaire santé.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vous ne souhaitez pas bénéficier des équipements compris dans ces paniers, les remboursements se feront selon le niveau de garanties que vous avez choisi.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 txBox="1"/>
          <p:nvPr/>
        </p:nvSpPr>
        <p:spPr>
          <a:xfrm>
            <a:off x="196387" y="4506949"/>
            <a:ext cx="38806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QU’EST-CE QUI CHANGE EN PRATIQUE ?</a:t>
            </a:r>
            <a:endParaRPr b="1" sz="16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231" y="5368177"/>
            <a:ext cx="2158618" cy="1831149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5"/>
          <p:cNvSpPr txBox="1"/>
          <p:nvPr/>
        </p:nvSpPr>
        <p:spPr>
          <a:xfrm>
            <a:off x="3444875" y="4969962"/>
            <a:ext cx="2460289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professionnel de santé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proposera obligatoirement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 OFFRES</a:t>
            </a:r>
            <a:endParaRPr sz="16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 txBox="1"/>
          <p:nvPr/>
        </p:nvSpPr>
        <p:spPr>
          <a:xfrm>
            <a:off x="2578219" y="6211555"/>
            <a:ext cx="17600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Devis sans Reste à charge</a:t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4829920" y="6208601"/>
            <a:ext cx="202808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Devis « Classique »</a:t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320433" y="7864329"/>
            <a:ext cx="38806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Mais aussi:</a:t>
            </a:r>
            <a:endParaRPr b="1" sz="16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" name="Google Shape;194;p5"/>
          <p:cNvCxnSpPr/>
          <p:nvPr/>
        </p:nvCxnSpPr>
        <p:spPr>
          <a:xfrm>
            <a:off x="4760070" y="5831736"/>
            <a:ext cx="520276" cy="35051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5" name="Google Shape;195;p5"/>
          <p:cNvCxnSpPr/>
          <p:nvPr/>
        </p:nvCxnSpPr>
        <p:spPr>
          <a:xfrm flipH="1">
            <a:off x="4077063" y="5831736"/>
            <a:ext cx="433750" cy="36089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6" name="Google Shape;196;p5"/>
          <p:cNvSpPr txBox="1"/>
          <p:nvPr/>
        </p:nvSpPr>
        <p:spPr>
          <a:xfrm>
            <a:off x="2687429" y="6842131"/>
            <a:ext cx="1513680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Soin ou équipement entrant dans 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panier 100% Santé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 txBox="1"/>
          <p:nvPr/>
        </p:nvSpPr>
        <p:spPr>
          <a:xfrm>
            <a:off x="4500683" y="6854932"/>
            <a:ext cx="2385892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Panier à tarif libre et remboursé par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l’assurance complémentaire dans les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conditions prévues par le contrat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330200" y="8327508"/>
            <a:ext cx="655637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Fixation de prix limites de vente (PLV) imposés aux professionnels de santé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Augmentation de la base de remboursement (BR) du régime obligatoire (RO) &amp; du remboursement des complémentaires santé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9" name="Google Shape;199;p5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200" name="Google Shape;200;p5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201" name="Google Shape;201;p5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Golden Santé  by                                    assuré par                                 </a:t>
                </a:r>
                <a:endParaRPr b="1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Acheel (@acheel_com) / X" id="202" name="Google Shape;202;p5"/>
              <p:cNvPicPr preferRelativeResize="0"/>
              <p:nvPr/>
            </p:nvPicPr>
            <p:blipFill rotWithShape="1">
              <a:blip r:embed="rId6">
                <a:alphaModFix/>
              </a:blip>
              <a:srcRect b="29293" l="0" r="0" t="30368"/>
              <a:stretch/>
            </p:blipFill>
            <p:spPr>
              <a:xfrm>
                <a:off x="5149266" y="160550"/>
                <a:ext cx="1195640" cy="4822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03" name="Google Shape;203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226491" y="198841"/>
              <a:ext cx="1503161" cy="43215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208" name="Google Shape;20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% Santé : des soins pour tous, 100% pris en charge" id="209" name="Google Shape;209;p6"/>
          <p:cNvPicPr preferRelativeResize="0"/>
          <p:nvPr/>
        </p:nvPicPr>
        <p:blipFill rotWithShape="1">
          <a:blip r:embed="rId4">
            <a:alphaModFix/>
          </a:blip>
          <a:srcRect b="13073" l="12590" r="12610" t="9007"/>
          <a:stretch/>
        </p:blipFill>
        <p:spPr>
          <a:xfrm>
            <a:off x="2566913" y="980122"/>
            <a:ext cx="1489221" cy="1060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98" y="1992003"/>
            <a:ext cx="5911752" cy="7546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996154"/>
            <a:ext cx="1147989" cy="641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1" y="5446720"/>
            <a:ext cx="1147989" cy="637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1" y="7991398"/>
            <a:ext cx="1138950" cy="601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4" name="Google Shape;214;p6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215" name="Google Shape;215;p6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216" name="Google Shape;216;p6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Golden Santé  by                                    assuré par                                 </a:t>
                </a:r>
                <a:endParaRPr b="1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Acheel (@acheel_com) / X" id="217" name="Google Shape;217;p6"/>
              <p:cNvPicPr preferRelativeResize="0"/>
              <p:nvPr/>
            </p:nvPicPr>
            <p:blipFill rotWithShape="1">
              <a:blip r:embed="rId9">
                <a:alphaModFix/>
              </a:blip>
              <a:srcRect b="29293" l="0" r="0" t="30368"/>
              <a:stretch/>
            </p:blipFill>
            <p:spPr>
              <a:xfrm>
                <a:off x="5149266" y="160550"/>
                <a:ext cx="1195640" cy="4822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18" name="Google Shape;218;p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226491" y="198841"/>
              <a:ext cx="1503161" cy="43215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2018-01-12T04:36:00Z</dcterms:created>
  <dc:creator>Aurelie Racamier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0FA6CC493C59452C929B6E08CB2105F5_12</vt:lpwstr>
  </property>
  <property fmtid="{D5CDD505-2E9C-101B-9397-08002B2CF9AE}" pid="3" name="KSOProductBuildVer">
    <vt:lpwstr>1036-12.2.0.22549</vt:lpwstr>
  </property>
</Properties>
</file>