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oXEhIW/Jzs8RIxR1KqSl0kas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Présentation de la grille d’évaluation (autonomie, posture, conformité, qualité du discours).</a:t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chemeClr val="dk1"/>
                </a:solidFill>
              </a:rPr>
              <a:t>Cas concrets de ventes avec alternance rôles </a:t>
            </a:r>
            <a:r>
              <a:rPr b="1" lang="en-US" sz="1400" u="sng">
                <a:solidFill>
                  <a:schemeClr val="dk1"/>
                </a:solidFill>
              </a:rPr>
              <a:t>agent/client</a:t>
            </a:r>
            <a:r>
              <a:rPr lang="en-US" sz="1400" u="sng">
                <a:solidFill>
                  <a:schemeClr val="dk1"/>
                </a:solidFill>
              </a:rPr>
              <a:t>.</a:t>
            </a:r>
            <a:endParaRPr sz="14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Accueil &amp; écoute active</a:t>
            </a:r>
            <a:r>
              <a:rPr lang="en-US" sz="1300">
                <a:solidFill>
                  <a:schemeClr val="dk1"/>
                </a:solidFill>
              </a:rPr>
              <a:t> (identifier le besoin).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Reformulation et découverte</a:t>
            </a:r>
            <a:r>
              <a:rPr lang="en-US" sz="1300">
                <a:solidFill>
                  <a:schemeClr val="dk1"/>
                </a:solidFill>
              </a:rPr>
              <a:t> (valider la compréhension).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Proposition adaptée</a:t>
            </a:r>
            <a:r>
              <a:rPr lang="en-US" sz="1300">
                <a:solidFill>
                  <a:schemeClr val="dk1"/>
                </a:solidFill>
              </a:rPr>
              <a:t> (produit, avantages, différenciation).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Traitement des objections</a:t>
            </a:r>
            <a:r>
              <a:rPr lang="en-US" sz="1300">
                <a:solidFill>
                  <a:schemeClr val="dk1"/>
                </a:solidFill>
              </a:rPr>
              <a:t> (méthodes pratiques).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Conclusion &amp; engagement client</a:t>
            </a:r>
            <a:r>
              <a:rPr lang="en-US" sz="1300">
                <a:solidFill>
                  <a:schemeClr val="dk1"/>
                </a:solidFill>
              </a:rPr>
              <a:t>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u="sng">
                <a:solidFill>
                  <a:schemeClr val="dk1"/>
                </a:solidFill>
              </a:rPr>
              <a:t> Chaque binôme passe plusieurs fois, avec changement de rôles et de scénarios.</a:t>
            </a:r>
            <a:endParaRPr sz="15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Feedback individuel</a:t>
            </a:r>
            <a:r>
              <a:rPr lang="en-US" sz="1600">
                <a:solidFill>
                  <a:schemeClr val="dk1"/>
                </a:solidFill>
              </a:rPr>
              <a:t> : points forts &amp; axes d’amélioration.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Débrief collectif</a:t>
            </a:r>
            <a:r>
              <a:rPr lang="en-US" sz="1600">
                <a:solidFill>
                  <a:schemeClr val="dk1"/>
                </a:solidFill>
              </a:rPr>
              <a:t> : apprentissages communs, partages de bonnes pratiques.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Passage individuel avec le formateur jouant le client.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Grille d’évaluation appliquée sur :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Autonomie dans le déroulé.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Posture professionnelle.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Conformité réglementaire.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Qualité du discours &amp; persuasion.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Objectif : S’exercer en conditions réelles avec feedback immédiat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Mettre les participants en situation réelle de vente</a:t>
            </a:r>
            <a:r>
              <a:rPr lang="en-US">
                <a:solidFill>
                  <a:schemeClr val="dk1"/>
                </a:solidFill>
              </a:rPr>
              <a:t> grâce à des jeux de rôle et des cas pratiques reproduisant les scénarios rencontrés avec de vrais clients.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Favoriser l’apprentissage par l’action</a:t>
            </a:r>
            <a:r>
              <a:rPr lang="en-US">
                <a:solidFill>
                  <a:schemeClr val="dk1"/>
                </a:solidFill>
              </a:rPr>
              <a:t> : chaque simulation permet de tester les compétences acquises (écoute, argumentaire, traitement des objections, conclusion).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Recevoir un retour à chaud</a:t>
            </a:r>
            <a:r>
              <a:rPr lang="en-US">
                <a:solidFill>
                  <a:schemeClr val="dk1"/>
                </a:solidFill>
              </a:rPr>
              <a:t> 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Du formateur</a:t>
            </a:r>
            <a:r>
              <a:rPr lang="en-US">
                <a:solidFill>
                  <a:schemeClr val="dk1"/>
                </a:solidFill>
              </a:rPr>
              <a:t> (points forts, axes d’amélioration, respect des bonnes pratiques et de la conformité).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Du binôme/client</a:t>
            </a:r>
            <a:r>
              <a:rPr lang="en-US">
                <a:solidFill>
                  <a:schemeClr val="dk1"/>
                </a:solidFill>
              </a:rPr>
              <a:t> (perception de la posture, de la clarté et de l’impact du discours).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Auto-évaluation</a:t>
            </a:r>
            <a:r>
              <a:rPr lang="en-US">
                <a:solidFill>
                  <a:schemeClr val="dk1"/>
                </a:solidFill>
              </a:rPr>
              <a:t> (prise de conscience de sa performance et de son évolution).</a:t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 Cet objectif permet de former des conseillers </a:t>
            </a:r>
            <a:r>
              <a:rPr b="1" lang="en-US">
                <a:solidFill>
                  <a:schemeClr val="dk1"/>
                </a:solidFill>
              </a:rPr>
              <a:t>à la fois performants commercialement et irréprochables sur le plan réglementaire et qualitatif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9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7" name="Google Shape;11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</p:grpSp>
      <p:sp>
        <p:nvSpPr>
          <p:cNvPr id="118" name="Google Shape;118;p1"/>
          <p:cNvSpPr txBox="1"/>
          <p:nvPr/>
        </p:nvSpPr>
        <p:spPr>
          <a:xfrm>
            <a:off x="732600" y="1215355"/>
            <a:ext cx="37008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D2B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 6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88950" y="2018475"/>
            <a:ext cx="4249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None/>
            </a:pPr>
            <a:r>
              <a:rPr b="1" lang="en-US" sz="2050">
                <a:solidFill>
                  <a:srgbClr val="1D2BA5"/>
                </a:solidFill>
              </a:rPr>
              <a:t>Processus complet de vente</a:t>
            </a:r>
            <a:endParaRPr b="1" sz="2050">
              <a:solidFill>
                <a:srgbClr val="1D2BA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-7200"/>
            <a:ext cx="9176760" cy="5157720"/>
            <a:chOff x="0" y="-7200"/>
            <a:chExt cx="9176760" cy="5157720"/>
          </a:xfrm>
        </p:grpSpPr>
        <p:pic>
          <p:nvPicPr>
            <p:cNvPr id="125" name="Google Shape;12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7200"/>
              <a:ext cx="91760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2000" y="720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0960" y="30276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3600" y="45320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2"/>
          <p:cNvSpPr txBox="1"/>
          <p:nvPr/>
        </p:nvSpPr>
        <p:spPr>
          <a:xfrm>
            <a:off x="737725" y="18852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pédagogiques</a:t>
            </a:r>
            <a:endParaRPr b="1" i="0" sz="2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Maîtriser toutes les étapes du processus de vente.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12300" y="2766341"/>
            <a:ext cx="652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Développer son autonomie et sa posture commerciale.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12300" y="3073809"/>
            <a:ext cx="602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S’exercer en conditions réelles avec feedback immédiat.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512300" y="3381771"/>
            <a:ext cx="57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Garantir la qualité, la conformité et la performance du discours.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3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39" name="Google Shape;13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3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Maîtriser toutes les étapes du processus de vente.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4"/>
          <p:cNvGrpSpPr/>
          <p:nvPr/>
        </p:nvGrpSpPr>
        <p:grpSpPr>
          <a:xfrm>
            <a:off x="0" y="1946520"/>
            <a:ext cx="9143640" cy="3196440"/>
            <a:chOff x="0" y="1946520"/>
            <a:chExt cx="9143640" cy="3196440"/>
          </a:xfrm>
        </p:grpSpPr>
        <p:pic>
          <p:nvPicPr>
            <p:cNvPr id="149" name="Google Shape;14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4"/>
          <p:cNvSpPr/>
          <p:nvPr/>
        </p:nvSpPr>
        <p:spPr>
          <a:xfrm>
            <a:off x="1096325" y="3109550"/>
            <a:ext cx="74361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40600" y="1695600"/>
            <a:ext cx="299952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268850" y="2317800"/>
            <a:ext cx="660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&amp; rappel des fondamentaux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4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950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5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161" name="Google Shape;16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5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Développer son autonomie et sa posture commerciale.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6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71" name="Google Shape;17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6"/>
          <p:cNvSpPr txBox="1"/>
          <p:nvPr/>
        </p:nvSpPr>
        <p:spPr>
          <a:xfrm>
            <a:off x="1283238" y="2371650"/>
            <a:ext cx="66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Mise en situation en binômes – Script complet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9555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7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81" name="Google Shape;18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7"/>
          <p:cNvSpPr txBox="1"/>
          <p:nvPr/>
        </p:nvSpPr>
        <p:spPr>
          <a:xfrm>
            <a:off x="3072000" y="23178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Débriefing 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7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7112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8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91" name="Google Shape;19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8"/>
          <p:cNvSpPr txBox="1"/>
          <p:nvPr/>
        </p:nvSpPr>
        <p:spPr>
          <a:xfrm>
            <a:off x="3575700" y="2290800"/>
            <a:ext cx="1992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Simulations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8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8318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9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201" name="Google Shape;20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9"/>
          <p:cNvSpPr txBox="1"/>
          <p:nvPr/>
        </p:nvSpPr>
        <p:spPr>
          <a:xfrm>
            <a:off x="512300" y="2438550"/>
            <a:ext cx="46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S’exercer en conditions réelles avec feedback immédiat</a:t>
            </a: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0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11" name="Google Shape;21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10"/>
          <p:cNvSpPr txBox="1"/>
          <p:nvPr/>
        </p:nvSpPr>
        <p:spPr>
          <a:xfrm>
            <a:off x="3575700" y="2290800"/>
            <a:ext cx="1992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Simulations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0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8318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1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221" name="Google Shape;22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11"/>
          <p:cNvSpPr txBox="1"/>
          <p:nvPr/>
        </p:nvSpPr>
        <p:spPr>
          <a:xfrm>
            <a:off x="512300" y="2438550"/>
            <a:ext cx="509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Garantir la qualité, la conformité et la performance du discours.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2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31" name="Google Shape;23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12"/>
          <p:cNvSpPr txBox="1"/>
          <p:nvPr/>
        </p:nvSpPr>
        <p:spPr>
          <a:xfrm>
            <a:off x="3575700" y="2290800"/>
            <a:ext cx="1992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Simulations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2" title="YX4b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8318" y="1286425"/>
            <a:ext cx="1641720" cy="164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3"/>
          <p:cNvGrpSpPr/>
          <p:nvPr/>
        </p:nvGrpSpPr>
        <p:grpSpPr>
          <a:xfrm>
            <a:off x="-32400" y="0"/>
            <a:ext cx="9143640" cy="5142960"/>
            <a:chOff x="-32400" y="0"/>
            <a:chExt cx="9143640" cy="5142960"/>
          </a:xfrm>
        </p:grpSpPr>
        <p:pic>
          <p:nvPicPr>
            <p:cNvPr id="241" name="Google Shape;2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240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26000" y="4515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6880" y="466560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13"/>
          <p:cNvSpPr/>
          <p:nvPr/>
        </p:nvSpPr>
        <p:spPr>
          <a:xfrm>
            <a:off x="1978200" y="3191760"/>
            <a:ext cx="5186880" cy="77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sng" cap="none" strike="noStrike">
                <a:solidFill>
                  <a:srgbClr val="83E3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Merci pour votre Participation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