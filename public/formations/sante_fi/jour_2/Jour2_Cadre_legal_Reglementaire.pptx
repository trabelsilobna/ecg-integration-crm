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Boa9rX5ZZ4uFeLplwll04UNjZ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Renforcer la session sur les sanctions, la conformité en appel et les enjeux post-vente liés aux obligations légales.</a:t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Principales obligations de prise en charge minimale (au 1er janvier 2021)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Ticket modérateur sur les consultations, actes et prestations remboursables par l’Assurance Maladie.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Forfait journalier hospitalier sans limitation de durée.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Soins dentaires, optiques et audiologie selon les paniers 100% Santé.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Vaccins obligatoires et certains actes de prévention.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Avantages pour l’entreprise et les salariés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Exonérations fiscales et sociales</a:t>
            </a:r>
            <a:r>
              <a:rPr lang="en-US">
                <a:solidFill>
                  <a:schemeClr val="dk1"/>
                </a:solidFill>
              </a:rPr>
              <a:t> sur les cotisations (sous certaines conditions).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Conformité réglementaire</a:t>
            </a:r>
            <a:r>
              <a:rPr lang="en-US">
                <a:solidFill>
                  <a:schemeClr val="dk1"/>
                </a:solidFill>
              </a:rPr>
              <a:t> vis-à-vis de la législation sur les contrats collectifs.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Accès aux paniers de soins 100% Santé</a:t>
            </a:r>
            <a:r>
              <a:rPr lang="en-US">
                <a:solidFill>
                  <a:schemeClr val="dk1"/>
                </a:solidFill>
              </a:rPr>
              <a:t> pour les bénéficiaires.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Explication du parcours de soins coordonnée avec les medecins pour les quels on a un acces direct snas respect du parcours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-PSY -26ans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-smomatologue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-genycologue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-dentiste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-ophtalmologue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aussi les mesdecines hors Zone, et les soins urgents a l’etrangers</a:t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Impact pour les assurés :</a:t>
            </a:r>
            <a:br>
              <a:rPr b="1" lang="en-US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Amélioration de l’accessibilité aux soins coûteux.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Réduction des inégalités face à la santé.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Encouragement à choisir des équipements de qualité remboursés intégralement.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Impact :</a:t>
            </a:r>
            <a:br>
              <a:rPr b="1" lang="en-US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Meilleure transparence et dynamisme du marché des complémentaires santé.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Encouragement à comparer les offres et à choisir des garanties adaptées.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Diminution du phénomène de "prison contractuelle".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2. Impacts de la Résiliation Infra-Annuelle (RIA)</a:t>
            </a:r>
            <a:endParaRPr b="1" sz="12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Opportunités commerciales :</a:t>
            </a:r>
            <a:br>
              <a:rPr b="1" lang="en-US" sz="1000">
                <a:solidFill>
                  <a:schemeClr val="dk1"/>
                </a:solidFill>
              </a:rPr>
            </a:br>
            <a:endParaRPr b="1"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Favorise la concurrence entre assureurs.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Permet aux nouveaux entrants de capter plus facilement des clients.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Risque accru de churn (perte de clients) :</a:t>
            </a:r>
            <a:br>
              <a:rPr b="1" lang="en-US" sz="1000">
                <a:solidFill>
                  <a:schemeClr val="dk1"/>
                </a:solidFill>
              </a:rPr>
            </a:br>
            <a:endParaRPr b="1"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Les assureurs doivent faire face à un turnover plus important.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Nécessité d’améliorer la fidélisation des assurés.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Renforcement de la relation client :</a:t>
            </a:r>
            <a:br>
              <a:rPr b="1" lang="en-US" sz="1000">
                <a:solidFill>
                  <a:schemeClr val="dk1"/>
                </a:solidFill>
              </a:rPr>
            </a:br>
            <a:endParaRPr b="1"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Importance de la qualité du service client.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Suivi personnalisé pour anticiper les besoins et éviter les départs.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Rôle clé du devoir de conseil et de la transparence :</a:t>
            </a:r>
            <a:br>
              <a:rPr b="1" lang="en-US" sz="1000">
                <a:solidFill>
                  <a:schemeClr val="dk1"/>
                </a:solidFill>
              </a:rPr>
            </a:br>
            <a:endParaRPr b="1"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Informer clairement les assurés sur leurs droits et garanties.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Conseiller sur les meilleures options adaptées à leur situation.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chemeClr val="dk1"/>
                </a:solidFill>
              </a:rPr>
              <a:t>Travail en groupe – 20 min​ 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chemeClr val="dk1"/>
                </a:solidFill>
              </a:rPr>
              <a:t>Leur expliquer l’importance du questionaire complet, et les exemples de questions a poser suite a differents cas de figures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Cas pratique – Informer en conformité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Situation 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Un client souhaite souscrire une complémentaire santé.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1. Quelles informations devez-vous obligatoirement lui transmettre ?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Documents précontractuels obligatoires :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La fiche d’information et de conseil (FIC) qui résume les garanties principales.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Les conditions générales et particulières du contrat, détaillant droits et obligations.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La notice d’information claire et compréhensible, qui explique les garanties, exclusions et modalités de remboursement.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Informations sur les données personnelles (RGPD) :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Informer sur la collecte et l’utilisation de ses données de santé.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Obtenir son consentement explicite avant tout traitement.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Présenter ses droits d’accès, rectification et opposition.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Information sur la résiliation infra-annuelle (RIA) :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Expliquer la possibilité de résilier à tout moment après un an.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Présenter la procédure simplifiée (courrier, email).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Droits du consommateur :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Droit de rétractation (14 jours pour la vente à distance).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Obligation d’information claire et loyale.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2. Comment formuler un conseil adapté à sa situation ?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Recueillir les besoins du client :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Interroger sur sa situation familiale, médicale, budget, attentes spécifiques (optique, dentaire, hospitalisation…).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Identifier les priorités et les points sensibles.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Analyser les informations :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Comparer les garanties disponibles en fonction de ses besoins.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Tenir compte des exclusions, franchises, plafonds de remboursement.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Formuler une recommandation personnalisée :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Présenter le contrat qui correspond le mieux à ses besoins et à son budget.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Expliquer clairement les avantages et les limites du produit conseillé.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Assurer la traçabilité :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Documenter le conseil donné par écrit (email, compte rendu).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Faire signer un document ou envoyer une confirmation pour preuve.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417" name="Google Shape;417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2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6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7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9"/>
          <p:cNvSpPr txBox="1"/>
          <p:nvPr>
            <p:ph idx="1"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3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4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4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5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5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/>
          <p:nvPr>
            <p:ph idx="1"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2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3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3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4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4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5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5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5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5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6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6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6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6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6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6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p2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3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pic>
          <p:nvPicPr>
            <p:cNvPr id="114" name="Google Shape;114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28880" y="0"/>
              <a:ext cx="7214760" cy="5143320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8627"/>
                </a:srgbClr>
              </a:outerShdw>
            </a:effectLst>
          </p:spPr>
        </p:pic>
        <p:pic>
          <p:nvPicPr>
            <p:cNvPr id="115" name="Google Shape;115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946520"/>
              <a:ext cx="9143640" cy="3196440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8627"/>
                </a:srgbClr>
              </a:outerShdw>
            </a:effectLst>
          </p:spPr>
        </p:pic>
        <p:pic>
          <p:nvPicPr>
            <p:cNvPr id="116" name="Google Shape;116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7000" cy="532800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8627"/>
                </a:srgbClr>
              </a:outerShdw>
            </a:effectLst>
          </p:spPr>
        </p:pic>
        <p:pic>
          <p:nvPicPr>
            <p:cNvPr id="117" name="Google Shape;117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4080" y="4651920"/>
              <a:ext cx="345960" cy="330840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8627"/>
                </a:srgbClr>
              </a:outerShdw>
            </a:effectLst>
          </p:spPr>
        </p:pic>
      </p:grpSp>
      <p:sp>
        <p:nvSpPr>
          <p:cNvPr id="118" name="Google Shape;118;p1"/>
          <p:cNvSpPr txBox="1"/>
          <p:nvPr/>
        </p:nvSpPr>
        <p:spPr>
          <a:xfrm>
            <a:off x="520175" y="1420250"/>
            <a:ext cx="4451100" cy="12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1" i="0" lang="en-US" sz="2050" u="none" cap="none" strike="noStrike">
                <a:solidFill>
                  <a:srgbClr val="1D2B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Cadre légal et réglementaire des complémentaires santé​</a:t>
            </a:r>
            <a:endParaRPr b="0" i="0" sz="2050" u="none" cap="none" strike="noStrike">
              <a:solidFill>
                <a:schemeClr val="dk1"/>
              </a:solidFill>
              <a:highlight>
                <a:srgbClr val="F5F5F5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t/>
            </a:r>
            <a:endParaRPr b="1" i="0" sz="2050" u="none" cap="none" strike="noStrike">
              <a:solidFill>
                <a:srgbClr val="1D2BA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0" y="0"/>
            <a:ext cx="2067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D2B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 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"/>
          <p:cNvGrpSpPr/>
          <p:nvPr/>
        </p:nvGrpSpPr>
        <p:grpSpPr>
          <a:xfrm>
            <a:off x="0" y="-7200"/>
            <a:ext cx="9176760" cy="5157720"/>
            <a:chOff x="0" y="-7200"/>
            <a:chExt cx="9176760" cy="5157720"/>
          </a:xfrm>
        </p:grpSpPr>
        <p:pic>
          <p:nvPicPr>
            <p:cNvPr id="125" name="Google Shape;125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-7200"/>
              <a:ext cx="9176040" cy="5142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62000" y="7200"/>
              <a:ext cx="7214760" cy="5143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60960" y="302760"/>
              <a:ext cx="377640" cy="301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83600" y="45320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p2"/>
          <p:cNvSpPr/>
          <p:nvPr/>
        </p:nvSpPr>
        <p:spPr>
          <a:xfrm>
            <a:off x="696600" y="973975"/>
            <a:ext cx="41985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Objectifs pédagogiques du jour​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169950" y="2086325"/>
            <a:ext cx="430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Comprendre le cadre légal et réglementaire des complémentaires santé​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1174950" y="2340000"/>
            <a:ext cx="400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Identifier les obligations d’information et de conseil​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1169950" y="2593675"/>
            <a:ext cx="430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Appliquer les règles de confidentialité et RGPD​/DDA/LCBFT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1169950" y="2845850"/>
            <a:ext cx="338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Informer un client en conformité avec la réglementation​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041725" y="2086313"/>
            <a:ext cx="31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1041725" y="2314913"/>
            <a:ext cx="31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1041725" y="2593663"/>
            <a:ext cx="31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1041725" y="2845850"/>
            <a:ext cx="31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3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pic>
          <p:nvPicPr>
            <p:cNvPr id="143" name="Google Shape;143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40" cy="5142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0" cy="5143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0" cy="3016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3"/>
          <p:cNvSpPr txBox="1"/>
          <p:nvPr/>
        </p:nvSpPr>
        <p:spPr>
          <a:xfrm>
            <a:off x="432250" y="2335050"/>
            <a:ext cx="539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Comprendre le cadre légal et réglementaire des complémentaires</a:t>
            </a: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santé​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4"/>
          <p:cNvGrpSpPr/>
          <p:nvPr/>
        </p:nvGrpSpPr>
        <p:grpSpPr>
          <a:xfrm>
            <a:off x="0" y="1946520"/>
            <a:ext cx="9143640" cy="3196440"/>
            <a:chOff x="0" y="1946520"/>
            <a:chExt cx="9143640" cy="3196440"/>
          </a:xfrm>
        </p:grpSpPr>
        <p:pic>
          <p:nvPicPr>
            <p:cNvPr id="153" name="Google Shape;153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40" cy="3196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60" cy="330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7000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4"/>
          <p:cNvSpPr/>
          <p:nvPr/>
        </p:nvSpPr>
        <p:spPr>
          <a:xfrm>
            <a:off x="1216874" y="1558000"/>
            <a:ext cx="6721500" cy="32889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0" y="1695600"/>
            <a:ext cx="2101680" cy="3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0" y="0"/>
            <a:ext cx="5136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Contrats responsables, ANI, réforme 100% santé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18100" y="379700"/>
            <a:ext cx="9129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4"/>
          <p:cNvSpPr txBox="1"/>
          <p:nvPr/>
        </p:nvSpPr>
        <p:spPr>
          <a:xfrm>
            <a:off x="18100" y="5239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Contrats responsables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18100" y="845188"/>
            <a:ext cx="6233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66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Définition : contrats bénéficiant d’avantages fiscaux et sociaux​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1165575" y="1680925"/>
            <a:ext cx="69777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Pour le salarié :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Cotisation de l’employeur non imposée comme revenu (partiellement).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Cotisation déductible du revenu imposable pour les travailleurs non-salariés (loi Madelin).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Pour l’employeur :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Cotisations patronales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exonérées de charges sociales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(dans certaines limites).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Cotisations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déductibles de l’impôt sur les sociétés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Autres avantages :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Taxe sur les conventions d’assurance réduite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(7 % au lieu de 14 %).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Protection renforcée pour les salariés grâce à la couverture santé obligatoire.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1503683" y="1222078"/>
            <a:ext cx="113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5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169" name="Google Shape;169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5"/>
          <p:cNvSpPr/>
          <p:nvPr/>
        </p:nvSpPr>
        <p:spPr>
          <a:xfrm>
            <a:off x="5803300" y="1532725"/>
            <a:ext cx="3000000" cy="20055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73225" y="2417862"/>
            <a:ext cx="4249500" cy="12474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10204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240600" y="1695600"/>
            <a:ext cx="2999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0" y="0"/>
            <a:ext cx="5136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Contrats responsables, ANI, réforme 100% santé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5"/>
          <p:cNvCxnSpPr/>
          <p:nvPr/>
        </p:nvCxnSpPr>
        <p:spPr>
          <a:xfrm>
            <a:off x="18100" y="379700"/>
            <a:ext cx="9129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5"/>
          <p:cNvSpPr txBox="1"/>
          <p:nvPr/>
        </p:nvSpPr>
        <p:spPr>
          <a:xfrm>
            <a:off x="18100" y="1034763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Contrats responsables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254375" y="2402163"/>
            <a:ext cx="43548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Objectif</a:t>
            </a:r>
            <a:endParaRPr b="1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Responsabiliser l’assuré dans sa consommation de soins.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Limiter les dépassements d’honoraires en favorisant le recours au parcours de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soins coordonnés.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5803300" y="1627500"/>
            <a:ext cx="3000000" cy="1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Plafonds de remboursement</a:t>
            </a:r>
            <a:endParaRPr b="1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Limitation de la prise en charge des dépassements d’honoraires hors </a:t>
            </a:r>
            <a:r>
              <a:rPr b="1" i="0" lang="en-US" sz="12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parcours de soins.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Encadrement des remboursements sur les lunettes et prothèses dentaires hors panier 100% Santé.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6"/>
          <p:cNvGrpSpPr/>
          <p:nvPr/>
        </p:nvGrpSpPr>
        <p:grpSpPr>
          <a:xfrm>
            <a:off x="18100" y="1946520"/>
            <a:ext cx="9143639" cy="3196441"/>
            <a:chOff x="0" y="1946520"/>
            <a:chExt cx="9143639" cy="3196441"/>
          </a:xfrm>
        </p:grpSpPr>
        <p:pic>
          <p:nvPicPr>
            <p:cNvPr id="187" name="Google Shape;18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6"/>
          <p:cNvSpPr/>
          <p:nvPr/>
        </p:nvSpPr>
        <p:spPr>
          <a:xfrm>
            <a:off x="6454250" y="2048925"/>
            <a:ext cx="2351100" cy="17169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5927439" y="2070877"/>
            <a:ext cx="27564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Meilleure couverture santé pour les salariés.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Mutualisation des risques au sein de l’entreprise.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Réduction des inégalités d’accès aux soins.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288320" y="1695600"/>
            <a:ext cx="203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0" y="0"/>
            <a:ext cx="5136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Contrats responsables, ANI, réforme 100% santé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6"/>
          <p:cNvCxnSpPr/>
          <p:nvPr/>
        </p:nvCxnSpPr>
        <p:spPr>
          <a:xfrm>
            <a:off x="18100" y="379700"/>
            <a:ext cx="9129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6"/>
          <p:cNvSpPr txBox="1"/>
          <p:nvPr/>
        </p:nvSpPr>
        <p:spPr>
          <a:xfrm>
            <a:off x="0" y="442896"/>
            <a:ext cx="5402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Accord National Interprofessionnel (ANI)​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2016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105375" y="1086096"/>
            <a:ext cx="4925100" cy="3347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Objectif :</a:t>
            </a: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Généraliser la complémentaire santé à tous les salariés du secteur privé.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Obligation employeur :</a:t>
            </a: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Proposer une mutuelle collective obligatoire à l’ensemble des salariés, sauf cas de dispense.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Participation financière minimale :</a:t>
            </a: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L’employeur doit financer au moins 50 % de la cotisation, le reste étant à la charge du salarié.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Dispenses possibles (exemples) :</a:t>
            </a: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Salariés déjà couverts par une mutuelle individuelle.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Bénéficiaires de la CMU-C ou de l’ACS.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Contrats courts ou temps très partiel selon conditions.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6715651" y="1592527"/>
            <a:ext cx="152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Conséquences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7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203" name="Google Shape;20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7"/>
          <p:cNvSpPr/>
          <p:nvPr/>
        </p:nvSpPr>
        <p:spPr>
          <a:xfrm>
            <a:off x="6540427" y="2049000"/>
            <a:ext cx="2292300" cy="19251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210204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288320" y="1695600"/>
            <a:ext cx="203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0" y="0"/>
            <a:ext cx="5136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Contrats responsables, ANI, réforme 100% santé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7"/>
          <p:cNvCxnSpPr/>
          <p:nvPr/>
        </p:nvCxnSpPr>
        <p:spPr>
          <a:xfrm>
            <a:off x="18100" y="379700"/>
            <a:ext cx="9129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7"/>
          <p:cNvSpPr txBox="1"/>
          <p:nvPr/>
        </p:nvSpPr>
        <p:spPr>
          <a:xfrm>
            <a:off x="96625" y="1183645"/>
            <a:ext cx="5316900" cy="346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Mise en place progressive :</a:t>
            </a:r>
            <a:b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Déploiement de la réforme sur 3 ans, entre 2019 et 2021.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Objectif principal :</a:t>
            </a:r>
            <a:b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Assurer un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reste à charge zéro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pour les assurés sur certains équipements et soins essentiels.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Trois paniers de soins concernés :</a:t>
            </a:r>
            <a:b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Optique 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montures et verres dits "100% Santé" sans reste à charge.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Dentaire 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prothèses et couronnes à tarif maîtrisé, intégralement remboursées.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Audiologie 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appareils auditifs de classe 1 pris en charge à 100%.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5929127" y="2109725"/>
            <a:ext cx="30000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Obligation d’intégrer ces paniers dans les contrats responsables.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Limitation des remboursements hors panier 100% Santé pour encourager la prise en charge complète.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41712" y="4994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Réforme 100% Santé (2019-2021)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6635677" y="1500300"/>
            <a:ext cx="210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Conséquences pour les complémentaires santé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8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221" name="Google Shape;22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4" name="Google Shape;224;p8"/>
          <p:cNvSpPr/>
          <p:nvPr/>
        </p:nvSpPr>
        <p:spPr>
          <a:xfrm>
            <a:off x="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210204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288320" y="1695600"/>
            <a:ext cx="203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240600" y="1695600"/>
            <a:ext cx="2999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0" y="-68325"/>
            <a:ext cx="72831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Résiliation infra-annuelle : enjeux,obligations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8"/>
          <p:cNvCxnSpPr/>
          <p:nvPr/>
        </p:nvCxnSpPr>
        <p:spPr>
          <a:xfrm>
            <a:off x="16225" y="379700"/>
            <a:ext cx="9129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8"/>
          <p:cNvSpPr txBox="1"/>
          <p:nvPr/>
        </p:nvSpPr>
        <p:spPr>
          <a:xfrm>
            <a:off x="108100" y="1226550"/>
            <a:ext cx="5893500" cy="3080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Entrée en vigueur :</a:t>
            </a:r>
            <a:b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Depuis décembre 2020, les assurés peuvent résilier leur contrat santé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 tout moment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après un an de souscription.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Objectif principal :</a:t>
            </a:r>
            <a:b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Offrir plus de liberté et de flexibilité aux assurés dans le choix et la gestion de leur complémentaire santé.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Obligations de l’assureur :</a:t>
            </a:r>
            <a:b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Faciliter la résiliation en informant clairement les assurés de leurs droits.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Procédure simplifiée :</a:t>
            </a:r>
            <a:b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résiliation peut être effectuée par un simple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courrier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un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tout autre support durable, sans justification ni frais.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p8"/>
          <p:cNvGrpSpPr/>
          <p:nvPr/>
        </p:nvGrpSpPr>
        <p:grpSpPr>
          <a:xfrm>
            <a:off x="6488203" y="1336580"/>
            <a:ext cx="2217560" cy="2217560"/>
            <a:chOff x="2820225" y="891450"/>
            <a:chExt cx="3175200" cy="3175200"/>
          </a:xfrm>
        </p:grpSpPr>
        <p:sp>
          <p:nvSpPr>
            <p:cNvPr id="232" name="Google Shape;232;p8"/>
            <p:cNvSpPr/>
            <p:nvPr/>
          </p:nvSpPr>
          <p:spPr>
            <a:xfrm rot="10800000">
              <a:off x="2820225" y="891450"/>
              <a:ext cx="3175200" cy="3175200"/>
            </a:xfrm>
            <a:prstGeom prst="blockArc">
              <a:avLst>
                <a:gd fmla="val 5399801" name="adj1"/>
                <a:gd fmla="val 3012680" name="adj2"/>
                <a:gd fmla="val 6939" name="adj3"/>
              </a:avLst>
            </a:prstGeom>
            <a:solidFill>
              <a:srgbClr val="83E3DA"/>
            </a:solidFill>
            <a:ln>
              <a:noFill/>
            </a:ln>
          </p:spPr>
          <p:txBody>
            <a:bodyPr anchorCtr="0" anchor="ctr" bIns="63850" lIns="63850" spcFirstLastPara="1" rIns="63850" wrap="square" tIns="63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 rot="10800000">
              <a:off x="3175023" y="1179900"/>
              <a:ext cx="450600" cy="450600"/>
            </a:xfrm>
            <a:prstGeom prst="rtTriangle">
              <a:avLst/>
            </a:prstGeom>
            <a:solidFill>
              <a:srgbClr val="83E3DA"/>
            </a:solidFill>
            <a:ln>
              <a:noFill/>
            </a:ln>
          </p:spPr>
          <p:txBody>
            <a:bodyPr anchorCtr="0" anchor="ctr" bIns="63850" lIns="63850" spcFirstLastPara="1" rIns="63850" wrap="square" tIns="63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" name="Google Shape;234;p8"/>
          <p:cNvGrpSpPr/>
          <p:nvPr/>
        </p:nvGrpSpPr>
        <p:grpSpPr>
          <a:xfrm>
            <a:off x="8101612" y="2160711"/>
            <a:ext cx="930478" cy="638826"/>
            <a:chOff x="5130375" y="2071477"/>
            <a:chExt cx="1332300" cy="914700"/>
          </a:xfrm>
        </p:grpSpPr>
        <p:sp>
          <p:nvSpPr>
            <p:cNvPr id="235" name="Google Shape;235;p8"/>
            <p:cNvSpPr/>
            <p:nvPr/>
          </p:nvSpPr>
          <p:spPr>
            <a:xfrm>
              <a:off x="5130375" y="2356477"/>
              <a:ext cx="1332300" cy="6297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t" bIns="63850" lIns="63850" spcFirstLastPara="1" rIns="63850" wrap="square" tIns="63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8"/>
                <a:buFont typeface="Arial"/>
                <a:buNone/>
              </a:pPr>
              <a:r>
                <a:rPr b="0" i="0" lang="en-US" sz="55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à tout moment après 1 an</a:t>
              </a:r>
              <a:endParaRPr b="0" i="0" sz="55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5130375" y="2071477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63850" lIns="63850" spcFirstLastPara="1" rIns="63850" wrap="square" tIns="63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8"/>
                <a:buFont typeface="Arial"/>
                <a:buNone/>
              </a:pPr>
              <a:r>
                <a:rPr b="0" i="0" lang="en-US" sz="55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Résiliation possible</a:t>
              </a:r>
              <a:endParaRPr b="0" i="0" sz="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p8"/>
          <p:cNvGrpSpPr/>
          <p:nvPr/>
        </p:nvGrpSpPr>
        <p:grpSpPr>
          <a:xfrm>
            <a:off x="7171133" y="1255623"/>
            <a:ext cx="930478" cy="638826"/>
            <a:chOff x="3798075" y="775532"/>
            <a:chExt cx="1332300" cy="914700"/>
          </a:xfrm>
        </p:grpSpPr>
        <p:sp>
          <p:nvSpPr>
            <p:cNvPr id="238" name="Google Shape;238;p8"/>
            <p:cNvSpPr/>
            <p:nvPr/>
          </p:nvSpPr>
          <p:spPr>
            <a:xfrm>
              <a:off x="3798075" y="1060532"/>
              <a:ext cx="1332300" cy="6297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t" bIns="63850" lIns="63850" spcFirstLastPara="1" rIns="63850" wrap="square" tIns="63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8"/>
                <a:buFont typeface="Arial"/>
                <a:buNone/>
              </a:pPr>
              <a:r>
                <a:rPr b="0" i="0" lang="en-US" sz="55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(Engagement ≥ 1 an)</a:t>
              </a:r>
              <a:endParaRPr b="0" i="0" sz="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3798075" y="775532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63850" lIns="63850" spcFirstLastPara="1" rIns="63850" wrap="square" tIns="63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8"/>
                <a:buFont typeface="Arial"/>
                <a:buNone/>
              </a:pPr>
              <a:r>
                <a:rPr b="0" i="0" lang="en-US" sz="55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Contrat santé</a:t>
              </a:r>
              <a:endParaRPr b="0" i="0" sz="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8"/>
          <p:cNvGrpSpPr/>
          <p:nvPr/>
        </p:nvGrpSpPr>
        <p:grpSpPr>
          <a:xfrm>
            <a:off x="6240604" y="2160653"/>
            <a:ext cx="939804" cy="638826"/>
            <a:chOff x="2465775" y="2071477"/>
            <a:chExt cx="1332300" cy="914700"/>
          </a:xfrm>
        </p:grpSpPr>
        <p:sp>
          <p:nvSpPr>
            <p:cNvPr id="241" name="Google Shape;241;p8"/>
            <p:cNvSpPr/>
            <p:nvPr/>
          </p:nvSpPr>
          <p:spPr>
            <a:xfrm>
              <a:off x="2465775" y="2356477"/>
              <a:ext cx="1332300" cy="6297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t" bIns="63850" lIns="63850" spcFirstLastPara="1" rIns="63850" wrap="square" tIns="63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8"/>
                <a:buFont typeface="Arial"/>
                <a:buNone/>
              </a:pPr>
              <a:r>
                <a:rPr b="0" i="0" lang="en-US" sz="55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- Donner plus de liberté  </a:t>
              </a:r>
              <a:endParaRPr b="0" i="0" sz="55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55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- Favoriser la concurrence </a:t>
              </a:r>
              <a:endParaRPr b="0" i="0" sz="55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55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- Permettre le changement </a:t>
              </a:r>
              <a:endParaRPr b="0" i="0" sz="55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8"/>
                <a:buFont typeface="Arial"/>
                <a:buNone/>
              </a:pPr>
              <a:r>
                <a:t/>
              </a:r>
              <a:endParaRPr b="0" i="0" sz="55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2465775" y="2071477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63850" lIns="63850" spcFirstLastPara="1" rIns="63850" wrap="square" tIns="63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8"/>
                <a:buFont typeface="Arial"/>
                <a:buNone/>
              </a:pPr>
              <a:r>
                <a:rPr b="0" i="0" lang="en-US" sz="55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Objectif</a:t>
              </a:r>
              <a:endParaRPr b="0" i="0" sz="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8"/>
          <p:cNvGrpSpPr/>
          <p:nvPr/>
        </p:nvGrpSpPr>
        <p:grpSpPr>
          <a:xfrm>
            <a:off x="7171133" y="3070255"/>
            <a:ext cx="930478" cy="638826"/>
            <a:chOff x="3798075" y="3373802"/>
            <a:chExt cx="1332300" cy="914700"/>
          </a:xfrm>
        </p:grpSpPr>
        <p:sp>
          <p:nvSpPr>
            <p:cNvPr id="244" name="Google Shape;244;p8"/>
            <p:cNvSpPr/>
            <p:nvPr/>
          </p:nvSpPr>
          <p:spPr>
            <a:xfrm>
              <a:off x="3798075" y="3658802"/>
              <a:ext cx="1332300" cy="6297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t" bIns="63850" lIns="63850" spcFirstLastPara="1" rIns="63850" wrap="square" tIns="63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8"/>
                <a:buFont typeface="Arial"/>
                <a:buNone/>
              </a:pPr>
              <a:r>
                <a:rPr b="0" i="0" lang="en-US" sz="55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- Courrier ou email        </a:t>
              </a:r>
              <a:endParaRPr b="0" i="0" sz="55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55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- Sans frais ni justification</a:t>
              </a:r>
              <a:endParaRPr b="0" i="0" sz="55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8"/>
                <a:buFont typeface="Arial"/>
                <a:buNone/>
              </a:pPr>
              <a:r>
                <a:t/>
              </a:r>
              <a:endParaRPr b="0" i="0" sz="55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3798075" y="3373802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63850" lIns="63850" spcFirstLastPara="1" rIns="63850" wrap="square" tIns="63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8"/>
                <a:buFont typeface="Arial"/>
                <a:buNone/>
              </a:pPr>
              <a:r>
                <a:rPr b="0" i="0" lang="en-US" sz="55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Procédure simplifiée</a:t>
              </a:r>
              <a:endParaRPr b="0" i="0" sz="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8"/>
          <p:cNvSpPr txBox="1"/>
          <p:nvPr/>
        </p:nvSpPr>
        <p:spPr>
          <a:xfrm>
            <a:off x="16225" y="610663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Résiliation Infra-Annuelle (RIA)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9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252" name="Google Shape;25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9"/>
          <p:cNvSpPr/>
          <p:nvPr/>
        </p:nvSpPr>
        <p:spPr>
          <a:xfrm>
            <a:off x="3592769" y="1179413"/>
            <a:ext cx="4298100" cy="496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554663" y="2232975"/>
            <a:ext cx="4298100" cy="496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554663" y="3304806"/>
            <a:ext cx="4298100" cy="496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0275" y="1279250"/>
            <a:ext cx="2828100" cy="35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Opportunités commerciales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288320" y="1695600"/>
            <a:ext cx="203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240600" y="1695600"/>
            <a:ext cx="2999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0" y="-68325"/>
            <a:ext cx="72831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Résiliation infra-annuelle : enjeux,obligations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9"/>
          <p:cNvCxnSpPr/>
          <p:nvPr/>
        </p:nvCxnSpPr>
        <p:spPr>
          <a:xfrm>
            <a:off x="16225" y="379700"/>
            <a:ext cx="9129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9"/>
          <p:cNvSpPr txBox="1"/>
          <p:nvPr/>
        </p:nvSpPr>
        <p:spPr>
          <a:xfrm>
            <a:off x="0" y="629150"/>
            <a:ext cx="411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Impacts de la Résiliation Infra-Annuelle (RIA)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70325" y="2319050"/>
            <a:ext cx="2828100" cy="33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Risque accru de churn (perte de clients)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92825" y="3385213"/>
            <a:ext cx="2828100" cy="33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Renforcement de la relation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2903963" y="1163388"/>
            <a:ext cx="5242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Favorise la concurrence entre assureurs.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Permet aux nouveaux entrants de capter plus facilement des clients.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2897113" y="2201400"/>
            <a:ext cx="5422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Les assureurs doivent faire face à un turnover plus important.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Nécessité d’améliorer la fidélisation des assurés.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2912975" y="3267756"/>
            <a:ext cx="4784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Importance de la qualité du service client.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Suivi personnalisé pour anticiper les besoins et éviter les départs.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10"/>
          <p:cNvGrpSpPr/>
          <p:nvPr/>
        </p:nvGrpSpPr>
        <p:grpSpPr>
          <a:xfrm>
            <a:off x="0" y="0"/>
            <a:ext cx="9143641" cy="5143321"/>
            <a:chOff x="0" y="0"/>
            <a:chExt cx="9143641" cy="5143321"/>
          </a:xfrm>
        </p:grpSpPr>
        <p:pic>
          <p:nvPicPr>
            <p:cNvPr id="274" name="Google Shape;27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39" cy="5142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1" cy="5143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1" cy="3016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8" name="Google Shape;278;p10"/>
          <p:cNvSpPr txBox="1"/>
          <p:nvPr/>
        </p:nvSpPr>
        <p:spPr>
          <a:xfrm>
            <a:off x="473900" y="2387100"/>
            <a:ext cx="526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Identifier les obligations d’information et de conseil​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11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284" name="Google Shape;284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7" name="Google Shape;287;p11"/>
          <p:cNvSpPr/>
          <p:nvPr/>
        </p:nvSpPr>
        <p:spPr>
          <a:xfrm>
            <a:off x="4104725" y="1524700"/>
            <a:ext cx="4524300" cy="515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104725" y="2239975"/>
            <a:ext cx="4524300" cy="515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104725" y="2939900"/>
            <a:ext cx="4524300" cy="515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104725" y="3643025"/>
            <a:ext cx="4524300" cy="692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210204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288320" y="1695600"/>
            <a:ext cx="203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3545013" y="1547844"/>
            <a:ext cx="4206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Fourniture systématique avant la souscription.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Permettent à l’assuré de comparer les offres.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-1875" y="0"/>
            <a:ext cx="5136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Informations légales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11"/>
          <p:cNvCxnSpPr/>
          <p:nvPr/>
        </p:nvCxnSpPr>
        <p:spPr>
          <a:xfrm>
            <a:off x="7350" y="390400"/>
            <a:ext cx="9129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1"/>
          <p:cNvSpPr txBox="1"/>
          <p:nvPr/>
        </p:nvSpPr>
        <p:spPr>
          <a:xfrm>
            <a:off x="3557050" y="2250269"/>
            <a:ext cx="5000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Détaillent les garanties, modalités de fonctionnement et exclusions.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Contrat formel entre assureur et assuré.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 txBox="1"/>
          <p:nvPr/>
        </p:nvSpPr>
        <p:spPr>
          <a:xfrm>
            <a:off x="59525" y="1588175"/>
            <a:ext cx="3085200" cy="33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Documents précontractuels obligatoires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 txBox="1"/>
          <p:nvPr/>
        </p:nvSpPr>
        <p:spPr>
          <a:xfrm>
            <a:off x="83350" y="2362900"/>
            <a:ext cx="3085200" cy="33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Conditions générales et particulières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66875" y="3071825"/>
            <a:ext cx="3085200" cy="33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 d’information claire et compréhensible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 txBox="1"/>
          <p:nvPr/>
        </p:nvSpPr>
        <p:spPr>
          <a:xfrm>
            <a:off x="3545144" y="2946650"/>
            <a:ext cx="49173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Rédigée en langage accessible.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Explique les garanties, les exclusions et les démarches à suivre.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83350" y="3840675"/>
            <a:ext cx="3085200" cy="33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Mentions obligatoires à inclure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3548063" y="3629531"/>
            <a:ext cx="527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Description précise des garanties.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Exclusions de garanties.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Tarifs et modalités de paiement.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 txBox="1"/>
          <p:nvPr/>
        </p:nvSpPr>
        <p:spPr>
          <a:xfrm>
            <a:off x="11900" y="654850"/>
            <a:ext cx="308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Informations légales à transmettre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12"/>
          <p:cNvGrpSpPr/>
          <p:nvPr/>
        </p:nvGrpSpPr>
        <p:grpSpPr>
          <a:xfrm>
            <a:off x="0" y="0"/>
            <a:ext cx="9143641" cy="5143321"/>
            <a:chOff x="0" y="0"/>
            <a:chExt cx="9143641" cy="5143321"/>
          </a:xfrm>
        </p:grpSpPr>
        <p:pic>
          <p:nvPicPr>
            <p:cNvPr id="310" name="Google Shape;31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39" cy="5142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1" cy="5143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1" cy="3016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4" name="Google Shape;314;p12"/>
          <p:cNvSpPr txBox="1"/>
          <p:nvPr/>
        </p:nvSpPr>
        <p:spPr>
          <a:xfrm>
            <a:off x="628725" y="2581725"/>
            <a:ext cx="526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Appliquer les règles de confidentialité et RGPD​/DDA/LCBFT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3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320" name="Google Shape;32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3" name="Google Shape;323;p13"/>
          <p:cNvSpPr/>
          <p:nvPr/>
        </p:nvSpPr>
        <p:spPr>
          <a:xfrm>
            <a:off x="4259519" y="1608050"/>
            <a:ext cx="4298100" cy="5001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259519" y="2499750"/>
            <a:ext cx="4298100" cy="5001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259525" y="3378250"/>
            <a:ext cx="4393500" cy="7434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210204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4288320" y="1695600"/>
            <a:ext cx="203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6240600" y="1695600"/>
            <a:ext cx="2999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-1875" y="0"/>
            <a:ext cx="5358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RGPD et données de santé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13"/>
          <p:cNvCxnSpPr/>
          <p:nvPr/>
        </p:nvCxnSpPr>
        <p:spPr>
          <a:xfrm>
            <a:off x="7350" y="390400"/>
            <a:ext cx="9129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13"/>
          <p:cNvSpPr txBox="1"/>
          <p:nvPr/>
        </p:nvSpPr>
        <p:spPr>
          <a:xfrm>
            <a:off x="107156" y="1644806"/>
            <a:ext cx="30000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Données de santé = données sensibles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3595675" y="1560756"/>
            <a:ext cx="5116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Traitement soumis à des règles strictes.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Consentement explicite obligatoire de la personne concernée.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3607581" y="2469506"/>
            <a:ext cx="504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Chiffrement des données.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Confidentialité et accès limité aux personnes autorisées.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 txBox="1"/>
          <p:nvPr/>
        </p:nvSpPr>
        <p:spPr>
          <a:xfrm>
            <a:off x="3605800" y="3390156"/>
            <a:ext cx="53109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Amendes administratives par la CNIL pouvant atteindre plusieurs millions d’euros.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Risques juridiques et réputationnels pour l’organisme.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114506" y="2566850"/>
            <a:ext cx="30000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Mesures de sécurité à respecter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114506" y="3635600"/>
            <a:ext cx="30000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Sanctions en cas de non-respect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 txBox="1"/>
          <p:nvPr/>
        </p:nvSpPr>
        <p:spPr>
          <a:xfrm>
            <a:off x="0" y="6429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RGPD et données de santé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14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345" name="Google Shape;34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8" name="Google Shape;348;p14"/>
          <p:cNvSpPr/>
          <p:nvPr/>
        </p:nvSpPr>
        <p:spPr>
          <a:xfrm>
            <a:off x="210204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-1875" y="0"/>
            <a:ext cx="5358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RGPD et données de santé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14"/>
          <p:cNvCxnSpPr/>
          <p:nvPr/>
        </p:nvCxnSpPr>
        <p:spPr>
          <a:xfrm>
            <a:off x="7350" y="390400"/>
            <a:ext cx="9129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14"/>
          <p:cNvSpPr txBox="1"/>
          <p:nvPr/>
        </p:nvSpPr>
        <p:spPr>
          <a:xfrm>
            <a:off x="0" y="1422613"/>
            <a:ext cx="2440500" cy="1946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RGPD – Protection des données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 ne collecte que les infos utiles.</a:t>
            </a:r>
            <a:b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 protège les données de mes clients.</a:t>
            </a:r>
            <a:b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 client peut demander l’accès, la correction ou la suppression de ses données.</a:t>
            </a:r>
            <a:b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"/>
          <p:cNvSpPr txBox="1"/>
          <p:nvPr/>
        </p:nvSpPr>
        <p:spPr>
          <a:xfrm>
            <a:off x="2998125" y="2648931"/>
            <a:ext cx="2440500" cy="1787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DDA – Devoir de conseil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 dois comprendre les besoins du client.</a:t>
            </a:r>
            <a:b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 propose une solution adaptée (pas seulement la moins chère).</a:t>
            </a:r>
            <a:b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 suis transparent sur les garanties et exclusions.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 txBox="1"/>
          <p:nvPr/>
        </p:nvSpPr>
        <p:spPr>
          <a:xfrm>
            <a:off x="5998125" y="1393000"/>
            <a:ext cx="2440500" cy="19818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LCB-FT – Lutte contre le blanchiment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 vérifie l’identité de chaque client (KYC).</a:t>
            </a:r>
            <a:b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 reste attentif aux opérations inhabituelles.</a:t>
            </a:r>
            <a:b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cas de doute : j’alerte selon la procédure interne (TRACFIN).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 txBox="1"/>
          <p:nvPr/>
        </p:nvSpPr>
        <p:spPr>
          <a:xfrm>
            <a:off x="-1875" y="565975"/>
            <a:ext cx="9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RGPD / DDA / LCB-FT – Ce que tu dois retenir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15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361" name="Google Shape;36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4" name="Google Shape;364;p15"/>
          <p:cNvSpPr/>
          <p:nvPr/>
        </p:nvSpPr>
        <p:spPr>
          <a:xfrm>
            <a:off x="3068888" y="1155606"/>
            <a:ext cx="5358300" cy="4524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3082013" y="1941275"/>
            <a:ext cx="5358300" cy="4524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3070106" y="2784494"/>
            <a:ext cx="5358300" cy="4524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3082013" y="3639544"/>
            <a:ext cx="5358300" cy="4524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210204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4288320" y="1695600"/>
            <a:ext cx="203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6240600" y="1695600"/>
            <a:ext cx="2999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-1875" y="0"/>
            <a:ext cx="5358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RGPD et données de santé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15"/>
          <p:cNvCxnSpPr/>
          <p:nvPr/>
        </p:nvCxnSpPr>
        <p:spPr>
          <a:xfrm>
            <a:off x="7350" y="390400"/>
            <a:ext cx="9129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15"/>
          <p:cNvSpPr txBox="1"/>
          <p:nvPr/>
        </p:nvSpPr>
        <p:spPr>
          <a:xfrm>
            <a:off x="141000" y="1209681"/>
            <a:ext cx="17373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Obligation principale 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5"/>
          <p:cNvSpPr txBox="1"/>
          <p:nvPr/>
        </p:nvSpPr>
        <p:spPr>
          <a:xfrm>
            <a:off x="2512244" y="1173219"/>
            <a:ext cx="574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Adapter le contrat proposé aux besoins réels et à la situation du client.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5"/>
          <p:cNvSpPr txBox="1"/>
          <p:nvPr/>
        </p:nvSpPr>
        <p:spPr>
          <a:xfrm>
            <a:off x="2524249" y="3591400"/>
            <a:ext cx="573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Conserver une preuve écrite du conseil fourni (email, document signé, compte-rendu).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>
            <a:off x="-1875" y="5057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Devoir de conseil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5"/>
          <p:cNvSpPr txBox="1"/>
          <p:nvPr/>
        </p:nvSpPr>
        <p:spPr>
          <a:xfrm>
            <a:off x="141000" y="1987506"/>
            <a:ext cx="17373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Étapes clés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5"/>
          <p:cNvSpPr txBox="1"/>
          <p:nvPr/>
        </p:nvSpPr>
        <p:spPr>
          <a:xfrm>
            <a:off x="2518200" y="1893131"/>
            <a:ext cx="584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Recueillir précisément les besoins et attentes du client.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Analyser ces informations pour formuler une recommandation adaptée.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 txBox="1"/>
          <p:nvPr/>
        </p:nvSpPr>
        <p:spPr>
          <a:xfrm>
            <a:off x="141000" y="2817588"/>
            <a:ext cx="17373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Justification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2524125" y="2833700"/>
            <a:ext cx="574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Expliquer et documenter la raison de la recommandation donnée au client.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 txBox="1"/>
          <p:nvPr/>
        </p:nvSpPr>
        <p:spPr>
          <a:xfrm>
            <a:off x="167096" y="3713956"/>
            <a:ext cx="17373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Traçabilité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16"/>
          <p:cNvGrpSpPr/>
          <p:nvPr/>
        </p:nvGrpSpPr>
        <p:grpSpPr>
          <a:xfrm>
            <a:off x="0" y="0"/>
            <a:ext cx="9143641" cy="5143321"/>
            <a:chOff x="0" y="0"/>
            <a:chExt cx="9143641" cy="5143321"/>
          </a:xfrm>
        </p:grpSpPr>
        <p:pic>
          <p:nvPicPr>
            <p:cNvPr id="387" name="Google Shape;38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39" cy="5142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1" cy="5143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1" cy="3016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16"/>
          <p:cNvSpPr txBox="1"/>
          <p:nvPr/>
        </p:nvSpPr>
        <p:spPr>
          <a:xfrm>
            <a:off x="557250" y="2534100"/>
            <a:ext cx="526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Informer un client en conformité avec la réglementation​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17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397" name="Google Shape;39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0" name="Google Shape;400;p17"/>
          <p:cNvSpPr/>
          <p:nvPr/>
        </p:nvSpPr>
        <p:spPr>
          <a:xfrm>
            <a:off x="4307131" y="1155600"/>
            <a:ext cx="3345600" cy="548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4307118" y="2069600"/>
            <a:ext cx="3345600" cy="548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4307125" y="2826363"/>
            <a:ext cx="3405000" cy="548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4319219" y="3749813"/>
            <a:ext cx="3405000" cy="548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7"/>
          <p:cNvSpPr txBox="1"/>
          <p:nvPr/>
        </p:nvSpPr>
        <p:spPr>
          <a:xfrm>
            <a:off x="0" y="0"/>
            <a:ext cx="563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Protection du consommateur​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17"/>
          <p:cNvCxnSpPr/>
          <p:nvPr/>
        </p:nvCxnSpPr>
        <p:spPr>
          <a:xfrm>
            <a:off x="7350" y="390400"/>
            <a:ext cx="9129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17"/>
          <p:cNvSpPr txBox="1"/>
          <p:nvPr/>
        </p:nvSpPr>
        <p:spPr>
          <a:xfrm>
            <a:off x="178594" y="1250125"/>
            <a:ext cx="2525700" cy="54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Interdiction des pratiques trompeuses 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7"/>
          <p:cNvSpPr txBox="1"/>
          <p:nvPr/>
        </p:nvSpPr>
        <p:spPr>
          <a:xfrm>
            <a:off x="0" y="547700"/>
            <a:ext cx="4974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Protection du consommateur – Code de la consommation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7"/>
          <p:cNvSpPr txBox="1"/>
          <p:nvPr/>
        </p:nvSpPr>
        <p:spPr>
          <a:xfrm>
            <a:off x="3631381" y="1200931"/>
            <a:ext cx="380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Toute pratique commerciale mensongère ou déloyale est prohibée.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7"/>
          <p:cNvSpPr txBox="1"/>
          <p:nvPr/>
        </p:nvSpPr>
        <p:spPr>
          <a:xfrm>
            <a:off x="185944" y="2049000"/>
            <a:ext cx="2525700" cy="54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Obligation d’information claire et loyale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7"/>
          <p:cNvSpPr txBox="1"/>
          <p:nvPr/>
        </p:nvSpPr>
        <p:spPr>
          <a:xfrm>
            <a:off x="3655050" y="2122900"/>
            <a:ext cx="411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 consommateur doit recevoir des informations précises, compréhensibles et transparentes.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185944" y="2936175"/>
            <a:ext cx="25257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Droit de rétractation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7"/>
          <p:cNvSpPr txBox="1"/>
          <p:nvPr/>
        </p:nvSpPr>
        <p:spPr>
          <a:xfrm>
            <a:off x="3667150" y="2863700"/>
            <a:ext cx="411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Délai de 14 jours pour revenir sur un achat à distance (internet, téléphone, courrier).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7"/>
          <p:cNvSpPr txBox="1"/>
          <p:nvPr/>
        </p:nvSpPr>
        <p:spPr>
          <a:xfrm>
            <a:off x="185944" y="3823350"/>
            <a:ext cx="25257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Sanctions en cas de manquement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7"/>
          <p:cNvSpPr txBox="1"/>
          <p:nvPr/>
        </p:nvSpPr>
        <p:spPr>
          <a:xfrm>
            <a:off x="3702850" y="3749788"/>
            <a:ext cx="373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Amendes civiles et pénales.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Possibilité d’annulation du contrat.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18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420" name="Google Shape;420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3" name="Google Shape;423;p18"/>
          <p:cNvSpPr/>
          <p:nvPr/>
        </p:nvSpPr>
        <p:spPr>
          <a:xfrm>
            <a:off x="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4288320" y="1695600"/>
            <a:ext cx="203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6240600" y="1695600"/>
            <a:ext cx="2999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8"/>
          <p:cNvSpPr txBox="1"/>
          <p:nvPr/>
        </p:nvSpPr>
        <p:spPr>
          <a:xfrm>
            <a:off x="-1325225" y="0"/>
            <a:ext cx="659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 pratique – Informer en conformité​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8"/>
          <p:cNvSpPr txBox="1"/>
          <p:nvPr/>
        </p:nvSpPr>
        <p:spPr>
          <a:xfrm>
            <a:off x="454900" y="1695600"/>
            <a:ext cx="3961200" cy="281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Quelles informations devez-vous obligatoirement lui transmettre ?</a:t>
            </a: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 documents précontractuels (La fiche d’information et de conseil).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 conditions générales et particulières du contrat.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notice d’information claire et compréhensible (garanties, exclusions, tarifs).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 droits liés à la protection des données personnelles (RGPD).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8"/>
          <p:cNvSpPr txBox="1"/>
          <p:nvPr/>
        </p:nvSpPr>
        <p:spPr>
          <a:xfrm>
            <a:off x="5589350" y="431100"/>
            <a:ext cx="9026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34950" lvl="1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Char char="○"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9" name="Google Shape;429;p18"/>
          <p:cNvCxnSpPr/>
          <p:nvPr/>
        </p:nvCxnSpPr>
        <p:spPr>
          <a:xfrm>
            <a:off x="7350" y="390400"/>
            <a:ext cx="9129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18"/>
          <p:cNvSpPr txBox="1"/>
          <p:nvPr/>
        </p:nvSpPr>
        <p:spPr>
          <a:xfrm>
            <a:off x="5016900" y="1521625"/>
            <a:ext cx="4127100" cy="246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1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Comment formuler un conseil adapté à sa situation ?</a:t>
            </a: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Recueillir ses besoins spécifiques et sa situation personnelle (âge, santé, budget).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Expliquer clairement les garanties proposées en lien avec ses attentes.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Justifier la recommandation en mettant en avant les avantages pour lui.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Assurer la traçabilité écrite du conseil donné.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8"/>
          <p:cNvSpPr txBox="1"/>
          <p:nvPr/>
        </p:nvSpPr>
        <p:spPr>
          <a:xfrm>
            <a:off x="7350" y="551550"/>
            <a:ext cx="41271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ituation :</a:t>
            </a: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 client souhaite souscrire une complémentaire santé.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19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437" name="Google Shape;437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" name="Google Shape;439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0" name="Google Shape;440;p19"/>
          <p:cNvSpPr/>
          <p:nvPr/>
        </p:nvSpPr>
        <p:spPr>
          <a:xfrm>
            <a:off x="2175938" y="1553700"/>
            <a:ext cx="4950600" cy="20361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1893113" y="2355625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1893107" y="1672138"/>
            <a:ext cx="6124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66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Cadre légal et réglementaire maîtrisé​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6181433" y="2355625"/>
            <a:ext cx="203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9"/>
          <p:cNvSpPr txBox="1"/>
          <p:nvPr/>
        </p:nvSpPr>
        <p:spPr>
          <a:xfrm>
            <a:off x="2750325" y="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Synthèse de la journée​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9"/>
          <p:cNvSpPr txBox="1"/>
          <p:nvPr/>
        </p:nvSpPr>
        <p:spPr>
          <a:xfrm>
            <a:off x="1893113" y="2072563"/>
            <a:ext cx="6992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66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Connaissance des obligations d’information et de conseil​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9"/>
          <p:cNvSpPr txBox="1"/>
          <p:nvPr/>
        </p:nvSpPr>
        <p:spPr>
          <a:xfrm>
            <a:off x="1893113" y="25044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66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des règles RGPD​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9"/>
          <p:cNvSpPr txBox="1"/>
          <p:nvPr/>
        </p:nvSpPr>
        <p:spPr>
          <a:xfrm>
            <a:off x="1905019" y="2947681"/>
            <a:ext cx="495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66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Capacité à informer un client en conformité​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p19"/>
          <p:cNvCxnSpPr/>
          <p:nvPr/>
        </p:nvCxnSpPr>
        <p:spPr>
          <a:xfrm>
            <a:off x="7350" y="390400"/>
            <a:ext cx="9129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Google Shape;453;p20"/>
          <p:cNvGrpSpPr/>
          <p:nvPr/>
        </p:nvGrpSpPr>
        <p:grpSpPr>
          <a:xfrm>
            <a:off x="-32400" y="0"/>
            <a:ext cx="9143640" cy="5142960"/>
            <a:chOff x="-32400" y="0"/>
            <a:chExt cx="9143640" cy="5142960"/>
          </a:xfrm>
        </p:grpSpPr>
        <p:pic>
          <p:nvPicPr>
            <p:cNvPr id="454" name="Google Shape;454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32400" y="0"/>
              <a:ext cx="9143640" cy="5142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26000" y="4515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6880" y="4665600"/>
              <a:ext cx="377640" cy="3016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7" name="Google Shape;457;p20"/>
          <p:cNvSpPr/>
          <p:nvPr/>
        </p:nvSpPr>
        <p:spPr>
          <a:xfrm>
            <a:off x="1993750" y="3343575"/>
            <a:ext cx="71175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sng" cap="none" strike="noStrike">
                <a:solidFill>
                  <a:srgbClr val="83E3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Merci pour votre participation,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0"/>
          <p:cNvSpPr txBox="1"/>
          <p:nvPr/>
        </p:nvSpPr>
        <p:spPr>
          <a:xfrm>
            <a:off x="3256325" y="2484775"/>
            <a:ext cx="2566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à vous maintenant de transformer ces règles en </a:t>
            </a: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bonnes pratiques quotidiennes</a:t>
            </a:r>
            <a:endParaRPr b="0" i="0" sz="2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0"/>
          <p:cNvSpPr txBox="1"/>
          <p:nvPr/>
        </p:nvSpPr>
        <p:spPr>
          <a:xfrm>
            <a:off x="1294325" y="1297600"/>
            <a:ext cx="649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Merci à toutes et à tous pour votre attention et votre engagement durant cette formation.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