
<file path=[Content_Types].xml><?xml version="1.0" encoding="utf-8"?>
<Types xmlns="http://schemas.openxmlformats.org/package/2006/content-types"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hGMnn894+QIBrvpsgo1gFxvH1Hh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1" name="Google Shape;111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2" name="Google Shape;12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6" name="Google Shape;136;p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dossier client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Preparation du devis (fiche client sur le CRM) avec toutes les infrmations données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confirmations des informations avec le prospect avec une accroche normée,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besoins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recolte des besions du prospect (collecte complette)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contexte et contraintes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le contexte dans le quel mon client ce trouve, avec les contraintes de le collaborateurs peut rencontrer avec cette typologie de cients</a:t>
            </a:r>
            <a:endParaRPr/>
          </a:p>
        </p:txBody>
      </p:sp>
      <p:sp>
        <p:nvSpPr>
          <p:cNvPr id="146" name="Google Shape;146;p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6" name="Google Shape;166;p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6" name="Google Shape;176;p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1600">
                <a:solidFill>
                  <a:srgbClr val="222222"/>
                </a:solidFill>
              </a:rPr>
              <a:t>Intégrer des cas pratiques de contrats contestés ou annulés, ou d’appels clients, pour exercer la gestion des conséquences d’erreurs de conformité / évaluation d’appels à froid pour détecter les motifs de non-conformité, et les aspects de conformité qui figurent dans l’appel </a:t>
            </a:r>
            <a:endParaRPr b="1" sz="1600"/>
          </a:p>
        </p:txBody>
      </p:sp>
      <p:sp>
        <p:nvSpPr>
          <p:cNvPr id="194" name="Google Shape;194;p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3" name="Google Shape;20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Retour global sur la progression de chaque participant.</a:t>
            </a:r>
            <a:br>
              <a:rPr lang="en-US"/>
            </a:b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Discussion sur les situations rencontrées et stratégies efficaces.</a:t>
            </a:r>
            <a:br>
              <a:rPr lang="en-US"/>
            </a:b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Validation des acquis avant passage en autonomie réelle sur le terrain.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3" name="Google Shape;21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6" name="Google Shape;22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/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" name="Google Shape;11;p12"/>
          <p:cNvSpPr txBox="1"/>
          <p:nvPr>
            <p:ph idx="1" type="subTitle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6"/>
          <p:cNvSpPr txBox="1"/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6"/>
          <p:cNvSpPr txBox="1"/>
          <p:nvPr>
            <p:ph idx="1"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7"/>
          <p:cNvSpPr txBox="1"/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7"/>
          <p:cNvSpPr txBox="1"/>
          <p:nvPr>
            <p:ph idx="1" type="body"/>
          </p:nvPr>
        </p:nvSpPr>
        <p:spPr>
          <a:xfrm>
            <a:off x="311760" y="1152360"/>
            <a:ext cx="415764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7"/>
          <p:cNvSpPr txBox="1"/>
          <p:nvPr>
            <p:ph idx="2" type="body"/>
          </p:nvPr>
        </p:nvSpPr>
        <p:spPr>
          <a:xfrm>
            <a:off x="4677840" y="1152360"/>
            <a:ext cx="415764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8"/>
          <p:cNvSpPr txBox="1"/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9"/>
          <p:cNvSpPr txBox="1"/>
          <p:nvPr>
            <p:ph idx="1" type="subTitle"/>
          </p:nvPr>
        </p:nvSpPr>
        <p:spPr>
          <a:xfrm>
            <a:off x="311760" y="444960"/>
            <a:ext cx="8520120" cy="2654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0"/>
          <p:cNvSpPr txBox="1"/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0"/>
          <p:cNvSpPr txBox="1"/>
          <p:nvPr>
            <p:ph idx="1"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0"/>
          <p:cNvSpPr txBox="1"/>
          <p:nvPr>
            <p:ph idx="2" type="body"/>
          </p:nvPr>
        </p:nvSpPr>
        <p:spPr>
          <a:xfrm>
            <a:off x="4677840" y="1152360"/>
            <a:ext cx="415764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0"/>
          <p:cNvSpPr txBox="1"/>
          <p:nvPr>
            <p:ph idx="3" type="body"/>
          </p:nvPr>
        </p:nvSpPr>
        <p:spPr>
          <a:xfrm>
            <a:off x="311760" y="293688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1"/>
          <p:cNvSpPr txBox="1"/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1"/>
          <p:cNvSpPr txBox="1"/>
          <p:nvPr>
            <p:ph idx="1" type="body"/>
          </p:nvPr>
        </p:nvSpPr>
        <p:spPr>
          <a:xfrm>
            <a:off x="311760" y="1152360"/>
            <a:ext cx="415764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1"/>
          <p:cNvSpPr txBox="1"/>
          <p:nvPr>
            <p:ph idx="2"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1"/>
          <p:cNvSpPr txBox="1"/>
          <p:nvPr>
            <p:ph idx="3" type="body"/>
          </p:nvPr>
        </p:nvSpPr>
        <p:spPr>
          <a:xfrm>
            <a:off x="4677840" y="293688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2"/>
          <p:cNvSpPr txBox="1"/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2"/>
          <p:cNvSpPr txBox="1"/>
          <p:nvPr>
            <p:ph idx="1"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2"/>
          <p:cNvSpPr txBox="1"/>
          <p:nvPr>
            <p:ph idx="2"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2"/>
          <p:cNvSpPr txBox="1"/>
          <p:nvPr>
            <p:ph idx="3" type="body"/>
          </p:nvPr>
        </p:nvSpPr>
        <p:spPr>
          <a:xfrm>
            <a:off x="311760" y="2936880"/>
            <a:ext cx="852012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3"/>
          <p:cNvSpPr txBox="1"/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3"/>
          <p:cNvSpPr txBox="1"/>
          <p:nvPr>
            <p:ph idx="1" type="body"/>
          </p:nvPr>
        </p:nvSpPr>
        <p:spPr>
          <a:xfrm>
            <a:off x="311760" y="1152360"/>
            <a:ext cx="852012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3"/>
          <p:cNvSpPr txBox="1"/>
          <p:nvPr>
            <p:ph idx="2" type="body"/>
          </p:nvPr>
        </p:nvSpPr>
        <p:spPr>
          <a:xfrm>
            <a:off x="311760" y="2936880"/>
            <a:ext cx="852012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4"/>
          <p:cNvSpPr txBox="1"/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4"/>
          <p:cNvSpPr txBox="1"/>
          <p:nvPr>
            <p:ph idx="1"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4"/>
          <p:cNvSpPr txBox="1"/>
          <p:nvPr>
            <p:ph idx="2"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4"/>
          <p:cNvSpPr txBox="1"/>
          <p:nvPr>
            <p:ph idx="3" type="body"/>
          </p:nvPr>
        </p:nvSpPr>
        <p:spPr>
          <a:xfrm>
            <a:off x="311760" y="293688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4"/>
          <p:cNvSpPr txBox="1"/>
          <p:nvPr>
            <p:ph idx="4" type="body"/>
          </p:nvPr>
        </p:nvSpPr>
        <p:spPr>
          <a:xfrm>
            <a:off x="4677840" y="293688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5"/>
          <p:cNvSpPr txBox="1"/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5"/>
          <p:cNvSpPr txBox="1"/>
          <p:nvPr>
            <p:ph idx="1" type="body"/>
          </p:nvPr>
        </p:nvSpPr>
        <p:spPr>
          <a:xfrm>
            <a:off x="311760" y="115236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5"/>
          <p:cNvSpPr txBox="1"/>
          <p:nvPr>
            <p:ph idx="2" type="body"/>
          </p:nvPr>
        </p:nvSpPr>
        <p:spPr>
          <a:xfrm>
            <a:off x="3192480" y="115236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5"/>
          <p:cNvSpPr txBox="1"/>
          <p:nvPr>
            <p:ph idx="3" type="body"/>
          </p:nvPr>
        </p:nvSpPr>
        <p:spPr>
          <a:xfrm>
            <a:off x="6073200" y="115236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5"/>
          <p:cNvSpPr txBox="1"/>
          <p:nvPr>
            <p:ph idx="4" type="body"/>
          </p:nvPr>
        </p:nvSpPr>
        <p:spPr>
          <a:xfrm>
            <a:off x="311760" y="293688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5"/>
          <p:cNvSpPr txBox="1"/>
          <p:nvPr>
            <p:ph idx="5" type="body"/>
          </p:nvPr>
        </p:nvSpPr>
        <p:spPr>
          <a:xfrm>
            <a:off x="3192480" y="293688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5"/>
          <p:cNvSpPr txBox="1"/>
          <p:nvPr>
            <p:ph idx="6" type="body"/>
          </p:nvPr>
        </p:nvSpPr>
        <p:spPr>
          <a:xfrm>
            <a:off x="6073200" y="293688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7"/>
          <p:cNvSpPr txBox="1"/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7"/>
          <p:cNvSpPr txBox="1"/>
          <p:nvPr>
            <p:ph idx="1" type="subTitle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8"/>
          <p:cNvSpPr txBox="1"/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8"/>
          <p:cNvSpPr txBox="1"/>
          <p:nvPr>
            <p:ph idx="1" type="body"/>
          </p:nvPr>
        </p:nvSpPr>
        <p:spPr>
          <a:xfrm>
            <a:off x="311760" y="1152360"/>
            <a:ext cx="415764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8"/>
          <p:cNvSpPr txBox="1"/>
          <p:nvPr>
            <p:ph idx="2" type="body"/>
          </p:nvPr>
        </p:nvSpPr>
        <p:spPr>
          <a:xfrm>
            <a:off x="4677840" y="1152360"/>
            <a:ext cx="415764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9"/>
          <p:cNvSpPr txBox="1"/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0"/>
          <p:cNvSpPr txBox="1"/>
          <p:nvPr>
            <p:ph idx="1" type="subTitle"/>
          </p:nvPr>
        </p:nvSpPr>
        <p:spPr>
          <a:xfrm>
            <a:off x="311760" y="444960"/>
            <a:ext cx="8520120" cy="2654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1"/>
          <p:cNvSpPr txBox="1"/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1"/>
          <p:cNvSpPr txBox="1"/>
          <p:nvPr>
            <p:ph idx="1"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1"/>
          <p:cNvSpPr txBox="1"/>
          <p:nvPr>
            <p:ph idx="2" type="body"/>
          </p:nvPr>
        </p:nvSpPr>
        <p:spPr>
          <a:xfrm>
            <a:off x="4677840" y="1152360"/>
            <a:ext cx="415764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1"/>
          <p:cNvSpPr txBox="1"/>
          <p:nvPr>
            <p:ph idx="3" type="body"/>
          </p:nvPr>
        </p:nvSpPr>
        <p:spPr>
          <a:xfrm>
            <a:off x="311760" y="293688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2"/>
          <p:cNvSpPr txBox="1"/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2"/>
          <p:cNvSpPr txBox="1"/>
          <p:nvPr>
            <p:ph idx="1" type="body"/>
          </p:nvPr>
        </p:nvSpPr>
        <p:spPr>
          <a:xfrm>
            <a:off x="311760" y="1152360"/>
            <a:ext cx="415764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32"/>
          <p:cNvSpPr txBox="1"/>
          <p:nvPr>
            <p:ph idx="2"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32"/>
          <p:cNvSpPr txBox="1"/>
          <p:nvPr>
            <p:ph idx="3" type="body"/>
          </p:nvPr>
        </p:nvSpPr>
        <p:spPr>
          <a:xfrm>
            <a:off x="4677840" y="293688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3"/>
          <p:cNvSpPr txBox="1"/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33"/>
          <p:cNvSpPr txBox="1"/>
          <p:nvPr>
            <p:ph idx="1"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33"/>
          <p:cNvSpPr txBox="1"/>
          <p:nvPr>
            <p:ph idx="2"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33"/>
          <p:cNvSpPr txBox="1"/>
          <p:nvPr>
            <p:ph idx="3" type="body"/>
          </p:nvPr>
        </p:nvSpPr>
        <p:spPr>
          <a:xfrm>
            <a:off x="311760" y="2936880"/>
            <a:ext cx="852012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4"/>
          <p:cNvSpPr txBox="1"/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34"/>
          <p:cNvSpPr txBox="1"/>
          <p:nvPr>
            <p:ph idx="1" type="body"/>
          </p:nvPr>
        </p:nvSpPr>
        <p:spPr>
          <a:xfrm>
            <a:off x="311760" y="1152360"/>
            <a:ext cx="852012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34"/>
          <p:cNvSpPr txBox="1"/>
          <p:nvPr>
            <p:ph idx="2" type="body"/>
          </p:nvPr>
        </p:nvSpPr>
        <p:spPr>
          <a:xfrm>
            <a:off x="311760" y="2936880"/>
            <a:ext cx="852012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5"/>
          <p:cNvSpPr txBox="1"/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35"/>
          <p:cNvSpPr txBox="1"/>
          <p:nvPr>
            <p:ph idx="1"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35"/>
          <p:cNvSpPr txBox="1"/>
          <p:nvPr>
            <p:ph idx="2"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35"/>
          <p:cNvSpPr txBox="1"/>
          <p:nvPr>
            <p:ph idx="3" type="body"/>
          </p:nvPr>
        </p:nvSpPr>
        <p:spPr>
          <a:xfrm>
            <a:off x="311760" y="293688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35"/>
          <p:cNvSpPr txBox="1"/>
          <p:nvPr>
            <p:ph idx="4" type="body"/>
          </p:nvPr>
        </p:nvSpPr>
        <p:spPr>
          <a:xfrm>
            <a:off x="4677840" y="293688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6"/>
          <p:cNvSpPr txBox="1"/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36"/>
          <p:cNvSpPr txBox="1"/>
          <p:nvPr>
            <p:ph idx="1" type="body"/>
          </p:nvPr>
        </p:nvSpPr>
        <p:spPr>
          <a:xfrm>
            <a:off x="311760" y="115236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36"/>
          <p:cNvSpPr txBox="1"/>
          <p:nvPr>
            <p:ph idx="2" type="body"/>
          </p:nvPr>
        </p:nvSpPr>
        <p:spPr>
          <a:xfrm>
            <a:off x="3192480" y="115236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36"/>
          <p:cNvSpPr txBox="1"/>
          <p:nvPr>
            <p:ph idx="3" type="body"/>
          </p:nvPr>
        </p:nvSpPr>
        <p:spPr>
          <a:xfrm>
            <a:off x="6073200" y="115236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36"/>
          <p:cNvSpPr txBox="1"/>
          <p:nvPr>
            <p:ph idx="4" type="body"/>
          </p:nvPr>
        </p:nvSpPr>
        <p:spPr>
          <a:xfrm>
            <a:off x="311760" y="293688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36"/>
          <p:cNvSpPr txBox="1"/>
          <p:nvPr>
            <p:ph idx="5" type="body"/>
          </p:nvPr>
        </p:nvSpPr>
        <p:spPr>
          <a:xfrm>
            <a:off x="3192480" y="293688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36"/>
          <p:cNvSpPr txBox="1"/>
          <p:nvPr>
            <p:ph idx="6" type="body"/>
          </p:nvPr>
        </p:nvSpPr>
        <p:spPr>
          <a:xfrm>
            <a:off x="6073200" y="293688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1"/>
          <p:cNvSpPr txBox="1"/>
          <p:nvPr>
            <p:ph idx="12" type="sldNum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" name="Google Shape;8;p11"/>
          <p:cNvSpPr txBox="1"/>
          <p:nvPr>
            <p:ph idx="1"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/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" name="Google Shape;59;p13"/>
          <p:cNvSpPr txBox="1"/>
          <p:nvPr>
            <p:ph idx="1"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" name="Google Shape;60;p13"/>
          <p:cNvSpPr txBox="1"/>
          <p:nvPr>
            <p:ph idx="12" type="sldNum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15.png"/><Relationship Id="rId5" Type="http://schemas.openxmlformats.org/officeDocument/2006/relationships/image" Target="../media/image1.png"/><Relationship Id="rId6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12.png"/><Relationship Id="rId5" Type="http://schemas.openxmlformats.org/officeDocument/2006/relationships/image" Target="../media/image17.png"/><Relationship Id="rId6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7.png"/><Relationship Id="rId6" Type="http://schemas.openxmlformats.org/officeDocument/2006/relationships/image" Target="../media/image14.gif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2.png"/><Relationship Id="rId5" Type="http://schemas.openxmlformats.org/officeDocument/2006/relationships/image" Target="../media/image17.png"/><Relationship Id="rId6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7.png"/><Relationship Id="rId6" Type="http://schemas.openxmlformats.org/officeDocument/2006/relationships/image" Target="../media/image14.gif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12.png"/><Relationship Id="rId5" Type="http://schemas.openxmlformats.org/officeDocument/2006/relationships/image" Target="../media/image17.png"/><Relationship Id="rId6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12.png"/><Relationship Id="rId5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1"/>
          <p:cNvGrpSpPr/>
          <p:nvPr/>
        </p:nvGrpSpPr>
        <p:grpSpPr>
          <a:xfrm>
            <a:off x="0" y="0"/>
            <a:ext cx="9143640" cy="5143320"/>
            <a:chOff x="0" y="0"/>
            <a:chExt cx="9143640" cy="5143320"/>
          </a:xfrm>
        </p:grpSpPr>
        <p:pic>
          <p:nvPicPr>
            <p:cNvPr id="114" name="Google Shape;114;p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928880" y="0"/>
              <a:ext cx="7214760" cy="5143320"/>
            </a:xfrm>
            <a:prstGeom prst="rect">
              <a:avLst/>
            </a:prstGeom>
            <a:noFill/>
            <a:ln>
              <a:noFill/>
            </a:ln>
            <a:effectLst>
              <a:outerShdw dir="5400000" dist="19080">
                <a:srgbClr val="000000">
                  <a:alpha val="49019"/>
                </a:srgbClr>
              </a:outerShdw>
            </a:effectLst>
          </p:spPr>
        </p:pic>
        <p:pic>
          <p:nvPicPr>
            <p:cNvPr id="115" name="Google Shape;115;p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1946520"/>
              <a:ext cx="9143640" cy="3196440"/>
            </a:xfrm>
            <a:prstGeom prst="rect">
              <a:avLst/>
            </a:prstGeom>
            <a:noFill/>
            <a:ln>
              <a:noFill/>
            </a:ln>
            <a:effectLst>
              <a:outerShdw dir="5400000" dist="19080">
                <a:srgbClr val="000000">
                  <a:alpha val="49019"/>
                </a:srgbClr>
              </a:outerShdw>
            </a:effectLst>
          </p:spPr>
        </p:pic>
        <p:pic>
          <p:nvPicPr>
            <p:cNvPr id="116" name="Google Shape;116;p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323200" y="4545360"/>
              <a:ext cx="747000" cy="532800"/>
            </a:xfrm>
            <a:prstGeom prst="rect">
              <a:avLst/>
            </a:prstGeom>
            <a:noFill/>
            <a:ln>
              <a:noFill/>
            </a:ln>
            <a:effectLst>
              <a:outerShdw dir="5400000" dist="19080">
                <a:srgbClr val="000000">
                  <a:alpha val="49019"/>
                </a:srgbClr>
              </a:outerShdw>
            </a:effectLst>
          </p:spPr>
        </p:pic>
        <p:pic>
          <p:nvPicPr>
            <p:cNvPr id="117" name="Google Shape;117;p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54080" y="4651920"/>
              <a:ext cx="345960" cy="330840"/>
            </a:xfrm>
            <a:prstGeom prst="rect">
              <a:avLst/>
            </a:prstGeom>
            <a:noFill/>
            <a:ln>
              <a:noFill/>
            </a:ln>
            <a:effectLst>
              <a:outerShdw dir="5400000" dist="19080">
                <a:srgbClr val="000000">
                  <a:alpha val="49019"/>
                </a:srgbClr>
              </a:outerShdw>
            </a:effectLst>
          </p:spPr>
        </p:pic>
      </p:grpSp>
      <p:sp>
        <p:nvSpPr>
          <p:cNvPr id="118" name="Google Shape;118;p1"/>
          <p:cNvSpPr txBox="1"/>
          <p:nvPr/>
        </p:nvSpPr>
        <p:spPr>
          <a:xfrm>
            <a:off x="732600" y="1215355"/>
            <a:ext cx="3700800" cy="7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D2BA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Jour 9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"/>
          <p:cNvSpPr txBox="1"/>
          <p:nvPr/>
        </p:nvSpPr>
        <p:spPr>
          <a:xfrm>
            <a:off x="788950" y="2018475"/>
            <a:ext cx="44955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50"/>
              <a:buFont typeface="Arial"/>
              <a:buNone/>
            </a:pPr>
            <a:r>
              <a:rPr b="1" i="0" lang="en-US" sz="2050" u="none" cap="none" strike="noStrike">
                <a:solidFill>
                  <a:srgbClr val="1D2BA5"/>
                </a:solidFill>
                <a:latin typeface="Arial"/>
                <a:ea typeface="Arial"/>
                <a:cs typeface="Arial"/>
                <a:sym typeface="Arial"/>
              </a:rPr>
              <a:t>Mise en autonomie</a:t>
            </a:r>
            <a:endParaRPr b="1" i="0" sz="2050" u="none" cap="none" strike="noStrike">
              <a:solidFill>
                <a:srgbClr val="1D2BA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Google Shape;124;p2"/>
          <p:cNvGrpSpPr/>
          <p:nvPr/>
        </p:nvGrpSpPr>
        <p:grpSpPr>
          <a:xfrm>
            <a:off x="0" y="-7200"/>
            <a:ext cx="9176760" cy="5157720"/>
            <a:chOff x="0" y="-7200"/>
            <a:chExt cx="9176760" cy="5157720"/>
          </a:xfrm>
        </p:grpSpPr>
        <p:pic>
          <p:nvPicPr>
            <p:cNvPr id="125" name="Google Shape;125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-7200"/>
              <a:ext cx="9176040" cy="51429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6" name="Google Shape;126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962000" y="7200"/>
              <a:ext cx="7214760" cy="51433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7" name="Google Shape;127;p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760960" y="302760"/>
              <a:ext cx="377640" cy="3016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8" name="Google Shape;128;p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83600" y="4532040"/>
              <a:ext cx="721440" cy="45144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9" name="Google Shape;129;p2"/>
          <p:cNvSpPr txBox="1"/>
          <p:nvPr/>
        </p:nvSpPr>
        <p:spPr>
          <a:xfrm>
            <a:off x="737725" y="1885275"/>
            <a:ext cx="300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Objectifs pédagogiques</a:t>
            </a:r>
            <a:endParaRPr b="1" i="0" sz="2200" u="none" cap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" name="Google Shape;130;p2"/>
          <p:cNvSpPr txBox="1"/>
          <p:nvPr/>
        </p:nvSpPr>
        <p:spPr>
          <a:xfrm>
            <a:off x="512300" y="2438550"/>
            <a:ext cx="4608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●"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situation réelle</a:t>
            </a:r>
            <a:endParaRPr b="1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"/>
          <p:cNvSpPr txBox="1"/>
          <p:nvPr/>
        </p:nvSpPr>
        <p:spPr>
          <a:xfrm>
            <a:off x="512304" y="2725466"/>
            <a:ext cx="6524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●"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Conduire une vente complète de A à Z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2"/>
          <p:cNvSpPr txBox="1"/>
          <p:nvPr/>
        </p:nvSpPr>
        <p:spPr>
          <a:xfrm>
            <a:off x="502075" y="3074300"/>
            <a:ext cx="5653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●"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Développer l’autonomie et la confiance dans l’utilisation des outils réels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2"/>
          <p:cNvSpPr txBox="1"/>
          <p:nvPr/>
        </p:nvSpPr>
        <p:spPr>
          <a:xfrm>
            <a:off x="502046" y="3381175"/>
            <a:ext cx="600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●"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Évaluer la conformité, la fluidité et la pertinence de l’argumentation.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" name="Google Shape;138;p3"/>
          <p:cNvGrpSpPr/>
          <p:nvPr/>
        </p:nvGrpSpPr>
        <p:grpSpPr>
          <a:xfrm>
            <a:off x="0" y="0"/>
            <a:ext cx="9143641" cy="5143321"/>
            <a:chOff x="0" y="0"/>
            <a:chExt cx="9143641" cy="5143321"/>
          </a:xfrm>
        </p:grpSpPr>
        <p:pic>
          <p:nvPicPr>
            <p:cNvPr id="139" name="Google Shape;139;p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9143639" cy="514296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0" name="Google Shape;140;p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51920" y="4524840"/>
              <a:ext cx="721440" cy="4514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1" name="Google Shape;141;p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928880" y="0"/>
              <a:ext cx="7214761" cy="51433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2" name="Google Shape;142;p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8596800" y="142920"/>
              <a:ext cx="357481" cy="30168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3" name="Google Shape;143;p3"/>
          <p:cNvSpPr txBox="1"/>
          <p:nvPr/>
        </p:nvSpPr>
        <p:spPr>
          <a:xfrm>
            <a:off x="512300" y="2438550"/>
            <a:ext cx="4608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b="1" i="0" lang="en-US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situation réelle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" name="Google Shape;148;p4"/>
          <p:cNvGrpSpPr/>
          <p:nvPr/>
        </p:nvGrpSpPr>
        <p:grpSpPr>
          <a:xfrm>
            <a:off x="0" y="1946520"/>
            <a:ext cx="9143639" cy="3196441"/>
            <a:chOff x="0" y="1946520"/>
            <a:chExt cx="9143639" cy="3196441"/>
          </a:xfrm>
        </p:grpSpPr>
        <p:pic>
          <p:nvPicPr>
            <p:cNvPr id="149" name="Google Shape;149;p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1946520"/>
              <a:ext cx="9143639" cy="319644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0" name="Google Shape;150;p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54080" y="4651920"/>
              <a:ext cx="345959" cy="33084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1" name="Google Shape;151;p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323200" y="4545360"/>
              <a:ext cx="746999" cy="5328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2" name="Google Shape;152;p4"/>
          <p:cNvSpPr/>
          <p:nvPr/>
        </p:nvSpPr>
        <p:spPr>
          <a:xfrm>
            <a:off x="0" y="2518058"/>
            <a:ext cx="21018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besoins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4"/>
          <p:cNvSpPr/>
          <p:nvPr/>
        </p:nvSpPr>
        <p:spPr>
          <a:xfrm>
            <a:off x="2102040" y="1695600"/>
            <a:ext cx="21018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4"/>
          <p:cNvSpPr/>
          <p:nvPr/>
        </p:nvSpPr>
        <p:spPr>
          <a:xfrm>
            <a:off x="4288320" y="1695600"/>
            <a:ext cx="20340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4"/>
          <p:cNvSpPr/>
          <p:nvPr/>
        </p:nvSpPr>
        <p:spPr>
          <a:xfrm>
            <a:off x="6240600" y="1695600"/>
            <a:ext cx="29994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4"/>
          <p:cNvSpPr txBox="1"/>
          <p:nvPr/>
        </p:nvSpPr>
        <p:spPr>
          <a:xfrm>
            <a:off x="0" y="1789372"/>
            <a:ext cx="2199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dossier client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4"/>
          <p:cNvSpPr txBox="1"/>
          <p:nvPr/>
        </p:nvSpPr>
        <p:spPr>
          <a:xfrm>
            <a:off x="0" y="2148675"/>
            <a:ext cx="3426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Présentation du profil client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4"/>
          <p:cNvSpPr txBox="1"/>
          <p:nvPr/>
        </p:nvSpPr>
        <p:spPr>
          <a:xfrm>
            <a:off x="0" y="2820580"/>
            <a:ext cx="275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contexte et contraintes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4"/>
          <p:cNvSpPr txBox="1"/>
          <p:nvPr/>
        </p:nvSpPr>
        <p:spPr>
          <a:xfrm>
            <a:off x="1934850" y="4088150"/>
            <a:ext cx="5274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Objectif : </a:t>
            </a: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préparer à une vente complète comme en situation réelle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4"/>
          <p:cNvSpPr txBox="1"/>
          <p:nvPr/>
        </p:nvSpPr>
        <p:spPr>
          <a:xfrm>
            <a:off x="0" y="-40975"/>
            <a:ext cx="460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situations réelles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4"/>
          <p:cNvSpPr txBox="1"/>
          <p:nvPr/>
        </p:nvSpPr>
        <p:spPr>
          <a:xfrm>
            <a:off x="1739689" y="598497"/>
            <a:ext cx="5655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Développer l’autonomie et la confiance dans l’utilisation des outils réels</a:t>
            </a:r>
            <a:endParaRPr b="0" i="0" sz="1700" u="sng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2" name="Google Shape;162;p4"/>
          <p:cNvCxnSpPr/>
          <p:nvPr/>
        </p:nvCxnSpPr>
        <p:spPr>
          <a:xfrm>
            <a:off x="0" y="435779"/>
            <a:ext cx="9135300" cy="192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63" name="Google Shape;163;p4" title="7LDs.gif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943975" y="1471727"/>
            <a:ext cx="2200025" cy="2200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" name="Google Shape;168;p5"/>
          <p:cNvGrpSpPr/>
          <p:nvPr/>
        </p:nvGrpSpPr>
        <p:grpSpPr>
          <a:xfrm>
            <a:off x="0" y="0"/>
            <a:ext cx="9143641" cy="5143321"/>
            <a:chOff x="0" y="0"/>
            <a:chExt cx="9143641" cy="5143321"/>
          </a:xfrm>
        </p:grpSpPr>
        <p:pic>
          <p:nvPicPr>
            <p:cNvPr id="169" name="Google Shape;169;p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9143639" cy="514296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0" name="Google Shape;170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51920" y="4524840"/>
              <a:ext cx="721440" cy="4514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1" name="Google Shape;171;p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928880" y="0"/>
              <a:ext cx="7214761" cy="51433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2" name="Google Shape;172;p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8596800" y="142920"/>
              <a:ext cx="357481" cy="30168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3" name="Google Shape;173;p5"/>
          <p:cNvSpPr txBox="1"/>
          <p:nvPr/>
        </p:nvSpPr>
        <p:spPr>
          <a:xfrm>
            <a:off x="512300" y="2438550"/>
            <a:ext cx="4608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b="1" i="0" lang="en-US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Conduire une vente complète de A à 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8" name="Google Shape;178;p6"/>
          <p:cNvGrpSpPr/>
          <p:nvPr/>
        </p:nvGrpSpPr>
        <p:grpSpPr>
          <a:xfrm>
            <a:off x="0" y="1946520"/>
            <a:ext cx="9143639" cy="3196441"/>
            <a:chOff x="0" y="1946520"/>
            <a:chExt cx="9143639" cy="3196441"/>
          </a:xfrm>
        </p:grpSpPr>
        <p:pic>
          <p:nvPicPr>
            <p:cNvPr id="179" name="Google Shape;179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1946520"/>
              <a:ext cx="9143639" cy="319644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0" name="Google Shape;180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54080" y="4651920"/>
              <a:ext cx="345959" cy="33084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1" name="Google Shape;181;p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323200" y="4545360"/>
              <a:ext cx="746999" cy="5328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2" name="Google Shape;182;p6"/>
          <p:cNvSpPr/>
          <p:nvPr/>
        </p:nvSpPr>
        <p:spPr>
          <a:xfrm>
            <a:off x="0" y="2056547"/>
            <a:ext cx="40884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identification des besoins.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6"/>
          <p:cNvSpPr txBox="1"/>
          <p:nvPr/>
        </p:nvSpPr>
        <p:spPr>
          <a:xfrm>
            <a:off x="0" y="0"/>
            <a:ext cx="3583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Réalisation complète d’une vente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6"/>
          <p:cNvSpPr txBox="1"/>
          <p:nvPr/>
        </p:nvSpPr>
        <p:spPr>
          <a:xfrm>
            <a:off x="0" y="1656013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Accueil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6"/>
          <p:cNvSpPr txBox="1"/>
          <p:nvPr/>
        </p:nvSpPr>
        <p:spPr>
          <a:xfrm>
            <a:off x="0" y="238225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Proposition adaptée au profil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6"/>
          <p:cNvSpPr txBox="1"/>
          <p:nvPr/>
        </p:nvSpPr>
        <p:spPr>
          <a:xfrm>
            <a:off x="2488945" y="580326"/>
            <a:ext cx="4157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Traitement des objections éventuelles.</a:t>
            </a:r>
            <a:endParaRPr b="0" i="0" sz="1300" u="sng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6"/>
          <p:cNvSpPr txBox="1"/>
          <p:nvPr/>
        </p:nvSpPr>
        <p:spPr>
          <a:xfrm>
            <a:off x="0" y="2747018"/>
            <a:ext cx="5253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Vérification des pièces et documents nécessaires.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6"/>
          <p:cNvSpPr txBox="1"/>
          <p:nvPr/>
        </p:nvSpPr>
        <p:spPr>
          <a:xfrm>
            <a:off x="0" y="3118547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Finalisation de la vente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6"/>
          <p:cNvSpPr txBox="1"/>
          <p:nvPr/>
        </p:nvSpPr>
        <p:spPr>
          <a:xfrm>
            <a:off x="1150679" y="3729300"/>
            <a:ext cx="6828000" cy="9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NB</a:t>
            </a:r>
            <a:r>
              <a:rPr b="1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:</a:t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Chaque participant agit </a:t>
            </a:r>
            <a:r>
              <a:rPr b="1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 autonomie</a:t>
            </a:r>
            <a:r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mais peut solliciter le formateur en cas de blocage.</a:t>
            </a:r>
            <a:br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0" name="Google Shape;190;p6"/>
          <p:cNvCxnSpPr/>
          <p:nvPr/>
        </p:nvCxnSpPr>
        <p:spPr>
          <a:xfrm>
            <a:off x="0" y="435779"/>
            <a:ext cx="9135300" cy="192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91" name="Google Shape;191;p6" title="7LDs.gif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943975" y="1471727"/>
            <a:ext cx="2200025" cy="2200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6" name="Google Shape;196;p7"/>
          <p:cNvGrpSpPr/>
          <p:nvPr/>
        </p:nvGrpSpPr>
        <p:grpSpPr>
          <a:xfrm>
            <a:off x="0" y="1946520"/>
            <a:ext cx="9143639" cy="3196441"/>
            <a:chOff x="0" y="1946520"/>
            <a:chExt cx="9143639" cy="3196441"/>
          </a:xfrm>
        </p:grpSpPr>
        <p:pic>
          <p:nvPicPr>
            <p:cNvPr id="197" name="Google Shape;197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1946520"/>
              <a:ext cx="9143639" cy="319644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8" name="Google Shape;198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54080" y="4651920"/>
              <a:ext cx="345959" cy="33084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9" name="Google Shape;199;p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323200" y="4545360"/>
              <a:ext cx="746999" cy="5328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0" name="Google Shape;200;p7"/>
          <p:cNvSpPr txBox="1"/>
          <p:nvPr/>
        </p:nvSpPr>
        <p:spPr>
          <a:xfrm>
            <a:off x="2881200" y="2302350"/>
            <a:ext cx="33816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Évaluation et feedback</a:t>
            </a:r>
            <a:endParaRPr b="1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" name="Google Shape;205;p8"/>
          <p:cNvGrpSpPr/>
          <p:nvPr/>
        </p:nvGrpSpPr>
        <p:grpSpPr>
          <a:xfrm>
            <a:off x="0" y="0"/>
            <a:ext cx="9143640" cy="5143320"/>
            <a:chOff x="0" y="0"/>
            <a:chExt cx="9143640" cy="5143320"/>
          </a:xfrm>
        </p:grpSpPr>
        <p:pic>
          <p:nvPicPr>
            <p:cNvPr id="206" name="Google Shape;206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9143640" cy="51429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7" name="Google Shape;207;p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51920" y="4524840"/>
              <a:ext cx="721440" cy="4514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8" name="Google Shape;208;p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928880" y="0"/>
              <a:ext cx="7214760" cy="51433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9" name="Google Shape;209;p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8596800" y="142920"/>
              <a:ext cx="357480" cy="30168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0" name="Google Shape;210;p8"/>
          <p:cNvSpPr txBox="1"/>
          <p:nvPr/>
        </p:nvSpPr>
        <p:spPr>
          <a:xfrm>
            <a:off x="512300" y="2438550"/>
            <a:ext cx="4915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b="1" i="0" lang="en-US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Évaluer la conformité, la fluidité et la pertinence de l’argumentation.</a:t>
            </a:r>
            <a:endParaRPr b="1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" name="Google Shape;215;p9"/>
          <p:cNvGrpSpPr/>
          <p:nvPr/>
        </p:nvGrpSpPr>
        <p:grpSpPr>
          <a:xfrm>
            <a:off x="0" y="1946520"/>
            <a:ext cx="9143640" cy="3196440"/>
            <a:chOff x="0" y="1946520"/>
            <a:chExt cx="9143640" cy="3196440"/>
          </a:xfrm>
        </p:grpSpPr>
        <p:pic>
          <p:nvPicPr>
            <p:cNvPr id="216" name="Google Shape;216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1946520"/>
              <a:ext cx="9143640" cy="31964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7" name="Google Shape;217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54080" y="4651920"/>
              <a:ext cx="345960" cy="3308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8" name="Google Shape;218;p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323200" y="4545360"/>
              <a:ext cx="747000" cy="5328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9" name="Google Shape;219;p9"/>
          <p:cNvSpPr/>
          <p:nvPr/>
        </p:nvSpPr>
        <p:spPr>
          <a:xfrm>
            <a:off x="0" y="1695600"/>
            <a:ext cx="2101680" cy="353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9"/>
          <p:cNvSpPr/>
          <p:nvPr/>
        </p:nvSpPr>
        <p:spPr>
          <a:xfrm>
            <a:off x="2102040" y="1695600"/>
            <a:ext cx="2101680" cy="353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9"/>
          <p:cNvSpPr/>
          <p:nvPr/>
        </p:nvSpPr>
        <p:spPr>
          <a:xfrm>
            <a:off x="4288320" y="1695600"/>
            <a:ext cx="2034000" cy="353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9"/>
          <p:cNvSpPr/>
          <p:nvPr/>
        </p:nvSpPr>
        <p:spPr>
          <a:xfrm>
            <a:off x="6240600" y="1695600"/>
            <a:ext cx="2999520" cy="353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9"/>
          <p:cNvSpPr txBox="1"/>
          <p:nvPr/>
        </p:nvSpPr>
        <p:spPr>
          <a:xfrm>
            <a:off x="3072000" y="2371650"/>
            <a:ext cx="30000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Clôture et synthèse</a:t>
            </a:r>
            <a:endParaRPr b="1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8" name="Google Shape;228;p10"/>
          <p:cNvGrpSpPr/>
          <p:nvPr/>
        </p:nvGrpSpPr>
        <p:grpSpPr>
          <a:xfrm>
            <a:off x="-32400" y="0"/>
            <a:ext cx="9143640" cy="5142960"/>
            <a:chOff x="-32400" y="0"/>
            <a:chExt cx="9143640" cy="5142960"/>
          </a:xfrm>
        </p:grpSpPr>
        <p:pic>
          <p:nvPicPr>
            <p:cNvPr id="229" name="Google Shape;229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-32400" y="0"/>
              <a:ext cx="9143640" cy="51429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0" name="Google Shape;230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226000" y="4515840"/>
              <a:ext cx="721440" cy="4514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1" name="Google Shape;231;p1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46880" y="4665600"/>
              <a:ext cx="377640" cy="30168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2" name="Google Shape;232;p10"/>
          <p:cNvSpPr/>
          <p:nvPr/>
        </p:nvSpPr>
        <p:spPr>
          <a:xfrm>
            <a:off x="1924733" y="3191750"/>
            <a:ext cx="5367000" cy="7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1" i="0" lang="en-US" sz="2900" u="sng" cap="none" strike="noStrike">
                <a:solidFill>
                  <a:srgbClr val="83E3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Merci</a:t>
            </a:r>
            <a:r>
              <a:rPr b="1" lang="en-US" sz="2900" u="sng">
                <a:solidFill>
                  <a:srgbClr val="83E3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Pour Votre Participation</a:t>
            </a:r>
            <a:endParaRPr b="0" i="0" sz="2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