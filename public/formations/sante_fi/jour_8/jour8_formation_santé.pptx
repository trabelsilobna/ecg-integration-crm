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Sd3iLx9zid61PTbKZucNZe/TZ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Notification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La résiliation doit toujours être </a:t>
            </a:r>
            <a:r>
              <a:rPr b="1" lang="en-US">
                <a:solidFill>
                  <a:schemeClr val="dk1"/>
                </a:solidFill>
              </a:rPr>
              <a:t>notifiée par écrit</a:t>
            </a:r>
            <a:r>
              <a:rPr lang="en-US">
                <a:solidFill>
                  <a:schemeClr val="dk1"/>
                </a:solidFill>
              </a:rPr>
              <a:t> (lettre recommandée avec accusé de réception, parfois via espace client ou mail si accepté par l’assureur).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>
                <a:solidFill>
                  <a:schemeClr val="dk1"/>
                </a:solidFill>
              </a:rPr>
              <a:t>Le courrier doit préciser :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Le numéro de contrat.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La volonté claire de résilier.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Le motif (si exigé par la loi).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US">
                <a:solidFill>
                  <a:schemeClr val="dk1"/>
                </a:solidFill>
              </a:rPr>
              <a:t>La date d’effet souhaitée (en respectant le délai légal).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 Délais légaux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À échéance (anniversaire du contrat)</a:t>
            </a:r>
            <a:r>
              <a:rPr lang="en-US">
                <a:solidFill>
                  <a:schemeClr val="dk1"/>
                </a:solidFill>
              </a:rPr>
              <a:t> : préavis de 2 mois sauf mention contraire (article L113-12 du Code des assurances).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Loi Chatel</a:t>
            </a:r>
            <a:r>
              <a:rPr lang="en-US">
                <a:solidFill>
                  <a:schemeClr val="dk1"/>
                </a:solidFill>
              </a:rPr>
              <a:t> : l’assureur doit informer l’assuré de la possibilité de résiliation au moins 15 jours avant la date limite.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Loi Hamon</a:t>
            </a:r>
            <a:r>
              <a:rPr lang="en-US">
                <a:solidFill>
                  <a:schemeClr val="dk1"/>
                </a:solidFill>
              </a:rPr>
              <a:t> : après 1 an de contrat, résiliation possible </a:t>
            </a:r>
            <a:r>
              <a:rPr b="1" lang="en-US">
                <a:solidFill>
                  <a:schemeClr val="dk1"/>
                </a:solidFill>
              </a:rPr>
              <a:t>à tout moment, sans frais ni pénalité</a:t>
            </a:r>
            <a:r>
              <a:rPr lang="en-US">
                <a:solidFill>
                  <a:schemeClr val="dk1"/>
                </a:solidFill>
              </a:rPr>
              <a:t>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Motifs spécifiques</a:t>
            </a:r>
            <a:r>
              <a:rPr lang="en-US">
                <a:solidFill>
                  <a:schemeClr val="dk1"/>
                </a:solidFill>
              </a:rPr>
              <a:t> : résiliation possible immédiatement ou avec préavis réduit (voir ci-dessous).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a1fb822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8a1fb822d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Motifs acceptés de résiliation (hors échéance)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Changement de situation personnelle ou professionnelle</a:t>
            </a:r>
            <a:r>
              <a:rPr lang="en-US">
                <a:solidFill>
                  <a:schemeClr val="dk1"/>
                </a:solidFill>
              </a:rPr>
              <a:t> affectant le risque (mariage, divorce, retraite, cessation d’activité, déménagement).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Augmentation injustifiée de la prime</a:t>
            </a:r>
            <a:r>
              <a:rPr lang="en-US">
                <a:solidFill>
                  <a:schemeClr val="dk1"/>
                </a:solidFill>
              </a:rPr>
              <a:t> (hors modification réglementaire).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Vente ou perte du bien assuré</a:t>
            </a:r>
            <a:r>
              <a:rPr lang="en-US">
                <a:solidFill>
                  <a:schemeClr val="dk1"/>
                </a:solidFill>
              </a:rPr>
              <a:t> (ex : vente d’une voiture).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Adhésion obligatoire à une mutuelle d’entreprise</a:t>
            </a:r>
            <a:r>
              <a:rPr lang="en-US">
                <a:solidFill>
                  <a:schemeClr val="dk1"/>
                </a:solidFill>
              </a:rPr>
              <a:t> (résiliation immédiate possible).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Décès de l’assuré</a:t>
            </a:r>
            <a:r>
              <a:rPr lang="en-US">
                <a:solidFill>
                  <a:schemeClr val="dk1"/>
                </a:solidFill>
              </a:rPr>
              <a:t> (résiliation par les héritiers).</a:t>
            </a:r>
            <a:br>
              <a:rPr lang="en-US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>
                <a:solidFill>
                  <a:schemeClr val="dk1"/>
                </a:solidFill>
              </a:rPr>
              <a:t>Souscription d’un nouveau contrat via loi Hamon</a:t>
            </a:r>
            <a:r>
              <a:rPr lang="en-US">
                <a:solidFill>
                  <a:schemeClr val="dk1"/>
                </a:solidFill>
              </a:rPr>
              <a:t> (dans ce cas, le nouvel assureur se charge de la résiliation).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Best Practices 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/>
              <a:t>Vérifier le motif de résiliation possible.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/>
              <a:t>Rédiger et envoyer la notification dans les délais.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US"/>
              <a:t>Respecter le préavis ou bénéficier d’une résiliation immédiate si motif valable.</a:t>
            </a:r>
            <a:br>
              <a:rPr lang="en-US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"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idx="1"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2"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3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3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3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4"/>
          <p:cNvSpPr txBox="1"/>
          <p:nvPr>
            <p:ph idx="1"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4"/>
          <p:cNvSpPr txBox="1"/>
          <p:nvPr>
            <p:ph idx="2"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5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5"/>
          <p:cNvSpPr txBox="1"/>
          <p:nvPr>
            <p:ph idx="1"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5"/>
          <p:cNvSpPr txBox="1"/>
          <p:nvPr>
            <p:ph idx="2"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5"/>
          <p:cNvSpPr txBox="1"/>
          <p:nvPr>
            <p:ph idx="3"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5"/>
          <p:cNvSpPr txBox="1"/>
          <p:nvPr>
            <p:ph idx="4"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6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6"/>
          <p:cNvSpPr txBox="1"/>
          <p:nvPr>
            <p:ph idx="1"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6"/>
          <p:cNvSpPr txBox="1"/>
          <p:nvPr>
            <p:ph idx="2"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6"/>
          <p:cNvSpPr txBox="1"/>
          <p:nvPr>
            <p:ph idx="3"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6"/>
          <p:cNvSpPr txBox="1"/>
          <p:nvPr>
            <p:ph idx="4"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6"/>
          <p:cNvSpPr txBox="1"/>
          <p:nvPr>
            <p:ph idx="5"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6"/>
          <p:cNvSpPr txBox="1"/>
          <p:nvPr>
            <p:ph idx="6"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p11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4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9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19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2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1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114" name="Google Shape;11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30"/>
                </a:srgbClr>
              </a:outerShdw>
            </a:effectLst>
          </p:spPr>
        </p:pic>
        <p:pic>
          <p:nvPicPr>
            <p:cNvPr id="115" name="Google Shape;11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30"/>
                </a:srgbClr>
              </a:outerShdw>
            </a:effectLst>
          </p:spPr>
        </p:pic>
        <p:pic>
          <p:nvPicPr>
            <p:cNvPr id="116" name="Google Shape;116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30"/>
                </a:srgbClr>
              </a:outerShdw>
            </a:effectLst>
          </p:spPr>
        </p:pic>
        <p:pic>
          <p:nvPicPr>
            <p:cNvPr id="117" name="Google Shape;117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  <a:effectLst>
              <a:outerShdw dir="5400000" dist="19080">
                <a:srgbClr val="000000">
                  <a:alpha val="48630"/>
                </a:srgbClr>
              </a:outerShdw>
            </a:effectLst>
          </p:spPr>
        </p:pic>
      </p:grpSp>
      <p:sp>
        <p:nvSpPr>
          <p:cNvPr id="118" name="Google Shape;118;p1"/>
          <p:cNvSpPr txBox="1"/>
          <p:nvPr/>
        </p:nvSpPr>
        <p:spPr>
          <a:xfrm>
            <a:off x="732600" y="1215355"/>
            <a:ext cx="3700800" cy="7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1D2B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 8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788950" y="2018475"/>
            <a:ext cx="44955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rPr b="1" i="0" lang="en-US" sz="2050" u="none" cap="none" strike="noStrike">
                <a:solidFill>
                  <a:srgbClr val="1D2BA5"/>
                </a:solidFill>
                <a:latin typeface="Arial"/>
                <a:ea typeface="Arial"/>
                <a:cs typeface="Arial"/>
                <a:sym typeface="Arial"/>
              </a:rPr>
              <a:t>Résiliation et portabilité – Gestion des anciens contrats</a:t>
            </a:r>
            <a:endParaRPr b="1" i="0" sz="2050" u="none" cap="none" strike="noStrike">
              <a:solidFill>
                <a:srgbClr val="1D2B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"/>
          <p:cNvGrpSpPr/>
          <p:nvPr/>
        </p:nvGrpSpPr>
        <p:grpSpPr>
          <a:xfrm>
            <a:off x="0" y="-7200"/>
            <a:ext cx="9176761" cy="5157721"/>
            <a:chOff x="0" y="-7200"/>
            <a:chExt cx="9176761" cy="5157721"/>
          </a:xfrm>
        </p:grpSpPr>
        <p:pic>
          <p:nvPicPr>
            <p:cNvPr id="125" name="Google Shape;125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-7200"/>
              <a:ext cx="9176038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6" name="Google Shape;126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62000" y="720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60960" y="302760"/>
              <a:ext cx="377641" cy="3016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83600" y="45320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9" name="Google Shape;129;p2"/>
          <p:cNvSpPr txBox="1"/>
          <p:nvPr/>
        </p:nvSpPr>
        <p:spPr>
          <a:xfrm>
            <a:off x="737725" y="188527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Objectifs pédagogiques</a:t>
            </a:r>
            <a:endParaRPr b="1" i="0" sz="22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512300" y="2438550"/>
            <a:ext cx="55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Comprendre le processus de résiliation et les documents nécessaires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502054" y="2766341"/>
            <a:ext cx="652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Maîtriser les règles de portabilité et la loi Evin sur la mutuelle obligatoire d’entreprise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502077" y="3074300"/>
            <a:ext cx="538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S’exercer à la reprise de clients avec ancien contrat.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502050" y="3381175"/>
            <a:ext cx="59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Vérifier l’éligibilité, calculer les droits et rédiger les documents associés.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502050" y="3679300"/>
            <a:ext cx="615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Développer une posture professionnelle lors de la gestion d’anciens contrats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3"/>
          <p:cNvGrpSpPr/>
          <p:nvPr/>
        </p:nvGrpSpPr>
        <p:grpSpPr>
          <a:xfrm>
            <a:off x="0" y="0"/>
            <a:ext cx="9143640" cy="5143320"/>
            <a:chOff x="0" y="0"/>
            <a:chExt cx="9143640" cy="5143320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0" cy="51433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3"/>
          <p:cNvSpPr txBox="1"/>
          <p:nvPr/>
        </p:nvSpPr>
        <p:spPr>
          <a:xfrm>
            <a:off x="512300" y="2438550"/>
            <a:ext cx="604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Comprendre le processus de résiliation et les documents nécessaires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4"/>
          <p:cNvGrpSpPr/>
          <p:nvPr/>
        </p:nvGrpSpPr>
        <p:grpSpPr>
          <a:xfrm>
            <a:off x="0" y="1946520"/>
            <a:ext cx="9143640" cy="3196440"/>
            <a:chOff x="0" y="1946520"/>
            <a:chExt cx="9143640" cy="3196440"/>
          </a:xfrm>
        </p:grpSpPr>
        <p:pic>
          <p:nvPicPr>
            <p:cNvPr id="150" name="Google Shape;150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4"/>
          <p:cNvSpPr/>
          <p:nvPr/>
        </p:nvSpPr>
        <p:spPr>
          <a:xfrm>
            <a:off x="0" y="1992725"/>
            <a:ext cx="55818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Étapes clés : notification, délais légaux, motifs acceptés.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4288320" y="1695600"/>
            <a:ext cx="203400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240600" y="1695600"/>
            <a:ext cx="2999520" cy="353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Processus de résiliation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0" y="2750753"/>
            <a:ext cx="863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Documents nécessaires : courrier de résiliation, justificatifs, attestation employeur si applicable.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2278050" y="490550"/>
            <a:ext cx="4587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Comprendre le processus de résiliation et les documents nécessaires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0" y="435779"/>
            <a:ext cx="91353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0" name="Google Shape;160;p4" title="giphy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12050" y="705176"/>
            <a:ext cx="1385700" cy="124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5"/>
          <p:cNvGrpSpPr/>
          <p:nvPr/>
        </p:nvGrpSpPr>
        <p:grpSpPr>
          <a:xfrm>
            <a:off x="0" y="1946520"/>
            <a:ext cx="9143640" cy="3196440"/>
            <a:chOff x="0" y="1946520"/>
            <a:chExt cx="9143640" cy="3196440"/>
          </a:xfrm>
        </p:grpSpPr>
        <p:pic>
          <p:nvPicPr>
            <p:cNvPr id="166" name="Google Shape;166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40" cy="3196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60" cy="330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7000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Portabilité et loi Evin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0" y="1916011"/>
            <a:ext cx="83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Portabilité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droits du salarié lors du départ de l’entreprise (continuité des garanties).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0" y="2607525"/>
            <a:ext cx="759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Loi Evin</a:t>
            </a: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mutuelle obligatoire en entreprise, obligations de l’employeur et du salarié.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20550" y="3268488"/>
            <a:ext cx="688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 particuliers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CDD, démission, licenciement, retraite.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1694100" y="490550"/>
            <a:ext cx="575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Maîtriser les règles de portabilité et la loi Evin sur la mutuelle obligatoire d’entreprise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5"/>
          <p:cNvCxnSpPr/>
          <p:nvPr/>
        </p:nvCxnSpPr>
        <p:spPr>
          <a:xfrm>
            <a:off x="0" y="435779"/>
            <a:ext cx="91353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5" name="Google Shape;175;p5" title="Wc8C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4014" y="490550"/>
            <a:ext cx="1941285" cy="145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g38a1fb822db_0_0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181" name="Google Shape;181;g38a1fb822db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g38a1fb822db_0_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g38a1fb822db_0_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84" name="Google Shape;184;g38a1fb822db_0_0"/>
          <p:cNvCxnSpPr/>
          <p:nvPr/>
        </p:nvCxnSpPr>
        <p:spPr>
          <a:xfrm>
            <a:off x="0" y="435779"/>
            <a:ext cx="91353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5" name="Google Shape;185;g38a1fb822db_0_0" title="Wc8C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94014" y="490550"/>
            <a:ext cx="1941285" cy="145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8a1fb822db_0_0"/>
          <p:cNvSpPr txBox="1"/>
          <p:nvPr/>
        </p:nvSpPr>
        <p:spPr>
          <a:xfrm>
            <a:off x="2469000" y="2195550"/>
            <a:ext cx="4206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Le </a:t>
            </a:r>
            <a:r>
              <a:rPr b="1" lang="en-US" sz="2400"/>
              <a:t>Decommissionnement</a:t>
            </a:r>
            <a:endParaRPr b="1" sz="2400"/>
          </a:p>
        </p:txBody>
      </p:sp>
      <p:sp>
        <p:nvSpPr>
          <p:cNvPr id="187" name="Google Shape;187;g38a1fb822db_0_0"/>
          <p:cNvSpPr txBox="1"/>
          <p:nvPr/>
        </p:nvSpPr>
        <p:spPr>
          <a:xfrm>
            <a:off x="0" y="0"/>
            <a:ext cx="21585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tour de table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6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193" name="Google Shape;19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7" name="Google Shape;197;p6"/>
          <p:cNvSpPr txBox="1"/>
          <p:nvPr/>
        </p:nvSpPr>
        <p:spPr>
          <a:xfrm>
            <a:off x="512300" y="2438550"/>
            <a:ext cx="460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S’exercer à la reprise de clients avec ancien contrat.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7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03" name="Google Shape;203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7"/>
          <p:cNvSpPr/>
          <p:nvPr/>
        </p:nvSpPr>
        <p:spPr>
          <a:xfrm>
            <a:off x="0" y="1941504"/>
            <a:ext cx="59916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 client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possédant un ancien contrat.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288320" y="1695600"/>
            <a:ext cx="20340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240600" y="1695600"/>
            <a:ext cx="29994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0" y="0"/>
            <a:ext cx="455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Simulation de reprise client avec résiliation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0" y="2612728"/>
            <a:ext cx="837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Objectif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analyser le dossier, identifier les droits et préparer la transition vers le nouveau contrat.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0" y="3268450"/>
            <a:ext cx="624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Travail en binôme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: un conseiller, un client, avec rotation.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7"/>
          <p:cNvCxnSpPr/>
          <p:nvPr/>
        </p:nvCxnSpPr>
        <p:spPr>
          <a:xfrm>
            <a:off x="0" y="435779"/>
            <a:ext cx="91353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3" name="Google Shape;213;p7" title="KKgi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49000" y="606084"/>
            <a:ext cx="1594625" cy="176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8"/>
          <p:cNvGrpSpPr/>
          <p:nvPr/>
        </p:nvGrpSpPr>
        <p:grpSpPr>
          <a:xfrm>
            <a:off x="0" y="0"/>
            <a:ext cx="9143641" cy="5143321"/>
            <a:chOff x="0" y="0"/>
            <a:chExt cx="9143641" cy="5143321"/>
          </a:xfrm>
        </p:grpSpPr>
        <p:pic>
          <p:nvPicPr>
            <p:cNvPr id="219" name="Google Shape;21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639" cy="5142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920" y="4524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1" name="Google Shape;221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928880" y="0"/>
              <a:ext cx="7214761" cy="51433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596800" y="142920"/>
              <a:ext cx="357481" cy="30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3" name="Google Shape;223;p8"/>
          <p:cNvSpPr txBox="1"/>
          <p:nvPr/>
        </p:nvSpPr>
        <p:spPr>
          <a:xfrm>
            <a:off x="512300" y="2438550"/>
            <a:ext cx="496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0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Vérifier l’éligibilité, calculer les droits et rédiger les documents associés.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9"/>
          <p:cNvGrpSpPr/>
          <p:nvPr/>
        </p:nvGrpSpPr>
        <p:grpSpPr>
          <a:xfrm>
            <a:off x="0" y="1946520"/>
            <a:ext cx="9143639" cy="3196441"/>
            <a:chOff x="0" y="1946520"/>
            <a:chExt cx="9143639" cy="3196441"/>
          </a:xfrm>
        </p:grpSpPr>
        <p:pic>
          <p:nvPicPr>
            <p:cNvPr id="229" name="Google Shape;229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946520"/>
              <a:ext cx="9143639" cy="31964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4080" y="4651920"/>
              <a:ext cx="345959" cy="3308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323200" y="4545360"/>
              <a:ext cx="746999" cy="532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2" name="Google Shape;232;p9"/>
          <p:cNvSpPr txBox="1"/>
          <p:nvPr/>
        </p:nvSpPr>
        <p:spPr>
          <a:xfrm>
            <a:off x="0" y="0"/>
            <a:ext cx="45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éligibilité, calcul des droits, rédaction de courrier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174182" y="1485631"/>
            <a:ext cx="549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Vérifier si le client peut bénéficier de la portabilité.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174182" y="1885831"/>
            <a:ext cx="499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Calcul des droits et des montants à régulariser.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 txBox="1"/>
          <p:nvPr/>
        </p:nvSpPr>
        <p:spPr>
          <a:xfrm>
            <a:off x="184440" y="2325606"/>
            <a:ext cx="493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Rédiger un courrier type de résiliation ou portabilité.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174172" y="2807400"/>
            <a:ext cx="40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 mise en situation complète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849600" y="3771650"/>
            <a:ext cx="7436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Simulation complète avec </a:t>
            </a:r>
            <a:r>
              <a:rPr b="1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accueil → vérification des droits → explication de la portabilité → rédaction courrier → conclusion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 txBox="1"/>
          <p:nvPr/>
        </p:nvSpPr>
        <p:spPr>
          <a:xfrm>
            <a:off x="2103900" y="553275"/>
            <a:ext cx="493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Développer une posture professionnelle lors de la gestion d’anciens contrats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p9"/>
          <p:cNvCxnSpPr/>
          <p:nvPr/>
        </p:nvCxnSpPr>
        <p:spPr>
          <a:xfrm>
            <a:off x="0" y="435779"/>
            <a:ext cx="9135300" cy="192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0" name="Google Shape;240;p9" title="UrB9.gif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3075" y="1005575"/>
            <a:ext cx="2355150" cy="23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0"/>
          <p:cNvGrpSpPr/>
          <p:nvPr/>
        </p:nvGrpSpPr>
        <p:grpSpPr>
          <a:xfrm>
            <a:off x="-32400" y="0"/>
            <a:ext cx="9143640" cy="5142960"/>
            <a:chOff x="-32400" y="0"/>
            <a:chExt cx="9143640" cy="5142960"/>
          </a:xfrm>
        </p:grpSpPr>
        <p:pic>
          <p:nvPicPr>
            <p:cNvPr id="246" name="Google Shape;246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32400" y="0"/>
              <a:ext cx="9143640" cy="51429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26000" y="4515840"/>
              <a:ext cx="721440" cy="4514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46880" y="4665600"/>
              <a:ext cx="377640" cy="3016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10"/>
          <p:cNvSpPr/>
          <p:nvPr/>
        </p:nvSpPr>
        <p:spPr>
          <a:xfrm>
            <a:off x="1978200" y="3191760"/>
            <a:ext cx="5186880" cy="7714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sng" cap="none" strike="noStrike">
                <a:solidFill>
                  <a:srgbClr val="83E3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Merci </a:t>
            </a:r>
            <a:endParaRPr b="0" i="0" sz="2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