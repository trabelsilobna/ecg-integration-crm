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jzyyypr6zY5CuRAzX8kaA9Rmo0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DDD91F-6C43-4372-85AA-FFEEB0438FC4}">
  <a:tblStyle styleId="{A1DDD91F-6C43-4372-85AA-FFEEB0438FC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rgbClr val="000000"/>
              </a:buClr>
              <a:buSzPts val="1400"/>
              <a:buFont typeface="Arial"/>
              <a:buNone/>
            </a:pPr>
            <a:r>
              <a:rPr lang="en-US"/>
              <a:t>Un contrat santé = Informations générales + Niveaux de garantie + Modules + Plafonds et exclusions + Annexes</a:t>
            </a:r>
            <a:br>
              <a:rPr lang="en-US"/>
            </a:br>
            <a:r>
              <a:rPr lang="en-US"/>
              <a:t> Chaque section doit être clairement expliquée au client pour assurer compréhension et transparence.</a:t>
            </a:r>
            <a:endParaRPr/>
          </a:p>
          <a:p>
            <a:pPr indent="0" lvl="0" marL="0" rtl="0" algn="l">
              <a:lnSpc>
                <a:spcPct val="100000"/>
              </a:lnSpc>
              <a:spcBef>
                <a:spcPts val="1200"/>
              </a:spcBef>
              <a:spcAft>
                <a:spcPts val="0"/>
              </a:spcAft>
              <a:buSzPts val="1100"/>
              <a:buNone/>
            </a:pPr>
            <a:r>
              <a:t/>
            </a:r>
            <a:endParaRPr/>
          </a:p>
        </p:txBody>
      </p:sp>
      <p:sp>
        <p:nvSpPr>
          <p:cNvPr id="194" name="Google Shape;194;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pour les postes de soin chaque explication et suivie par la lecture du po</a:t>
            </a:r>
            <a:endParaRPr/>
          </a:p>
        </p:txBody>
      </p:sp>
      <p:sp>
        <p:nvSpPr>
          <p:cNvPr id="230" name="Google Shape;23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Astuce formation</a:t>
            </a:r>
            <a:r>
              <a:rPr lang="en-US">
                <a:solidFill>
                  <a:schemeClr val="dk1"/>
                </a:solidFill>
              </a:rPr>
              <a:t> : Présenter un exemple concret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a:solidFill>
                  <a:schemeClr val="dk1"/>
                </a:solidFill>
              </a:rPr>
              <a:t>Exemple : Séjour de 5 jours en chambre semi-privée → forfait journalier x 5 + honoraires chirurgien + frais annexes.</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240" name="Google Shape;240;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8" name="Google Shape;268;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400"/>
              <a:buFont typeface="Arial"/>
              <a:buNone/>
            </a:pPr>
            <a:r>
              <a:rPr lang="en-US"/>
              <a:t>Note : Les médecins spécialistes en secteur 2 non adhérents à l’OPTAM peuvent pratiquer des dépassements d’honoraires sans limitation. Le tarif de convention est de 23 €, et les dépassements sont à la charge du patient.</a:t>
            </a:r>
            <a:endParaRPr/>
          </a:p>
          <a:p>
            <a:pPr indent="0" lvl="0" marL="0" rtl="0" algn="l">
              <a:lnSpc>
                <a:spcPct val="100000"/>
              </a:lnSpc>
              <a:spcBef>
                <a:spcPts val="0"/>
              </a:spcBef>
              <a:spcAft>
                <a:spcPts val="0"/>
              </a:spcAft>
              <a:buSzPts val="1100"/>
              <a:buNone/>
            </a:pPr>
            <a:r>
              <a:t/>
            </a:r>
            <a:endParaRPr/>
          </a:p>
        </p:txBody>
      </p:sp>
      <p:sp>
        <p:nvSpPr>
          <p:cNvPr id="338" name="Google Shape;338;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Points clés à retenir pour la formation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100"/>
              <a:buNone/>
            </a:pPr>
            <a:r>
              <a:rPr lang="en-US">
                <a:solidFill>
                  <a:schemeClr val="dk1"/>
                </a:solidFill>
              </a:rPr>
              <a:t>Distinguer </a:t>
            </a:r>
            <a:r>
              <a:rPr b="1" lang="en-US">
                <a:solidFill>
                  <a:schemeClr val="dk1"/>
                </a:solidFill>
              </a:rPr>
              <a:t>soins courants (ticket modérateur)</a:t>
            </a:r>
            <a:r>
              <a:rPr lang="en-US">
                <a:solidFill>
                  <a:schemeClr val="dk1"/>
                </a:solidFill>
              </a:rPr>
              <a:t> et </a:t>
            </a:r>
            <a:r>
              <a:rPr b="1" lang="en-US">
                <a:solidFill>
                  <a:schemeClr val="dk1"/>
                </a:solidFill>
              </a:rPr>
              <a:t>prothèses/orthodontie (forfaits et plafonds)</a:t>
            </a:r>
            <a:r>
              <a:rPr lang="en-US">
                <a:solidFill>
                  <a:schemeClr val="dk1"/>
                </a:solidFill>
              </a:rPr>
              <a:t>.</a:t>
            </a:r>
            <a:br>
              <a:rPr lang="en-US">
                <a:solidFill>
                  <a:schemeClr val="dk1"/>
                </a:solidFill>
              </a:rPr>
            </a:b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Bien expliquer le dispositif </a:t>
            </a:r>
            <a:r>
              <a:rPr b="1" lang="en-US">
                <a:solidFill>
                  <a:schemeClr val="dk1"/>
                </a:solidFill>
              </a:rPr>
              <a:t>100 % Santé = zéro reste à charge</a:t>
            </a:r>
            <a:r>
              <a:rPr lang="en-US">
                <a:solidFill>
                  <a:schemeClr val="dk1"/>
                </a:solidFill>
              </a:rPr>
              <a:t> (prothèses éligibles).</a:t>
            </a:r>
            <a:br>
              <a:rPr lang="en-US">
                <a:solidFill>
                  <a:schemeClr val="dk1"/>
                </a:solidFill>
              </a:rPr>
            </a:b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Mettre en avant l’importance de </a:t>
            </a:r>
            <a:r>
              <a:rPr b="1" lang="en-US">
                <a:solidFill>
                  <a:schemeClr val="dk1"/>
                </a:solidFill>
              </a:rPr>
              <a:t>choisir une mutuelle avec un bon niveau de garanties dentaires</a:t>
            </a:r>
            <a:r>
              <a:rPr lang="en-US">
                <a:solidFill>
                  <a:schemeClr val="dk1"/>
                </a:solidFill>
              </a:rPr>
              <a:t>, car les écarts de prix sont très importants.</a:t>
            </a:r>
            <a:endParaRPr>
              <a:solidFill>
                <a:schemeClr val="dk1"/>
              </a:solidFill>
            </a:endParaRPr>
          </a:p>
          <a:p>
            <a:pPr indent="0" lvl="0" marL="0" rtl="0" algn="l">
              <a:lnSpc>
                <a:spcPct val="100000"/>
              </a:lnSpc>
              <a:spcBef>
                <a:spcPts val="0"/>
              </a:spcBef>
              <a:spcAft>
                <a:spcPts val="0"/>
              </a:spcAft>
              <a:buClr>
                <a:srgbClr val="000000"/>
              </a:buClr>
              <a:buSzPts val="1400"/>
              <a:buFont typeface="Arial"/>
              <a:buNone/>
            </a:pPr>
            <a:r>
              <a:t/>
            </a:r>
            <a:endParaRPr/>
          </a:p>
          <a:p>
            <a:pPr indent="0" lvl="0" marL="0" rtl="0" algn="l">
              <a:lnSpc>
                <a:spcPct val="100000"/>
              </a:lnSpc>
              <a:spcBef>
                <a:spcPts val="0"/>
              </a:spcBef>
              <a:spcAft>
                <a:spcPts val="0"/>
              </a:spcAft>
              <a:buSzPts val="1100"/>
              <a:buNone/>
            </a:pPr>
            <a:r>
              <a:t/>
            </a:r>
            <a:endParaRPr/>
          </a:p>
        </p:txBody>
      </p:sp>
      <p:sp>
        <p:nvSpPr>
          <p:cNvPr id="385" name="Google Shape;385;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6" name="Google Shape;446;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solidFill>
                  <a:schemeClr val="dk1"/>
                </a:solidFill>
              </a:rPr>
              <a:t>Points pédagogiques pour la formation</a:t>
            </a:r>
            <a:endParaRPr sz="1400"/>
          </a:p>
          <a:p>
            <a:pPr indent="0" lvl="0" marL="0" rtl="0" algn="l">
              <a:lnSpc>
                <a:spcPct val="100000"/>
              </a:lnSpc>
              <a:spcBef>
                <a:spcPts val="0"/>
              </a:spcBef>
              <a:spcAft>
                <a:spcPts val="0"/>
              </a:spcAft>
              <a:buSzPts val="1100"/>
              <a:buNone/>
            </a:pPr>
            <a:r>
              <a:t/>
            </a:r>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L’</a:t>
            </a:r>
            <a:r>
              <a:rPr b="1" lang="en-US">
                <a:solidFill>
                  <a:schemeClr val="dk1"/>
                </a:solidFill>
              </a:rPr>
              <a:t>AMO rembourse peu</a:t>
            </a:r>
            <a:r>
              <a:rPr lang="en-US">
                <a:solidFill>
                  <a:schemeClr val="dk1"/>
                </a:solidFill>
              </a:rPr>
              <a:t> (240 € par oreille).</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La </a:t>
            </a:r>
            <a:r>
              <a:rPr b="1" lang="en-US">
                <a:solidFill>
                  <a:schemeClr val="dk1"/>
                </a:solidFill>
              </a:rPr>
              <a:t>mutuelle joue un rôle central</a:t>
            </a:r>
            <a:r>
              <a:rPr lang="en-US">
                <a:solidFill>
                  <a:schemeClr val="dk1"/>
                </a:solidFill>
              </a:rPr>
              <a:t>, notamment via les forfaits.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Le dispositif </a:t>
            </a:r>
            <a:r>
              <a:rPr b="1" lang="en-US">
                <a:solidFill>
                  <a:schemeClr val="dk1"/>
                </a:solidFill>
              </a:rPr>
              <a:t>100 % Santé garantit un appareil auditif de qualité sans reste à charge</a:t>
            </a:r>
            <a:r>
              <a:rPr lang="en-US">
                <a:solidFill>
                  <a:schemeClr val="dk1"/>
                </a:solidFill>
              </a:rPr>
              <a:t>.</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US">
                <a:solidFill>
                  <a:schemeClr val="dk1"/>
                </a:solidFill>
              </a:rPr>
              <a:t>Hors panier, bien vérifier les plafonds mutuelle pour éviter des restes à charge lourds.</a:t>
            </a:r>
            <a:br>
              <a:rPr lang="en-US">
                <a:solidFill>
                  <a:schemeClr val="dk1"/>
                </a:solidFill>
              </a:rPr>
            </a:b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463" name="Google Shape;463;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ccdaf7071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3ccdaf7071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5" name="Google Shape;50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30"/>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30"/>
          <p:cNvSpPr txBox="1"/>
          <p:nvPr>
            <p:ph idx="1" type="subTitle"/>
          </p:nvPr>
        </p:nvSpPr>
        <p:spPr>
          <a:xfrm>
            <a:off x="311760" y="1152360"/>
            <a:ext cx="8520120" cy="34160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 name="Shape 13"/>
        <p:cNvGrpSpPr/>
        <p:nvPr/>
      </p:nvGrpSpPr>
      <p:grpSpPr>
        <a:xfrm>
          <a:off x="0" y="0"/>
          <a:ext cx="0" cy="0"/>
          <a:chOff x="0" y="0"/>
          <a:chExt cx="0" cy="0"/>
        </a:xfrm>
      </p:grpSpPr>
      <p:sp>
        <p:nvSpPr>
          <p:cNvPr id="14" name="Google Shape;14;p34"/>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4"/>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 name="Shape 16"/>
        <p:cNvGrpSpPr/>
        <p:nvPr/>
      </p:nvGrpSpPr>
      <p:grpSpPr>
        <a:xfrm>
          <a:off x="0" y="0"/>
          <a:ext cx="0" cy="0"/>
          <a:chOff x="0" y="0"/>
          <a:chExt cx="0" cy="0"/>
        </a:xfrm>
      </p:grpSpPr>
      <p:sp>
        <p:nvSpPr>
          <p:cNvPr id="17" name="Google Shape;17;p35"/>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5"/>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35"/>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36"/>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 name="Shape 22"/>
        <p:cNvGrpSpPr/>
        <p:nvPr/>
      </p:nvGrpSpPr>
      <p:grpSpPr>
        <a:xfrm>
          <a:off x="0" y="0"/>
          <a:ext cx="0" cy="0"/>
          <a:chOff x="0" y="0"/>
          <a:chExt cx="0" cy="0"/>
        </a:xfrm>
      </p:grpSpPr>
      <p:sp>
        <p:nvSpPr>
          <p:cNvPr id="23" name="Google Shape;23;p37"/>
          <p:cNvSpPr txBox="1"/>
          <p:nvPr>
            <p:ph idx="1" type="subTitle"/>
          </p:nvPr>
        </p:nvSpPr>
        <p:spPr>
          <a:xfrm>
            <a:off x="311760" y="444960"/>
            <a:ext cx="8520120" cy="26546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 name="Shape 24"/>
        <p:cNvGrpSpPr/>
        <p:nvPr/>
      </p:nvGrpSpPr>
      <p:grpSpPr>
        <a:xfrm>
          <a:off x="0" y="0"/>
          <a:ext cx="0" cy="0"/>
          <a:chOff x="0" y="0"/>
          <a:chExt cx="0" cy="0"/>
        </a:xfrm>
      </p:grpSpPr>
      <p:sp>
        <p:nvSpPr>
          <p:cNvPr id="25" name="Google Shape;25;p38"/>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8"/>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38"/>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38"/>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39"/>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9"/>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39"/>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39"/>
          <p:cNvSpPr txBox="1"/>
          <p:nvPr>
            <p:ph idx="3"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4" name="Shape 34"/>
        <p:cNvGrpSpPr/>
        <p:nvPr/>
      </p:nvGrpSpPr>
      <p:grpSpPr>
        <a:xfrm>
          <a:off x="0" y="0"/>
          <a:ext cx="0" cy="0"/>
          <a:chOff x="0" y="0"/>
          <a:chExt cx="0" cy="0"/>
        </a:xfrm>
      </p:grpSpPr>
      <p:sp>
        <p:nvSpPr>
          <p:cNvPr id="35" name="Google Shape;35;p40"/>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0"/>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40"/>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40"/>
          <p:cNvSpPr txBox="1"/>
          <p:nvPr>
            <p:ph idx="3"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9" name="Shape 39"/>
        <p:cNvGrpSpPr/>
        <p:nvPr/>
      </p:nvGrpSpPr>
      <p:grpSpPr>
        <a:xfrm>
          <a:off x="0" y="0"/>
          <a:ext cx="0" cy="0"/>
          <a:chOff x="0" y="0"/>
          <a:chExt cx="0" cy="0"/>
        </a:xfrm>
      </p:grpSpPr>
      <p:sp>
        <p:nvSpPr>
          <p:cNvPr id="40" name="Google Shape;40;p4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1"/>
          <p:cNvSpPr txBox="1"/>
          <p:nvPr>
            <p:ph idx="1" type="body"/>
          </p:nvPr>
        </p:nvSpPr>
        <p:spPr>
          <a:xfrm>
            <a:off x="311760" y="115236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41"/>
          <p:cNvSpPr txBox="1"/>
          <p:nvPr>
            <p:ph idx="2"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3" name="Shape 43"/>
        <p:cNvGrpSpPr/>
        <p:nvPr/>
      </p:nvGrpSpPr>
      <p:grpSpPr>
        <a:xfrm>
          <a:off x="0" y="0"/>
          <a:ext cx="0" cy="0"/>
          <a:chOff x="0" y="0"/>
          <a:chExt cx="0" cy="0"/>
        </a:xfrm>
      </p:grpSpPr>
      <p:sp>
        <p:nvSpPr>
          <p:cNvPr id="44" name="Google Shape;44;p4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2"/>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42"/>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42"/>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42"/>
          <p:cNvSpPr txBox="1"/>
          <p:nvPr>
            <p:ph idx="4"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9" name="Shape 49"/>
        <p:cNvGrpSpPr/>
        <p:nvPr/>
      </p:nvGrpSpPr>
      <p:grpSpPr>
        <a:xfrm>
          <a:off x="0" y="0"/>
          <a:ext cx="0" cy="0"/>
          <a:chOff x="0" y="0"/>
          <a:chExt cx="0" cy="0"/>
        </a:xfrm>
      </p:grpSpPr>
      <p:sp>
        <p:nvSpPr>
          <p:cNvPr id="50" name="Google Shape;50;p43"/>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3"/>
          <p:cNvSpPr txBox="1"/>
          <p:nvPr>
            <p:ph idx="1" type="body"/>
          </p:nvPr>
        </p:nvSpPr>
        <p:spPr>
          <a:xfrm>
            <a:off x="31176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43"/>
          <p:cNvSpPr txBox="1"/>
          <p:nvPr>
            <p:ph idx="2" type="body"/>
          </p:nvPr>
        </p:nvSpPr>
        <p:spPr>
          <a:xfrm>
            <a:off x="319248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43"/>
          <p:cNvSpPr txBox="1"/>
          <p:nvPr>
            <p:ph idx="3" type="body"/>
          </p:nvPr>
        </p:nvSpPr>
        <p:spPr>
          <a:xfrm>
            <a:off x="607320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43"/>
          <p:cNvSpPr txBox="1"/>
          <p:nvPr>
            <p:ph idx="4" type="body"/>
          </p:nvPr>
        </p:nvSpPr>
        <p:spPr>
          <a:xfrm>
            <a:off x="31176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43"/>
          <p:cNvSpPr txBox="1"/>
          <p:nvPr>
            <p:ph idx="5" type="body"/>
          </p:nvPr>
        </p:nvSpPr>
        <p:spPr>
          <a:xfrm>
            <a:off x="319248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43"/>
          <p:cNvSpPr txBox="1"/>
          <p:nvPr>
            <p:ph idx="6" type="body"/>
          </p:nvPr>
        </p:nvSpPr>
        <p:spPr>
          <a:xfrm>
            <a:off x="607320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1" name="Shape 61"/>
        <p:cNvGrpSpPr/>
        <p:nvPr/>
      </p:nvGrpSpPr>
      <p:grpSpPr>
        <a:xfrm>
          <a:off x="0" y="0"/>
          <a:ext cx="0" cy="0"/>
          <a:chOff x="0" y="0"/>
          <a:chExt cx="0" cy="0"/>
        </a:xfrm>
      </p:grpSpPr>
      <p:sp>
        <p:nvSpPr>
          <p:cNvPr id="62" name="Google Shape;62;p3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5" name="Shape 65"/>
        <p:cNvGrpSpPr/>
        <p:nvPr/>
      </p:nvGrpSpPr>
      <p:grpSpPr>
        <a:xfrm>
          <a:off x="0" y="0"/>
          <a:ext cx="0" cy="0"/>
          <a:chOff x="0" y="0"/>
          <a:chExt cx="0" cy="0"/>
        </a:xfrm>
      </p:grpSpPr>
      <p:sp>
        <p:nvSpPr>
          <p:cNvPr id="66" name="Google Shape;66;p45"/>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5"/>
          <p:cNvSpPr txBox="1"/>
          <p:nvPr>
            <p:ph idx="1" type="subTitle"/>
          </p:nvPr>
        </p:nvSpPr>
        <p:spPr>
          <a:xfrm>
            <a:off x="311760" y="1152360"/>
            <a:ext cx="8520120" cy="34160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8" name="Shape 68"/>
        <p:cNvGrpSpPr/>
        <p:nvPr/>
      </p:nvGrpSpPr>
      <p:grpSpPr>
        <a:xfrm>
          <a:off x="0" y="0"/>
          <a:ext cx="0" cy="0"/>
          <a:chOff x="0" y="0"/>
          <a:chExt cx="0" cy="0"/>
        </a:xfrm>
      </p:grpSpPr>
      <p:sp>
        <p:nvSpPr>
          <p:cNvPr id="69" name="Google Shape;69;p46"/>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6"/>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1" name="Google Shape;71;p46"/>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47"/>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4" name="Shape 74"/>
        <p:cNvGrpSpPr/>
        <p:nvPr/>
      </p:nvGrpSpPr>
      <p:grpSpPr>
        <a:xfrm>
          <a:off x="0" y="0"/>
          <a:ext cx="0" cy="0"/>
          <a:chOff x="0" y="0"/>
          <a:chExt cx="0" cy="0"/>
        </a:xfrm>
      </p:grpSpPr>
      <p:sp>
        <p:nvSpPr>
          <p:cNvPr id="75" name="Google Shape;75;p48"/>
          <p:cNvSpPr txBox="1"/>
          <p:nvPr>
            <p:ph idx="1" type="subTitle"/>
          </p:nvPr>
        </p:nvSpPr>
        <p:spPr>
          <a:xfrm>
            <a:off x="311760" y="444960"/>
            <a:ext cx="8520120" cy="26546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6" name="Shape 76"/>
        <p:cNvGrpSpPr/>
        <p:nvPr/>
      </p:nvGrpSpPr>
      <p:grpSpPr>
        <a:xfrm>
          <a:off x="0" y="0"/>
          <a:ext cx="0" cy="0"/>
          <a:chOff x="0" y="0"/>
          <a:chExt cx="0" cy="0"/>
        </a:xfrm>
      </p:grpSpPr>
      <p:sp>
        <p:nvSpPr>
          <p:cNvPr id="77" name="Google Shape;77;p49"/>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9" name="Google Shape;79;p49"/>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0" name="Google Shape;80;p49"/>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1" name="Shape 81"/>
        <p:cNvGrpSpPr/>
        <p:nvPr/>
      </p:nvGrpSpPr>
      <p:grpSpPr>
        <a:xfrm>
          <a:off x="0" y="0"/>
          <a:ext cx="0" cy="0"/>
          <a:chOff x="0" y="0"/>
          <a:chExt cx="0" cy="0"/>
        </a:xfrm>
      </p:grpSpPr>
      <p:sp>
        <p:nvSpPr>
          <p:cNvPr id="82" name="Google Shape;82;p50"/>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0"/>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4" name="Google Shape;84;p50"/>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5" name="Google Shape;85;p50"/>
          <p:cNvSpPr txBox="1"/>
          <p:nvPr>
            <p:ph idx="3"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6" name="Shape 86"/>
        <p:cNvGrpSpPr/>
        <p:nvPr/>
      </p:nvGrpSpPr>
      <p:grpSpPr>
        <a:xfrm>
          <a:off x="0" y="0"/>
          <a:ext cx="0" cy="0"/>
          <a:chOff x="0" y="0"/>
          <a:chExt cx="0" cy="0"/>
        </a:xfrm>
      </p:grpSpPr>
      <p:sp>
        <p:nvSpPr>
          <p:cNvPr id="87" name="Google Shape;87;p5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51"/>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9" name="Google Shape;89;p51"/>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51"/>
          <p:cNvSpPr txBox="1"/>
          <p:nvPr>
            <p:ph idx="3"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1" name="Shape 91"/>
        <p:cNvGrpSpPr/>
        <p:nvPr/>
      </p:nvGrpSpPr>
      <p:grpSpPr>
        <a:xfrm>
          <a:off x="0" y="0"/>
          <a:ext cx="0" cy="0"/>
          <a:chOff x="0" y="0"/>
          <a:chExt cx="0" cy="0"/>
        </a:xfrm>
      </p:grpSpPr>
      <p:sp>
        <p:nvSpPr>
          <p:cNvPr id="92" name="Google Shape;92;p5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52"/>
          <p:cNvSpPr txBox="1"/>
          <p:nvPr>
            <p:ph idx="1" type="body"/>
          </p:nvPr>
        </p:nvSpPr>
        <p:spPr>
          <a:xfrm>
            <a:off x="311760" y="115236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4" name="Google Shape;94;p52"/>
          <p:cNvSpPr txBox="1"/>
          <p:nvPr>
            <p:ph idx="2"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5" name="Shape 95"/>
        <p:cNvGrpSpPr/>
        <p:nvPr/>
      </p:nvGrpSpPr>
      <p:grpSpPr>
        <a:xfrm>
          <a:off x="0" y="0"/>
          <a:ext cx="0" cy="0"/>
          <a:chOff x="0" y="0"/>
          <a:chExt cx="0" cy="0"/>
        </a:xfrm>
      </p:grpSpPr>
      <p:sp>
        <p:nvSpPr>
          <p:cNvPr id="96" name="Google Shape;96;p53"/>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53"/>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53"/>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9" name="Google Shape;99;p53"/>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0" name="Google Shape;100;p53"/>
          <p:cNvSpPr txBox="1"/>
          <p:nvPr>
            <p:ph idx="4"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1" name="Shape 101"/>
        <p:cNvGrpSpPr/>
        <p:nvPr/>
      </p:nvGrpSpPr>
      <p:grpSpPr>
        <a:xfrm>
          <a:off x="0" y="0"/>
          <a:ext cx="0" cy="0"/>
          <a:chOff x="0" y="0"/>
          <a:chExt cx="0" cy="0"/>
        </a:xfrm>
      </p:grpSpPr>
      <p:sp>
        <p:nvSpPr>
          <p:cNvPr id="102" name="Google Shape;102;p54"/>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54"/>
          <p:cNvSpPr txBox="1"/>
          <p:nvPr>
            <p:ph idx="1" type="body"/>
          </p:nvPr>
        </p:nvSpPr>
        <p:spPr>
          <a:xfrm>
            <a:off x="31176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54"/>
          <p:cNvSpPr txBox="1"/>
          <p:nvPr>
            <p:ph idx="2" type="body"/>
          </p:nvPr>
        </p:nvSpPr>
        <p:spPr>
          <a:xfrm>
            <a:off x="319248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5" name="Google Shape;105;p54"/>
          <p:cNvSpPr txBox="1"/>
          <p:nvPr>
            <p:ph idx="3" type="body"/>
          </p:nvPr>
        </p:nvSpPr>
        <p:spPr>
          <a:xfrm>
            <a:off x="607320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6" name="Google Shape;106;p54"/>
          <p:cNvSpPr txBox="1"/>
          <p:nvPr>
            <p:ph idx="4" type="body"/>
          </p:nvPr>
        </p:nvSpPr>
        <p:spPr>
          <a:xfrm>
            <a:off x="31176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7" name="Google Shape;107;p54"/>
          <p:cNvSpPr txBox="1"/>
          <p:nvPr>
            <p:ph idx="5" type="body"/>
          </p:nvPr>
        </p:nvSpPr>
        <p:spPr>
          <a:xfrm>
            <a:off x="319248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8" name="Google Shape;108;p54"/>
          <p:cNvSpPr txBox="1"/>
          <p:nvPr>
            <p:ph idx="6" type="body"/>
          </p:nvPr>
        </p:nvSpPr>
        <p:spPr>
          <a:xfrm>
            <a:off x="607320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9"/>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9"/>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 name="Google Shape;8;p2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3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31"/>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31"/>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pSp>
        <p:nvGrpSpPr>
          <p:cNvPr id="113" name="Google Shape;113;p1"/>
          <p:cNvGrpSpPr/>
          <p:nvPr/>
        </p:nvGrpSpPr>
        <p:grpSpPr>
          <a:xfrm>
            <a:off x="0" y="0"/>
            <a:ext cx="9143640" cy="5143320"/>
            <a:chOff x="0" y="0"/>
            <a:chExt cx="9143640" cy="5143320"/>
          </a:xfrm>
        </p:grpSpPr>
        <p:pic>
          <p:nvPicPr>
            <p:cNvPr id="114" name="Google Shape;114;p1"/>
            <p:cNvPicPr preferRelativeResize="0"/>
            <p:nvPr/>
          </p:nvPicPr>
          <p:blipFill rotWithShape="1">
            <a:blip r:embed="rId3">
              <a:alphaModFix/>
            </a:blip>
            <a:srcRect b="0" l="0" r="0" t="0"/>
            <a:stretch/>
          </p:blipFill>
          <p:spPr>
            <a:xfrm>
              <a:off x="1928880" y="0"/>
              <a:ext cx="7214760" cy="5143320"/>
            </a:xfrm>
            <a:prstGeom prst="rect">
              <a:avLst/>
            </a:prstGeom>
            <a:noFill/>
            <a:ln>
              <a:noFill/>
            </a:ln>
            <a:effectLst>
              <a:outerShdw dir="5400000" dist="19080">
                <a:srgbClr val="000000">
                  <a:alpha val="48627"/>
                </a:srgbClr>
              </a:outerShdw>
            </a:effectLst>
          </p:spPr>
        </p:pic>
        <p:pic>
          <p:nvPicPr>
            <p:cNvPr id="115" name="Google Shape;115;p1"/>
            <p:cNvPicPr preferRelativeResize="0"/>
            <p:nvPr/>
          </p:nvPicPr>
          <p:blipFill rotWithShape="1">
            <a:blip r:embed="rId4">
              <a:alphaModFix/>
            </a:blip>
            <a:srcRect b="0" l="0" r="0" t="0"/>
            <a:stretch/>
          </p:blipFill>
          <p:spPr>
            <a:xfrm>
              <a:off x="0" y="1946520"/>
              <a:ext cx="9143640" cy="3196440"/>
            </a:xfrm>
            <a:prstGeom prst="rect">
              <a:avLst/>
            </a:prstGeom>
            <a:noFill/>
            <a:ln>
              <a:noFill/>
            </a:ln>
            <a:effectLst>
              <a:outerShdw dir="5400000" dist="19080">
                <a:srgbClr val="000000">
                  <a:alpha val="48627"/>
                </a:srgbClr>
              </a:outerShdw>
            </a:effectLst>
          </p:spPr>
        </p:pic>
        <p:pic>
          <p:nvPicPr>
            <p:cNvPr id="116" name="Google Shape;116;p1"/>
            <p:cNvPicPr preferRelativeResize="0"/>
            <p:nvPr/>
          </p:nvPicPr>
          <p:blipFill rotWithShape="1">
            <a:blip r:embed="rId5">
              <a:alphaModFix/>
            </a:blip>
            <a:srcRect b="0" l="0" r="0" t="0"/>
            <a:stretch/>
          </p:blipFill>
          <p:spPr>
            <a:xfrm>
              <a:off x="8323200" y="4545360"/>
              <a:ext cx="747000" cy="532800"/>
            </a:xfrm>
            <a:prstGeom prst="rect">
              <a:avLst/>
            </a:prstGeom>
            <a:noFill/>
            <a:ln>
              <a:noFill/>
            </a:ln>
            <a:effectLst>
              <a:outerShdw dir="5400000" dist="19080">
                <a:srgbClr val="000000">
                  <a:alpha val="48627"/>
                </a:srgbClr>
              </a:outerShdw>
            </a:effectLst>
          </p:spPr>
        </p:pic>
        <p:pic>
          <p:nvPicPr>
            <p:cNvPr id="117" name="Google Shape;117;p1"/>
            <p:cNvPicPr preferRelativeResize="0"/>
            <p:nvPr/>
          </p:nvPicPr>
          <p:blipFill rotWithShape="1">
            <a:blip r:embed="rId6">
              <a:alphaModFix/>
            </a:blip>
            <a:srcRect b="0" l="0" r="0" t="0"/>
            <a:stretch/>
          </p:blipFill>
          <p:spPr>
            <a:xfrm>
              <a:off x="154080" y="4651920"/>
              <a:ext cx="345960" cy="330840"/>
            </a:xfrm>
            <a:prstGeom prst="rect">
              <a:avLst/>
            </a:prstGeom>
            <a:noFill/>
            <a:ln>
              <a:noFill/>
            </a:ln>
            <a:effectLst>
              <a:outerShdw dir="5400000" dist="19080">
                <a:srgbClr val="000000">
                  <a:alpha val="48627"/>
                </a:srgbClr>
              </a:outerShdw>
            </a:effectLst>
          </p:spPr>
        </p:pic>
      </p:grpSp>
      <p:sp>
        <p:nvSpPr>
          <p:cNvPr id="118" name="Google Shape;118;p1"/>
          <p:cNvSpPr txBox="1"/>
          <p:nvPr/>
        </p:nvSpPr>
        <p:spPr>
          <a:xfrm>
            <a:off x="520175" y="1420250"/>
            <a:ext cx="4451100" cy="400200"/>
          </a:xfrm>
          <a:prstGeom prst="rect">
            <a:avLst/>
          </a:prstGeom>
          <a:noFill/>
          <a:ln>
            <a:noFill/>
          </a:ln>
        </p:spPr>
        <p:txBody>
          <a:bodyPr anchorCtr="0" anchor="t" bIns="91425" lIns="91425" spcFirstLastPara="1" rIns="91425" wrap="square" tIns="91425">
            <a:noAutofit/>
          </a:bodyPr>
          <a:lstStyle/>
          <a:p>
            <a:pPr indent="0" lvl="0" marL="0" marR="0" rtl="0" algn="l">
              <a:lnSpc>
                <a:spcPct val="95000"/>
              </a:lnSpc>
              <a:spcBef>
                <a:spcPts val="0"/>
              </a:spcBef>
              <a:spcAft>
                <a:spcPts val="0"/>
              </a:spcAft>
              <a:buClr>
                <a:srgbClr val="000000"/>
              </a:buClr>
              <a:buSzPts val="275"/>
              <a:buFont typeface="Arial"/>
              <a:buNone/>
            </a:pPr>
            <a:r>
              <a:rPr b="1" i="0" lang="en-US" sz="2050" u="none" cap="none" strike="noStrike">
                <a:solidFill>
                  <a:srgbClr val="1D2BA5"/>
                </a:solidFill>
                <a:latin typeface="Times New Roman"/>
                <a:ea typeface="Times New Roman"/>
                <a:cs typeface="Times New Roman"/>
                <a:sym typeface="Times New Roman"/>
              </a:rPr>
              <a:t>Produits et garanties</a:t>
            </a:r>
            <a:r>
              <a:rPr b="0" i="0" lang="en-US" sz="2050" u="none" cap="none" strike="noStrike">
                <a:solidFill>
                  <a:schemeClr val="dk1"/>
                </a:solidFill>
                <a:latin typeface="Arial"/>
                <a:ea typeface="Arial"/>
                <a:cs typeface="Arial"/>
                <a:sym typeface="Arial"/>
              </a:rPr>
              <a:t>​</a:t>
            </a:r>
            <a:endParaRPr b="0" i="0" sz="205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75"/>
              <a:buFont typeface="Arial"/>
              <a:buNone/>
            </a:pPr>
            <a:r>
              <a:t/>
            </a:r>
            <a:endParaRPr b="1" i="0" sz="2050" u="none" cap="none" strike="noStrike">
              <a:solidFill>
                <a:srgbClr val="1D2BA5"/>
              </a:solidFill>
              <a:latin typeface="Times New Roman"/>
              <a:ea typeface="Times New Roman"/>
              <a:cs typeface="Times New Roman"/>
              <a:sym typeface="Times New Roman"/>
            </a:endParaRPr>
          </a:p>
        </p:txBody>
      </p:sp>
      <p:sp>
        <p:nvSpPr>
          <p:cNvPr id="119" name="Google Shape;119;p1"/>
          <p:cNvSpPr txBox="1"/>
          <p:nvPr/>
        </p:nvSpPr>
        <p:spPr>
          <a:xfrm>
            <a:off x="0" y="0"/>
            <a:ext cx="20673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D2BA5"/>
                </a:solidFill>
                <a:latin typeface="Times New Roman"/>
                <a:ea typeface="Times New Roman"/>
                <a:cs typeface="Times New Roman"/>
                <a:sym typeface="Times New Roman"/>
              </a:rPr>
              <a:t>Jour 3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pSp>
        <p:nvGrpSpPr>
          <p:cNvPr id="124" name="Google Shape;124;p2"/>
          <p:cNvGrpSpPr/>
          <p:nvPr/>
        </p:nvGrpSpPr>
        <p:grpSpPr>
          <a:xfrm>
            <a:off x="0" y="-7200"/>
            <a:ext cx="9176760" cy="5157720"/>
            <a:chOff x="0" y="-7200"/>
            <a:chExt cx="9176760" cy="5157720"/>
          </a:xfrm>
        </p:grpSpPr>
        <p:pic>
          <p:nvPicPr>
            <p:cNvPr id="125" name="Google Shape;125;p2"/>
            <p:cNvPicPr preferRelativeResize="0"/>
            <p:nvPr/>
          </p:nvPicPr>
          <p:blipFill rotWithShape="1">
            <a:blip r:embed="rId3">
              <a:alphaModFix/>
            </a:blip>
            <a:srcRect b="0" l="0" r="0" t="0"/>
            <a:stretch/>
          </p:blipFill>
          <p:spPr>
            <a:xfrm>
              <a:off x="0" y="-7200"/>
              <a:ext cx="9176040" cy="5142960"/>
            </a:xfrm>
            <a:prstGeom prst="rect">
              <a:avLst/>
            </a:prstGeom>
            <a:noFill/>
            <a:ln>
              <a:noFill/>
            </a:ln>
          </p:spPr>
        </p:pic>
        <p:pic>
          <p:nvPicPr>
            <p:cNvPr id="126" name="Google Shape;126;p2"/>
            <p:cNvPicPr preferRelativeResize="0"/>
            <p:nvPr/>
          </p:nvPicPr>
          <p:blipFill rotWithShape="1">
            <a:blip r:embed="rId4">
              <a:alphaModFix/>
            </a:blip>
            <a:srcRect b="0" l="0" r="0" t="0"/>
            <a:stretch/>
          </p:blipFill>
          <p:spPr>
            <a:xfrm>
              <a:off x="1962000" y="7200"/>
              <a:ext cx="7214760" cy="5143320"/>
            </a:xfrm>
            <a:prstGeom prst="rect">
              <a:avLst/>
            </a:prstGeom>
            <a:noFill/>
            <a:ln>
              <a:noFill/>
            </a:ln>
          </p:spPr>
        </p:pic>
        <p:pic>
          <p:nvPicPr>
            <p:cNvPr id="127" name="Google Shape;127;p2"/>
            <p:cNvPicPr preferRelativeResize="0"/>
            <p:nvPr/>
          </p:nvPicPr>
          <p:blipFill rotWithShape="1">
            <a:blip r:embed="rId5">
              <a:alphaModFix/>
            </a:blip>
            <a:srcRect b="0" l="0" r="0" t="0"/>
            <a:stretch/>
          </p:blipFill>
          <p:spPr>
            <a:xfrm>
              <a:off x="8760960" y="302760"/>
              <a:ext cx="377640" cy="301680"/>
            </a:xfrm>
            <a:prstGeom prst="rect">
              <a:avLst/>
            </a:prstGeom>
            <a:noFill/>
            <a:ln>
              <a:noFill/>
            </a:ln>
          </p:spPr>
        </p:pic>
        <p:pic>
          <p:nvPicPr>
            <p:cNvPr id="128" name="Google Shape;128;p2"/>
            <p:cNvPicPr preferRelativeResize="0"/>
            <p:nvPr/>
          </p:nvPicPr>
          <p:blipFill rotWithShape="1">
            <a:blip r:embed="rId6">
              <a:alphaModFix/>
            </a:blip>
            <a:srcRect b="0" l="0" r="0" t="0"/>
            <a:stretch/>
          </p:blipFill>
          <p:spPr>
            <a:xfrm>
              <a:off x="183600" y="4532040"/>
              <a:ext cx="721440" cy="451440"/>
            </a:xfrm>
            <a:prstGeom prst="rect">
              <a:avLst/>
            </a:prstGeom>
            <a:noFill/>
            <a:ln>
              <a:noFill/>
            </a:ln>
          </p:spPr>
        </p:pic>
      </p:grpSp>
      <p:sp>
        <p:nvSpPr>
          <p:cNvPr id="129" name="Google Shape;129;p2"/>
          <p:cNvSpPr/>
          <p:nvPr/>
        </p:nvSpPr>
        <p:spPr>
          <a:xfrm>
            <a:off x="696600" y="973975"/>
            <a:ext cx="4198500" cy="58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200"/>
              <a:buFont typeface="Arial"/>
              <a:buNone/>
            </a:pPr>
            <a:r>
              <a:rPr b="1" i="0" lang="en-US" sz="2200" u="none" cap="none" strike="noStrike">
                <a:solidFill>
                  <a:srgbClr val="FFFFFF"/>
                </a:solidFill>
                <a:latin typeface="Times New Roman"/>
                <a:ea typeface="Times New Roman"/>
                <a:cs typeface="Times New Roman"/>
                <a:sym typeface="Times New Roman"/>
              </a:rPr>
              <a:t>Objectifs pédagogiques du jour​</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
        <p:nvSpPr>
          <p:cNvPr id="130" name="Google Shape;130;p2"/>
          <p:cNvSpPr txBox="1"/>
          <p:nvPr/>
        </p:nvSpPr>
        <p:spPr>
          <a:xfrm>
            <a:off x="1159704" y="2077963"/>
            <a:ext cx="43041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Comprendre la structure d’un contrat santé</a:t>
            </a:r>
            <a:endParaRPr b="0" i="0" sz="1500" u="none" cap="none" strike="noStrike">
              <a:solidFill>
                <a:srgbClr val="FFFFFF"/>
              </a:solidFill>
              <a:latin typeface="Arial"/>
              <a:ea typeface="Arial"/>
              <a:cs typeface="Arial"/>
              <a:sym typeface="Arial"/>
            </a:endParaRPr>
          </a:p>
        </p:txBody>
      </p:sp>
      <p:sp>
        <p:nvSpPr>
          <p:cNvPr id="131" name="Google Shape;131;p2"/>
          <p:cNvSpPr txBox="1"/>
          <p:nvPr/>
        </p:nvSpPr>
        <p:spPr>
          <a:xfrm>
            <a:off x="1164704" y="2340000"/>
            <a:ext cx="40038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Identifier les postes principaux de dépenses</a:t>
            </a:r>
            <a:endParaRPr b="0" i="0" sz="1500" u="none" cap="none" strike="noStrike">
              <a:solidFill>
                <a:srgbClr val="FFFFFF"/>
              </a:solidFill>
              <a:latin typeface="Arial"/>
              <a:ea typeface="Arial"/>
              <a:cs typeface="Arial"/>
              <a:sym typeface="Arial"/>
            </a:endParaRPr>
          </a:p>
        </p:txBody>
      </p:sp>
      <p:sp>
        <p:nvSpPr>
          <p:cNvPr id="132" name="Google Shape;132;p2"/>
          <p:cNvSpPr txBox="1"/>
          <p:nvPr/>
        </p:nvSpPr>
        <p:spPr>
          <a:xfrm>
            <a:off x="1159704" y="2593675"/>
            <a:ext cx="43041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Expliquer les notions clés</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pSp>
        <p:nvGrpSpPr>
          <p:cNvPr id="137" name="Google Shape;137;p3"/>
          <p:cNvGrpSpPr/>
          <p:nvPr/>
        </p:nvGrpSpPr>
        <p:grpSpPr>
          <a:xfrm>
            <a:off x="0" y="0"/>
            <a:ext cx="9143640" cy="5143320"/>
            <a:chOff x="0" y="0"/>
            <a:chExt cx="9143640" cy="5143320"/>
          </a:xfrm>
        </p:grpSpPr>
        <p:pic>
          <p:nvPicPr>
            <p:cNvPr id="138" name="Google Shape;138;p3"/>
            <p:cNvPicPr preferRelativeResize="0"/>
            <p:nvPr/>
          </p:nvPicPr>
          <p:blipFill rotWithShape="1">
            <a:blip r:embed="rId3">
              <a:alphaModFix/>
            </a:blip>
            <a:srcRect b="0" l="0" r="0" t="0"/>
            <a:stretch/>
          </p:blipFill>
          <p:spPr>
            <a:xfrm>
              <a:off x="0" y="0"/>
              <a:ext cx="9143640" cy="5142960"/>
            </a:xfrm>
            <a:prstGeom prst="rect">
              <a:avLst/>
            </a:prstGeom>
            <a:noFill/>
            <a:ln>
              <a:noFill/>
            </a:ln>
          </p:spPr>
        </p:pic>
        <p:pic>
          <p:nvPicPr>
            <p:cNvPr id="139" name="Google Shape;139;p3"/>
            <p:cNvPicPr preferRelativeResize="0"/>
            <p:nvPr/>
          </p:nvPicPr>
          <p:blipFill rotWithShape="1">
            <a:blip r:embed="rId4">
              <a:alphaModFix/>
            </a:blip>
            <a:srcRect b="0" l="0" r="0" t="0"/>
            <a:stretch/>
          </p:blipFill>
          <p:spPr>
            <a:xfrm>
              <a:off x="151920" y="4524840"/>
              <a:ext cx="721440" cy="451440"/>
            </a:xfrm>
            <a:prstGeom prst="rect">
              <a:avLst/>
            </a:prstGeom>
            <a:noFill/>
            <a:ln>
              <a:noFill/>
            </a:ln>
          </p:spPr>
        </p:pic>
        <p:pic>
          <p:nvPicPr>
            <p:cNvPr id="140" name="Google Shape;140;p3"/>
            <p:cNvPicPr preferRelativeResize="0"/>
            <p:nvPr/>
          </p:nvPicPr>
          <p:blipFill rotWithShape="1">
            <a:blip r:embed="rId5">
              <a:alphaModFix/>
            </a:blip>
            <a:srcRect b="0" l="0" r="0" t="0"/>
            <a:stretch/>
          </p:blipFill>
          <p:spPr>
            <a:xfrm>
              <a:off x="1928880" y="0"/>
              <a:ext cx="7214760" cy="5143320"/>
            </a:xfrm>
            <a:prstGeom prst="rect">
              <a:avLst/>
            </a:prstGeom>
            <a:noFill/>
            <a:ln>
              <a:noFill/>
            </a:ln>
          </p:spPr>
        </p:pic>
        <p:pic>
          <p:nvPicPr>
            <p:cNvPr id="141" name="Google Shape;141;p3"/>
            <p:cNvPicPr preferRelativeResize="0"/>
            <p:nvPr/>
          </p:nvPicPr>
          <p:blipFill rotWithShape="1">
            <a:blip r:embed="rId6">
              <a:alphaModFix/>
            </a:blip>
            <a:srcRect b="0" l="0" r="0" t="0"/>
            <a:stretch/>
          </p:blipFill>
          <p:spPr>
            <a:xfrm>
              <a:off x="8596800" y="142920"/>
              <a:ext cx="357480" cy="301680"/>
            </a:xfrm>
            <a:prstGeom prst="rect">
              <a:avLst/>
            </a:prstGeom>
            <a:noFill/>
            <a:ln>
              <a:noFill/>
            </a:ln>
          </p:spPr>
        </p:pic>
      </p:grpSp>
      <p:sp>
        <p:nvSpPr>
          <p:cNvPr id="142" name="Google Shape;142;p3"/>
          <p:cNvSpPr txBox="1"/>
          <p:nvPr/>
        </p:nvSpPr>
        <p:spPr>
          <a:xfrm>
            <a:off x="1208775" y="2158550"/>
            <a:ext cx="44445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Comprendre la structure d’un contrat santé</a:t>
            </a:r>
            <a:endParaRPr b="1" i="0" sz="12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4"/>
          <p:cNvGrpSpPr/>
          <p:nvPr/>
        </p:nvGrpSpPr>
        <p:grpSpPr>
          <a:xfrm>
            <a:off x="0" y="1946520"/>
            <a:ext cx="9143640" cy="3196440"/>
            <a:chOff x="0" y="1946520"/>
            <a:chExt cx="9143640" cy="3196440"/>
          </a:xfrm>
        </p:grpSpPr>
        <p:pic>
          <p:nvPicPr>
            <p:cNvPr id="148" name="Google Shape;148;p4"/>
            <p:cNvPicPr preferRelativeResize="0"/>
            <p:nvPr/>
          </p:nvPicPr>
          <p:blipFill rotWithShape="1">
            <a:blip r:embed="rId3">
              <a:alphaModFix/>
            </a:blip>
            <a:srcRect b="0" l="0" r="0" t="0"/>
            <a:stretch/>
          </p:blipFill>
          <p:spPr>
            <a:xfrm>
              <a:off x="0" y="1946520"/>
              <a:ext cx="9143640" cy="3196440"/>
            </a:xfrm>
            <a:prstGeom prst="rect">
              <a:avLst/>
            </a:prstGeom>
            <a:noFill/>
            <a:ln>
              <a:noFill/>
            </a:ln>
          </p:spPr>
        </p:pic>
        <p:pic>
          <p:nvPicPr>
            <p:cNvPr id="149" name="Google Shape;149;p4"/>
            <p:cNvPicPr preferRelativeResize="0"/>
            <p:nvPr/>
          </p:nvPicPr>
          <p:blipFill rotWithShape="1">
            <a:blip r:embed="rId4">
              <a:alphaModFix/>
            </a:blip>
            <a:srcRect b="0" l="0" r="0" t="0"/>
            <a:stretch/>
          </p:blipFill>
          <p:spPr>
            <a:xfrm>
              <a:off x="154080" y="4651920"/>
              <a:ext cx="345960" cy="330840"/>
            </a:xfrm>
            <a:prstGeom prst="rect">
              <a:avLst/>
            </a:prstGeom>
            <a:noFill/>
            <a:ln>
              <a:noFill/>
            </a:ln>
          </p:spPr>
        </p:pic>
        <p:pic>
          <p:nvPicPr>
            <p:cNvPr id="150" name="Google Shape;150;p4"/>
            <p:cNvPicPr preferRelativeResize="0"/>
            <p:nvPr/>
          </p:nvPicPr>
          <p:blipFill rotWithShape="1">
            <a:blip r:embed="rId5">
              <a:alphaModFix/>
            </a:blip>
            <a:srcRect b="0" l="0" r="0" t="0"/>
            <a:stretch/>
          </p:blipFill>
          <p:spPr>
            <a:xfrm>
              <a:off x="8323200" y="4545360"/>
              <a:ext cx="747000" cy="532800"/>
            </a:xfrm>
            <a:prstGeom prst="rect">
              <a:avLst/>
            </a:prstGeom>
            <a:noFill/>
            <a:ln>
              <a:noFill/>
            </a:ln>
          </p:spPr>
        </p:pic>
      </p:grpSp>
      <p:sp>
        <p:nvSpPr>
          <p:cNvPr id="151" name="Google Shape;151;p4"/>
          <p:cNvSpPr/>
          <p:nvPr/>
        </p:nvSpPr>
        <p:spPr>
          <a:xfrm>
            <a:off x="2102040" y="1695600"/>
            <a:ext cx="210168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4288320" y="1695600"/>
            <a:ext cx="203400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6240600" y="1695600"/>
            <a:ext cx="299952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115903" y="813506"/>
            <a:ext cx="8947800" cy="8088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1700"/>
              <a:buFont typeface="Arial"/>
              <a:buNone/>
            </a:pPr>
            <a:r>
              <a:rPr b="1" i="0" lang="en-US" sz="1700" u="none" cap="none" strike="noStrike">
                <a:solidFill>
                  <a:schemeClr val="dk1"/>
                </a:solidFill>
                <a:latin typeface="Arial"/>
                <a:ea typeface="Arial"/>
                <a:cs typeface="Arial"/>
                <a:sym typeface="Arial"/>
              </a:rPr>
              <a:t>Structure d’un contrat santé</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Un contrat santé est généralement structuré de manière claire pour permettre à l’assuré de comprendre ses droits, garanties et obligations.</a:t>
            </a:r>
            <a:endParaRPr b="0" i="0" sz="1100" u="none" cap="none" strike="noStrike">
              <a:solidFill>
                <a:schemeClr val="dk1"/>
              </a:solidFill>
              <a:latin typeface="Arial"/>
              <a:ea typeface="Arial"/>
              <a:cs typeface="Arial"/>
              <a:sym typeface="Arial"/>
            </a:endParaRPr>
          </a:p>
        </p:txBody>
      </p:sp>
      <p:grpSp>
        <p:nvGrpSpPr>
          <p:cNvPr id="155" name="Google Shape;155;p4"/>
          <p:cNvGrpSpPr/>
          <p:nvPr/>
        </p:nvGrpSpPr>
        <p:grpSpPr>
          <a:xfrm>
            <a:off x="112700" y="2182402"/>
            <a:ext cx="7415650" cy="2295600"/>
            <a:chOff x="112700" y="2182402"/>
            <a:chExt cx="7415650" cy="2295600"/>
          </a:xfrm>
        </p:grpSpPr>
        <p:sp>
          <p:nvSpPr>
            <p:cNvPr id="156" name="Google Shape;156;p4"/>
            <p:cNvSpPr/>
            <p:nvPr/>
          </p:nvSpPr>
          <p:spPr>
            <a:xfrm>
              <a:off x="233250" y="2531377"/>
              <a:ext cx="7295100" cy="19059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
            <p:cNvSpPr txBox="1"/>
            <p:nvPr/>
          </p:nvSpPr>
          <p:spPr>
            <a:xfrm>
              <a:off x="112700" y="2182402"/>
              <a:ext cx="6801000" cy="229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Informations générales</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Identité de l’assureur / mutuelle</a:t>
              </a:r>
              <a:r>
                <a:rPr b="0" i="0" lang="en-US" sz="1100" u="none" cap="none" strike="noStrike">
                  <a:solidFill>
                    <a:srgbClr val="FFFFFF"/>
                  </a:solidFill>
                  <a:latin typeface="Arial"/>
                  <a:ea typeface="Arial"/>
                  <a:cs typeface="Arial"/>
                  <a:sym typeface="Arial"/>
                </a:rPr>
                <a:t> : Nom, coordonnées, autorisation administrative.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Identité de l’assuré et ayants droit</a:t>
              </a:r>
              <a:r>
                <a:rPr b="0" i="0" lang="en-US" sz="1100" u="none" cap="none" strike="noStrike">
                  <a:solidFill>
                    <a:srgbClr val="FFFFFF"/>
                  </a:solidFill>
                  <a:latin typeface="Arial"/>
                  <a:ea typeface="Arial"/>
                  <a:cs typeface="Arial"/>
                  <a:sym typeface="Arial"/>
                </a:rPr>
                <a:t> : Titulaire du contrat et les bénéficiaires (conjoint, enfants).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Durée du contrat</a:t>
              </a:r>
              <a:r>
                <a:rPr b="0" i="0" lang="en-US" sz="1100" u="none" cap="none" strike="noStrike">
                  <a:solidFill>
                    <a:srgbClr val="FFFFFF"/>
                  </a:solidFill>
                  <a:latin typeface="Arial"/>
                  <a:ea typeface="Arial"/>
                  <a:cs typeface="Arial"/>
                  <a:sym typeface="Arial"/>
                </a:rPr>
                <a:t> : Date de début, date de fin, renouvellement automatique.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Modalités de résiliation</a:t>
              </a:r>
              <a:r>
                <a:rPr b="0" i="0" lang="en-US" sz="1100" u="none" cap="none" strike="noStrike">
                  <a:solidFill>
                    <a:srgbClr val="FFFFFF"/>
                  </a:solidFill>
                  <a:latin typeface="Arial"/>
                  <a:ea typeface="Arial"/>
                  <a:cs typeface="Arial"/>
                  <a:sym typeface="Arial"/>
                </a:rPr>
                <a:t> : Conditions et préavis pour arrêter le contrat.</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Numéro de contrat</a:t>
              </a:r>
              <a:r>
                <a:rPr b="0" i="0" lang="en-US" sz="1100" u="none" cap="none" strike="noStrike">
                  <a:solidFill>
                    <a:srgbClr val="FFFFFF"/>
                  </a:solidFill>
                  <a:latin typeface="Arial"/>
                  <a:ea typeface="Arial"/>
                  <a:cs typeface="Arial"/>
                  <a:sym typeface="Arial"/>
                </a:rPr>
                <a:t> : Pour identification et suivi administratif.</a:t>
              </a:r>
              <a:endParaRPr b="0" i="0" sz="1400" u="none" cap="none" strike="noStrike">
                <a:solidFill>
                  <a:srgbClr val="FFFFFF"/>
                </a:solidFill>
                <a:latin typeface="Arial"/>
                <a:ea typeface="Arial"/>
                <a:cs typeface="Arial"/>
                <a:sym typeface="Arial"/>
              </a:endParaRPr>
            </a:p>
          </p:txBody>
        </p:sp>
      </p:grpSp>
      <p:sp>
        <p:nvSpPr>
          <p:cNvPr id="158" name="Google Shape;158;p4"/>
          <p:cNvSpPr txBox="1"/>
          <p:nvPr/>
        </p:nvSpPr>
        <p:spPr>
          <a:xfrm>
            <a:off x="0" y="0"/>
            <a:ext cx="4669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Comprendre la structure d’un contrat santé</a:t>
            </a:r>
            <a:endParaRPr b="0" i="0" sz="1500" u="none" cap="none" strike="noStrike">
              <a:solidFill>
                <a:schemeClr val="dk1"/>
              </a:solidFill>
              <a:latin typeface="Arial"/>
              <a:ea typeface="Arial"/>
              <a:cs typeface="Arial"/>
              <a:sym typeface="Arial"/>
            </a:endParaRPr>
          </a:p>
        </p:txBody>
      </p:sp>
      <p:cxnSp>
        <p:nvCxnSpPr>
          <p:cNvPr id="159" name="Google Shape;159;p4"/>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p5"/>
          <p:cNvGrpSpPr/>
          <p:nvPr/>
        </p:nvGrpSpPr>
        <p:grpSpPr>
          <a:xfrm>
            <a:off x="0" y="1946520"/>
            <a:ext cx="9143640" cy="3196440"/>
            <a:chOff x="0" y="1946520"/>
            <a:chExt cx="9143640" cy="3196440"/>
          </a:xfrm>
        </p:grpSpPr>
        <p:pic>
          <p:nvPicPr>
            <p:cNvPr id="165" name="Google Shape;165;p5"/>
            <p:cNvPicPr preferRelativeResize="0"/>
            <p:nvPr/>
          </p:nvPicPr>
          <p:blipFill rotWithShape="1">
            <a:blip r:embed="rId3">
              <a:alphaModFix/>
            </a:blip>
            <a:srcRect b="0" l="0" r="0" t="0"/>
            <a:stretch/>
          </p:blipFill>
          <p:spPr>
            <a:xfrm>
              <a:off x="0" y="1946520"/>
              <a:ext cx="9143640" cy="3196440"/>
            </a:xfrm>
            <a:prstGeom prst="rect">
              <a:avLst/>
            </a:prstGeom>
            <a:noFill/>
            <a:ln>
              <a:noFill/>
            </a:ln>
          </p:spPr>
        </p:pic>
        <p:pic>
          <p:nvPicPr>
            <p:cNvPr id="166" name="Google Shape;166;p5"/>
            <p:cNvPicPr preferRelativeResize="0"/>
            <p:nvPr/>
          </p:nvPicPr>
          <p:blipFill rotWithShape="1">
            <a:blip r:embed="rId4">
              <a:alphaModFix/>
            </a:blip>
            <a:srcRect b="0" l="0" r="0" t="0"/>
            <a:stretch/>
          </p:blipFill>
          <p:spPr>
            <a:xfrm>
              <a:off x="154080" y="4651920"/>
              <a:ext cx="345960" cy="330840"/>
            </a:xfrm>
            <a:prstGeom prst="rect">
              <a:avLst/>
            </a:prstGeom>
            <a:noFill/>
            <a:ln>
              <a:noFill/>
            </a:ln>
          </p:spPr>
        </p:pic>
        <p:pic>
          <p:nvPicPr>
            <p:cNvPr id="167" name="Google Shape;167;p5"/>
            <p:cNvPicPr preferRelativeResize="0"/>
            <p:nvPr/>
          </p:nvPicPr>
          <p:blipFill rotWithShape="1">
            <a:blip r:embed="rId5">
              <a:alphaModFix/>
            </a:blip>
            <a:srcRect b="0" l="0" r="0" t="0"/>
            <a:stretch/>
          </p:blipFill>
          <p:spPr>
            <a:xfrm>
              <a:off x="8323200" y="4545360"/>
              <a:ext cx="747000" cy="532800"/>
            </a:xfrm>
            <a:prstGeom prst="rect">
              <a:avLst/>
            </a:prstGeom>
            <a:noFill/>
            <a:ln>
              <a:noFill/>
            </a:ln>
          </p:spPr>
        </p:pic>
      </p:grpSp>
      <p:grpSp>
        <p:nvGrpSpPr>
          <p:cNvPr id="168" name="Google Shape;168;p5"/>
          <p:cNvGrpSpPr/>
          <p:nvPr/>
        </p:nvGrpSpPr>
        <p:grpSpPr>
          <a:xfrm>
            <a:off x="224700" y="2080550"/>
            <a:ext cx="8694600" cy="1926300"/>
            <a:chOff x="224700" y="2080550"/>
            <a:chExt cx="8694600" cy="1926300"/>
          </a:xfrm>
        </p:grpSpPr>
        <p:sp>
          <p:nvSpPr>
            <p:cNvPr id="169" name="Google Shape;169;p5"/>
            <p:cNvSpPr/>
            <p:nvPr/>
          </p:nvSpPr>
          <p:spPr>
            <a:xfrm>
              <a:off x="417675" y="2080550"/>
              <a:ext cx="7858800" cy="19263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txBox="1"/>
            <p:nvPr/>
          </p:nvSpPr>
          <p:spPr>
            <a:xfrm>
              <a:off x="224700" y="2228625"/>
              <a:ext cx="8694600" cy="15222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Présentation des différentes formules ou paliers :</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1" marL="9144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Formule de base / essentielle</a:t>
              </a:r>
              <a:r>
                <a:rPr b="0" i="0" lang="en-US" sz="1100" u="none" cap="none" strike="noStrike">
                  <a:solidFill>
                    <a:srgbClr val="FFFFFF"/>
                  </a:solidFill>
                  <a:latin typeface="Arial"/>
                  <a:ea typeface="Arial"/>
                  <a:cs typeface="Arial"/>
                  <a:sym typeface="Arial"/>
                </a:rPr>
                <a:t> : Couverture minimale obligatoire.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1" marL="9144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Formule intermédiaire / confort</a:t>
              </a:r>
              <a:r>
                <a:rPr b="0" i="0" lang="en-US" sz="1100" u="none" cap="none" strike="noStrike">
                  <a:solidFill>
                    <a:srgbClr val="FFFFFF"/>
                  </a:solidFill>
                  <a:latin typeface="Arial"/>
                  <a:ea typeface="Arial"/>
                  <a:cs typeface="Arial"/>
                  <a:sym typeface="Arial"/>
                </a:rPr>
                <a:t> : Couverture étendue (hospitalisation, soins courants, optique/dentaire partiels).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1" marL="9144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Formule premium / tout inclus</a:t>
              </a:r>
              <a:r>
                <a:rPr b="0" i="0" lang="en-US" sz="1100" u="none" cap="none" strike="noStrike">
                  <a:solidFill>
                    <a:srgbClr val="FFFFFF"/>
                  </a:solidFill>
                  <a:latin typeface="Arial"/>
                  <a:ea typeface="Arial"/>
                  <a:cs typeface="Arial"/>
                  <a:sym typeface="Arial"/>
                </a:rPr>
                <a:t> : Couverture complète, options premium, dépassements d’honoraires inclus.</a:t>
              </a:r>
              <a:endParaRPr b="0" i="0" sz="1100" u="none" cap="none" strike="noStrike">
                <a:solidFill>
                  <a:srgbClr val="FFFFFF"/>
                </a:solidFill>
                <a:latin typeface="Arial"/>
                <a:ea typeface="Arial"/>
                <a:cs typeface="Arial"/>
                <a:sym typeface="Arial"/>
              </a:endParaRPr>
            </a:p>
          </p:txBody>
        </p:sp>
      </p:grpSp>
      <p:cxnSp>
        <p:nvCxnSpPr>
          <p:cNvPr id="171" name="Google Shape;171;p5"/>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172" name="Google Shape;172;p5"/>
          <p:cNvSpPr txBox="1"/>
          <p:nvPr/>
        </p:nvSpPr>
        <p:spPr>
          <a:xfrm>
            <a:off x="61475" y="1055325"/>
            <a:ext cx="1852200" cy="3849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Niveaux de garantie :</a:t>
            </a:r>
            <a:endParaRPr b="0" i="0" sz="1400" u="none" cap="none" strike="noStrike">
              <a:solidFill>
                <a:srgbClr val="000000"/>
              </a:solidFill>
              <a:latin typeface="Arial"/>
              <a:ea typeface="Arial"/>
              <a:cs typeface="Arial"/>
              <a:sym typeface="Arial"/>
            </a:endParaRPr>
          </a:p>
        </p:txBody>
      </p:sp>
      <p:sp>
        <p:nvSpPr>
          <p:cNvPr id="173" name="Google Shape;173;p5"/>
          <p:cNvSpPr txBox="1"/>
          <p:nvPr/>
        </p:nvSpPr>
        <p:spPr>
          <a:xfrm>
            <a:off x="0" y="0"/>
            <a:ext cx="4669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Comprendre la structure d’un contrat santé</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grpSp>
        <p:nvGrpSpPr>
          <p:cNvPr id="178" name="Google Shape;178;p6"/>
          <p:cNvGrpSpPr/>
          <p:nvPr/>
        </p:nvGrpSpPr>
        <p:grpSpPr>
          <a:xfrm>
            <a:off x="0" y="1946520"/>
            <a:ext cx="9143639" cy="3196441"/>
            <a:chOff x="0" y="1946520"/>
            <a:chExt cx="9143639" cy="3196441"/>
          </a:xfrm>
        </p:grpSpPr>
        <p:pic>
          <p:nvPicPr>
            <p:cNvPr id="179" name="Google Shape;179;p6"/>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180" name="Google Shape;180;p6"/>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181" name="Google Shape;181;p6"/>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182" name="Google Shape;182;p6"/>
          <p:cNvSpPr/>
          <p:nvPr/>
        </p:nvSpPr>
        <p:spPr>
          <a:xfrm>
            <a:off x="1391066" y="2193237"/>
            <a:ext cx="6075900" cy="23157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txBox="1"/>
          <p:nvPr/>
        </p:nvSpPr>
        <p:spPr>
          <a:xfrm>
            <a:off x="1277475" y="2185975"/>
            <a:ext cx="6384000" cy="2301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Hospitalisation</a:t>
            </a:r>
            <a:r>
              <a:rPr b="0" i="0" lang="en-US" sz="1100" u="none" cap="none" strike="noStrike">
                <a:solidFill>
                  <a:srgbClr val="FFFFFF"/>
                </a:solidFill>
                <a:latin typeface="Arial"/>
                <a:ea typeface="Arial"/>
                <a:cs typeface="Arial"/>
                <a:sym typeface="Arial"/>
              </a:rPr>
              <a:t> : Frais de séjour, interventions chirurgicales, honoraires.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Médecine courante</a:t>
            </a:r>
            <a:r>
              <a:rPr b="0" i="0" lang="en-US" sz="1100" u="none" cap="none" strike="noStrike">
                <a:solidFill>
                  <a:srgbClr val="FFFFFF"/>
                </a:solidFill>
                <a:latin typeface="Arial"/>
                <a:ea typeface="Arial"/>
                <a:cs typeface="Arial"/>
                <a:sym typeface="Arial"/>
              </a:rPr>
              <a:t> : Consultations, examens médicaux, analyses de laboratoire.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Dentaire</a:t>
            </a:r>
            <a:r>
              <a:rPr b="0" i="0" lang="en-US" sz="1100" u="none" cap="none" strike="noStrike">
                <a:solidFill>
                  <a:srgbClr val="FFFFFF"/>
                </a:solidFill>
                <a:latin typeface="Arial"/>
                <a:ea typeface="Arial"/>
                <a:cs typeface="Arial"/>
                <a:sym typeface="Arial"/>
              </a:rPr>
              <a:t> : Soins courants, orthodontie, prothèses.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Optique</a:t>
            </a:r>
            <a:r>
              <a:rPr b="0" i="0" lang="en-US" sz="1100" u="none" cap="none" strike="noStrike">
                <a:solidFill>
                  <a:srgbClr val="FFFFFF"/>
                </a:solidFill>
                <a:latin typeface="Arial"/>
                <a:ea typeface="Arial"/>
                <a:cs typeface="Arial"/>
                <a:sym typeface="Arial"/>
              </a:rPr>
              <a:t> : Lunettes, lentilles, chirurgie corrective.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Prévention et bien-être</a:t>
            </a:r>
            <a:r>
              <a:rPr b="0" i="0" lang="en-US" sz="1100" u="none" cap="none" strike="noStrike">
                <a:solidFill>
                  <a:srgbClr val="FFFFFF"/>
                </a:solidFill>
                <a:latin typeface="Arial"/>
                <a:ea typeface="Arial"/>
                <a:cs typeface="Arial"/>
                <a:sym typeface="Arial"/>
              </a:rPr>
              <a:t> : Vaccinations, dépistages, médecines douces selon le contrat.</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Assistance / services</a:t>
            </a:r>
            <a:r>
              <a:rPr b="0" i="0" lang="en-US" sz="1100" u="none" cap="none" strike="noStrike">
                <a:solidFill>
                  <a:srgbClr val="FFFFFF"/>
                </a:solidFill>
                <a:latin typeface="Arial"/>
                <a:ea typeface="Arial"/>
                <a:cs typeface="Arial"/>
                <a:sym typeface="Arial"/>
              </a:rPr>
              <a:t> : Téléconsultation, assistance à domicile, urgences.</a:t>
            </a:r>
            <a:endParaRPr b="0" i="0" sz="1100" u="none" cap="none" strike="noStrike">
              <a:solidFill>
                <a:srgbClr val="FFFFFF"/>
              </a:solidFill>
              <a:latin typeface="Arial"/>
              <a:ea typeface="Arial"/>
              <a:cs typeface="Arial"/>
              <a:sym typeface="Arial"/>
            </a:endParaRPr>
          </a:p>
        </p:txBody>
      </p:sp>
      <p:sp>
        <p:nvSpPr>
          <p:cNvPr id="184" name="Google Shape;184;p6"/>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6"/>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6"/>
          <p:cNvSpPr/>
          <p:nvPr/>
        </p:nvSpPr>
        <p:spPr>
          <a:xfrm>
            <a:off x="6240600" y="1695600"/>
            <a:ext cx="29994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8" name="Google Shape;188;p6"/>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189" name="Google Shape;189;p6"/>
          <p:cNvSpPr txBox="1"/>
          <p:nvPr/>
        </p:nvSpPr>
        <p:spPr>
          <a:xfrm>
            <a:off x="58200" y="71722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les Postes de soins :</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109425" y="1102113"/>
            <a:ext cx="4987500" cy="54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Chaque contrat peut être composé de modules ou sections couvrant différents types de soins :</a:t>
            </a:r>
            <a:endParaRPr b="0" i="0" sz="1400" u="none" cap="none" strike="noStrike">
              <a:solidFill>
                <a:srgbClr val="000000"/>
              </a:solidFill>
              <a:latin typeface="Arial"/>
              <a:ea typeface="Arial"/>
              <a:cs typeface="Arial"/>
              <a:sym typeface="Arial"/>
            </a:endParaRPr>
          </a:p>
        </p:txBody>
      </p:sp>
      <p:sp>
        <p:nvSpPr>
          <p:cNvPr id="191" name="Google Shape;191;p6"/>
          <p:cNvSpPr txBox="1"/>
          <p:nvPr/>
        </p:nvSpPr>
        <p:spPr>
          <a:xfrm>
            <a:off x="0" y="0"/>
            <a:ext cx="4669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Comprendre la structure d’un contrat santé</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7"/>
          <p:cNvGrpSpPr/>
          <p:nvPr/>
        </p:nvGrpSpPr>
        <p:grpSpPr>
          <a:xfrm>
            <a:off x="0" y="1946520"/>
            <a:ext cx="9143639" cy="3196441"/>
            <a:chOff x="0" y="1946520"/>
            <a:chExt cx="9143639" cy="3196441"/>
          </a:xfrm>
        </p:grpSpPr>
        <p:pic>
          <p:nvPicPr>
            <p:cNvPr id="197" name="Google Shape;197;p7"/>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198" name="Google Shape;198;p7"/>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199" name="Google Shape;199;p7"/>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00" name="Google Shape;200;p7"/>
          <p:cNvSpPr/>
          <p:nvPr/>
        </p:nvSpPr>
        <p:spPr>
          <a:xfrm>
            <a:off x="5160030" y="2082175"/>
            <a:ext cx="3239400" cy="12381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7"/>
          <p:cNvSpPr/>
          <p:nvPr/>
        </p:nvSpPr>
        <p:spPr>
          <a:xfrm>
            <a:off x="261326" y="3200851"/>
            <a:ext cx="3927000" cy="14739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7"/>
          <p:cNvSpPr/>
          <p:nvPr/>
        </p:nvSpPr>
        <p:spPr>
          <a:xfrm>
            <a:off x="141025" y="1014950"/>
            <a:ext cx="4167600" cy="17169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7"/>
          <p:cNvSpPr txBox="1"/>
          <p:nvPr/>
        </p:nvSpPr>
        <p:spPr>
          <a:xfrm>
            <a:off x="0" y="1074725"/>
            <a:ext cx="4321500" cy="17169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Plafonds annuels ou par acte</a:t>
            </a:r>
            <a:r>
              <a:rPr b="0" i="0" lang="en-US" sz="1100" u="none" cap="none" strike="noStrike">
                <a:solidFill>
                  <a:srgbClr val="FFFFFF"/>
                </a:solidFill>
                <a:latin typeface="Arial"/>
                <a:ea typeface="Arial"/>
                <a:cs typeface="Arial"/>
                <a:sym typeface="Arial"/>
              </a:rPr>
              <a:t> : Limites financières de remboursement.</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Franchise ou participation</a:t>
            </a:r>
            <a:r>
              <a:rPr b="0" i="0" lang="en-US" sz="1100" u="none" cap="none" strike="noStrike">
                <a:solidFill>
                  <a:srgbClr val="FFFFFF"/>
                </a:solidFill>
                <a:latin typeface="Arial"/>
                <a:ea typeface="Arial"/>
                <a:cs typeface="Arial"/>
                <a:sym typeface="Arial"/>
              </a:rPr>
              <a:t> : Part de la dépense restant à la charge de l’assuré.</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Délais de carence</a:t>
            </a:r>
            <a:r>
              <a:rPr b="0" i="0" lang="en-US" sz="1100" u="none" cap="none" strike="noStrike">
                <a:solidFill>
                  <a:srgbClr val="FFFFFF"/>
                </a:solidFill>
                <a:latin typeface="Arial"/>
                <a:ea typeface="Arial"/>
                <a:cs typeface="Arial"/>
                <a:sym typeface="Arial"/>
              </a:rPr>
              <a:t> : Période avant que certaines garanties deviennent actives.</a:t>
            </a:r>
            <a:endParaRPr b="0" i="0" sz="1100" u="none" cap="none" strike="noStrike">
              <a:solidFill>
                <a:srgbClr val="FFFFFF"/>
              </a:solidFill>
              <a:latin typeface="Arial"/>
              <a:ea typeface="Arial"/>
              <a:cs typeface="Arial"/>
              <a:sym typeface="Arial"/>
            </a:endParaRPr>
          </a:p>
        </p:txBody>
      </p:sp>
      <p:sp>
        <p:nvSpPr>
          <p:cNvPr id="204" name="Google Shape;204;p7"/>
          <p:cNvSpPr txBox="1"/>
          <p:nvPr/>
        </p:nvSpPr>
        <p:spPr>
          <a:xfrm>
            <a:off x="251100" y="3176700"/>
            <a:ext cx="3927000" cy="15222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Maladies préexistantes non déclarées.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Soins esthétiques ou non médicaux.</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Activités à risque (sports extrêmes, courses, etc.).</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Traitements expérimentaux ou non conventionnés.</a:t>
            </a:r>
            <a:endParaRPr b="0" i="0" sz="1100" u="none" cap="none" strike="noStrike">
              <a:solidFill>
                <a:srgbClr val="FFFFFF"/>
              </a:solidFill>
              <a:latin typeface="Arial"/>
              <a:ea typeface="Arial"/>
              <a:cs typeface="Arial"/>
              <a:sym typeface="Arial"/>
            </a:endParaRPr>
          </a:p>
        </p:txBody>
      </p:sp>
      <p:sp>
        <p:nvSpPr>
          <p:cNvPr id="205" name="Google Shape;205;p7"/>
          <p:cNvSpPr txBox="1"/>
          <p:nvPr/>
        </p:nvSpPr>
        <p:spPr>
          <a:xfrm>
            <a:off x="5108800" y="2041200"/>
            <a:ext cx="3563100" cy="1327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Tableau de garanties détaillé.</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Conditions générales et particulières.</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Formulaires de remboursement et contact service client.</a:t>
            </a:r>
            <a:endParaRPr b="0" i="0" sz="1100" u="none" cap="none" strike="noStrike">
              <a:solidFill>
                <a:srgbClr val="FFFFFF"/>
              </a:solidFill>
              <a:latin typeface="Arial"/>
              <a:ea typeface="Arial"/>
              <a:cs typeface="Arial"/>
              <a:sym typeface="Arial"/>
            </a:endParaRPr>
          </a:p>
        </p:txBody>
      </p:sp>
      <p:cxnSp>
        <p:nvCxnSpPr>
          <p:cNvPr id="206" name="Google Shape;206;p7"/>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207" name="Google Shape;207;p7"/>
          <p:cNvSpPr txBox="1"/>
          <p:nvPr/>
        </p:nvSpPr>
        <p:spPr>
          <a:xfrm>
            <a:off x="0" y="0"/>
            <a:ext cx="4669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Comprendre la structure d’un contrat santé</a:t>
            </a:r>
            <a:endParaRPr b="0" i="0" sz="1500" u="none" cap="none" strike="noStrike">
              <a:solidFill>
                <a:schemeClr val="dk1"/>
              </a:solidFill>
              <a:latin typeface="Arial"/>
              <a:ea typeface="Arial"/>
              <a:cs typeface="Arial"/>
              <a:sym typeface="Arial"/>
            </a:endParaRPr>
          </a:p>
        </p:txBody>
      </p:sp>
      <p:sp>
        <p:nvSpPr>
          <p:cNvPr id="208" name="Google Shape;208;p7"/>
          <p:cNvSpPr txBox="1"/>
          <p:nvPr/>
        </p:nvSpPr>
        <p:spPr>
          <a:xfrm>
            <a:off x="81975" y="635250"/>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Plafonds et limitations</a:t>
            </a:r>
            <a:endParaRPr b="0" i="0" sz="1400" u="none" cap="none" strike="noStrike">
              <a:solidFill>
                <a:srgbClr val="000000"/>
              </a:solidFill>
              <a:latin typeface="Arial"/>
              <a:ea typeface="Arial"/>
              <a:cs typeface="Arial"/>
              <a:sym typeface="Arial"/>
            </a:endParaRPr>
          </a:p>
        </p:txBody>
      </p:sp>
      <p:sp>
        <p:nvSpPr>
          <p:cNvPr id="209" name="Google Shape;209;p7"/>
          <p:cNvSpPr txBox="1"/>
          <p:nvPr/>
        </p:nvSpPr>
        <p:spPr>
          <a:xfrm>
            <a:off x="81968" y="2846200"/>
            <a:ext cx="22107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Exclusions</a:t>
            </a:r>
            <a:endParaRPr b="0" i="0" sz="1400" u="none" cap="none" strike="noStrike">
              <a:solidFill>
                <a:srgbClr val="000000"/>
              </a:solidFill>
              <a:latin typeface="Arial"/>
              <a:ea typeface="Arial"/>
              <a:cs typeface="Arial"/>
              <a:sym typeface="Arial"/>
            </a:endParaRPr>
          </a:p>
        </p:txBody>
      </p:sp>
      <p:sp>
        <p:nvSpPr>
          <p:cNvPr id="210" name="Google Shape;210;p7"/>
          <p:cNvSpPr txBox="1"/>
          <p:nvPr/>
        </p:nvSpPr>
        <p:spPr>
          <a:xfrm>
            <a:off x="5108800" y="1561625"/>
            <a:ext cx="35631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Annexes / documents complémentaires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8"/>
          <p:cNvSpPr/>
          <p:nvPr/>
        </p:nvSpPr>
        <p:spPr>
          <a:xfrm>
            <a:off x="458675" y="973975"/>
            <a:ext cx="6117000" cy="10452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8"/>
          <p:cNvGrpSpPr/>
          <p:nvPr/>
        </p:nvGrpSpPr>
        <p:grpSpPr>
          <a:xfrm>
            <a:off x="0" y="1946520"/>
            <a:ext cx="9143639" cy="3196441"/>
            <a:chOff x="0" y="1946520"/>
            <a:chExt cx="9143639" cy="3196441"/>
          </a:xfrm>
        </p:grpSpPr>
        <p:pic>
          <p:nvPicPr>
            <p:cNvPr id="217" name="Google Shape;217;p8"/>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218" name="Google Shape;218;p8"/>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219" name="Google Shape;219;p8"/>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20" name="Google Shape;220;p8"/>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8"/>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6240600" y="1695600"/>
            <a:ext cx="29994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txBox="1"/>
          <p:nvPr/>
        </p:nvSpPr>
        <p:spPr>
          <a:xfrm>
            <a:off x="403425" y="931800"/>
            <a:ext cx="6028800" cy="1132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Analyser les besoins d’un client senior vs jeune actif</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Choisir la formule adaptée pour un client avec enfants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Gérer un refus de remboursement ou une demande de clarification sur une exclusion</a:t>
            </a:r>
            <a:endParaRPr b="0" i="0" sz="1100" u="none" cap="none" strike="noStrike">
              <a:solidFill>
                <a:schemeClr val="dk1"/>
              </a:solidFill>
              <a:latin typeface="Arial"/>
              <a:ea typeface="Arial"/>
              <a:cs typeface="Arial"/>
              <a:sym typeface="Arial"/>
            </a:endParaRPr>
          </a:p>
        </p:txBody>
      </p:sp>
      <p:graphicFrame>
        <p:nvGraphicFramePr>
          <p:cNvPr id="225" name="Google Shape;225;p8"/>
          <p:cNvGraphicFramePr/>
          <p:nvPr/>
        </p:nvGraphicFramePr>
        <p:xfrm>
          <a:off x="555125" y="2232200"/>
          <a:ext cx="3000000" cy="3000000"/>
        </p:xfrm>
        <a:graphic>
          <a:graphicData uri="http://schemas.openxmlformats.org/drawingml/2006/table">
            <a:tbl>
              <a:tblPr>
                <a:noFill/>
                <a:tableStyleId>{A1DDD91F-6C43-4372-85AA-FFEEB0438FC4}</a:tableStyleId>
              </a:tblPr>
              <a:tblGrid>
                <a:gridCol w="2136050"/>
                <a:gridCol w="5897700"/>
              </a:tblGrid>
              <a:tr h="276375">
                <a:tc>
                  <a:txBody>
                    <a:bodyPr/>
                    <a:lstStyle/>
                    <a:p>
                      <a:pPr indent="0" lvl="0" marL="0" marR="0" rtl="0" algn="ctr">
                        <a:lnSpc>
                          <a:spcPct val="115000"/>
                        </a:lnSpc>
                        <a:spcBef>
                          <a:spcPts val="0"/>
                        </a:spcBef>
                        <a:spcAft>
                          <a:spcPts val="0"/>
                        </a:spcAft>
                        <a:buClr>
                          <a:srgbClr val="000000"/>
                        </a:buClr>
                        <a:buSzPts val="1100"/>
                        <a:buFont typeface="Arial"/>
                        <a:buNone/>
                      </a:pPr>
                      <a:r>
                        <a:rPr b="1" lang="en-US" sz="1300" u="none" cap="none" strike="noStrike">
                          <a:solidFill>
                            <a:srgbClr val="1C4587"/>
                          </a:solidFill>
                        </a:rPr>
                        <a:t>Élément</a:t>
                      </a:r>
                      <a:endParaRPr b="1" sz="1300" u="none" cap="none" strike="noStrike">
                        <a:solidFill>
                          <a:srgbClr val="1C4587"/>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300" u="none" cap="none" strike="noStrike">
                          <a:solidFill>
                            <a:srgbClr val="1C4587"/>
                          </a:solidFill>
                        </a:rPr>
                        <a:t>Points clés</a:t>
                      </a:r>
                      <a:endParaRPr b="1" sz="1300" u="none" cap="none" strike="noStrike">
                        <a:solidFill>
                          <a:srgbClr val="1C4587"/>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Structure du contrat</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Informations générales, niveaux de garantie, modules, exclusions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5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Niveaux de garantie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Essentielle, Confort, Premium</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0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Modules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Hospitalisation, Médecine courante, Dentaire, Optique, Prévention, Services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0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Exclusions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Maladies préexistantes, soins esthétiques, activités à risque, plafonds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04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Obligations légales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Contrat responsable, ANI, formalités de remboursement</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cxnSp>
        <p:nvCxnSpPr>
          <p:cNvPr id="226" name="Google Shape;226;p8"/>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227" name="Google Shape;227;p8"/>
          <p:cNvSpPr txBox="1"/>
          <p:nvPr/>
        </p:nvSpPr>
        <p:spPr>
          <a:xfrm>
            <a:off x="403425" y="589075"/>
            <a:ext cx="30000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300" u="none" cap="none" strike="noStrike">
                <a:solidFill>
                  <a:schemeClr val="dk1"/>
                </a:solidFill>
                <a:latin typeface="Arial"/>
                <a:ea typeface="Arial"/>
                <a:cs typeface="Arial"/>
                <a:sym typeface="Arial"/>
              </a:rPr>
              <a:t>Cas pratiques / mises en situation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9"/>
          <p:cNvGrpSpPr/>
          <p:nvPr/>
        </p:nvGrpSpPr>
        <p:grpSpPr>
          <a:xfrm>
            <a:off x="0" y="0"/>
            <a:ext cx="9143641" cy="5143321"/>
            <a:chOff x="0" y="0"/>
            <a:chExt cx="9143641" cy="5143321"/>
          </a:xfrm>
        </p:grpSpPr>
        <p:pic>
          <p:nvPicPr>
            <p:cNvPr id="233" name="Google Shape;233;p9"/>
            <p:cNvPicPr preferRelativeResize="0"/>
            <p:nvPr/>
          </p:nvPicPr>
          <p:blipFill rotWithShape="1">
            <a:blip r:embed="rId3">
              <a:alphaModFix/>
            </a:blip>
            <a:srcRect b="0" l="0" r="0" t="0"/>
            <a:stretch/>
          </p:blipFill>
          <p:spPr>
            <a:xfrm>
              <a:off x="0" y="0"/>
              <a:ext cx="9143639" cy="5142961"/>
            </a:xfrm>
            <a:prstGeom prst="rect">
              <a:avLst/>
            </a:prstGeom>
            <a:noFill/>
            <a:ln>
              <a:noFill/>
            </a:ln>
          </p:spPr>
        </p:pic>
        <p:pic>
          <p:nvPicPr>
            <p:cNvPr id="234" name="Google Shape;234;p9"/>
            <p:cNvPicPr preferRelativeResize="0"/>
            <p:nvPr/>
          </p:nvPicPr>
          <p:blipFill rotWithShape="1">
            <a:blip r:embed="rId4">
              <a:alphaModFix/>
            </a:blip>
            <a:srcRect b="0" l="0" r="0" t="0"/>
            <a:stretch/>
          </p:blipFill>
          <p:spPr>
            <a:xfrm>
              <a:off x="151920" y="4524840"/>
              <a:ext cx="721440" cy="451440"/>
            </a:xfrm>
            <a:prstGeom prst="rect">
              <a:avLst/>
            </a:prstGeom>
            <a:noFill/>
            <a:ln>
              <a:noFill/>
            </a:ln>
          </p:spPr>
        </p:pic>
        <p:pic>
          <p:nvPicPr>
            <p:cNvPr id="235" name="Google Shape;235;p9"/>
            <p:cNvPicPr preferRelativeResize="0"/>
            <p:nvPr/>
          </p:nvPicPr>
          <p:blipFill rotWithShape="1">
            <a:blip r:embed="rId5">
              <a:alphaModFix/>
            </a:blip>
            <a:srcRect b="0" l="0" r="0" t="0"/>
            <a:stretch/>
          </p:blipFill>
          <p:spPr>
            <a:xfrm>
              <a:off x="1928880" y="0"/>
              <a:ext cx="7214761" cy="5143321"/>
            </a:xfrm>
            <a:prstGeom prst="rect">
              <a:avLst/>
            </a:prstGeom>
            <a:noFill/>
            <a:ln>
              <a:noFill/>
            </a:ln>
          </p:spPr>
        </p:pic>
        <p:pic>
          <p:nvPicPr>
            <p:cNvPr id="236" name="Google Shape;236;p9"/>
            <p:cNvPicPr preferRelativeResize="0"/>
            <p:nvPr/>
          </p:nvPicPr>
          <p:blipFill rotWithShape="1">
            <a:blip r:embed="rId6">
              <a:alphaModFix/>
            </a:blip>
            <a:srcRect b="0" l="0" r="0" t="0"/>
            <a:stretch/>
          </p:blipFill>
          <p:spPr>
            <a:xfrm>
              <a:off x="8596800" y="142920"/>
              <a:ext cx="357481" cy="301681"/>
            </a:xfrm>
            <a:prstGeom prst="rect">
              <a:avLst/>
            </a:prstGeom>
            <a:noFill/>
            <a:ln>
              <a:noFill/>
            </a:ln>
          </p:spPr>
        </p:pic>
      </p:grpSp>
      <p:sp>
        <p:nvSpPr>
          <p:cNvPr id="237" name="Google Shape;237;p9"/>
          <p:cNvSpPr txBox="1"/>
          <p:nvPr/>
        </p:nvSpPr>
        <p:spPr>
          <a:xfrm>
            <a:off x="1208775" y="2158550"/>
            <a:ext cx="30000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postes de soins</a:t>
            </a:r>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pSp>
        <p:nvGrpSpPr>
          <p:cNvPr id="242" name="Google Shape;242;p10"/>
          <p:cNvGrpSpPr/>
          <p:nvPr/>
        </p:nvGrpSpPr>
        <p:grpSpPr>
          <a:xfrm>
            <a:off x="0" y="1946520"/>
            <a:ext cx="9143639" cy="3196441"/>
            <a:chOff x="0" y="1946520"/>
            <a:chExt cx="9143639" cy="3196441"/>
          </a:xfrm>
        </p:grpSpPr>
        <p:pic>
          <p:nvPicPr>
            <p:cNvPr id="243" name="Google Shape;243;p10"/>
            <p:cNvPicPr preferRelativeResize="0"/>
            <p:nvPr/>
          </p:nvPicPr>
          <p:blipFill rotWithShape="1">
            <a:blip r:embed="rId3">
              <a:alphaModFix/>
            </a:blip>
            <a:srcRect b="0" l="0" r="0" t="0"/>
            <a:stretch/>
          </p:blipFill>
          <p:spPr>
            <a:xfrm>
              <a:off x="154080" y="4651920"/>
              <a:ext cx="345959" cy="330841"/>
            </a:xfrm>
            <a:prstGeom prst="rect">
              <a:avLst/>
            </a:prstGeom>
            <a:noFill/>
            <a:ln>
              <a:noFill/>
            </a:ln>
          </p:spPr>
        </p:pic>
        <p:pic>
          <p:nvPicPr>
            <p:cNvPr id="244" name="Google Shape;244;p10"/>
            <p:cNvPicPr preferRelativeResize="0"/>
            <p:nvPr/>
          </p:nvPicPr>
          <p:blipFill rotWithShape="1">
            <a:blip r:embed="rId4">
              <a:alphaModFix/>
            </a:blip>
            <a:srcRect b="0" l="0" r="0" t="0"/>
            <a:stretch/>
          </p:blipFill>
          <p:spPr>
            <a:xfrm>
              <a:off x="8323200" y="4545360"/>
              <a:ext cx="746999" cy="532800"/>
            </a:xfrm>
            <a:prstGeom prst="rect">
              <a:avLst/>
            </a:prstGeom>
            <a:noFill/>
            <a:ln>
              <a:noFill/>
            </a:ln>
          </p:spPr>
        </p:pic>
        <p:pic>
          <p:nvPicPr>
            <p:cNvPr id="245" name="Google Shape;245;p10"/>
            <p:cNvPicPr preferRelativeResize="0"/>
            <p:nvPr/>
          </p:nvPicPr>
          <p:blipFill rotWithShape="1">
            <a:blip r:embed="rId5">
              <a:alphaModFix/>
            </a:blip>
            <a:srcRect b="0" l="0" r="0" t="0"/>
            <a:stretch/>
          </p:blipFill>
          <p:spPr>
            <a:xfrm>
              <a:off x="0" y="1946520"/>
              <a:ext cx="9143639" cy="3196441"/>
            </a:xfrm>
            <a:prstGeom prst="rect">
              <a:avLst/>
            </a:prstGeom>
            <a:noFill/>
            <a:ln>
              <a:noFill/>
            </a:ln>
          </p:spPr>
        </p:pic>
      </p:grpSp>
      <p:sp>
        <p:nvSpPr>
          <p:cNvPr id="246" name="Google Shape;246;p10"/>
          <p:cNvSpPr txBox="1"/>
          <p:nvPr/>
        </p:nvSpPr>
        <p:spPr>
          <a:xfrm>
            <a:off x="89875" y="1613425"/>
            <a:ext cx="4805400" cy="17169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Frais de séjour</a:t>
            </a:r>
            <a:r>
              <a:rPr b="0" i="0" lang="en-US" sz="1100" u="none" cap="none" strike="noStrike">
                <a:solidFill>
                  <a:schemeClr val="dk1"/>
                </a:solidFill>
                <a:latin typeface="Arial"/>
                <a:ea typeface="Arial"/>
                <a:cs typeface="Arial"/>
                <a:sym typeface="Arial"/>
              </a:rPr>
              <a:t> : 80 % du tarif de convention (BRSS)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Ticket modérateur</a:t>
            </a:r>
            <a:r>
              <a:rPr b="0" i="0" lang="en-US" sz="1100" u="none" cap="none" strike="noStrike">
                <a:solidFill>
                  <a:schemeClr val="dk1"/>
                </a:solidFill>
                <a:latin typeface="Arial"/>
                <a:ea typeface="Arial"/>
                <a:cs typeface="Arial"/>
                <a:sym typeface="Arial"/>
              </a:rPr>
              <a:t> : 20 % restant à la charge du patient</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Consultations pré et post-opératoires</a:t>
            </a:r>
            <a:r>
              <a:rPr b="0" i="0" lang="en-US" sz="1100" u="none" cap="none" strike="noStrike">
                <a:solidFill>
                  <a:schemeClr val="dk1"/>
                </a:solidFill>
                <a:latin typeface="Arial"/>
                <a:ea typeface="Arial"/>
                <a:cs typeface="Arial"/>
                <a:sym typeface="Arial"/>
              </a:rPr>
              <a:t> : 70 % (anesthésiste) et 60 % (rééducation)</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Forfait hospitalier</a:t>
            </a:r>
            <a:r>
              <a:rPr b="0" i="0" lang="en-US" sz="1100" u="none" cap="none" strike="noStrike">
                <a:solidFill>
                  <a:schemeClr val="dk1"/>
                </a:solidFill>
                <a:latin typeface="Arial"/>
                <a:ea typeface="Arial"/>
                <a:cs typeface="Arial"/>
                <a:sym typeface="Arial"/>
              </a:rPr>
              <a:t> : 20 €/jour (15 € en psychiatrie)</a:t>
            </a:r>
            <a:endParaRPr b="0" i="0" sz="1100" u="none" cap="none" strike="noStrike">
              <a:solidFill>
                <a:schemeClr val="dk1"/>
              </a:solidFill>
              <a:latin typeface="Arial"/>
              <a:ea typeface="Arial"/>
              <a:cs typeface="Arial"/>
              <a:sym typeface="Arial"/>
            </a:endParaRPr>
          </a:p>
        </p:txBody>
      </p:sp>
      <p:sp>
        <p:nvSpPr>
          <p:cNvPr id="247" name="Google Shape;247;p10"/>
          <p:cNvSpPr txBox="1"/>
          <p:nvPr/>
        </p:nvSpPr>
        <p:spPr>
          <a:xfrm>
            <a:off x="0" y="0"/>
            <a:ext cx="19110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Hospitalisation</a:t>
            </a:r>
            <a:endParaRPr b="0" i="0" sz="1800" u="none" cap="none" strike="noStrike">
              <a:solidFill>
                <a:srgbClr val="000000"/>
              </a:solidFill>
              <a:latin typeface="Arial"/>
              <a:ea typeface="Arial"/>
              <a:cs typeface="Arial"/>
              <a:sym typeface="Arial"/>
            </a:endParaRPr>
          </a:p>
        </p:txBody>
      </p:sp>
      <p:sp>
        <p:nvSpPr>
          <p:cNvPr id="248" name="Google Shape;248;p10"/>
          <p:cNvSpPr txBox="1"/>
          <p:nvPr/>
        </p:nvSpPr>
        <p:spPr>
          <a:xfrm>
            <a:off x="0" y="555925"/>
            <a:ext cx="3973200" cy="384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300"/>
              <a:buFont typeface="Arial"/>
              <a:buNone/>
            </a:pPr>
            <a:r>
              <a:rPr b="1" i="0" lang="en-US" sz="1300" u="none" cap="none" strike="noStrike">
                <a:solidFill>
                  <a:schemeClr val="dk1"/>
                </a:solidFill>
                <a:latin typeface="Arial"/>
                <a:ea typeface="Arial"/>
                <a:cs typeface="Arial"/>
                <a:sym typeface="Arial"/>
              </a:rPr>
              <a:t>Remboursement par l’Assurance Maladie (AMO)</a:t>
            </a:r>
            <a:endParaRPr b="0" i="0" sz="1400" u="none" cap="none" strike="noStrike">
              <a:solidFill>
                <a:srgbClr val="000000"/>
              </a:solidFill>
              <a:latin typeface="Arial"/>
              <a:ea typeface="Arial"/>
              <a:cs typeface="Arial"/>
              <a:sym typeface="Arial"/>
            </a:endParaRPr>
          </a:p>
        </p:txBody>
      </p:sp>
      <p:cxnSp>
        <p:nvCxnSpPr>
          <p:cNvPr id="249" name="Google Shape;249;p10"/>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250" name="Google Shape;250;p10"/>
          <p:cNvSpPr txBox="1"/>
          <p:nvPr/>
        </p:nvSpPr>
        <p:spPr>
          <a:xfrm>
            <a:off x="5707050" y="1547125"/>
            <a:ext cx="3000000" cy="2106300"/>
          </a:xfrm>
          <a:prstGeom prst="rect">
            <a:avLst/>
          </a:prstGeom>
          <a:solidFill>
            <a:srgbClr val="D0E0E3"/>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Affections de longue durée (ALD)</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Accident du travail ou maladie professionnelle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Maternité (4 derniers mois de grossesse)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Certaines situations spécifiques (ex. : ALD, maternité, accident du travail)</a:t>
            </a:r>
            <a:endParaRPr b="0" i="0" sz="1100" u="none" cap="none" strike="noStrike">
              <a:solidFill>
                <a:schemeClr val="dk1"/>
              </a:solidFill>
              <a:latin typeface="Arial"/>
              <a:ea typeface="Arial"/>
              <a:cs typeface="Arial"/>
              <a:sym typeface="Arial"/>
            </a:endParaRPr>
          </a:p>
        </p:txBody>
      </p:sp>
      <p:sp>
        <p:nvSpPr>
          <p:cNvPr id="251" name="Google Shape;251;p10"/>
          <p:cNvSpPr txBox="1"/>
          <p:nvPr/>
        </p:nvSpPr>
        <p:spPr>
          <a:xfrm>
            <a:off x="5707050" y="8701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Exemples de prise en charge à 100 %</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11"/>
          <p:cNvGrpSpPr/>
          <p:nvPr/>
        </p:nvGrpSpPr>
        <p:grpSpPr>
          <a:xfrm>
            <a:off x="0" y="1946520"/>
            <a:ext cx="9143639" cy="3196441"/>
            <a:chOff x="0" y="1946520"/>
            <a:chExt cx="9143639" cy="3196441"/>
          </a:xfrm>
        </p:grpSpPr>
        <p:pic>
          <p:nvPicPr>
            <p:cNvPr id="257" name="Google Shape;257;p11"/>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258" name="Google Shape;258;p11"/>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259" name="Google Shape;259;p11"/>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60" name="Google Shape;260;p11"/>
          <p:cNvSpPr txBox="1"/>
          <p:nvPr/>
        </p:nvSpPr>
        <p:spPr>
          <a:xfrm>
            <a:off x="63700" y="557325"/>
            <a:ext cx="2249400" cy="384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Rôle de la mutuelle santé</a:t>
            </a:r>
            <a:endParaRPr b="1" i="0" sz="1300" u="none" cap="none" strike="noStrike">
              <a:solidFill>
                <a:srgbClr val="000000"/>
              </a:solidFill>
              <a:latin typeface="Arial"/>
              <a:ea typeface="Arial"/>
              <a:cs typeface="Arial"/>
              <a:sym typeface="Arial"/>
            </a:endParaRPr>
          </a:p>
        </p:txBody>
      </p:sp>
      <p:sp>
        <p:nvSpPr>
          <p:cNvPr id="261" name="Google Shape;261;p11"/>
          <p:cNvSpPr txBox="1"/>
          <p:nvPr/>
        </p:nvSpPr>
        <p:spPr>
          <a:xfrm>
            <a:off x="0" y="0"/>
            <a:ext cx="19110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Hospitalisation</a:t>
            </a:r>
            <a:endParaRPr b="0" i="0" sz="1800" u="none" cap="none" strike="noStrike">
              <a:solidFill>
                <a:srgbClr val="000000"/>
              </a:solidFill>
              <a:latin typeface="Arial"/>
              <a:ea typeface="Arial"/>
              <a:cs typeface="Arial"/>
              <a:sym typeface="Arial"/>
            </a:endParaRPr>
          </a:p>
        </p:txBody>
      </p:sp>
      <p:sp>
        <p:nvSpPr>
          <p:cNvPr id="262" name="Google Shape;262;p11"/>
          <p:cNvSpPr txBox="1"/>
          <p:nvPr/>
        </p:nvSpPr>
        <p:spPr>
          <a:xfrm>
            <a:off x="235550" y="1780525"/>
            <a:ext cx="4936200" cy="206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Complément de remboursement</a:t>
            </a:r>
            <a:r>
              <a:rPr b="0" i="0" lang="en-US"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Prise en charge du ticket modérateur (20 %)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Remboursement du forfait hospitalier (20 €/jour)</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Couverture des frais de confort (chambre particulière, télévision, téléphone)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Prise en charge des dépassements d’honoraires</a:t>
            </a:r>
            <a:endParaRPr b="0" i="0" sz="1100" u="none" cap="none" strike="noStrike">
              <a:solidFill>
                <a:schemeClr val="dk1"/>
              </a:solidFill>
              <a:latin typeface="Arial"/>
              <a:ea typeface="Arial"/>
              <a:cs typeface="Arial"/>
              <a:sym typeface="Arial"/>
            </a:endParaRPr>
          </a:p>
        </p:txBody>
      </p:sp>
      <p:sp>
        <p:nvSpPr>
          <p:cNvPr id="263" name="Google Shape;263;p11"/>
          <p:cNvSpPr txBox="1"/>
          <p:nvPr/>
        </p:nvSpPr>
        <p:spPr>
          <a:xfrm>
            <a:off x="5715250" y="1710875"/>
            <a:ext cx="2766000" cy="23010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Contrat de base : remboursement du ticket modérateur et forfait hospitalier</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Contrat intermédiaire : ajout de la chambre particulière et dépassements d’honoraires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Contrat haut de gamme : couverture complète, y compris services de confort</a:t>
            </a:r>
            <a:endParaRPr b="0" i="0" sz="1100" u="none" cap="none" strike="noStrike">
              <a:solidFill>
                <a:schemeClr val="dk1"/>
              </a:solidFill>
              <a:latin typeface="Arial"/>
              <a:ea typeface="Arial"/>
              <a:cs typeface="Arial"/>
              <a:sym typeface="Arial"/>
            </a:endParaRPr>
          </a:p>
        </p:txBody>
      </p:sp>
      <p:cxnSp>
        <p:nvCxnSpPr>
          <p:cNvPr id="264" name="Google Shape;264;p11"/>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265" name="Google Shape;265;p11"/>
          <p:cNvSpPr txBox="1"/>
          <p:nvPr/>
        </p:nvSpPr>
        <p:spPr>
          <a:xfrm>
            <a:off x="6209100" y="1137300"/>
            <a:ext cx="1585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Types de contrats</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grpSp>
        <p:nvGrpSpPr>
          <p:cNvPr id="270" name="Google Shape;270;p12"/>
          <p:cNvGrpSpPr/>
          <p:nvPr/>
        </p:nvGrpSpPr>
        <p:grpSpPr>
          <a:xfrm>
            <a:off x="0" y="1946520"/>
            <a:ext cx="9143639" cy="3196441"/>
            <a:chOff x="0" y="1946520"/>
            <a:chExt cx="9143639" cy="3196441"/>
          </a:xfrm>
        </p:grpSpPr>
        <p:pic>
          <p:nvPicPr>
            <p:cNvPr id="271" name="Google Shape;271;p12"/>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272" name="Google Shape;272;p12"/>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273" name="Google Shape;273;p12"/>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74" name="Google Shape;274;p12"/>
          <p:cNvSpPr txBox="1"/>
          <p:nvPr/>
        </p:nvSpPr>
        <p:spPr>
          <a:xfrm>
            <a:off x="0" y="541425"/>
            <a:ext cx="3020100" cy="384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Cas spécifiques de prise en charge</a:t>
            </a:r>
            <a:endParaRPr b="1" i="0" sz="1300" u="none" cap="none" strike="noStrike">
              <a:solidFill>
                <a:srgbClr val="000000"/>
              </a:solidFill>
              <a:latin typeface="Arial"/>
              <a:ea typeface="Arial"/>
              <a:cs typeface="Arial"/>
              <a:sym typeface="Arial"/>
            </a:endParaRPr>
          </a:p>
        </p:txBody>
      </p:sp>
      <p:sp>
        <p:nvSpPr>
          <p:cNvPr id="275" name="Google Shape;275;p12"/>
          <p:cNvSpPr txBox="1"/>
          <p:nvPr/>
        </p:nvSpPr>
        <p:spPr>
          <a:xfrm>
            <a:off x="0" y="0"/>
            <a:ext cx="19110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Hospitalisation</a:t>
            </a:r>
            <a:endParaRPr b="0" i="0" sz="1800" u="none" cap="none" strike="noStrike">
              <a:solidFill>
                <a:srgbClr val="000000"/>
              </a:solidFill>
              <a:latin typeface="Arial"/>
              <a:ea typeface="Arial"/>
              <a:cs typeface="Arial"/>
              <a:sym typeface="Arial"/>
            </a:endParaRPr>
          </a:p>
        </p:txBody>
      </p:sp>
      <p:sp>
        <p:nvSpPr>
          <p:cNvPr id="276" name="Google Shape;276;p12"/>
          <p:cNvSpPr txBox="1"/>
          <p:nvPr/>
        </p:nvSpPr>
        <p:spPr>
          <a:xfrm>
            <a:off x="51250" y="1344150"/>
            <a:ext cx="4003800" cy="245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Hospitalisation à 100 %</a:t>
            </a:r>
            <a:r>
              <a:rPr b="0" i="0" lang="en-US"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ALD (Affection de Longue Durée)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Accident du travail</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Maladie professionnelle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Maternité (4 derniers mois de grossesse)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Certaines situations spécifiques (ex. : ALD, maternité, accident du travail)</a:t>
            </a:r>
            <a:endParaRPr b="0" i="0" sz="1100" u="none" cap="none" strike="noStrike">
              <a:solidFill>
                <a:schemeClr val="dk1"/>
              </a:solidFill>
              <a:latin typeface="Arial"/>
              <a:ea typeface="Arial"/>
              <a:cs typeface="Arial"/>
              <a:sym typeface="Arial"/>
            </a:endParaRPr>
          </a:p>
        </p:txBody>
      </p:sp>
      <p:sp>
        <p:nvSpPr>
          <p:cNvPr id="277" name="Google Shape;277;p12"/>
          <p:cNvSpPr txBox="1"/>
          <p:nvPr/>
        </p:nvSpPr>
        <p:spPr>
          <a:xfrm>
            <a:off x="5486975" y="1946525"/>
            <a:ext cx="3234900" cy="1522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Dépassements d’honoraires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Frais de confort (chambre individuelle, télévision, téléphone)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Certains actes non remboursés (ex. : soins esthétiques)</a:t>
            </a:r>
            <a:endParaRPr b="0" i="0" sz="1100" u="none" cap="none" strike="noStrike">
              <a:solidFill>
                <a:schemeClr val="dk1"/>
              </a:solidFill>
              <a:latin typeface="Arial"/>
              <a:ea typeface="Arial"/>
              <a:cs typeface="Arial"/>
              <a:sym typeface="Arial"/>
            </a:endParaRPr>
          </a:p>
        </p:txBody>
      </p:sp>
      <p:cxnSp>
        <p:nvCxnSpPr>
          <p:cNvPr id="278" name="Google Shape;278;p12"/>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279" name="Google Shape;279;p12"/>
          <p:cNvSpPr txBox="1"/>
          <p:nvPr/>
        </p:nvSpPr>
        <p:spPr>
          <a:xfrm>
            <a:off x="5338175" y="1312725"/>
            <a:ext cx="35325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Exemples de frais non pris en charge par l’AMO</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grpSp>
        <p:nvGrpSpPr>
          <p:cNvPr id="284" name="Google Shape;284;p13"/>
          <p:cNvGrpSpPr/>
          <p:nvPr/>
        </p:nvGrpSpPr>
        <p:grpSpPr>
          <a:xfrm>
            <a:off x="0" y="1946520"/>
            <a:ext cx="9143639" cy="3196441"/>
            <a:chOff x="0" y="1946520"/>
            <a:chExt cx="9143639" cy="3196441"/>
          </a:xfrm>
        </p:grpSpPr>
        <p:pic>
          <p:nvPicPr>
            <p:cNvPr id="285" name="Google Shape;285;p13"/>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286" name="Google Shape;286;p13"/>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287" name="Google Shape;287;p13"/>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88" name="Google Shape;288;p13"/>
          <p:cNvSpPr/>
          <p:nvPr/>
        </p:nvSpPr>
        <p:spPr>
          <a:xfrm>
            <a:off x="581625" y="1803900"/>
            <a:ext cx="8175300" cy="2625900"/>
          </a:xfrm>
          <a:prstGeom prst="roundRect">
            <a:avLst>
              <a:gd fmla="val 16667" name="adj"/>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3"/>
          <p:cNvSpPr txBox="1"/>
          <p:nvPr/>
        </p:nvSpPr>
        <p:spPr>
          <a:xfrm>
            <a:off x="643075" y="1915799"/>
            <a:ext cx="824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Éviter le reste à charge</a:t>
            </a:r>
            <a:r>
              <a:rPr b="0" i="0" lang="en-US" sz="1100" u="none" cap="none" strike="noStrike">
                <a:solidFill>
                  <a:srgbClr val="FFFFFF"/>
                </a:solidFill>
                <a:latin typeface="Arial"/>
                <a:ea typeface="Arial"/>
                <a:cs typeface="Arial"/>
                <a:sym typeface="Arial"/>
              </a:rPr>
              <a:t> : Sans mutuelle, le patient doit assumer le ticket modérateur, le forfait hospitalier et les frais de confort.</a:t>
            </a:r>
            <a:endParaRPr b="0" i="0" sz="1100" u="none" cap="none" strike="noStrike">
              <a:solidFill>
                <a:srgbClr val="FFFFFF"/>
              </a:solidFill>
              <a:latin typeface="Arial"/>
              <a:ea typeface="Arial"/>
              <a:cs typeface="Arial"/>
              <a:sym typeface="Arial"/>
            </a:endParaRPr>
          </a:p>
        </p:txBody>
      </p:sp>
      <p:sp>
        <p:nvSpPr>
          <p:cNvPr id="290" name="Google Shape;290;p13"/>
          <p:cNvSpPr txBox="1"/>
          <p:nvPr/>
        </p:nvSpPr>
        <p:spPr>
          <a:xfrm>
            <a:off x="645486" y="2407813"/>
            <a:ext cx="791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Optimiser la couverture</a:t>
            </a:r>
            <a:r>
              <a:rPr b="0" i="0" lang="en-US" sz="1100" u="none" cap="none" strike="noStrike">
                <a:solidFill>
                  <a:srgbClr val="FFFFFF"/>
                </a:solidFill>
                <a:latin typeface="Arial"/>
                <a:ea typeface="Arial"/>
                <a:cs typeface="Arial"/>
                <a:sym typeface="Arial"/>
              </a:rPr>
              <a:t> : Une mutuelle adaptée permet de réduire significativement les coûts à la charge du patient.</a:t>
            </a:r>
            <a:endParaRPr b="0" i="0" sz="1400" u="none" cap="none" strike="noStrike">
              <a:solidFill>
                <a:srgbClr val="FFFFFF"/>
              </a:solidFill>
              <a:latin typeface="Arial"/>
              <a:ea typeface="Arial"/>
              <a:cs typeface="Arial"/>
              <a:sym typeface="Arial"/>
            </a:endParaRPr>
          </a:p>
        </p:txBody>
      </p:sp>
      <p:sp>
        <p:nvSpPr>
          <p:cNvPr id="291" name="Google Shape;291;p13"/>
          <p:cNvSpPr txBox="1"/>
          <p:nvPr/>
        </p:nvSpPr>
        <p:spPr>
          <a:xfrm>
            <a:off x="645486" y="2887897"/>
            <a:ext cx="83976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Choisir la bonne mutuelle</a:t>
            </a:r>
            <a:r>
              <a:rPr b="0" i="0" lang="en-US" sz="1100" u="none" cap="none" strike="noStrike">
                <a:solidFill>
                  <a:srgbClr val="FFFFFF"/>
                </a:solidFill>
                <a:latin typeface="Arial"/>
                <a:ea typeface="Arial"/>
                <a:cs typeface="Arial"/>
                <a:sym typeface="Arial"/>
              </a:rPr>
              <a:t> : Comparer les offres pour trouver celle qui correspond le mieux aux besoins spécifiques du patient</a:t>
            </a:r>
            <a:endParaRPr b="0" i="0" sz="1400" u="none" cap="none" strike="noStrike">
              <a:solidFill>
                <a:srgbClr val="FFFFFF"/>
              </a:solidFill>
              <a:latin typeface="Arial"/>
              <a:ea typeface="Arial"/>
              <a:cs typeface="Arial"/>
              <a:sym typeface="Arial"/>
            </a:endParaRPr>
          </a:p>
        </p:txBody>
      </p:sp>
      <p:sp>
        <p:nvSpPr>
          <p:cNvPr id="292" name="Google Shape;292;p13"/>
          <p:cNvSpPr txBox="1"/>
          <p:nvPr/>
        </p:nvSpPr>
        <p:spPr>
          <a:xfrm>
            <a:off x="643096" y="3262391"/>
            <a:ext cx="67623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Rôle essentiel de la mutuelle</a:t>
            </a:r>
            <a:r>
              <a:rPr b="0" i="0" lang="en-US" sz="1100" u="none" cap="none" strike="noStrike">
                <a:solidFill>
                  <a:srgbClr val="FFFFFF"/>
                </a:solidFill>
                <a:latin typeface="Arial"/>
                <a:ea typeface="Arial"/>
                <a:cs typeface="Arial"/>
                <a:sym typeface="Arial"/>
              </a:rPr>
              <a:t> : Compléter les remboursements de l’AMO et réduire le reste à charge.</a:t>
            </a:r>
            <a:endParaRPr b="0" i="0" sz="1400" u="none" cap="none" strike="noStrike">
              <a:solidFill>
                <a:srgbClr val="FFFFFF"/>
              </a:solidFill>
              <a:latin typeface="Arial"/>
              <a:ea typeface="Arial"/>
              <a:cs typeface="Arial"/>
              <a:sym typeface="Arial"/>
            </a:endParaRPr>
          </a:p>
        </p:txBody>
      </p:sp>
      <p:sp>
        <p:nvSpPr>
          <p:cNvPr id="293" name="Google Shape;293;p13"/>
          <p:cNvSpPr txBox="1"/>
          <p:nvPr/>
        </p:nvSpPr>
        <p:spPr>
          <a:xfrm>
            <a:off x="664812" y="3688574"/>
            <a:ext cx="80613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Vigilance sur les garanties</a:t>
            </a:r>
            <a:r>
              <a:rPr b="0" i="0" lang="en-US" sz="1100" u="none" cap="none" strike="noStrike">
                <a:solidFill>
                  <a:srgbClr val="FFFFFF"/>
                </a:solidFill>
                <a:latin typeface="Arial"/>
                <a:ea typeface="Arial"/>
                <a:cs typeface="Arial"/>
                <a:sym typeface="Arial"/>
              </a:rPr>
              <a:t> : Vérifier les prestations couvertes par le contrat de mutuelle</a:t>
            </a:r>
            <a:endParaRPr b="0" i="0" sz="1400" u="none" cap="none" strike="noStrike">
              <a:solidFill>
                <a:srgbClr val="FFFFFF"/>
              </a:solidFill>
              <a:latin typeface="Arial"/>
              <a:ea typeface="Arial"/>
              <a:cs typeface="Arial"/>
              <a:sym typeface="Arial"/>
            </a:endParaRPr>
          </a:p>
        </p:txBody>
      </p:sp>
      <p:sp>
        <p:nvSpPr>
          <p:cNvPr id="294" name="Google Shape;294;p13"/>
          <p:cNvSpPr txBox="1"/>
          <p:nvPr/>
        </p:nvSpPr>
        <p:spPr>
          <a:xfrm>
            <a:off x="701333" y="4065728"/>
            <a:ext cx="824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Importance de la prévention</a:t>
            </a:r>
            <a:r>
              <a:rPr b="0" i="0" lang="en-US" sz="1100" u="none" cap="none" strike="noStrike">
                <a:solidFill>
                  <a:srgbClr val="FFFFFF"/>
                </a:solidFill>
                <a:latin typeface="Arial"/>
                <a:ea typeface="Arial"/>
                <a:cs typeface="Arial"/>
                <a:sym typeface="Arial"/>
              </a:rPr>
              <a:t> : Choisir une mutuelle adaptée aux besoins spécifiques pour une couverture optimale.</a:t>
            </a:r>
            <a:endParaRPr b="0" i="0" sz="1400" u="none" cap="none" strike="noStrike">
              <a:solidFill>
                <a:srgbClr val="FFFFFF"/>
              </a:solidFill>
              <a:latin typeface="Arial"/>
              <a:ea typeface="Arial"/>
              <a:cs typeface="Arial"/>
              <a:sym typeface="Arial"/>
            </a:endParaRPr>
          </a:p>
        </p:txBody>
      </p:sp>
      <p:sp>
        <p:nvSpPr>
          <p:cNvPr id="295" name="Google Shape;295;p13"/>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3"/>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3"/>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3"/>
          <p:cNvSpPr/>
          <p:nvPr/>
        </p:nvSpPr>
        <p:spPr>
          <a:xfrm>
            <a:off x="6240600" y="1695600"/>
            <a:ext cx="29994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3"/>
          <p:cNvSpPr txBox="1"/>
          <p:nvPr/>
        </p:nvSpPr>
        <p:spPr>
          <a:xfrm>
            <a:off x="102471" y="894148"/>
            <a:ext cx="2846100" cy="384900"/>
          </a:xfrm>
          <a:prstGeom prst="rect">
            <a:avLst/>
          </a:prstGeom>
          <a:solidFill>
            <a:srgbClr val="A4C2F4"/>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Importance de la mutuelle santé</a:t>
            </a:r>
            <a:endParaRPr b="1" i="0" sz="1300" u="none" cap="none" strike="noStrike">
              <a:solidFill>
                <a:srgbClr val="000000"/>
              </a:solidFill>
              <a:latin typeface="Arial"/>
              <a:ea typeface="Arial"/>
              <a:cs typeface="Arial"/>
              <a:sym typeface="Arial"/>
            </a:endParaRPr>
          </a:p>
        </p:txBody>
      </p:sp>
      <p:sp>
        <p:nvSpPr>
          <p:cNvPr id="300" name="Google Shape;300;p13"/>
          <p:cNvSpPr txBox="1"/>
          <p:nvPr/>
        </p:nvSpPr>
        <p:spPr>
          <a:xfrm>
            <a:off x="0" y="0"/>
            <a:ext cx="19110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Hospitalisation</a:t>
            </a:r>
            <a:endParaRPr b="0" i="0" sz="1800" u="none" cap="none" strike="noStrike">
              <a:solidFill>
                <a:srgbClr val="000000"/>
              </a:solidFill>
              <a:latin typeface="Arial"/>
              <a:ea typeface="Arial"/>
              <a:cs typeface="Arial"/>
              <a:sym typeface="Arial"/>
            </a:endParaRPr>
          </a:p>
        </p:txBody>
      </p:sp>
      <p:cxnSp>
        <p:nvCxnSpPr>
          <p:cNvPr id="301" name="Google Shape;301;p13"/>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15"/>
          <p:cNvGrpSpPr/>
          <p:nvPr/>
        </p:nvGrpSpPr>
        <p:grpSpPr>
          <a:xfrm>
            <a:off x="0" y="1946520"/>
            <a:ext cx="9143639" cy="3196441"/>
            <a:chOff x="0" y="1946520"/>
            <a:chExt cx="9143639" cy="3196441"/>
          </a:xfrm>
        </p:grpSpPr>
        <p:pic>
          <p:nvPicPr>
            <p:cNvPr id="307" name="Google Shape;307;p15"/>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08" name="Google Shape;308;p15"/>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09" name="Google Shape;309;p15"/>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10" name="Google Shape;310;p15"/>
          <p:cNvSpPr/>
          <p:nvPr/>
        </p:nvSpPr>
        <p:spPr>
          <a:xfrm>
            <a:off x="6975129" y="594875"/>
            <a:ext cx="1926300" cy="4047300"/>
          </a:xfrm>
          <a:prstGeom prst="roundRect">
            <a:avLst>
              <a:gd fmla="val 16667" name="adj"/>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5"/>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5"/>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5"/>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5"/>
          <p:cNvSpPr/>
          <p:nvPr/>
        </p:nvSpPr>
        <p:spPr>
          <a:xfrm>
            <a:off x="6240600" y="1695600"/>
            <a:ext cx="29994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5"/>
          <p:cNvSpPr txBox="1"/>
          <p:nvPr/>
        </p:nvSpPr>
        <p:spPr>
          <a:xfrm>
            <a:off x="0" y="0"/>
            <a:ext cx="67821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Consultations médicales – Tarifs de convention 2025</a:t>
            </a:r>
            <a:endParaRPr b="0" i="0" sz="1800" u="none" cap="none" strike="noStrike">
              <a:solidFill>
                <a:srgbClr val="000000"/>
              </a:solidFill>
              <a:latin typeface="Arial"/>
              <a:ea typeface="Arial"/>
              <a:cs typeface="Arial"/>
              <a:sym typeface="Arial"/>
            </a:endParaRPr>
          </a:p>
        </p:txBody>
      </p:sp>
      <p:sp>
        <p:nvSpPr>
          <p:cNvPr id="316" name="Google Shape;316;p15"/>
          <p:cNvSpPr txBox="1"/>
          <p:nvPr/>
        </p:nvSpPr>
        <p:spPr>
          <a:xfrm>
            <a:off x="0" y="746225"/>
            <a:ext cx="1821300" cy="384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Médecin généraliste</a:t>
            </a:r>
            <a:endParaRPr b="0" i="0" sz="1400" u="none" cap="none" strike="noStrike">
              <a:solidFill>
                <a:srgbClr val="000000"/>
              </a:solidFill>
              <a:latin typeface="Arial"/>
              <a:ea typeface="Arial"/>
              <a:cs typeface="Arial"/>
              <a:sym typeface="Arial"/>
            </a:endParaRPr>
          </a:p>
        </p:txBody>
      </p:sp>
      <p:sp>
        <p:nvSpPr>
          <p:cNvPr id="317" name="Google Shape;317;p15"/>
          <p:cNvSpPr txBox="1"/>
          <p:nvPr/>
        </p:nvSpPr>
        <p:spPr>
          <a:xfrm>
            <a:off x="191075" y="1787457"/>
            <a:ext cx="3453900" cy="187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800" u="none" cap="none" strike="noStrike">
                <a:solidFill>
                  <a:schemeClr val="dk1"/>
                </a:solidFill>
                <a:latin typeface="Arial"/>
                <a:ea typeface="Arial"/>
                <a:cs typeface="Arial"/>
                <a:sym typeface="Arial"/>
              </a:rPr>
              <a:t>Secteur 1</a:t>
            </a:r>
            <a:r>
              <a:rPr b="0" i="0" lang="en-US" sz="800" u="none" cap="none" strike="noStrike">
                <a:solidFill>
                  <a:schemeClr val="dk1"/>
                </a:solidFill>
                <a:latin typeface="Arial"/>
                <a:ea typeface="Arial"/>
                <a:cs typeface="Arial"/>
                <a:sym typeface="Arial"/>
              </a:rPr>
              <a:t> (tarif opposable) :</a:t>
            </a: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120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Tarif de convention</a:t>
            </a:r>
            <a:r>
              <a:rPr b="0" i="0" lang="en-US" sz="800" u="none" cap="none" strike="noStrike">
                <a:solidFill>
                  <a:schemeClr val="dk1"/>
                </a:solidFill>
                <a:latin typeface="Arial"/>
                <a:ea typeface="Arial"/>
                <a:cs typeface="Arial"/>
                <a:sym typeface="Arial"/>
              </a:rPr>
              <a:t> : 30 €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par l’Assurance Maladie</a:t>
            </a:r>
            <a:r>
              <a:rPr b="0" i="0" lang="en-US" sz="800" u="none" cap="none" strike="noStrike">
                <a:solidFill>
                  <a:schemeClr val="dk1"/>
                </a:solidFill>
                <a:latin typeface="Arial"/>
                <a:ea typeface="Arial"/>
                <a:cs typeface="Arial"/>
                <a:sym typeface="Arial"/>
              </a:rPr>
              <a:t> : 70 % de 30 € = 21 €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Participation forfaitaire</a:t>
            </a:r>
            <a:r>
              <a:rPr b="0" i="0" lang="en-US" sz="800" u="none" cap="none" strike="noStrike">
                <a:solidFill>
                  <a:schemeClr val="dk1"/>
                </a:solidFill>
                <a:latin typeface="Arial"/>
                <a:ea typeface="Arial"/>
                <a:cs typeface="Arial"/>
                <a:sym typeface="Arial"/>
              </a:rPr>
              <a:t> : 2 €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total</a:t>
            </a:r>
            <a:r>
              <a:rPr b="0" i="0" lang="en-US" sz="800" u="none" cap="none" strike="noStrike">
                <a:solidFill>
                  <a:schemeClr val="dk1"/>
                </a:solidFill>
                <a:latin typeface="Arial"/>
                <a:ea typeface="Arial"/>
                <a:cs typeface="Arial"/>
                <a:sym typeface="Arial"/>
              </a:rPr>
              <a:t> : 19 €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Reste à charge pour le patient</a:t>
            </a:r>
            <a:r>
              <a:rPr b="0" i="0" lang="en-US" sz="800" u="none" cap="none" strike="noStrike">
                <a:solidFill>
                  <a:schemeClr val="dk1"/>
                </a:solidFill>
                <a:latin typeface="Arial"/>
                <a:ea typeface="Arial"/>
                <a:cs typeface="Arial"/>
                <a:sym typeface="Arial"/>
              </a:rPr>
              <a:t> : 11 €</a:t>
            </a:r>
            <a:endParaRPr b="0" i="0" sz="800" u="none" cap="none" strike="noStrike">
              <a:solidFill>
                <a:schemeClr val="dk1"/>
              </a:solidFill>
              <a:latin typeface="Arial"/>
              <a:ea typeface="Arial"/>
              <a:cs typeface="Arial"/>
              <a:sym typeface="Arial"/>
            </a:endParaRPr>
          </a:p>
        </p:txBody>
      </p:sp>
      <p:sp>
        <p:nvSpPr>
          <p:cNvPr id="318" name="Google Shape;318;p15"/>
          <p:cNvSpPr txBox="1"/>
          <p:nvPr/>
        </p:nvSpPr>
        <p:spPr>
          <a:xfrm>
            <a:off x="3696205" y="1782321"/>
            <a:ext cx="3000000" cy="187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800" u="none" cap="none" strike="noStrike">
                <a:solidFill>
                  <a:schemeClr val="dk1"/>
                </a:solidFill>
                <a:latin typeface="Arial"/>
                <a:ea typeface="Arial"/>
                <a:cs typeface="Arial"/>
                <a:sym typeface="Arial"/>
              </a:rPr>
              <a:t>Secteur 2</a:t>
            </a:r>
            <a:r>
              <a:rPr b="0" i="0" lang="en-US" sz="800" u="none" cap="none" strike="noStrike">
                <a:solidFill>
                  <a:schemeClr val="dk1"/>
                </a:solidFill>
                <a:latin typeface="Arial"/>
                <a:ea typeface="Arial"/>
                <a:cs typeface="Arial"/>
                <a:sym typeface="Arial"/>
              </a:rPr>
              <a:t> (honoraires libres) :</a:t>
            </a: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120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Tarif de convention</a:t>
            </a:r>
            <a:r>
              <a:rPr b="0" i="0" lang="en-US" sz="800" u="none" cap="none" strike="noStrike">
                <a:solidFill>
                  <a:schemeClr val="dk1"/>
                </a:solidFill>
                <a:latin typeface="Arial"/>
                <a:ea typeface="Arial"/>
                <a:cs typeface="Arial"/>
                <a:sym typeface="Arial"/>
              </a:rPr>
              <a:t> : 23 €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par l’Assurance Maladie</a:t>
            </a:r>
            <a:r>
              <a:rPr b="0" i="0" lang="en-US" sz="800" u="none" cap="none" strike="noStrike">
                <a:solidFill>
                  <a:schemeClr val="dk1"/>
                </a:solidFill>
                <a:latin typeface="Arial"/>
                <a:ea typeface="Arial"/>
                <a:cs typeface="Arial"/>
                <a:sym typeface="Arial"/>
              </a:rPr>
              <a:t> : 70 % de 23 € = 16,10 €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Participation forfaitaire</a:t>
            </a:r>
            <a:r>
              <a:rPr b="0" i="0" lang="en-US" sz="800" u="none" cap="none" strike="noStrike">
                <a:solidFill>
                  <a:schemeClr val="dk1"/>
                </a:solidFill>
                <a:latin typeface="Arial"/>
                <a:ea typeface="Arial"/>
                <a:cs typeface="Arial"/>
                <a:sym typeface="Arial"/>
              </a:rPr>
              <a:t> : 2 €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total</a:t>
            </a:r>
            <a:r>
              <a:rPr b="0" i="0" lang="en-US" sz="800" u="none" cap="none" strike="noStrike">
                <a:solidFill>
                  <a:schemeClr val="dk1"/>
                </a:solidFill>
                <a:latin typeface="Arial"/>
                <a:ea typeface="Arial"/>
                <a:cs typeface="Arial"/>
                <a:sym typeface="Arial"/>
              </a:rPr>
              <a:t> : 14,10 €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Reste à charge pour le patient</a:t>
            </a:r>
            <a:r>
              <a:rPr b="0" i="0" lang="en-US" sz="800" u="none" cap="none" strike="noStrike">
                <a:solidFill>
                  <a:schemeClr val="dk1"/>
                </a:solidFill>
                <a:latin typeface="Arial"/>
                <a:ea typeface="Arial"/>
                <a:cs typeface="Arial"/>
                <a:sym typeface="Arial"/>
              </a:rPr>
              <a:t> : 25,90 €</a:t>
            </a:r>
            <a:endParaRPr b="0" i="0" sz="800" u="none" cap="none" strike="noStrike">
              <a:solidFill>
                <a:schemeClr val="dk1"/>
              </a:solidFill>
              <a:latin typeface="Arial"/>
              <a:ea typeface="Arial"/>
              <a:cs typeface="Arial"/>
              <a:sym typeface="Arial"/>
            </a:endParaRPr>
          </a:p>
        </p:txBody>
      </p:sp>
      <p:sp>
        <p:nvSpPr>
          <p:cNvPr id="319" name="Google Shape;319;p15"/>
          <p:cNvSpPr txBox="1"/>
          <p:nvPr/>
        </p:nvSpPr>
        <p:spPr>
          <a:xfrm>
            <a:off x="6986167" y="631275"/>
            <a:ext cx="19269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Arial"/>
                <a:ea typeface="Arial"/>
                <a:cs typeface="Arial"/>
                <a:sym typeface="Arial"/>
              </a:rPr>
              <a:t>Note : Les médecins en secteur 2 peuvent pratiquer des dépassements d’honoraires. Le tarif de convention de 23 € est la base de remboursement de l’Assurance Maladie. Les dépassements sont à la charge du patient et peuvent être partiellement ou totalement pris en charge par la mutuelle, selon le contrat souscrit.</a:t>
            </a:r>
            <a:endParaRPr b="1" i="0" sz="1400" u="none" cap="none" strike="noStrike">
              <a:solidFill>
                <a:srgbClr val="FFFFFF"/>
              </a:solidFill>
              <a:latin typeface="Arial"/>
              <a:ea typeface="Arial"/>
              <a:cs typeface="Arial"/>
              <a:sym typeface="Arial"/>
            </a:endParaRPr>
          </a:p>
        </p:txBody>
      </p:sp>
      <p:cxnSp>
        <p:nvCxnSpPr>
          <p:cNvPr id="320" name="Google Shape;320;p15"/>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grpSp>
        <p:nvGrpSpPr>
          <p:cNvPr id="325" name="Google Shape;325;p16"/>
          <p:cNvGrpSpPr/>
          <p:nvPr/>
        </p:nvGrpSpPr>
        <p:grpSpPr>
          <a:xfrm>
            <a:off x="0" y="1946520"/>
            <a:ext cx="9143639" cy="3196441"/>
            <a:chOff x="0" y="1946520"/>
            <a:chExt cx="9143639" cy="3196441"/>
          </a:xfrm>
        </p:grpSpPr>
        <p:pic>
          <p:nvPicPr>
            <p:cNvPr id="326" name="Google Shape;326;p16"/>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27" name="Google Shape;327;p16"/>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28" name="Google Shape;328;p16"/>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29" name="Google Shape;329;p16"/>
          <p:cNvSpPr/>
          <p:nvPr/>
        </p:nvSpPr>
        <p:spPr>
          <a:xfrm>
            <a:off x="7016108" y="984225"/>
            <a:ext cx="1833900" cy="31965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6"/>
          <p:cNvSpPr txBox="1"/>
          <p:nvPr/>
        </p:nvSpPr>
        <p:spPr>
          <a:xfrm>
            <a:off x="0" y="0"/>
            <a:ext cx="67821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Consultations médicales – Tarifs de convention 2025</a:t>
            </a:r>
            <a:endParaRPr b="0" i="0" sz="1800" u="none" cap="none" strike="noStrike">
              <a:solidFill>
                <a:srgbClr val="000000"/>
              </a:solidFill>
              <a:latin typeface="Arial"/>
              <a:ea typeface="Arial"/>
              <a:cs typeface="Arial"/>
              <a:sym typeface="Arial"/>
            </a:endParaRPr>
          </a:p>
        </p:txBody>
      </p:sp>
      <p:sp>
        <p:nvSpPr>
          <p:cNvPr id="331" name="Google Shape;331;p16"/>
          <p:cNvSpPr txBox="1"/>
          <p:nvPr/>
        </p:nvSpPr>
        <p:spPr>
          <a:xfrm>
            <a:off x="0" y="807696"/>
            <a:ext cx="1880700" cy="3849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Médecin spécialiste</a:t>
            </a:r>
            <a:endParaRPr b="0" i="0" sz="1400" u="none" cap="none" strike="noStrike">
              <a:solidFill>
                <a:srgbClr val="000000"/>
              </a:solidFill>
              <a:latin typeface="Arial"/>
              <a:ea typeface="Arial"/>
              <a:cs typeface="Arial"/>
              <a:sym typeface="Arial"/>
            </a:endParaRPr>
          </a:p>
        </p:txBody>
      </p:sp>
      <p:sp>
        <p:nvSpPr>
          <p:cNvPr id="332" name="Google Shape;332;p16"/>
          <p:cNvSpPr txBox="1"/>
          <p:nvPr/>
        </p:nvSpPr>
        <p:spPr>
          <a:xfrm>
            <a:off x="259486" y="2005005"/>
            <a:ext cx="3000000" cy="187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800" u="none" cap="none" strike="noStrike">
                <a:solidFill>
                  <a:schemeClr val="dk1"/>
                </a:solidFill>
                <a:latin typeface="Arial"/>
                <a:ea typeface="Arial"/>
                <a:cs typeface="Arial"/>
                <a:sym typeface="Arial"/>
              </a:rPr>
              <a:t>Secteur 1</a:t>
            </a:r>
            <a:r>
              <a:rPr b="0" i="0" lang="en-US" sz="800" u="none" cap="none" strike="noStrike">
                <a:solidFill>
                  <a:schemeClr val="dk1"/>
                </a:solidFill>
                <a:latin typeface="Arial"/>
                <a:ea typeface="Arial"/>
                <a:cs typeface="Arial"/>
                <a:sym typeface="Arial"/>
              </a:rPr>
              <a:t> :</a:t>
            </a: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120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Tarif de convention</a:t>
            </a:r>
            <a:r>
              <a:rPr b="0" i="0" lang="en-US" sz="800" u="none" cap="none" strike="noStrike">
                <a:solidFill>
                  <a:schemeClr val="dk1"/>
                </a:solidFill>
                <a:latin typeface="Arial"/>
                <a:ea typeface="Arial"/>
                <a:cs typeface="Arial"/>
                <a:sym typeface="Arial"/>
              </a:rPr>
              <a:t> : 26,50 €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par l’Assurance Maladie</a:t>
            </a:r>
            <a:r>
              <a:rPr b="0" i="0" lang="en-US" sz="800" u="none" cap="none" strike="noStrike">
                <a:solidFill>
                  <a:schemeClr val="dk1"/>
                </a:solidFill>
                <a:latin typeface="Arial"/>
                <a:ea typeface="Arial"/>
                <a:cs typeface="Arial"/>
                <a:sym typeface="Arial"/>
              </a:rPr>
              <a:t> : 70 % de 26,50 € = 18,55 €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Participation forfaitaire</a:t>
            </a:r>
            <a:r>
              <a:rPr b="0" i="0" lang="en-US" sz="800" u="none" cap="none" strike="noStrike">
                <a:solidFill>
                  <a:schemeClr val="dk1"/>
                </a:solidFill>
                <a:latin typeface="Arial"/>
                <a:ea typeface="Arial"/>
                <a:cs typeface="Arial"/>
                <a:sym typeface="Arial"/>
              </a:rPr>
              <a:t> : 2 €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total</a:t>
            </a:r>
            <a:r>
              <a:rPr b="0" i="0" lang="en-US" sz="800" u="none" cap="none" strike="noStrike">
                <a:solidFill>
                  <a:schemeClr val="dk1"/>
                </a:solidFill>
                <a:latin typeface="Arial"/>
                <a:ea typeface="Arial"/>
                <a:cs typeface="Arial"/>
                <a:sym typeface="Arial"/>
              </a:rPr>
              <a:t> : 16,55 €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Reste à charge pour le patient</a:t>
            </a:r>
            <a:r>
              <a:rPr b="0" i="0" lang="en-US" sz="800" u="none" cap="none" strike="noStrike">
                <a:solidFill>
                  <a:schemeClr val="dk1"/>
                </a:solidFill>
                <a:latin typeface="Arial"/>
                <a:ea typeface="Arial"/>
                <a:cs typeface="Arial"/>
                <a:sym typeface="Arial"/>
              </a:rPr>
              <a:t> : 9,95 €</a:t>
            </a:r>
            <a:endParaRPr b="0" i="0" sz="800" u="none" cap="none" strike="noStrike">
              <a:solidFill>
                <a:schemeClr val="dk1"/>
              </a:solidFill>
              <a:latin typeface="Arial"/>
              <a:ea typeface="Arial"/>
              <a:cs typeface="Arial"/>
              <a:sym typeface="Arial"/>
            </a:endParaRPr>
          </a:p>
        </p:txBody>
      </p:sp>
      <p:sp>
        <p:nvSpPr>
          <p:cNvPr id="333" name="Google Shape;333;p16"/>
          <p:cNvSpPr txBox="1"/>
          <p:nvPr/>
        </p:nvSpPr>
        <p:spPr>
          <a:xfrm>
            <a:off x="3422150" y="2005005"/>
            <a:ext cx="3360000" cy="187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800" u="none" cap="none" strike="noStrike">
                <a:solidFill>
                  <a:schemeClr val="dk1"/>
                </a:solidFill>
                <a:latin typeface="Arial"/>
                <a:ea typeface="Arial"/>
                <a:cs typeface="Arial"/>
                <a:sym typeface="Arial"/>
              </a:rPr>
              <a:t>Secteur 2</a:t>
            </a:r>
            <a:r>
              <a:rPr b="0" i="0" lang="en-US" sz="800" u="none" cap="none" strike="noStrike">
                <a:solidFill>
                  <a:schemeClr val="dk1"/>
                </a:solidFill>
                <a:latin typeface="Arial"/>
                <a:ea typeface="Arial"/>
                <a:cs typeface="Arial"/>
                <a:sym typeface="Arial"/>
              </a:rPr>
              <a:t> (adhérent à l’Option Pratique Tarifaire Maîtrisée - OPTAM) :</a:t>
            </a: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120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Tarif de convention</a:t>
            </a:r>
            <a:r>
              <a:rPr b="0" i="0" lang="en-US" sz="800" u="none" cap="none" strike="noStrike">
                <a:solidFill>
                  <a:schemeClr val="dk1"/>
                </a:solidFill>
                <a:latin typeface="Arial"/>
                <a:ea typeface="Arial"/>
                <a:cs typeface="Arial"/>
                <a:sym typeface="Arial"/>
              </a:rPr>
              <a:t> : 26,50 €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par l’Assurance Maladie</a:t>
            </a:r>
            <a:r>
              <a:rPr b="0" i="0" lang="en-US" sz="800" u="none" cap="none" strike="noStrike">
                <a:solidFill>
                  <a:schemeClr val="dk1"/>
                </a:solidFill>
                <a:latin typeface="Arial"/>
                <a:ea typeface="Arial"/>
                <a:cs typeface="Arial"/>
                <a:sym typeface="Arial"/>
              </a:rPr>
              <a:t> : 70 % de 26,50 € = 18,55 €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Participation forfaitaire</a:t>
            </a:r>
            <a:r>
              <a:rPr b="0" i="0" lang="en-US" sz="800" u="none" cap="none" strike="noStrike">
                <a:solidFill>
                  <a:schemeClr val="dk1"/>
                </a:solidFill>
                <a:latin typeface="Arial"/>
                <a:ea typeface="Arial"/>
                <a:cs typeface="Arial"/>
                <a:sym typeface="Arial"/>
              </a:rPr>
              <a:t> : 2 €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Remboursement total</a:t>
            </a:r>
            <a:r>
              <a:rPr b="0" i="0" lang="en-US" sz="800" u="none" cap="none" strike="noStrike">
                <a:solidFill>
                  <a:schemeClr val="dk1"/>
                </a:solidFill>
                <a:latin typeface="Arial"/>
                <a:ea typeface="Arial"/>
                <a:cs typeface="Arial"/>
                <a:sym typeface="Arial"/>
              </a:rPr>
              <a:t> : 16,55 €</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Char char="●"/>
            </a:pPr>
            <a:r>
              <a:rPr b="1" i="0" lang="en-US" sz="800" u="none" cap="none" strike="noStrike">
                <a:solidFill>
                  <a:schemeClr val="dk1"/>
                </a:solidFill>
                <a:latin typeface="Arial"/>
                <a:ea typeface="Arial"/>
                <a:cs typeface="Arial"/>
                <a:sym typeface="Arial"/>
              </a:rPr>
              <a:t>Reste à charge pour le patient</a:t>
            </a:r>
            <a:r>
              <a:rPr b="0" i="0" lang="en-US" sz="800" u="none" cap="none" strike="noStrike">
                <a:solidFill>
                  <a:schemeClr val="dk1"/>
                </a:solidFill>
                <a:latin typeface="Arial"/>
                <a:ea typeface="Arial"/>
                <a:cs typeface="Arial"/>
                <a:sym typeface="Arial"/>
              </a:rPr>
              <a:t> : 9,95 €</a:t>
            </a:r>
            <a:endParaRPr b="0" i="0" sz="800" u="none" cap="none" strike="noStrike">
              <a:solidFill>
                <a:schemeClr val="dk1"/>
              </a:solidFill>
              <a:latin typeface="Arial"/>
              <a:ea typeface="Arial"/>
              <a:cs typeface="Arial"/>
              <a:sym typeface="Arial"/>
            </a:endParaRPr>
          </a:p>
        </p:txBody>
      </p:sp>
      <p:sp>
        <p:nvSpPr>
          <p:cNvPr id="334" name="Google Shape;334;p16"/>
          <p:cNvSpPr txBox="1"/>
          <p:nvPr/>
        </p:nvSpPr>
        <p:spPr>
          <a:xfrm>
            <a:off x="7019475" y="970950"/>
            <a:ext cx="1880700" cy="3201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3F3F3"/>
                </a:solidFill>
                <a:latin typeface="Arial"/>
                <a:ea typeface="Arial"/>
                <a:cs typeface="Arial"/>
                <a:sym typeface="Arial"/>
              </a:rPr>
              <a:t>Note : Les médecins spécialistes en secteur 2 adhérant à l’OPTAM s’engagent à limiter leurs dépassements d’honoraires. Le tarif de convention reste celui de secteur 1, et les dépassements sont encadrés.</a:t>
            </a:r>
            <a:endParaRPr b="1" i="0" sz="1400" u="none" cap="none" strike="noStrike">
              <a:solidFill>
                <a:srgbClr val="F3F3F3"/>
              </a:solidFill>
              <a:latin typeface="Arial"/>
              <a:ea typeface="Arial"/>
              <a:cs typeface="Arial"/>
              <a:sym typeface="Arial"/>
            </a:endParaRPr>
          </a:p>
        </p:txBody>
      </p:sp>
      <p:cxnSp>
        <p:nvCxnSpPr>
          <p:cNvPr id="335" name="Google Shape;335;p16"/>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grpSp>
        <p:nvGrpSpPr>
          <p:cNvPr id="340" name="Google Shape;340;p17"/>
          <p:cNvGrpSpPr/>
          <p:nvPr/>
        </p:nvGrpSpPr>
        <p:grpSpPr>
          <a:xfrm>
            <a:off x="0" y="1946520"/>
            <a:ext cx="9143639" cy="3196441"/>
            <a:chOff x="0" y="1946520"/>
            <a:chExt cx="9143639" cy="3196441"/>
          </a:xfrm>
        </p:grpSpPr>
        <p:pic>
          <p:nvPicPr>
            <p:cNvPr id="341" name="Google Shape;341;p17"/>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42" name="Google Shape;342;p17"/>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43" name="Google Shape;343;p17"/>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44" name="Google Shape;344;p17"/>
          <p:cNvSpPr/>
          <p:nvPr/>
        </p:nvSpPr>
        <p:spPr>
          <a:xfrm>
            <a:off x="653375" y="1172100"/>
            <a:ext cx="2725500" cy="23010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7"/>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7"/>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7"/>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7"/>
          <p:cNvSpPr txBox="1"/>
          <p:nvPr/>
        </p:nvSpPr>
        <p:spPr>
          <a:xfrm>
            <a:off x="549661" y="1172095"/>
            <a:ext cx="3000000" cy="2301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Tarif de convention</a:t>
            </a:r>
            <a:r>
              <a:rPr b="0" i="0" lang="en-US" sz="1100" u="none" cap="none" strike="noStrike">
                <a:solidFill>
                  <a:srgbClr val="FFFFFF"/>
                </a:solidFill>
                <a:latin typeface="Arial"/>
                <a:ea typeface="Arial"/>
                <a:cs typeface="Arial"/>
                <a:sym typeface="Arial"/>
              </a:rPr>
              <a:t> : 23 €</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Remboursement par l’Assurance Maladie</a:t>
            </a:r>
            <a:r>
              <a:rPr b="0" i="0" lang="en-US" sz="1100" u="none" cap="none" strike="noStrike">
                <a:solidFill>
                  <a:srgbClr val="FFFFFF"/>
                </a:solidFill>
                <a:latin typeface="Arial"/>
                <a:ea typeface="Arial"/>
                <a:cs typeface="Arial"/>
                <a:sym typeface="Arial"/>
              </a:rPr>
              <a:t> : 70 % de 23 € = 16,10 €</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Participation forfaitaire</a:t>
            </a:r>
            <a:r>
              <a:rPr b="0" i="0" lang="en-US" sz="1100" u="none" cap="none" strike="noStrike">
                <a:solidFill>
                  <a:srgbClr val="FFFFFF"/>
                </a:solidFill>
                <a:latin typeface="Arial"/>
                <a:ea typeface="Arial"/>
                <a:cs typeface="Arial"/>
                <a:sym typeface="Arial"/>
              </a:rPr>
              <a:t> : 2 €</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Remboursement total</a:t>
            </a:r>
            <a:r>
              <a:rPr b="0" i="0" lang="en-US" sz="1100" u="none" cap="none" strike="noStrike">
                <a:solidFill>
                  <a:srgbClr val="FFFFFF"/>
                </a:solidFill>
                <a:latin typeface="Arial"/>
                <a:ea typeface="Arial"/>
                <a:cs typeface="Arial"/>
                <a:sym typeface="Arial"/>
              </a:rPr>
              <a:t> : 14,10 €</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1" i="0" lang="en-US" sz="1100" u="none" cap="none" strike="noStrike">
                <a:solidFill>
                  <a:srgbClr val="FFFFFF"/>
                </a:solidFill>
                <a:latin typeface="Arial"/>
                <a:ea typeface="Arial"/>
                <a:cs typeface="Arial"/>
                <a:sym typeface="Arial"/>
              </a:rPr>
              <a:t>Reste à charge pour le patient</a:t>
            </a:r>
            <a:r>
              <a:rPr b="0" i="0" lang="en-US" sz="1100" u="none" cap="none" strike="noStrike">
                <a:solidFill>
                  <a:srgbClr val="FFFFFF"/>
                </a:solidFill>
                <a:latin typeface="Arial"/>
                <a:ea typeface="Arial"/>
                <a:cs typeface="Arial"/>
                <a:sym typeface="Arial"/>
              </a:rPr>
              <a:t> : 21,90 €</a:t>
            </a:r>
            <a:endParaRPr b="0" i="0" sz="1100" u="none" cap="none" strike="noStrike">
              <a:solidFill>
                <a:srgbClr val="FFFFFF"/>
              </a:solidFill>
              <a:latin typeface="Arial"/>
              <a:ea typeface="Arial"/>
              <a:cs typeface="Arial"/>
              <a:sym typeface="Arial"/>
            </a:endParaRPr>
          </a:p>
        </p:txBody>
      </p:sp>
      <p:graphicFrame>
        <p:nvGraphicFramePr>
          <p:cNvPr id="349" name="Google Shape;349;p17"/>
          <p:cNvGraphicFramePr/>
          <p:nvPr/>
        </p:nvGraphicFramePr>
        <p:xfrm>
          <a:off x="4984125" y="1440788"/>
          <a:ext cx="3000000" cy="3000000"/>
        </p:xfrm>
        <a:graphic>
          <a:graphicData uri="http://schemas.openxmlformats.org/drawingml/2006/table">
            <a:tbl>
              <a:tblPr>
                <a:noFill/>
                <a:tableStyleId>{A1DDD91F-6C43-4372-85AA-FFEEB0438FC4}</a:tableStyleId>
              </a:tblPr>
              <a:tblGrid>
                <a:gridCol w="1081850"/>
                <a:gridCol w="536775"/>
                <a:gridCol w="819850"/>
                <a:gridCol w="1502875"/>
              </a:tblGrid>
              <a:tr h="200025">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Profession</a:t>
                      </a:r>
                      <a:endParaRPr b="1"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Secteur 1</a:t>
                      </a:r>
                      <a:endParaRPr b="1"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Secteur 2 (OPTAM)</a:t>
                      </a:r>
                      <a:endParaRPr b="1"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US" sz="1100" u="none" cap="none" strike="noStrike"/>
                        <a:t>Secteur 2 (non OPTAM)</a:t>
                      </a:r>
                      <a:endParaRPr b="1"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Médecin généraliste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23 €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Médecin spécialiste</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200">
                          <a:solidFill>
                            <a:srgbClr val="0A0A0A"/>
                          </a:solidFill>
                          <a:highlight>
                            <a:srgbClr val="FFFFFF"/>
                          </a:highlight>
                        </a:rPr>
                        <a:t>30</a:t>
                      </a:r>
                      <a:r>
                        <a:rPr lang="en-US" sz="1400" u="none" cap="none" strike="noStrike"/>
                        <a:t>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a:t>31</a:t>
                      </a:r>
                      <a:r>
                        <a:rPr lang="en-US" sz="1400" u="none" cap="none" strike="noStrike"/>
                        <a:t>,50 €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23 €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50" name="Google Shape;350;p17"/>
          <p:cNvSpPr txBox="1"/>
          <p:nvPr/>
        </p:nvSpPr>
        <p:spPr>
          <a:xfrm>
            <a:off x="1268225" y="3892375"/>
            <a:ext cx="6322200" cy="743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0" i="1" lang="en-US" sz="1100" u="none" cap="none" strike="noStrike">
                <a:solidFill>
                  <a:schemeClr val="dk1"/>
                </a:solidFill>
                <a:latin typeface="Arial"/>
                <a:ea typeface="Arial"/>
                <a:cs typeface="Arial"/>
                <a:sym typeface="Arial"/>
              </a:rPr>
              <a:t>Note : Les tarifs indiqués sont les bases de remboursement de l’Assurance Maladie. Les dépassements d’honoraires, s’ils existent, sont à la charge du patient et peuvent être partiellement ou totalement pris en charge par la mutuelle, selon le contrat souscrit.</a:t>
            </a:r>
            <a:endParaRPr b="0" i="1" sz="1100" u="none" cap="none" strike="noStrike">
              <a:solidFill>
                <a:schemeClr val="dk1"/>
              </a:solidFill>
              <a:latin typeface="Arial"/>
              <a:ea typeface="Arial"/>
              <a:cs typeface="Arial"/>
              <a:sym typeface="Arial"/>
            </a:endParaRPr>
          </a:p>
        </p:txBody>
      </p:sp>
      <p:cxnSp>
        <p:nvCxnSpPr>
          <p:cNvPr id="351" name="Google Shape;351;p17"/>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352" name="Google Shape;352;p17"/>
          <p:cNvSpPr txBox="1"/>
          <p:nvPr/>
        </p:nvSpPr>
        <p:spPr>
          <a:xfrm>
            <a:off x="0" y="60580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Secteur 2</a:t>
            </a:r>
            <a:r>
              <a:rPr b="0" i="0" lang="en-US" sz="1100" u="none" cap="none" strike="noStrike">
                <a:solidFill>
                  <a:schemeClr val="dk1"/>
                </a:solidFill>
                <a:latin typeface="Arial"/>
                <a:ea typeface="Arial"/>
                <a:cs typeface="Arial"/>
                <a:sym typeface="Arial"/>
              </a:rPr>
              <a:t> (non adhérent à l’OPTAM) :</a:t>
            </a:r>
            <a:endParaRPr b="0" i="0" sz="1400" u="none" cap="none" strike="noStrike">
              <a:solidFill>
                <a:srgbClr val="000000"/>
              </a:solidFill>
              <a:latin typeface="Arial"/>
              <a:ea typeface="Arial"/>
              <a:cs typeface="Arial"/>
              <a:sym typeface="Arial"/>
            </a:endParaRPr>
          </a:p>
        </p:txBody>
      </p:sp>
      <p:sp>
        <p:nvSpPr>
          <p:cNvPr id="353" name="Google Shape;353;p17"/>
          <p:cNvSpPr txBox="1"/>
          <p:nvPr/>
        </p:nvSpPr>
        <p:spPr>
          <a:xfrm>
            <a:off x="0" y="0"/>
            <a:ext cx="67821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Consultations médicales – Tarifs de convention 2025</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grpSp>
        <p:nvGrpSpPr>
          <p:cNvPr id="358" name="Google Shape;358;p18"/>
          <p:cNvGrpSpPr/>
          <p:nvPr/>
        </p:nvGrpSpPr>
        <p:grpSpPr>
          <a:xfrm>
            <a:off x="0" y="1946520"/>
            <a:ext cx="9143639" cy="3196441"/>
            <a:chOff x="0" y="1946520"/>
            <a:chExt cx="9143639" cy="3196441"/>
          </a:xfrm>
        </p:grpSpPr>
        <p:pic>
          <p:nvPicPr>
            <p:cNvPr id="359" name="Google Shape;359;p18"/>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60" name="Google Shape;360;p18"/>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61" name="Google Shape;361;p18"/>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62" name="Google Shape;362;p18"/>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Dentaire</a:t>
            </a:r>
            <a:endParaRPr b="0" i="0" sz="1400" u="none" cap="none" strike="noStrike">
              <a:solidFill>
                <a:srgbClr val="000000"/>
              </a:solidFill>
              <a:latin typeface="Arial"/>
              <a:ea typeface="Arial"/>
              <a:cs typeface="Arial"/>
              <a:sym typeface="Arial"/>
            </a:endParaRPr>
          </a:p>
        </p:txBody>
      </p:sp>
      <p:sp>
        <p:nvSpPr>
          <p:cNvPr id="363" name="Google Shape;363;p18"/>
          <p:cNvSpPr txBox="1"/>
          <p:nvPr/>
        </p:nvSpPr>
        <p:spPr>
          <a:xfrm>
            <a:off x="0" y="871550"/>
            <a:ext cx="40242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Prise en charge par l’Assurance Maladie (AMO)</a:t>
            </a:r>
            <a:endParaRPr b="0" i="0" sz="1400" u="none" cap="none" strike="noStrike">
              <a:solidFill>
                <a:srgbClr val="000000"/>
              </a:solidFill>
              <a:latin typeface="Arial"/>
              <a:ea typeface="Arial"/>
              <a:cs typeface="Arial"/>
              <a:sym typeface="Arial"/>
            </a:endParaRPr>
          </a:p>
        </p:txBody>
      </p:sp>
      <p:sp>
        <p:nvSpPr>
          <p:cNvPr id="364" name="Google Shape;364;p18"/>
          <p:cNvSpPr txBox="1"/>
          <p:nvPr/>
        </p:nvSpPr>
        <p:spPr>
          <a:xfrm>
            <a:off x="87525" y="1344150"/>
            <a:ext cx="4295400" cy="245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Soins dentaires courants</a:t>
            </a:r>
            <a:r>
              <a:rPr b="0" i="0" lang="en-US" sz="1100" u="none" cap="none" strike="noStrike">
                <a:solidFill>
                  <a:schemeClr val="dk1"/>
                </a:solidFill>
                <a:latin typeface="Arial"/>
                <a:ea typeface="Arial"/>
                <a:cs typeface="Arial"/>
                <a:sym typeface="Arial"/>
              </a:rPr>
              <a:t> (caries, détartrage, extractions)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Base de remboursement fixée par la Sécurité sociale.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Exemple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Consultation dentiste : </a:t>
            </a:r>
            <a:r>
              <a:rPr b="1" i="0" lang="en-US" sz="1100" u="none" cap="none" strike="noStrike">
                <a:solidFill>
                  <a:schemeClr val="dk1"/>
                </a:solidFill>
                <a:latin typeface="Arial"/>
                <a:ea typeface="Arial"/>
                <a:cs typeface="Arial"/>
                <a:sym typeface="Arial"/>
              </a:rPr>
              <a:t>23 €</a:t>
            </a:r>
            <a:r>
              <a:rPr b="0" i="0" lang="en-US" sz="1100" u="none" cap="none" strike="noStrike">
                <a:solidFill>
                  <a:schemeClr val="dk1"/>
                </a:solidFill>
                <a:latin typeface="Arial"/>
                <a:ea typeface="Arial"/>
                <a:cs typeface="Arial"/>
                <a:sym typeface="Arial"/>
              </a:rPr>
              <a:t> (secteur 1) → remboursée 70 % (16,10 €) – 2 € de participation forfaitaire.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Détartrage : </a:t>
            </a:r>
            <a:r>
              <a:rPr b="1" i="0" lang="en-US" sz="1100" u="none" cap="none" strike="noStrike">
                <a:solidFill>
                  <a:schemeClr val="dk1"/>
                </a:solidFill>
                <a:latin typeface="Arial"/>
                <a:ea typeface="Arial"/>
                <a:cs typeface="Arial"/>
                <a:sym typeface="Arial"/>
              </a:rPr>
              <a:t>28,92 €</a:t>
            </a:r>
            <a:r>
              <a:rPr b="0" i="0" lang="en-US" sz="1100" u="none" cap="none" strike="noStrike">
                <a:solidFill>
                  <a:schemeClr val="dk1"/>
                </a:solidFill>
                <a:latin typeface="Arial"/>
                <a:ea typeface="Arial"/>
                <a:cs typeface="Arial"/>
                <a:sym typeface="Arial"/>
              </a:rPr>
              <a:t> → remboursement 70 % (20,24 €).</a:t>
            </a:r>
            <a:endParaRPr b="0" i="0" sz="1100" u="none" cap="none" strike="noStrike">
              <a:solidFill>
                <a:schemeClr val="dk1"/>
              </a:solidFill>
              <a:latin typeface="Arial"/>
              <a:ea typeface="Arial"/>
              <a:cs typeface="Arial"/>
              <a:sym typeface="Arial"/>
            </a:endParaRPr>
          </a:p>
        </p:txBody>
      </p:sp>
      <p:sp>
        <p:nvSpPr>
          <p:cNvPr id="365" name="Google Shape;365;p18"/>
          <p:cNvSpPr txBox="1"/>
          <p:nvPr/>
        </p:nvSpPr>
        <p:spPr>
          <a:xfrm>
            <a:off x="4525175" y="2236400"/>
            <a:ext cx="4550400" cy="20655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Prothèses dentaires</a:t>
            </a:r>
            <a:r>
              <a:rPr b="0" i="0" lang="en-US" sz="1100" u="none" cap="none" strike="noStrike">
                <a:solidFill>
                  <a:schemeClr val="dk1"/>
                </a:solidFill>
                <a:latin typeface="Arial"/>
                <a:ea typeface="Arial"/>
                <a:cs typeface="Arial"/>
                <a:sym typeface="Arial"/>
              </a:rPr>
              <a:t> (couronnes, bridges, etc.)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Depuis la réforme </a:t>
            </a:r>
            <a:r>
              <a:rPr b="1" i="0" lang="en-US" sz="1100" u="none" cap="none" strike="noStrike">
                <a:solidFill>
                  <a:schemeClr val="dk1"/>
                </a:solidFill>
                <a:latin typeface="Arial"/>
                <a:ea typeface="Arial"/>
                <a:cs typeface="Arial"/>
                <a:sym typeface="Arial"/>
              </a:rPr>
              <a:t>100 % Santé</a:t>
            </a:r>
            <a:r>
              <a:rPr b="0" i="0" lang="en-US" sz="1100" u="none" cap="none" strike="noStrike">
                <a:solidFill>
                  <a:schemeClr val="dk1"/>
                </a:solidFill>
                <a:latin typeface="Arial"/>
                <a:ea typeface="Arial"/>
                <a:cs typeface="Arial"/>
                <a:sym typeface="Arial"/>
              </a:rPr>
              <a:t> (reste à charge zéro), certaines prothèses (métal, céramo-métallique, zircone) sont </a:t>
            </a:r>
            <a:r>
              <a:rPr b="1" i="0" lang="en-US" sz="1100" u="none" cap="none" strike="noStrike">
                <a:solidFill>
                  <a:schemeClr val="dk1"/>
                </a:solidFill>
                <a:latin typeface="Arial"/>
                <a:ea typeface="Arial"/>
                <a:cs typeface="Arial"/>
                <a:sym typeface="Arial"/>
              </a:rPr>
              <a:t>intégralement remboursées</a:t>
            </a:r>
            <a:r>
              <a:rPr b="0" i="0" lang="en-US" sz="1100" u="none" cap="none" strike="noStrike">
                <a:solidFill>
                  <a:schemeClr val="dk1"/>
                </a:solidFill>
                <a:latin typeface="Arial"/>
                <a:ea typeface="Arial"/>
                <a:cs typeface="Arial"/>
                <a:sym typeface="Arial"/>
              </a:rPr>
              <a:t> si choisies dans le panier 100 % santé.</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Hors panier 100 % santé, la prise en charge AMO est </a:t>
            </a:r>
            <a:r>
              <a:rPr b="1" i="0" lang="en-US" sz="1100" u="none" cap="none" strike="noStrike">
                <a:solidFill>
                  <a:schemeClr val="dk1"/>
                </a:solidFill>
                <a:latin typeface="Arial"/>
                <a:ea typeface="Arial"/>
                <a:cs typeface="Arial"/>
                <a:sym typeface="Arial"/>
              </a:rPr>
              <a:t>fixée sur une base de remboursement</a:t>
            </a:r>
            <a:r>
              <a:rPr b="0" i="0" lang="en-US" sz="1100" u="none" cap="none" strike="noStrike">
                <a:solidFill>
                  <a:schemeClr val="dk1"/>
                </a:solidFill>
                <a:latin typeface="Arial"/>
                <a:ea typeface="Arial"/>
                <a:cs typeface="Arial"/>
                <a:sym typeface="Arial"/>
              </a:rPr>
              <a:t> (ex. couronne céramo-métallique : BR = 120 €, remboursement 70 % = 84 €).</a:t>
            </a:r>
            <a:endParaRPr b="0" i="0" sz="1100" u="none" cap="none" strike="noStrike">
              <a:solidFill>
                <a:schemeClr val="dk1"/>
              </a:solidFill>
              <a:latin typeface="Arial"/>
              <a:ea typeface="Arial"/>
              <a:cs typeface="Arial"/>
              <a:sym typeface="Arial"/>
            </a:endParaRPr>
          </a:p>
        </p:txBody>
      </p:sp>
      <p:cxnSp>
        <p:nvCxnSpPr>
          <p:cNvPr id="366" name="Google Shape;366;p18"/>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grpSp>
        <p:nvGrpSpPr>
          <p:cNvPr id="371" name="Google Shape;371;p19"/>
          <p:cNvGrpSpPr/>
          <p:nvPr/>
        </p:nvGrpSpPr>
        <p:grpSpPr>
          <a:xfrm>
            <a:off x="0" y="1946520"/>
            <a:ext cx="9143639" cy="3196441"/>
            <a:chOff x="0" y="1946520"/>
            <a:chExt cx="9143639" cy="3196441"/>
          </a:xfrm>
        </p:grpSpPr>
        <p:pic>
          <p:nvPicPr>
            <p:cNvPr id="372" name="Google Shape;372;p19"/>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73" name="Google Shape;373;p19"/>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74" name="Google Shape;374;p19"/>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75" name="Google Shape;375;p19"/>
          <p:cNvSpPr/>
          <p:nvPr/>
        </p:nvSpPr>
        <p:spPr>
          <a:xfrm>
            <a:off x="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9"/>
          <p:cNvSpPr/>
          <p:nvPr/>
        </p:nvSpPr>
        <p:spPr>
          <a:xfrm>
            <a:off x="2102040" y="1695600"/>
            <a:ext cx="21018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9"/>
          <p:cNvSpPr/>
          <p:nvPr/>
        </p:nvSpPr>
        <p:spPr>
          <a:xfrm>
            <a:off x="4288320" y="1695600"/>
            <a:ext cx="20340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9"/>
          <p:cNvSpPr/>
          <p:nvPr/>
        </p:nvSpPr>
        <p:spPr>
          <a:xfrm>
            <a:off x="6240600" y="1695600"/>
            <a:ext cx="2999400" cy="35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9"/>
          <p:cNvSpPr txBox="1"/>
          <p:nvPr/>
        </p:nvSpPr>
        <p:spPr>
          <a:xfrm>
            <a:off x="175175" y="1421250"/>
            <a:ext cx="9144000" cy="2301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Soins courants</a:t>
            </a:r>
            <a:r>
              <a:rPr b="0" i="0" lang="en-US" sz="1100" u="none" cap="none" strike="noStrike">
                <a:solidFill>
                  <a:schemeClr val="dk1"/>
                </a:solidFill>
                <a:latin typeface="Arial"/>
                <a:ea typeface="Arial"/>
                <a:cs typeface="Arial"/>
                <a:sym typeface="Arial"/>
              </a:rPr>
              <a:t> : remboursement du ticket modérateur (30 % restant) → patient sans reste à charge.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Prothèses et implants</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100 % Santé</a:t>
            </a:r>
            <a:r>
              <a:rPr b="0" i="0" lang="en-US" sz="1100" u="none" cap="none" strike="noStrike">
                <a:solidFill>
                  <a:schemeClr val="dk1"/>
                </a:solidFill>
                <a:latin typeface="Arial"/>
                <a:ea typeface="Arial"/>
                <a:cs typeface="Arial"/>
                <a:sym typeface="Arial"/>
              </a:rPr>
              <a:t> : intégralement pris en charge (zéro reste à charge).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Hors 100 % Santé</a:t>
            </a:r>
            <a:r>
              <a:rPr b="0" i="0" lang="en-US" sz="1100" u="none" cap="none" strike="noStrike">
                <a:solidFill>
                  <a:schemeClr val="dk1"/>
                </a:solidFill>
                <a:latin typeface="Arial"/>
                <a:ea typeface="Arial"/>
                <a:cs typeface="Arial"/>
                <a:sym typeface="Arial"/>
              </a:rPr>
              <a:t> : mutuelle couvre tout ou partie du reste à charge selon forfaits (ex. 200–500 % BR ou forfait annuel par prothèse).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Orthodontie adulte</a:t>
            </a:r>
            <a:r>
              <a:rPr b="0" i="0" lang="en-US" sz="1100" u="none" cap="none" strike="noStrike">
                <a:solidFill>
                  <a:schemeClr val="dk1"/>
                </a:solidFill>
                <a:latin typeface="Arial"/>
                <a:ea typeface="Arial"/>
                <a:cs typeface="Arial"/>
                <a:sym typeface="Arial"/>
              </a:rPr>
              <a:t> : généralement </a:t>
            </a:r>
            <a:r>
              <a:rPr b="1" i="0" lang="en-US" sz="1100" u="none" cap="none" strike="noStrike">
                <a:solidFill>
                  <a:schemeClr val="dk1"/>
                </a:solidFill>
                <a:latin typeface="Arial"/>
                <a:ea typeface="Arial"/>
                <a:cs typeface="Arial"/>
                <a:sym typeface="Arial"/>
              </a:rPr>
              <a:t>non remboursée par AMO</a:t>
            </a:r>
            <a:r>
              <a:rPr b="0" i="0" lang="en-US" sz="1100" u="none" cap="none" strike="noStrike">
                <a:solidFill>
                  <a:schemeClr val="dk1"/>
                </a:solidFill>
                <a:latin typeface="Arial"/>
                <a:ea typeface="Arial"/>
                <a:cs typeface="Arial"/>
                <a:sym typeface="Arial"/>
              </a:rPr>
              <a:t>, mais certaines mutuelles prévoient un </a:t>
            </a:r>
            <a:r>
              <a:rPr b="1" i="0" lang="en-US" sz="1100" u="none" cap="none" strike="noStrike">
                <a:solidFill>
                  <a:schemeClr val="dk1"/>
                </a:solidFill>
                <a:latin typeface="Arial"/>
                <a:ea typeface="Arial"/>
                <a:cs typeface="Arial"/>
                <a:sym typeface="Arial"/>
              </a:rPr>
              <a:t>forfait annuel (ex. 200–500 €/an)</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380" name="Google Shape;380;p19"/>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Dentaire</a:t>
            </a:r>
            <a:endParaRPr b="0" i="0" sz="1400" u="none" cap="none" strike="noStrike">
              <a:solidFill>
                <a:srgbClr val="000000"/>
              </a:solidFill>
              <a:latin typeface="Arial"/>
              <a:ea typeface="Arial"/>
              <a:cs typeface="Arial"/>
              <a:sym typeface="Arial"/>
            </a:endParaRPr>
          </a:p>
        </p:txBody>
      </p:sp>
      <p:sp>
        <p:nvSpPr>
          <p:cNvPr id="381" name="Google Shape;381;p19"/>
          <p:cNvSpPr txBox="1"/>
          <p:nvPr/>
        </p:nvSpPr>
        <p:spPr>
          <a:xfrm>
            <a:off x="0" y="461700"/>
            <a:ext cx="24258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Complément par la mutuelle</a:t>
            </a:r>
            <a:endParaRPr b="0" i="0" sz="1400" u="none" cap="none" strike="noStrike">
              <a:solidFill>
                <a:srgbClr val="000000"/>
              </a:solidFill>
              <a:latin typeface="Arial"/>
              <a:ea typeface="Arial"/>
              <a:cs typeface="Arial"/>
              <a:sym typeface="Arial"/>
            </a:endParaRPr>
          </a:p>
        </p:txBody>
      </p:sp>
      <p:cxnSp>
        <p:nvCxnSpPr>
          <p:cNvPr id="382" name="Google Shape;382;p19"/>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grpSp>
        <p:nvGrpSpPr>
          <p:cNvPr id="387" name="Google Shape;387;p20"/>
          <p:cNvGrpSpPr/>
          <p:nvPr/>
        </p:nvGrpSpPr>
        <p:grpSpPr>
          <a:xfrm>
            <a:off x="0" y="1946520"/>
            <a:ext cx="9143639" cy="3196441"/>
            <a:chOff x="0" y="1946520"/>
            <a:chExt cx="9143639" cy="3196441"/>
          </a:xfrm>
        </p:grpSpPr>
        <p:pic>
          <p:nvPicPr>
            <p:cNvPr id="388" name="Google Shape;388;p20"/>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389" name="Google Shape;389;p20"/>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390" name="Google Shape;390;p20"/>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391" name="Google Shape;391;p20"/>
          <p:cNvSpPr/>
          <p:nvPr/>
        </p:nvSpPr>
        <p:spPr>
          <a:xfrm>
            <a:off x="1175883" y="1670700"/>
            <a:ext cx="6793200" cy="17727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0"/>
          <p:cNvSpPr txBox="1"/>
          <p:nvPr/>
        </p:nvSpPr>
        <p:spPr>
          <a:xfrm>
            <a:off x="0" y="769075"/>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Reste à charge pour le patient</a:t>
            </a:r>
            <a:endParaRPr b="0" i="0" sz="1400" u="none" cap="none" strike="noStrike">
              <a:solidFill>
                <a:srgbClr val="000000"/>
              </a:solidFill>
              <a:latin typeface="Arial"/>
              <a:ea typeface="Arial"/>
              <a:cs typeface="Arial"/>
              <a:sym typeface="Arial"/>
            </a:endParaRPr>
          </a:p>
        </p:txBody>
      </p:sp>
      <p:sp>
        <p:nvSpPr>
          <p:cNvPr id="393" name="Google Shape;393;p20"/>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Dentaire</a:t>
            </a:r>
            <a:endParaRPr b="0" i="0" sz="1400" u="none" cap="none" strike="noStrike">
              <a:solidFill>
                <a:srgbClr val="000000"/>
              </a:solidFill>
              <a:latin typeface="Arial"/>
              <a:ea typeface="Arial"/>
              <a:cs typeface="Arial"/>
              <a:sym typeface="Arial"/>
            </a:endParaRPr>
          </a:p>
        </p:txBody>
      </p:sp>
      <p:sp>
        <p:nvSpPr>
          <p:cNvPr id="394" name="Google Shape;394;p20"/>
          <p:cNvSpPr txBox="1"/>
          <p:nvPr/>
        </p:nvSpPr>
        <p:spPr>
          <a:xfrm>
            <a:off x="1188900" y="1717500"/>
            <a:ext cx="6766200" cy="1708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Soins courants</a:t>
            </a:r>
            <a:r>
              <a:rPr b="0" i="0" lang="en-US" sz="1100" u="none" cap="none" strike="noStrike">
                <a:solidFill>
                  <a:srgbClr val="FFFFFF"/>
                </a:solidFill>
                <a:latin typeface="Arial"/>
                <a:ea typeface="Arial"/>
                <a:cs typeface="Arial"/>
                <a:sym typeface="Arial"/>
              </a:rPr>
              <a:t> : quasi nul avec une mutuelle classique.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Prothèses</a:t>
            </a:r>
            <a:r>
              <a:rPr b="0" i="0" lang="en-US" sz="1100" u="none" cap="none" strike="noStrike">
                <a:solidFill>
                  <a:srgbClr val="FFFFFF"/>
                </a:solidFill>
                <a:latin typeface="Arial"/>
                <a:ea typeface="Arial"/>
                <a:cs typeface="Arial"/>
                <a:sym typeface="Arial"/>
              </a:rPr>
              <a:t> : zéro reste à charge en 100 % Santé, mais </a:t>
            </a:r>
            <a:r>
              <a:rPr b="1" i="0" lang="en-US" sz="1100" u="none" cap="none" strike="noStrike">
                <a:solidFill>
                  <a:srgbClr val="FFFFFF"/>
                </a:solidFill>
                <a:latin typeface="Arial"/>
                <a:ea typeface="Arial"/>
                <a:cs typeface="Arial"/>
                <a:sym typeface="Arial"/>
              </a:rPr>
              <a:t>reste important</a:t>
            </a:r>
            <a:r>
              <a:rPr b="0" i="0" lang="en-US" sz="1100" u="none" cap="none" strike="noStrike">
                <a:solidFill>
                  <a:srgbClr val="FFFFFF"/>
                </a:solidFill>
                <a:latin typeface="Arial"/>
                <a:ea typeface="Arial"/>
                <a:cs typeface="Arial"/>
                <a:sym typeface="Arial"/>
              </a:rPr>
              <a:t> possible hors panier si mutuelle faible.</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Implants dentaires</a:t>
            </a:r>
            <a:r>
              <a:rPr b="0" i="0" lang="en-US" sz="1100" u="none" cap="none" strike="noStrike">
                <a:solidFill>
                  <a:srgbClr val="FFFFFF"/>
                </a:solidFill>
                <a:latin typeface="Arial"/>
                <a:ea typeface="Arial"/>
                <a:cs typeface="Arial"/>
                <a:sym typeface="Arial"/>
              </a:rPr>
              <a:t> : </a:t>
            </a:r>
            <a:r>
              <a:rPr b="1" i="0" lang="en-US" sz="1100" u="none" cap="none" strike="noStrike">
                <a:solidFill>
                  <a:srgbClr val="FFFFFF"/>
                </a:solidFill>
                <a:latin typeface="Arial"/>
                <a:ea typeface="Arial"/>
                <a:cs typeface="Arial"/>
                <a:sym typeface="Arial"/>
              </a:rPr>
              <a:t>non remboursés par AMO</a:t>
            </a:r>
            <a:r>
              <a:rPr b="0" i="0" lang="en-US" sz="1100" u="none" cap="none" strike="noStrike">
                <a:solidFill>
                  <a:srgbClr val="FFFFFF"/>
                </a:solidFill>
                <a:latin typeface="Arial"/>
                <a:ea typeface="Arial"/>
                <a:cs typeface="Arial"/>
                <a:sym typeface="Arial"/>
              </a:rPr>
              <a:t>, mutuelle peut accorder un forfait (ex. 300–800 € par implant), le reste à charge peut rester élevé.</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Orthodontie adulte</a:t>
            </a:r>
            <a:r>
              <a:rPr b="0" i="0" lang="en-US" sz="1100" u="none" cap="none" strike="noStrike">
                <a:solidFill>
                  <a:srgbClr val="FFFFFF"/>
                </a:solidFill>
                <a:latin typeface="Arial"/>
                <a:ea typeface="Arial"/>
                <a:cs typeface="Arial"/>
                <a:sym typeface="Arial"/>
              </a:rPr>
              <a:t> : reste à charge total ou partiel, dépend du forfait mutuelle.</a:t>
            </a:r>
            <a:endParaRPr b="0" i="0" sz="1100" u="none" cap="none" strike="noStrike">
              <a:solidFill>
                <a:srgbClr val="FFFFFF"/>
              </a:solidFill>
              <a:latin typeface="Arial"/>
              <a:ea typeface="Arial"/>
              <a:cs typeface="Arial"/>
              <a:sym typeface="Arial"/>
            </a:endParaRPr>
          </a:p>
        </p:txBody>
      </p:sp>
      <p:sp>
        <p:nvSpPr>
          <p:cNvPr id="395" name="Google Shape;395;p20"/>
          <p:cNvSpPr txBox="1"/>
          <p:nvPr/>
        </p:nvSpPr>
        <p:spPr>
          <a:xfrm>
            <a:off x="1188900" y="4065100"/>
            <a:ext cx="6399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Le dentaire est un poste de soins </a:t>
            </a:r>
            <a:r>
              <a:rPr b="1" i="0" lang="en-US" sz="1100" u="none" cap="none" strike="noStrike">
                <a:solidFill>
                  <a:schemeClr val="dk1"/>
                </a:solidFill>
                <a:latin typeface="Arial"/>
                <a:ea typeface="Arial"/>
                <a:cs typeface="Arial"/>
                <a:sym typeface="Arial"/>
              </a:rPr>
              <a:t>à fort reste à charge</a:t>
            </a:r>
            <a:r>
              <a:rPr b="0" i="0" lang="en-US" sz="1100" u="none" cap="none" strike="noStrike">
                <a:solidFill>
                  <a:schemeClr val="dk1"/>
                </a:solidFill>
                <a:latin typeface="Arial"/>
                <a:ea typeface="Arial"/>
                <a:cs typeface="Arial"/>
                <a:sym typeface="Arial"/>
              </a:rPr>
              <a:t> hors 100 % santé.</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Le rôle de la mutuelle est crucial pour réduire la dépense sur les prothèses, implants et orthodontie.</a:t>
            </a:r>
            <a:endParaRPr b="0" i="0" sz="1400" u="none" cap="none" strike="noStrike">
              <a:solidFill>
                <a:srgbClr val="000000"/>
              </a:solidFill>
              <a:latin typeface="Arial"/>
              <a:ea typeface="Arial"/>
              <a:cs typeface="Arial"/>
              <a:sym typeface="Arial"/>
            </a:endParaRPr>
          </a:p>
        </p:txBody>
      </p:sp>
      <p:cxnSp>
        <p:nvCxnSpPr>
          <p:cNvPr id="396" name="Google Shape;396;p20"/>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pSp>
        <p:nvGrpSpPr>
          <p:cNvPr id="401" name="Google Shape;401;p21"/>
          <p:cNvGrpSpPr/>
          <p:nvPr/>
        </p:nvGrpSpPr>
        <p:grpSpPr>
          <a:xfrm>
            <a:off x="0" y="1946520"/>
            <a:ext cx="9143639" cy="3196441"/>
            <a:chOff x="0" y="1946520"/>
            <a:chExt cx="9143639" cy="3196441"/>
          </a:xfrm>
        </p:grpSpPr>
        <p:pic>
          <p:nvPicPr>
            <p:cNvPr id="402" name="Google Shape;402;p21"/>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03" name="Google Shape;403;p21"/>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04" name="Google Shape;404;p21"/>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05" name="Google Shape;405;p21"/>
          <p:cNvSpPr/>
          <p:nvPr/>
        </p:nvSpPr>
        <p:spPr>
          <a:xfrm>
            <a:off x="6616522" y="1271099"/>
            <a:ext cx="2110800" cy="22812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1"/>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Optique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07" name="Google Shape;407;p21"/>
          <p:cNvSpPr txBox="1"/>
          <p:nvPr/>
        </p:nvSpPr>
        <p:spPr>
          <a:xfrm>
            <a:off x="7903" y="625636"/>
            <a:ext cx="33108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Tarifs de convention (BRSS 2025)</a:t>
            </a:r>
            <a:endParaRPr b="1" i="0" sz="1400" u="none" cap="none" strike="noStrike">
              <a:solidFill>
                <a:srgbClr val="000000"/>
              </a:solidFill>
              <a:latin typeface="Arial"/>
              <a:ea typeface="Arial"/>
              <a:cs typeface="Arial"/>
              <a:sym typeface="Arial"/>
            </a:endParaRPr>
          </a:p>
        </p:txBody>
      </p:sp>
      <p:sp>
        <p:nvSpPr>
          <p:cNvPr id="408" name="Google Shape;408;p21"/>
          <p:cNvSpPr txBox="1"/>
          <p:nvPr/>
        </p:nvSpPr>
        <p:spPr>
          <a:xfrm>
            <a:off x="249100" y="1420303"/>
            <a:ext cx="5220000" cy="2301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Monture</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Base de remboursement (BRSS) = </a:t>
            </a:r>
            <a:r>
              <a:rPr b="1" i="0" lang="en-US" sz="1100" u="none" cap="none" strike="noStrike">
                <a:solidFill>
                  <a:schemeClr val="dk1"/>
                </a:solidFill>
                <a:latin typeface="Arial"/>
                <a:ea typeface="Arial"/>
                <a:cs typeface="Arial"/>
                <a:sym typeface="Arial"/>
              </a:rPr>
              <a:t>2,84 €</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Remboursement AMO (60 %) = </a:t>
            </a:r>
            <a:r>
              <a:rPr b="1" i="0" lang="en-US" sz="1100" u="none" cap="none" strike="noStrike">
                <a:solidFill>
                  <a:schemeClr val="dk1"/>
                </a:solidFill>
                <a:latin typeface="Arial"/>
                <a:ea typeface="Arial"/>
                <a:cs typeface="Arial"/>
                <a:sym typeface="Arial"/>
              </a:rPr>
              <a:t>1,70 €</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Verres correcteurs</a:t>
            </a:r>
            <a:r>
              <a:rPr b="0" i="0" lang="en-US" sz="1100" u="none" cap="none" strike="noStrike">
                <a:solidFill>
                  <a:schemeClr val="dk1"/>
                </a:solidFill>
                <a:latin typeface="Arial"/>
                <a:ea typeface="Arial"/>
                <a:cs typeface="Arial"/>
                <a:sym typeface="Arial"/>
              </a:rPr>
              <a:t> (selon correction)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BRSS entre </a:t>
            </a:r>
            <a:r>
              <a:rPr b="1" i="0" lang="en-US" sz="1100" u="none" cap="none" strike="noStrike">
                <a:solidFill>
                  <a:schemeClr val="dk1"/>
                </a:solidFill>
                <a:latin typeface="Arial"/>
                <a:ea typeface="Arial"/>
                <a:cs typeface="Arial"/>
                <a:sym typeface="Arial"/>
              </a:rPr>
              <a:t>2,29 € et 24,54 €</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Remboursement AMO (60 %) = entre </a:t>
            </a:r>
            <a:r>
              <a:rPr b="1" i="0" lang="en-US" sz="1100" u="none" cap="none" strike="noStrike">
                <a:solidFill>
                  <a:schemeClr val="dk1"/>
                </a:solidFill>
                <a:latin typeface="Arial"/>
                <a:ea typeface="Arial"/>
                <a:cs typeface="Arial"/>
                <a:sym typeface="Arial"/>
              </a:rPr>
              <a:t>1,37 € et 14,72 €</a:t>
            </a:r>
            <a:endParaRPr b="0" i="0" sz="1100" u="none" cap="none" strike="noStrike">
              <a:solidFill>
                <a:schemeClr val="dk1"/>
              </a:solidFill>
              <a:latin typeface="Arial"/>
              <a:ea typeface="Arial"/>
              <a:cs typeface="Arial"/>
              <a:sym typeface="Arial"/>
            </a:endParaRPr>
          </a:p>
        </p:txBody>
      </p:sp>
      <p:sp>
        <p:nvSpPr>
          <p:cNvPr id="409" name="Google Shape;409;p21"/>
          <p:cNvSpPr txBox="1"/>
          <p:nvPr/>
        </p:nvSpPr>
        <p:spPr>
          <a:xfrm>
            <a:off x="5971530" y="831162"/>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Prise en charge Assurance Maladie (AMO)</a:t>
            </a:r>
            <a:endParaRPr b="0" i="0" sz="1400" u="none" cap="none" strike="noStrike">
              <a:solidFill>
                <a:srgbClr val="000000"/>
              </a:solidFill>
              <a:latin typeface="Arial"/>
              <a:ea typeface="Arial"/>
              <a:cs typeface="Arial"/>
              <a:sym typeface="Arial"/>
            </a:endParaRPr>
          </a:p>
        </p:txBody>
      </p:sp>
      <p:sp>
        <p:nvSpPr>
          <p:cNvPr id="410" name="Google Shape;410;p21"/>
          <p:cNvSpPr txBox="1"/>
          <p:nvPr/>
        </p:nvSpPr>
        <p:spPr>
          <a:xfrm>
            <a:off x="6473074" y="1291592"/>
            <a:ext cx="2217600" cy="24936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115000"/>
              </a:lnSpc>
              <a:spcBef>
                <a:spcPts val="1200"/>
              </a:spcBef>
              <a:spcAft>
                <a:spcPts val="0"/>
              </a:spcAft>
              <a:buClr>
                <a:srgbClr val="FFFFFF"/>
              </a:buClr>
              <a:buSzPts val="900"/>
              <a:buFont typeface="Arial"/>
              <a:buChar char="●"/>
            </a:pPr>
            <a:r>
              <a:rPr b="0" i="0" lang="en-US" sz="1200" u="none" cap="none" strike="noStrike">
                <a:solidFill>
                  <a:srgbClr val="FFFFFF"/>
                </a:solidFill>
                <a:latin typeface="Arial"/>
                <a:ea typeface="Arial"/>
                <a:cs typeface="Arial"/>
                <a:sym typeface="Arial"/>
              </a:rPr>
              <a:t>Très faible → seulement sur la BRSS (quelques euros).</a:t>
            </a:r>
            <a:br>
              <a:rPr b="0" i="0" lang="en-US" sz="1200" u="none" cap="none" strike="noStrike">
                <a:solidFill>
                  <a:srgbClr val="FFFFFF"/>
                </a:solidFill>
                <a:latin typeface="Arial"/>
                <a:ea typeface="Arial"/>
                <a:cs typeface="Arial"/>
                <a:sym typeface="Arial"/>
              </a:rPr>
            </a:br>
            <a:endParaRPr b="0" i="0" sz="1200" u="none" cap="none" strike="noStrike">
              <a:solidFill>
                <a:srgbClr val="FFFFFF"/>
              </a:solidFill>
              <a:latin typeface="Arial"/>
              <a:ea typeface="Arial"/>
              <a:cs typeface="Arial"/>
              <a:sym typeface="Arial"/>
            </a:endParaRPr>
          </a:p>
          <a:p>
            <a:pPr indent="-285750" lvl="0" marL="457200" marR="0" rtl="0" algn="l">
              <a:lnSpc>
                <a:spcPct val="115000"/>
              </a:lnSpc>
              <a:spcBef>
                <a:spcPts val="0"/>
              </a:spcBef>
              <a:spcAft>
                <a:spcPts val="0"/>
              </a:spcAft>
              <a:buClr>
                <a:srgbClr val="FFFFFF"/>
              </a:buClr>
              <a:buSzPts val="900"/>
              <a:buFont typeface="Arial"/>
              <a:buChar char="●"/>
            </a:pPr>
            <a:r>
              <a:rPr b="0" i="0" lang="en-US" sz="1200" u="none" cap="none" strike="noStrike">
                <a:solidFill>
                  <a:srgbClr val="FFFFFF"/>
                </a:solidFill>
                <a:latin typeface="Arial"/>
                <a:ea typeface="Arial"/>
                <a:cs typeface="Arial"/>
                <a:sym typeface="Arial"/>
              </a:rPr>
              <a:t>Pas de distinction entre bas de gamme et haut de gamme → remboursement dérisoire dans tous les cas.</a:t>
            </a:r>
            <a:br>
              <a:rPr b="0" i="0" lang="en-US" sz="1200" u="none" cap="none" strike="noStrike">
                <a:solidFill>
                  <a:srgbClr val="FFFFFF"/>
                </a:solidFill>
                <a:latin typeface="Arial"/>
                <a:ea typeface="Arial"/>
                <a:cs typeface="Arial"/>
                <a:sym typeface="Arial"/>
              </a:rPr>
            </a:br>
            <a:endParaRPr b="0" i="0" sz="1200" u="none" cap="none" strike="noStrike">
              <a:solidFill>
                <a:srgbClr val="FFFFFF"/>
              </a:solidFill>
              <a:latin typeface="Arial"/>
              <a:ea typeface="Arial"/>
              <a:cs typeface="Arial"/>
              <a:sym typeface="Arial"/>
            </a:endParaRPr>
          </a:p>
        </p:txBody>
      </p:sp>
      <p:cxnSp>
        <p:nvCxnSpPr>
          <p:cNvPr id="411" name="Google Shape;411;p21"/>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412" name="Google Shape;412;p21"/>
          <p:cNvSpPr txBox="1"/>
          <p:nvPr/>
        </p:nvSpPr>
        <p:spPr>
          <a:xfrm>
            <a:off x="1012000" y="4115800"/>
            <a:ext cx="5276700" cy="548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Clr>
                <a:srgbClr val="000000"/>
              </a:buClr>
              <a:buSzPts val="1100"/>
              <a:buFont typeface="Arial"/>
              <a:buNone/>
            </a:pPr>
            <a:r>
              <a:rPr b="0" i="0" lang="en-US" sz="1100" u="none" cap="none" strike="noStrike">
                <a:solidFill>
                  <a:schemeClr val="dk1"/>
                </a:solidFill>
                <a:latin typeface="Arial"/>
                <a:ea typeface="Arial"/>
                <a:cs typeface="Arial"/>
                <a:sym typeface="Arial"/>
              </a:rPr>
              <a:t>En pratique : la Sécurité sociale rembourse </a:t>
            </a:r>
            <a:r>
              <a:rPr b="1" i="0" lang="en-US" sz="1100" u="none" cap="none" strike="noStrike">
                <a:solidFill>
                  <a:schemeClr val="dk1"/>
                </a:solidFill>
                <a:latin typeface="Arial"/>
                <a:ea typeface="Arial"/>
                <a:cs typeface="Arial"/>
                <a:sym typeface="Arial"/>
              </a:rPr>
              <a:t>moins de 15 € par verre</a:t>
            </a:r>
            <a:r>
              <a:rPr b="0" i="0" lang="en-US" sz="1100" u="none" cap="none" strike="noStrike">
                <a:solidFill>
                  <a:schemeClr val="dk1"/>
                </a:solidFill>
                <a:latin typeface="Arial"/>
                <a:ea typeface="Arial"/>
                <a:cs typeface="Arial"/>
                <a:sym typeface="Arial"/>
              </a:rPr>
              <a:t>, alors que les prix réels varient de </a:t>
            </a:r>
            <a:r>
              <a:rPr b="1" i="0" lang="en-US" sz="1100" u="none" cap="none" strike="noStrike">
                <a:solidFill>
                  <a:schemeClr val="dk1"/>
                </a:solidFill>
                <a:latin typeface="Arial"/>
                <a:ea typeface="Arial"/>
                <a:cs typeface="Arial"/>
                <a:sym typeface="Arial"/>
              </a:rPr>
              <a:t>100 à 400 € par verre</a:t>
            </a:r>
            <a:r>
              <a:rPr b="0" i="0" lang="en-US" sz="11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grpSp>
        <p:nvGrpSpPr>
          <p:cNvPr id="417" name="Google Shape;417;p22"/>
          <p:cNvGrpSpPr/>
          <p:nvPr/>
        </p:nvGrpSpPr>
        <p:grpSpPr>
          <a:xfrm>
            <a:off x="0" y="1946520"/>
            <a:ext cx="9143639" cy="3196441"/>
            <a:chOff x="0" y="1946520"/>
            <a:chExt cx="9143639" cy="3196441"/>
          </a:xfrm>
        </p:grpSpPr>
        <p:pic>
          <p:nvPicPr>
            <p:cNvPr id="418" name="Google Shape;418;p22"/>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19" name="Google Shape;419;p22"/>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20" name="Google Shape;420;p22"/>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21" name="Google Shape;421;p22"/>
          <p:cNvSpPr/>
          <p:nvPr/>
        </p:nvSpPr>
        <p:spPr>
          <a:xfrm>
            <a:off x="6872675" y="1199379"/>
            <a:ext cx="1782900" cy="2325900"/>
          </a:xfrm>
          <a:prstGeom prst="roundRect">
            <a:avLst>
              <a:gd fmla="val 16667" name="adj"/>
            </a:avLst>
          </a:prstGeom>
          <a:solidFill>
            <a:srgbClr val="1155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2"/>
          <p:cNvSpPr txBox="1"/>
          <p:nvPr/>
        </p:nvSpPr>
        <p:spPr>
          <a:xfrm>
            <a:off x="0" y="584650"/>
            <a:ext cx="23031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Prise en charge Mutuelle</a:t>
            </a:r>
            <a:endParaRPr b="0" i="0" sz="1400" u="none" cap="none" strike="noStrike">
              <a:solidFill>
                <a:srgbClr val="000000"/>
              </a:solidFill>
              <a:latin typeface="Arial"/>
              <a:ea typeface="Arial"/>
              <a:cs typeface="Arial"/>
              <a:sym typeface="Arial"/>
            </a:endParaRPr>
          </a:p>
        </p:txBody>
      </p:sp>
      <p:sp>
        <p:nvSpPr>
          <p:cNvPr id="423" name="Google Shape;423;p22"/>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Optique</a:t>
            </a: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24" name="Google Shape;424;p22"/>
          <p:cNvSpPr txBox="1"/>
          <p:nvPr/>
        </p:nvSpPr>
        <p:spPr>
          <a:xfrm>
            <a:off x="497625" y="1312725"/>
            <a:ext cx="5330100" cy="310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100 % Santé</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Monture plafonnée à </a:t>
            </a:r>
            <a:r>
              <a:rPr b="1" i="0" lang="en-US" sz="1100" u="none" cap="none" strike="noStrike">
                <a:solidFill>
                  <a:schemeClr val="dk1"/>
                </a:solidFill>
                <a:latin typeface="Arial"/>
                <a:ea typeface="Arial"/>
                <a:cs typeface="Arial"/>
                <a:sym typeface="Arial"/>
              </a:rPr>
              <a:t>30 €</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Verres à tarifs encadrés (selon correction).</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Remboursement AMO + Mutuelle → </a:t>
            </a:r>
            <a:r>
              <a:rPr b="1" i="0" lang="en-US" sz="1100" u="none" cap="none" strike="noStrike">
                <a:solidFill>
                  <a:schemeClr val="dk1"/>
                </a:solidFill>
                <a:latin typeface="Arial"/>
                <a:ea typeface="Arial"/>
                <a:cs typeface="Arial"/>
                <a:sym typeface="Arial"/>
              </a:rPr>
              <a:t>reste à charge 0 €</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Hors 100 % Santé</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Mutuelle propose un </a:t>
            </a:r>
            <a:r>
              <a:rPr b="1" i="0" lang="en-US" sz="1100" u="none" cap="none" strike="noStrike">
                <a:solidFill>
                  <a:schemeClr val="dk1"/>
                </a:solidFill>
                <a:latin typeface="Arial"/>
                <a:ea typeface="Arial"/>
                <a:cs typeface="Arial"/>
                <a:sym typeface="Arial"/>
              </a:rPr>
              <a:t>forfait en €</a:t>
            </a:r>
            <a:r>
              <a:rPr b="0" i="0" lang="en-US" sz="1100" u="none" cap="none" strike="noStrike">
                <a:solidFill>
                  <a:schemeClr val="dk1"/>
                </a:solidFill>
                <a:latin typeface="Arial"/>
                <a:ea typeface="Arial"/>
                <a:cs typeface="Arial"/>
                <a:sym typeface="Arial"/>
              </a:rPr>
              <a:t> (ex. 150 € à 400 € tous les 2 ans).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Certaines formules haut de gamme → </a:t>
            </a:r>
            <a:r>
              <a:rPr b="1" i="0" lang="en-US" sz="1100" u="none" cap="none" strike="noStrike">
                <a:solidFill>
                  <a:schemeClr val="dk1"/>
                </a:solidFill>
                <a:latin typeface="Arial"/>
                <a:ea typeface="Arial"/>
                <a:cs typeface="Arial"/>
                <a:sym typeface="Arial"/>
              </a:rPr>
              <a:t>jusqu’à 600 €</a:t>
            </a:r>
            <a:r>
              <a:rPr b="0" i="0" lang="en-US" sz="1100" u="none" cap="none" strike="noStrike">
                <a:solidFill>
                  <a:schemeClr val="dk1"/>
                </a:solidFill>
                <a:latin typeface="Arial"/>
                <a:ea typeface="Arial"/>
                <a:cs typeface="Arial"/>
                <a:sym typeface="Arial"/>
              </a:rPr>
              <a:t> ou </a:t>
            </a:r>
            <a:r>
              <a:rPr b="1" i="0" lang="en-US" sz="1100" u="none" cap="none" strike="noStrike">
                <a:solidFill>
                  <a:schemeClr val="dk1"/>
                </a:solidFill>
                <a:latin typeface="Arial"/>
                <a:ea typeface="Arial"/>
                <a:cs typeface="Arial"/>
                <a:sym typeface="Arial"/>
              </a:rPr>
              <a:t>200–400 % BRSS</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425" name="Google Shape;425;p22"/>
          <p:cNvSpPr txBox="1"/>
          <p:nvPr/>
        </p:nvSpPr>
        <p:spPr>
          <a:xfrm>
            <a:off x="6841925" y="1226150"/>
            <a:ext cx="1835400" cy="221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FFFFFF"/>
                </a:solidFill>
                <a:latin typeface="Arial"/>
                <a:ea typeface="Arial"/>
                <a:cs typeface="Arial"/>
                <a:sym typeface="Arial"/>
              </a:rPr>
              <a:t>En optique, l’Assurance Maladie rembourse seulement quelques euros.</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FFFFFF"/>
                </a:solidFill>
                <a:latin typeface="Arial"/>
                <a:ea typeface="Arial"/>
                <a:cs typeface="Arial"/>
                <a:sym typeface="Arial"/>
              </a:rPr>
              <a:t>Sans mutuelle adaptée, le reste à charge est très élevé.</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FFFFFF"/>
                </a:solidFill>
                <a:latin typeface="Arial"/>
                <a:ea typeface="Arial"/>
                <a:cs typeface="Arial"/>
                <a:sym typeface="Arial"/>
              </a:rPr>
              <a:t>Grâce au </a:t>
            </a:r>
            <a:r>
              <a:rPr b="1" i="0" lang="en-US" sz="1200" u="none" cap="none" strike="noStrike">
                <a:solidFill>
                  <a:srgbClr val="FFFFFF"/>
                </a:solidFill>
                <a:latin typeface="Arial"/>
                <a:ea typeface="Arial"/>
                <a:cs typeface="Arial"/>
                <a:sym typeface="Arial"/>
              </a:rPr>
              <a:t>100 % Santé</a:t>
            </a:r>
            <a:r>
              <a:rPr b="0" i="0" lang="en-US" sz="1200" u="none" cap="none" strike="noStrike">
                <a:solidFill>
                  <a:srgbClr val="FFFFFF"/>
                </a:solidFill>
                <a:latin typeface="Arial"/>
                <a:ea typeface="Arial"/>
                <a:cs typeface="Arial"/>
                <a:sym typeface="Arial"/>
              </a:rPr>
              <a:t>, l’assuré peut avoir des lunettes complètes </a:t>
            </a:r>
            <a:r>
              <a:rPr b="1" i="0" lang="en-US" sz="1200" u="none" cap="none" strike="noStrike">
                <a:solidFill>
                  <a:srgbClr val="FFFFFF"/>
                </a:solidFill>
                <a:latin typeface="Arial"/>
                <a:ea typeface="Arial"/>
                <a:cs typeface="Arial"/>
                <a:sym typeface="Arial"/>
              </a:rPr>
              <a:t>sans rien payer</a:t>
            </a:r>
            <a:r>
              <a:rPr b="0" i="0" lang="en-US" sz="1200" u="none" cap="none" strike="noStrike">
                <a:solidFill>
                  <a:srgbClr val="FFFFFF"/>
                </a:solidFill>
                <a:latin typeface="Arial"/>
                <a:ea typeface="Arial"/>
                <a:cs typeface="Arial"/>
                <a:sym typeface="Arial"/>
              </a:rPr>
              <a:t>.</a:t>
            </a:r>
            <a:endParaRPr b="0" i="0" sz="1500" u="none" cap="none" strike="noStrike">
              <a:solidFill>
                <a:srgbClr val="FFFFFF"/>
              </a:solidFill>
              <a:latin typeface="Arial"/>
              <a:ea typeface="Arial"/>
              <a:cs typeface="Arial"/>
              <a:sym typeface="Arial"/>
            </a:endParaRPr>
          </a:p>
        </p:txBody>
      </p:sp>
      <p:cxnSp>
        <p:nvCxnSpPr>
          <p:cNvPr id="426" name="Google Shape;426;p22"/>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grpSp>
        <p:nvGrpSpPr>
          <p:cNvPr id="431" name="Google Shape;431;p23"/>
          <p:cNvGrpSpPr/>
          <p:nvPr/>
        </p:nvGrpSpPr>
        <p:grpSpPr>
          <a:xfrm>
            <a:off x="0" y="1946520"/>
            <a:ext cx="9143639" cy="3196441"/>
            <a:chOff x="0" y="1946520"/>
            <a:chExt cx="9143639" cy="3196441"/>
          </a:xfrm>
        </p:grpSpPr>
        <p:pic>
          <p:nvPicPr>
            <p:cNvPr id="432" name="Google Shape;432;p23"/>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33" name="Google Shape;433;p23"/>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34" name="Google Shape;434;p23"/>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35" name="Google Shape;435;p23"/>
          <p:cNvSpPr/>
          <p:nvPr/>
        </p:nvSpPr>
        <p:spPr>
          <a:xfrm>
            <a:off x="6678007" y="1926845"/>
            <a:ext cx="1885200" cy="10314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23"/>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Auditif</a:t>
            </a:r>
            <a:endParaRPr b="0" i="0" sz="1800" u="none" cap="none" strike="noStrike">
              <a:solidFill>
                <a:srgbClr val="000000"/>
              </a:solidFill>
              <a:latin typeface="Arial"/>
              <a:ea typeface="Arial"/>
              <a:cs typeface="Arial"/>
              <a:sym typeface="Arial"/>
            </a:endParaRPr>
          </a:p>
        </p:txBody>
      </p:sp>
      <p:sp>
        <p:nvSpPr>
          <p:cNvPr id="437" name="Google Shape;437;p23"/>
          <p:cNvSpPr txBox="1"/>
          <p:nvPr/>
        </p:nvSpPr>
        <p:spPr>
          <a:xfrm>
            <a:off x="-25500" y="686813"/>
            <a:ext cx="30510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400"/>
              <a:buFont typeface="Arial"/>
              <a:buNone/>
            </a:pPr>
            <a:r>
              <a:rPr b="0" i="0" lang="en-US" sz="1400" u="none" cap="none" strike="noStrike">
                <a:solidFill>
                  <a:srgbClr val="000000"/>
                </a:solidFill>
                <a:latin typeface="Arial"/>
                <a:ea typeface="Arial"/>
                <a:cs typeface="Arial"/>
                <a:sym typeface="Arial"/>
              </a:rPr>
              <a:t>Tarifs de convention (BRSS 2025)</a:t>
            </a:r>
            <a:endParaRPr b="1" i="0" sz="1300" u="none" cap="none" strike="noStrike">
              <a:solidFill>
                <a:schemeClr val="dk1"/>
              </a:solidFill>
              <a:latin typeface="Arial"/>
              <a:ea typeface="Arial"/>
              <a:cs typeface="Arial"/>
              <a:sym typeface="Arial"/>
            </a:endParaRPr>
          </a:p>
        </p:txBody>
      </p:sp>
      <p:sp>
        <p:nvSpPr>
          <p:cNvPr id="438" name="Google Shape;438;p23"/>
          <p:cNvSpPr txBox="1"/>
          <p:nvPr/>
        </p:nvSpPr>
        <p:spPr>
          <a:xfrm>
            <a:off x="437997" y="1312151"/>
            <a:ext cx="3231000" cy="109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Appareil auditif (par oreille)</a:t>
            </a:r>
            <a:r>
              <a:rPr b="0" i="0" lang="en-US"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Base de remboursement (BRSS) = </a:t>
            </a:r>
            <a:r>
              <a:rPr b="1" i="0" lang="en-US" sz="1100" u="none" cap="none" strike="noStrike">
                <a:solidFill>
                  <a:schemeClr val="dk1"/>
                </a:solidFill>
                <a:latin typeface="Arial"/>
                <a:ea typeface="Arial"/>
                <a:cs typeface="Arial"/>
                <a:sym typeface="Arial"/>
              </a:rPr>
              <a:t>400 €</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Remboursement AMO (60 %) = </a:t>
            </a:r>
            <a:r>
              <a:rPr b="1" i="0" lang="en-US" sz="1100" u="none" cap="none" strike="noStrike">
                <a:solidFill>
                  <a:schemeClr val="dk1"/>
                </a:solidFill>
                <a:latin typeface="Arial"/>
                <a:ea typeface="Arial"/>
                <a:cs typeface="Arial"/>
                <a:sym typeface="Arial"/>
              </a:rPr>
              <a:t>240 €</a:t>
            </a:r>
            <a:endParaRPr b="1" i="0" sz="1100" u="none" cap="none" strike="noStrike">
              <a:solidFill>
                <a:schemeClr val="dk1"/>
              </a:solidFill>
              <a:latin typeface="Arial"/>
              <a:ea typeface="Arial"/>
              <a:cs typeface="Arial"/>
              <a:sym typeface="Arial"/>
            </a:endParaRPr>
          </a:p>
        </p:txBody>
      </p:sp>
      <p:sp>
        <p:nvSpPr>
          <p:cNvPr id="439" name="Google Shape;439;p23"/>
          <p:cNvSpPr txBox="1"/>
          <p:nvPr/>
        </p:nvSpPr>
        <p:spPr>
          <a:xfrm>
            <a:off x="6679900" y="1911163"/>
            <a:ext cx="19653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Arial"/>
                <a:ea typeface="Arial"/>
                <a:cs typeface="Arial"/>
                <a:sym typeface="Arial"/>
              </a:rPr>
              <a:t>le prix réel d’un appareil auditif varie entre </a:t>
            </a:r>
            <a:r>
              <a:rPr b="1" i="0" lang="en-US" sz="1100" u="none" cap="none" strike="noStrike">
                <a:solidFill>
                  <a:srgbClr val="FFFFFF"/>
                </a:solidFill>
                <a:latin typeface="Arial"/>
                <a:ea typeface="Arial"/>
                <a:cs typeface="Arial"/>
                <a:sym typeface="Arial"/>
              </a:rPr>
              <a:t>950 € (classe I – 100 % Santé)</a:t>
            </a:r>
            <a:r>
              <a:rPr b="0" i="0" lang="en-US" sz="1100" u="none" cap="none" strike="noStrike">
                <a:solidFill>
                  <a:srgbClr val="FFFFFF"/>
                </a:solidFill>
                <a:latin typeface="Arial"/>
                <a:ea typeface="Arial"/>
                <a:cs typeface="Arial"/>
                <a:sym typeface="Arial"/>
              </a:rPr>
              <a:t> et </a:t>
            </a:r>
            <a:r>
              <a:rPr b="1" i="0" lang="en-US" sz="1100" u="none" cap="none" strike="noStrike">
                <a:solidFill>
                  <a:srgbClr val="FFFFFF"/>
                </a:solidFill>
                <a:latin typeface="Arial"/>
                <a:ea typeface="Arial"/>
                <a:cs typeface="Arial"/>
                <a:sym typeface="Arial"/>
              </a:rPr>
              <a:t>1 500 à 2 500 € (classe II – hors 100 % Santé)</a:t>
            </a:r>
            <a:r>
              <a:rPr b="0" i="0" lang="en-US" sz="1100" u="none" cap="none" strike="noStrike">
                <a:solidFill>
                  <a:srgbClr val="FFFFFF"/>
                </a:solidFill>
                <a:latin typeface="Arial"/>
                <a:ea typeface="Arial"/>
                <a:cs typeface="Arial"/>
                <a:sym typeface="Arial"/>
              </a:rPr>
              <a:t>.</a:t>
            </a:r>
            <a:endParaRPr b="0" i="0" sz="1400" u="none" cap="none" strike="noStrike">
              <a:solidFill>
                <a:srgbClr val="FFFFFF"/>
              </a:solidFill>
              <a:latin typeface="Arial"/>
              <a:ea typeface="Arial"/>
              <a:cs typeface="Arial"/>
              <a:sym typeface="Arial"/>
            </a:endParaRPr>
          </a:p>
        </p:txBody>
      </p:sp>
      <p:sp>
        <p:nvSpPr>
          <p:cNvPr id="440" name="Google Shape;440;p23"/>
          <p:cNvSpPr txBox="1"/>
          <p:nvPr/>
        </p:nvSpPr>
        <p:spPr>
          <a:xfrm>
            <a:off x="2" y="2558038"/>
            <a:ext cx="3704700" cy="400200"/>
          </a:xfrm>
          <a:prstGeom prst="rect">
            <a:avLst/>
          </a:prstGeom>
          <a:solidFill>
            <a:srgbClr val="A2C4C9"/>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P</a:t>
            </a:r>
            <a:r>
              <a:rPr b="0" i="0" lang="en-US" sz="1400" u="none" cap="none" strike="noStrike">
                <a:solidFill>
                  <a:srgbClr val="000000"/>
                </a:solidFill>
                <a:latin typeface="Arial"/>
                <a:ea typeface="Arial"/>
                <a:cs typeface="Arial"/>
                <a:sym typeface="Arial"/>
              </a:rPr>
              <a:t>rise en charge Assurance Maladie (AMO)</a:t>
            </a:r>
            <a:endParaRPr b="0" i="0" sz="1400" u="none" cap="none" strike="noStrike">
              <a:solidFill>
                <a:srgbClr val="000000"/>
              </a:solidFill>
              <a:latin typeface="Arial"/>
              <a:ea typeface="Arial"/>
              <a:cs typeface="Arial"/>
              <a:sym typeface="Arial"/>
            </a:endParaRPr>
          </a:p>
        </p:txBody>
      </p:sp>
      <p:sp>
        <p:nvSpPr>
          <p:cNvPr id="441" name="Google Shape;441;p23"/>
          <p:cNvSpPr txBox="1"/>
          <p:nvPr/>
        </p:nvSpPr>
        <p:spPr>
          <a:xfrm>
            <a:off x="728647" y="3288651"/>
            <a:ext cx="37047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Forfait fixe basé sur la BRSS = </a:t>
            </a:r>
            <a:r>
              <a:rPr b="1" i="0" lang="en-US" sz="1100" u="none" cap="none" strike="noStrike">
                <a:solidFill>
                  <a:schemeClr val="dk1"/>
                </a:solidFill>
                <a:latin typeface="Arial"/>
                <a:ea typeface="Arial"/>
                <a:cs typeface="Arial"/>
                <a:sym typeface="Arial"/>
              </a:rPr>
              <a:t>240 € par oreille</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Quel que soit le prix réel de l’appareil → remboursement plafonné.</a:t>
            </a:r>
            <a:endParaRPr b="0" i="0" sz="1100" u="none" cap="none" strike="noStrike">
              <a:solidFill>
                <a:schemeClr val="dk1"/>
              </a:solidFill>
              <a:latin typeface="Arial"/>
              <a:ea typeface="Arial"/>
              <a:cs typeface="Arial"/>
              <a:sym typeface="Arial"/>
            </a:endParaRPr>
          </a:p>
        </p:txBody>
      </p:sp>
      <p:cxnSp>
        <p:nvCxnSpPr>
          <p:cNvPr id="442" name="Google Shape;442;p23"/>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443" name="Google Shape;443;p23"/>
          <p:cNvSpPr txBox="1"/>
          <p:nvPr/>
        </p:nvSpPr>
        <p:spPr>
          <a:xfrm>
            <a:off x="6782850" y="1526425"/>
            <a:ext cx="1165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 En pratique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grpSp>
        <p:nvGrpSpPr>
          <p:cNvPr id="448" name="Google Shape;448;p24"/>
          <p:cNvGrpSpPr/>
          <p:nvPr/>
        </p:nvGrpSpPr>
        <p:grpSpPr>
          <a:xfrm>
            <a:off x="0" y="1946520"/>
            <a:ext cx="9143639" cy="3196441"/>
            <a:chOff x="0" y="1946520"/>
            <a:chExt cx="9143639" cy="3196441"/>
          </a:xfrm>
        </p:grpSpPr>
        <p:pic>
          <p:nvPicPr>
            <p:cNvPr id="449" name="Google Shape;449;p24"/>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50" name="Google Shape;450;p24"/>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51" name="Google Shape;451;p24"/>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52" name="Google Shape;452;p24"/>
          <p:cNvSpPr/>
          <p:nvPr/>
        </p:nvSpPr>
        <p:spPr>
          <a:xfrm>
            <a:off x="274250" y="2613325"/>
            <a:ext cx="4036800" cy="829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4"/>
          <p:cNvSpPr/>
          <p:nvPr/>
        </p:nvSpPr>
        <p:spPr>
          <a:xfrm>
            <a:off x="5375475" y="2366125"/>
            <a:ext cx="3454200" cy="16020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4"/>
          <p:cNvSpPr txBox="1"/>
          <p:nvPr/>
        </p:nvSpPr>
        <p:spPr>
          <a:xfrm>
            <a:off x="0" y="575650"/>
            <a:ext cx="2210700" cy="4002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Prise en charge Mutuelle</a:t>
            </a:r>
            <a:endParaRPr b="0" i="0" sz="1400" u="none" cap="none" strike="noStrike">
              <a:solidFill>
                <a:srgbClr val="000000"/>
              </a:solidFill>
              <a:latin typeface="Arial"/>
              <a:ea typeface="Arial"/>
              <a:cs typeface="Arial"/>
              <a:sym typeface="Arial"/>
            </a:endParaRPr>
          </a:p>
        </p:txBody>
      </p:sp>
      <p:sp>
        <p:nvSpPr>
          <p:cNvPr id="455" name="Google Shape;455;p24"/>
          <p:cNvSpPr txBox="1"/>
          <p:nvPr/>
        </p:nvSpPr>
        <p:spPr>
          <a:xfrm>
            <a:off x="74525" y="2599488"/>
            <a:ext cx="4093200" cy="7434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Prix plafonné à </a:t>
            </a:r>
            <a:r>
              <a:rPr b="1" i="0" lang="en-US" sz="1100" u="none" cap="none" strike="noStrike">
                <a:solidFill>
                  <a:srgbClr val="FFFFFF"/>
                </a:solidFill>
                <a:latin typeface="Arial"/>
                <a:ea typeface="Arial"/>
                <a:cs typeface="Arial"/>
                <a:sym typeface="Arial"/>
              </a:rPr>
              <a:t>950 € par oreille</a:t>
            </a:r>
            <a:r>
              <a:rPr b="0" i="0" lang="en-US" sz="1100" u="none" cap="none" strike="noStrike">
                <a:solidFill>
                  <a:srgbClr val="FFFFFF"/>
                </a:solidFill>
                <a:latin typeface="Arial"/>
                <a:ea typeface="Arial"/>
                <a:cs typeface="Arial"/>
                <a:sym typeface="Arial"/>
              </a:rPr>
              <a:t>.</a:t>
            </a:r>
            <a:br>
              <a:rPr b="0" i="0" lang="en-US" sz="1100" u="none" cap="none" strike="noStrike">
                <a:solidFill>
                  <a:srgbClr val="FFFFFF"/>
                </a:solidFill>
                <a:latin typeface="Arial"/>
                <a:ea typeface="Arial"/>
                <a:cs typeface="Arial"/>
                <a:sym typeface="Arial"/>
              </a:rPr>
            </a:br>
            <a:endParaRPr b="0" i="0" sz="1100" u="none" cap="none" strike="noStrike">
              <a:solidFill>
                <a:srgbClr val="FFFFFF"/>
              </a:solidFill>
              <a:latin typeface="Arial"/>
              <a:ea typeface="Arial"/>
              <a:cs typeface="Arial"/>
              <a:sym typeface="Arial"/>
            </a:endParaRPr>
          </a:p>
          <a:p>
            <a:pPr indent="-298450" lvl="0" marL="457200" marR="0" rtl="0" algn="l">
              <a:lnSpc>
                <a:spcPct val="115000"/>
              </a:lnSpc>
              <a:spcBef>
                <a:spcPts val="0"/>
              </a:spcBef>
              <a:spcAft>
                <a:spcPts val="0"/>
              </a:spcAft>
              <a:buClr>
                <a:srgbClr val="FFFFFF"/>
              </a:buClr>
              <a:buSzPts val="1100"/>
              <a:buFont typeface="Arial"/>
              <a:buChar char="●"/>
            </a:pPr>
            <a:r>
              <a:rPr b="0" i="0" lang="en-US" sz="1100" u="none" cap="none" strike="noStrike">
                <a:solidFill>
                  <a:srgbClr val="FFFFFF"/>
                </a:solidFill>
                <a:latin typeface="Arial"/>
                <a:ea typeface="Arial"/>
                <a:cs typeface="Arial"/>
                <a:sym typeface="Arial"/>
              </a:rPr>
              <a:t>AMO + mutuelle couvrent </a:t>
            </a:r>
            <a:r>
              <a:rPr b="1" i="0" lang="en-US" sz="1100" u="none" cap="none" strike="noStrike">
                <a:solidFill>
                  <a:srgbClr val="FFFFFF"/>
                </a:solidFill>
                <a:latin typeface="Arial"/>
                <a:ea typeface="Arial"/>
                <a:cs typeface="Arial"/>
                <a:sym typeface="Arial"/>
              </a:rPr>
              <a:t>100 %</a:t>
            </a:r>
            <a:r>
              <a:rPr b="0" i="0" lang="en-US" sz="1100" u="none" cap="none" strike="noStrike">
                <a:solidFill>
                  <a:srgbClr val="FFFFFF"/>
                </a:solidFill>
                <a:latin typeface="Arial"/>
                <a:ea typeface="Arial"/>
                <a:cs typeface="Arial"/>
                <a:sym typeface="Arial"/>
              </a:rPr>
              <a:t> → </a:t>
            </a:r>
            <a:r>
              <a:rPr b="1" i="0" lang="en-US" sz="1100" u="none" cap="none" strike="noStrike">
                <a:solidFill>
                  <a:srgbClr val="FFFFFF"/>
                </a:solidFill>
                <a:latin typeface="Arial"/>
                <a:ea typeface="Arial"/>
                <a:cs typeface="Arial"/>
                <a:sym typeface="Arial"/>
              </a:rPr>
              <a:t>reste à charge 0 €</a:t>
            </a:r>
            <a:r>
              <a:rPr b="0" i="0" lang="en-US" sz="1100" u="none" cap="none" strike="noStrike">
                <a:solidFill>
                  <a:srgbClr val="FFFFFF"/>
                </a:solidFill>
                <a:latin typeface="Arial"/>
                <a:ea typeface="Arial"/>
                <a:cs typeface="Arial"/>
                <a:sym typeface="Arial"/>
              </a:rPr>
              <a:t>.</a:t>
            </a:r>
            <a:endParaRPr b="0" i="0" sz="1100" u="none" cap="none" strike="noStrike">
              <a:solidFill>
                <a:srgbClr val="FFFFFF"/>
              </a:solidFill>
              <a:latin typeface="Arial"/>
              <a:ea typeface="Arial"/>
              <a:cs typeface="Arial"/>
              <a:sym typeface="Arial"/>
            </a:endParaRPr>
          </a:p>
        </p:txBody>
      </p:sp>
      <p:cxnSp>
        <p:nvCxnSpPr>
          <p:cNvPr id="456" name="Google Shape;456;p24"/>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457" name="Google Shape;457;p24"/>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Auditif</a:t>
            </a:r>
            <a:endParaRPr b="0" i="0" sz="1800" u="none" cap="none" strike="noStrike">
              <a:solidFill>
                <a:srgbClr val="000000"/>
              </a:solidFill>
              <a:latin typeface="Arial"/>
              <a:ea typeface="Arial"/>
              <a:cs typeface="Arial"/>
              <a:sym typeface="Arial"/>
            </a:endParaRPr>
          </a:p>
        </p:txBody>
      </p:sp>
      <p:sp>
        <p:nvSpPr>
          <p:cNvPr id="458" name="Google Shape;458;p24"/>
          <p:cNvSpPr txBox="1"/>
          <p:nvPr/>
        </p:nvSpPr>
        <p:spPr>
          <a:xfrm>
            <a:off x="5161506" y="2463270"/>
            <a:ext cx="3920100" cy="1223700"/>
          </a:xfrm>
          <a:prstGeom prst="rect">
            <a:avLst/>
          </a:prstGeom>
          <a:noFill/>
          <a:ln>
            <a:noFill/>
          </a:ln>
        </p:spPr>
        <p:txBody>
          <a:bodyPr anchorCtr="0" anchor="t" bIns="91425" lIns="91425" spcFirstLastPara="1" rIns="91425" wrap="square" tIns="91425">
            <a:spAutoFit/>
          </a:bodyPr>
          <a:lstStyle/>
          <a:p>
            <a:pPr indent="-292100" lvl="0" marL="457200" marR="0" rtl="0" algn="l">
              <a:lnSpc>
                <a:spcPct val="115000"/>
              </a:lnSpc>
              <a:spcBef>
                <a:spcPts val="1200"/>
              </a:spcBef>
              <a:spcAft>
                <a:spcPts val="0"/>
              </a:spcAft>
              <a:buClr>
                <a:srgbClr val="FFFFFF"/>
              </a:buClr>
              <a:buSzPts val="1000"/>
              <a:buFont typeface="Arial"/>
              <a:buChar char="●"/>
            </a:pPr>
            <a:r>
              <a:rPr b="0" i="0" lang="en-US" sz="1000" u="none" cap="none" strike="noStrike">
                <a:solidFill>
                  <a:srgbClr val="FFFFFF"/>
                </a:solidFill>
                <a:latin typeface="Arial"/>
                <a:ea typeface="Arial"/>
                <a:cs typeface="Arial"/>
                <a:sym typeface="Arial"/>
              </a:rPr>
              <a:t>Prix libre (souvent 1 500 à 2 500 € par oreille).</a:t>
            </a:r>
            <a:br>
              <a:rPr b="0" i="0" lang="en-US" sz="1000" u="none" cap="none" strike="noStrike">
                <a:solidFill>
                  <a:srgbClr val="FFFFFF"/>
                </a:solidFill>
                <a:latin typeface="Arial"/>
                <a:ea typeface="Arial"/>
                <a:cs typeface="Arial"/>
                <a:sym typeface="Arial"/>
              </a:rPr>
            </a:br>
            <a:endParaRPr b="0" i="0" sz="1000" u="none" cap="none" strike="noStrike">
              <a:solidFill>
                <a:srgbClr val="FFFFFF"/>
              </a:solidFill>
              <a:latin typeface="Arial"/>
              <a:ea typeface="Arial"/>
              <a:cs typeface="Arial"/>
              <a:sym typeface="Arial"/>
            </a:endParaRPr>
          </a:p>
          <a:p>
            <a:pPr indent="-292100" lvl="0" marL="457200" marR="0" rtl="0" algn="l">
              <a:lnSpc>
                <a:spcPct val="115000"/>
              </a:lnSpc>
              <a:spcBef>
                <a:spcPts val="0"/>
              </a:spcBef>
              <a:spcAft>
                <a:spcPts val="0"/>
              </a:spcAft>
              <a:buClr>
                <a:srgbClr val="FFFFFF"/>
              </a:buClr>
              <a:buSzPts val="1000"/>
              <a:buFont typeface="Arial"/>
              <a:buChar char="●"/>
            </a:pPr>
            <a:r>
              <a:rPr b="0" i="0" lang="en-US" sz="1000" u="none" cap="none" strike="noStrike">
                <a:solidFill>
                  <a:srgbClr val="FFFFFF"/>
                </a:solidFill>
                <a:latin typeface="Arial"/>
                <a:ea typeface="Arial"/>
                <a:cs typeface="Arial"/>
                <a:sym typeface="Arial"/>
              </a:rPr>
              <a:t>Mutuelle accorde un </a:t>
            </a:r>
            <a:r>
              <a:rPr b="1" i="0" lang="en-US" sz="1000" u="none" cap="none" strike="noStrike">
                <a:solidFill>
                  <a:srgbClr val="FFFFFF"/>
                </a:solidFill>
                <a:latin typeface="Arial"/>
                <a:ea typeface="Arial"/>
                <a:cs typeface="Arial"/>
                <a:sym typeface="Arial"/>
              </a:rPr>
              <a:t>forfait annuel (ex. 400 € à 1 000 € par oreille)</a:t>
            </a:r>
            <a:r>
              <a:rPr b="0" i="0" lang="en-US" sz="1000" u="none" cap="none" strike="noStrike">
                <a:solidFill>
                  <a:srgbClr val="FFFFFF"/>
                </a:solidFill>
                <a:latin typeface="Arial"/>
                <a:ea typeface="Arial"/>
                <a:cs typeface="Arial"/>
                <a:sym typeface="Arial"/>
              </a:rPr>
              <a:t>.</a:t>
            </a:r>
            <a:br>
              <a:rPr b="0" i="0" lang="en-US" sz="1000" u="none" cap="none" strike="noStrike">
                <a:solidFill>
                  <a:srgbClr val="FFFFFF"/>
                </a:solidFill>
                <a:latin typeface="Arial"/>
                <a:ea typeface="Arial"/>
                <a:cs typeface="Arial"/>
                <a:sym typeface="Arial"/>
              </a:rPr>
            </a:br>
            <a:endParaRPr b="0" i="0" sz="1000" u="none" cap="none" strike="noStrike">
              <a:solidFill>
                <a:srgbClr val="FFFFFF"/>
              </a:solidFill>
              <a:latin typeface="Arial"/>
              <a:ea typeface="Arial"/>
              <a:cs typeface="Arial"/>
              <a:sym typeface="Arial"/>
            </a:endParaRPr>
          </a:p>
          <a:p>
            <a:pPr indent="-292100" lvl="0" marL="457200" marR="0" rtl="0" algn="l">
              <a:lnSpc>
                <a:spcPct val="115000"/>
              </a:lnSpc>
              <a:spcBef>
                <a:spcPts val="0"/>
              </a:spcBef>
              <a:spcAft>
                <a:spcPts val="0"/>
              </a:spcAft>
              <a:buClr>
                <a:srgbClr val="FFFFFF"/>
              </a:buClr>
              <a:buSzPts val="1000"/>
              <a:buFont typeface="Arial"/>
              <a:buChar char="●"/>
            </a:pPr>
            <a:r>
              <a:rPr b="0" i="0" lang="en-US" sz="1000" u="none" cap="none" strike="noStrike">
                <a:solidFill>
                  <a:srgbClr val="FFFFFF"/>
                </a:solidFill>
                <a:latin typeface="Arial"/>
                <a:ea typeface="Arial"/>
                <a:cs typeface="Arial"/>
                <a:sym typeface="Arial"/>
              </a:rPr>
              <a:t>Reste à charge dépend du contrat et du prix de l’appareil.</a:t>
            </a:r>
            <a:endParaRPr b="0" i="0" sz="1300" u="none" cap="none" strike="noStrike">
              <a:solidFill>
                <a:srgbClr val="FFFFFF"/>
              </a:solidFill>
              <a:latin typeface="Arial"/>
              <a:ea typeface="Arial"/>
              <a:cs typeface="Arial"/>
              <a:sym typeface="Arial"/>
            </a:endParaRPr>
          </a:p>
        </p:txBody>
      </p:sp>
      <p:sp>
        <p:nvSpPr>
          <p:cNvPr id="459" name="Google Shape;459;p24"/>
          <p:cNvSpPr txBox="1"/>
          <p:nvPr/>
        </p:nvSpPr>
        <p:spPr>
          <a:xfrm>
            <a:off x="5675300" y="18338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Hors 100 % Santé (classe II)</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60" name="Google Shape;460;p24"/>
          <p:cNvSpPr txBox="1"/>
          <p:nvPr/>
        </p:nvSpPr>
        <p:spPr>
          <a:xfrm>
            <a:off x="348300" y="1833825"/>
            <a:ext cx="18624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100 % Santé (classe I)</a:t>
            </a:r>
            <a:r>
              <a:rPr b="0" i="0" lang="en-US" sz="11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grpSp>
        <p:nvGrpSpPr>
          <p:cNvPr id="465" name="Google Shape;465;p25"/>
          <p:cNvGrpSpPr/>
          <p:nvPr/>
        </p:nvGrpSpPr>
        <p:grpSpPr>
          <a:xfrm>
            <a:off x="0" y="1946520"/>
            <a:ext cx="9143639" cy="3196441"/>
            <a:chOff x="0" y="1946520"/>
            <a:chExt cx="9143639" cy="3196441"/>
          </a:xfrm>
        </p:grpSpPr>
        <p:pic>
          <p:nvPicPr>
            <p:cNvPr id="466" name="Google Shape;466;p25"/>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67" name="Google Shape;467;p25"/>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68" name="Google Shape;468;p25"/>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69" name="Google Shape;469;p25"/>
          <p:cNvSpPr txBox="1"/>
          <p:nvPr/>
        </p:nvSpPr>
        <p:spPr>
          <a:xfrm>
            <a:off x="133050" y="8182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40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Reste à charge assuré</a:t>
            </a:r>
            <a:endParaRPr b="0" i="0" sz="1400" u="none" cap="none" strike="noStrike">
              <a:solidFill>
                <a:srgbClr val="000000"/>
              </a:solidFill>
              <a:latin typeface="Arial"/>
              <a:ea typeface="Arial"/>
              <a:cs typeface="Arial"/>
              <a:sym typeface="Arial"/>
            </a:endParaRPr>
          </a:p>
        </p:txBody>
      </p:sp>
      <p:sp>
        <p:nvSpPr>
          <p:cNvPr id="470" name="Google Shape;470;p25"/>
          <p:cNvSpPr txBox="1"/>
          <p:nvPr/>
        </p:nvSpPr>
        <p:spPr>
          <a:xfrm>
            <a:off x="666000" y="1691175"/>
            <a:ext cx="7244100" cy="1132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0 €</a:t>
            </a:r>
            <a:r>
              <a:rPr b="0" i="0" lang="en-US" sz="1100" u="none" cap="none" strike="noStrike">
                <a:solidFill>
                  <a:schemeClr val="dk1"/>
                </a:solidFill>
                <a:latin typeface="Arial"/>
                <a:ea typeface="Arial"/>
                <a:cs typeface="Arial"/>
                <a:sym typeface="Arial"/>
              </a:rPr>
              <a:t> si choix d’un appareil </a:t>
            </a:r>
            <a:r>
              <a:rPr b="1" i="0" lang="en-US" sz="1100" u="none" cap="none" strike="noStrike">
                <a:solidFill>
                  <a:schemeClr val="dk1"/>
                </a:solidFill>
                <a:latin typeface="Arial"/>
                <a:ea typeface="Arial"/>
                <a:cs typeface="Arial"/>
                <a:sym typeface="Arial"/>
              </a:rPr>
              <a:t>100 % Santé (classe I)</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Élevé</a:t>
            </a:r>
            <a:r>
              <a:rPr b="0" i="0" lang="en-US" sz="1100" u="none" cap="none" strike="noStrike">
                <a:solidFill>
                  <a:schemeClr val="dk1"/>
                </a:solidFill>
                <a:latin typeface="Arial"/>
                <a:ea typeface="Arial"/>
                <a:cs typeface="Arial"/>
                <a:sym typeface="Arial"/>
              </a:rPr>
              <a:t> (jusqu’à plusieurs milliers d’euros) si choix d’un appareil </a:t>
            </a:r>
            <a:r>
              <a:rPr b="1" i="0" lang="en-US" sz="1100" u="none" cap="none" strike="noStrike">
                <a:solidFill>
                  <a:schemeClr val="dk1"/>
                </a:solidFill>
                <a:latin typeface="Arial"/>
                <a:ea typeface="Arial"/>
                <a:cs typeface="Arial"/>
                <a:sym typeface="Arial"/>
              </a:rPr>
              <a:t>hors panier (classe II)</a:t>
            </a:r>
            <a:r>
              <a:rPr b="0" i="0" lang="en-US" sz="1100" u="none" cap="none" strike="noStrike">
                <a:solidFill>
                  <a:schemeClr val="dk1"/>
                </a:solidFill>
                <a:latin typeface="Arial"/>
                <a:ea typeface="Arial"/>
                <a:cs typeface="Arial"/>
                <a:sym typeface="Arial"/>
              </a:rPr>
              <a:t> avec une mutuelle faible.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p:txBody>
      </p:sp>
      <p:sp>
        <p:nvSpPr>
          <p:cNvPr id="471" name="Google Shape;471;p25"/>
          <p:cNvSpPr txBox="1"/>
          <p:nvPr/>
        </p:nvSpPr>
        <p:spPr>
          <a:xfrm>
            <a:off x="1534500" y="3500175"/>
            <a:ext cx="5603700" cy="692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En audition, l’Assurance Maladie rembourse seulement une partie (240 € par oreille).</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Sans mutuelle solide, le reste à charge peut dépasser 1 000 €.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Avec le </a:t>
            </a:r>
            <a:r>
              <a:rPr b="1" i="0" lang="en-US" sz="1100" u="none" cap="none" strike="noStrike">
                <a:solidFill>
                  <a:schemeClr val="dk1"/>
                </a:solidFill>
                <a:latin typeface="Arial"/>
                <a:ea typeface="Arial"/>
                <a:cs typeface="Arial"/>
                <a:sym typeface="Arial"/>
              </a:rPr>
              <a:t>100 % Santé</a:t>
            </a:r>
            <a:r>
              <a:rPr b="0" i="0" lang="en-US" sz="1100" u="none" cap="none" strike="noStrike">
                <a:solidFill>
                  <a:schemeClr val="dk1"/>
                </a:solidFill>
                <a:latin typeface="Arial"/>
                <a:ea typeface="Arial"/>
                <a:cs typeface="Arial"/>
                <a:sym typeface="Arial"/>
              </a:rPr>
              <a:t>, l’assuré peut obtenir un appareil auditif de qualité </a:t>
            </a:r>
            <a:r>
              <a:rPr b="1" i="0" lang="en-US" sz="1100" u="none" cap="none" strike="noStrike">
                <a:solidFill>
                  <a:schemeClr val="dk1"/>
                </a:solidFill>
                <a:latin typeface="Arial"/>
                <a:ea typeface="Arial"/>
                <a:cs typeface="Arial"/>
                <a:sym typeface="Arial"/>
              </a:rPr>
              <a:t>gratuitement</a:t>
            </a:r>
            <a:r>
              <a:rPr b="0" i="0" lang="en-US" sz="11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472" name="Google Shape;472;p25"/>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473" name="Google Shape;473;p25"/>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Auditif</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grpSp>
        <p:nvGrpSpPr>
          <p:cNvPr id="478" name="Google Shape;478;p26"/>
          <p:cNvGrpSpPr/>
          <p:nvPr/>
        </p:nvGrpSpPr>
        <p:grpSpPr>
          <a:xfrm>
            <a:off x="0" y="1946520"/>
            <a:ext cx="9143639" cy="3196441"/>
            <a:chOff x="0" y="1946520"/>
            <a:chExt cx="9143639" cy="3196441"/>
          </a:xfrm>
        </p:grpSpPr>
        <p:pic>
          <p:nvPicPr>
            <p:cNvPr id="479" name="Google Shape;479;p26"/>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80" name="Google Shape;480;p26"/>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81" name="Google Shape;481;p26"/>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82" name="Google Shape;482;p26"/>
          <p:cNvSpPr txBox="1"/>
          <p:nvPr/>
        </p:nvSpPr>
        <p:spPr>
          <a:xfrm>
            <a:off x="233400" y="1162450"/>
            <a:ext cx="8677200" cy="322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200" u="none" cap="none" strike="noStrike">
                <a:solidFill>
                  <a:schemeClr val="dk1"/>
                </a:solidFill>
                <a:latin typeface="Arial"/>
                <a:ea typeface="Arial"/>
                <a:cs typeface="Arial"/>
                <a:sym typeface="Arial"/>
              </a:rPr>
              <a:t> Hospitalisation</a:t>
            </a:r>
            <a:endParaRPr b="1" i="0" sz="12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AMO</a:t>
            </a:r>
            <a:r>
              <a:rPr b="0" i="0" lang="en-US" sz="1000" u="none" cap="none" strike="noStrike">
                <a:solidFill>
                  <a:schemeClr val="dk1"/>
                </a:solidFill>
                <a:latin typeface="Arial"/>
                <a:ea typeface="Arial"/>
                <a:cs typeface="Arial"/>
                <a:sym typeface="Arial"/>
              </a:rPr>
              <a:t> : 80 % du tarif conventionné, forfait journalier non remboursé (~20 €/jour), ALD, maternité ou accident travail = 100 %.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Mutuelle</a:t>
            </a:r>
            <a:r>
              <a:rPr b="0" i="0" lang="en-US" sz="1000" u="none" cap="none" strike="noStrike">
                <a:solidFill>
                  <a:schemeClr val="dk1"/>
                </a:solidFill>
                <a:latin typeface="Arial"/>
                <a:ea typeface="Arial"/>
                <a:cs typeface="Arial"/>
                <a:sym typeface="Arial"/>
              </a:rPr>
              <a:t> : rembourse ticket modérateur, forfait journalier, chambre particulière, dépassements d’honoraires.</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Reste à charge</a:t>
            </a:r>
            <a:r>
              <a:rPr b="0" i="0" lang="en-US" sz="1000" u="none" cap="none" strike="noStrike">
                <a:solidFill>
                  <a:schemeClr val="dk1"/>
                </a:solidFill>
                <a:latin typeface="Arial"/>
                <a:ea typeface="Arial"/>
                <a:cs typeface="Arial"/>
                <a:sym typeface="Arial"/>
              </a:rPr>
              <a:t> : dépend de la formule de mutuelle et des options choisies.</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00"/>
              <a:buFont typeface="Arial"/>
              <a:buNone/>
            </a:pPr>
            <a:r>
              <a:rPr b="1" i="0" lang="en-US" sz="1200" u="none" cap="none" strike="noStrike">
                <a:solidFill>
                  <a:schemeClr val="dk1"/>
                </a:solidFill>
                <a:latin typeface="Arial"/>
                <a:ea typeface="Arial"/>
                <a:cs typeface="Arial"/>
                <a:sym typeface="Arial"/>
              </a:rPr>
              <a:t> Consultations médicales</a:t>
            </a:r>
            <a:endParaRPr b="1" i="0" sz="12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Généralistes</a:t>
            </a:r>
            <a:r>
              <a:rPr b="0" i="0" lang="en-US" sz="1000" u="none" cap="none" strike="noStrike">
                <a:solidFill>
                  <a:schemeClr val="dk1"/>
                </a:solidFill>
                <a:latin typeface="Arial"/>
                <a:ea typeface="Arial"/>
                <a:cs typeface="Arial"/>
                <a:sym typeface="Arial"/>
              </a:rPr>
              <a:t> : secteur 1 = 30 € / secteur 2 = 23 € (BRSS), remboursement AMO 70 %, participation forfaitaire 2 €.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Spécialistes</a:t>
            </a:r>
            <a:r>
              <a:rPr b="0" i="0" lang="en-US" sz="1000" u="none" cap="none" strike="noStrike">
                <a:solidFill>
                  <a:schemeClr val="dk1"/>
                </a:solidFill>
                <a:latin typeface="Arial"/>
                <a:ea typeface="Arial"/>
                <a:cs typeface="Arial"/>
                <a:sym typeface="Arial"/>
              </a:rPr>
              <a:t> : secteur 1 = 26,50 €, secteur 2 OPTAM = 26,50 €, secteur 2 non OPTAM = 23 €.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Mutuelle</a:t>
            </a:r>
            <a:r>
              <a:rPr b="0" i="0" lang="en-US" sz="1000" u="none" cap="none" strike="noStrike">
                <a:solidFill>
                  <a:schemeClr val="dk1"/>
                </a:solidFill>
                <a:latin typeface="Arial"/>
                <a:ea typeface="Arial"/>
                <a:cs typeface="Arial"/>
                <a:sym typeface="Arial"/>
              </a:rPr>
              <a:t> : couvre ticket modérateur et dépassements d’honoraires.</a:t>
            </a:r>
            <a:br>
              <a:rPr b="0" i="0" lang="en-US" sz="1000" u="none" cap="none" strike="noStrike">
                <a:solidFill>
                  <a:schemeClr val="dk1"/>
                </a:solidFill>
                <a:latin typeface="Arial"/>
                <a:ea typeface="Arial"/>
                <a:cs typeface="Arial"/>
                <a:sym typeface="Arial"/>
              </a:rPr>
            </a:br>
            <a:endParaRPr b="1" i="0" sz="1200" u="none" cap="none" strike="noStrike">
              <a:solidFill>
                <a:schemeClr val="dk1"/>
              </a:solidFill>
              <a:latin typeface="Arial"/>
              <a:ea typeface="Arial"/>
              <a:cs typeface="Arial"/>
              <a:sym typeface="Arial"/>
            </a:endParaRPr>
          </a:p>
        </p:txBody>
      </p:sp>
      <p:sp>
        <p:nvSpPr>
          <p:cNvPr id="483" name="Google Shape;483;p26"/>
          <p:cNvSpPr txBox="1"/>
          <p:nvPr/>
        </p:nvSpPr>
        <p:spPr>
          <a:xfrm>
            <a:off x="0" y="-1"/>
            <a:ext cx="3375900" cy="4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synthèse Postes de soin</a:t>
            </a:r>
            <a:endParaRPr b="1" i="0" sz="1800" u="none" cap="none" strike="noStrike">
              <a:solidFill>
                <a:srgbClr val="000000"/>
              </a:solidFill>
              <a:latin typeface="Arial"/>
              <a:ea typeface="Arial"/>
              <a:cs typeface="Arial"/>
              <a:sym typeface="Arial"/>
            </a:endParaRPr>
          </a:p>
        </p:txBody>
      </p:sp>
      <p:cxnSp>
        <p:nvCxnSpPr>
          <p:cNvPr id="484" name="Google Shape;484;p26"/>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grpSp>
        <p:nvGrpSpPr>
          <p:cNvPr id="489" name="Google Shape;489;p27"/>
          <p:cNvGrpSpPr/>
          <p:nvPr/>
        </p:nvGrpSpPr>
        <p:grpSpPr>
          <a:xfrm>
            <a:off x="0" y="1946520"/>
            <a:ext cx="9143639" cy="3196441"/>
            <a:chOff x="0" y="1946520"/>
            <a:chExt cx="9143639" cy="3196441"/>
          </a:xfrm>
        </p:grpSpPr>
        <p:pic>
          <p:nvPicPr>
            <p:cNvPr id="490" name="Google Shape;490;p27"/>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491" name="Google Shape;491;p27"/>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492" name="Google Shape;492;p27"/>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493" name="Google Shape;493;p27"/>
          <p:cNvSpPr txBox="1"/>
          <p:nvPr/>
        </p:nvSpPr>
        <p:spPr>
          <a:xfrm>
            <a:off x="684750" y="88375"/>
            <a:ext cx="8954400" cy="485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300"/>
              <a:buFont typeface="Arial"/>
              <a:buNone/>
            </a:pPr>
            <a:r>
              <a:rPr b="1" i="0" lang="en-US" sz="1200" u="none" cap="none" strike="noStrike">
                <a:solidFill>
                  <a:schemeClr val="dk1"/>
                </a:solidFill>
                <a:latin typeface="Arial"/>
                <a:ea typeface="Arial"/>
                <a:cs typeface="Arial"/>
                <a:sym typeface="Arial"/>
              </a:rPr>
              <a:t> Dentaire</a:t>
            </a:r>
            <a:endParaRPr b="1" i="0" sz="12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Soins courants</a:t>
            </a:r>
            <a:r>
              <a:rPr b="0" i="0" lang="en-US" sz="1000" u="none" cap="none" strike="noStrike">
                <a:solidFill>
                  <a:schemeClr val="dk1"/>
                </a:solidFill>
                <a:latin typeface="Arial"/>
                <a:ea typeface="Arial"/>
                <a:cs typeface="Arial"/>
                <a:sym typeface="Arial"/>
              </a:rPr>
              <a:t> : caries, détartrage → remboursement partiel par AMO (ex. consultation 23 €).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Prothèses</a:t>
            </a:r>
            <a:r>
              <a:rPr b="0" i="0" lang="en-US" sz="1000" u="none" cap="none" strike="noStrike">
                <a:solidFill>
                  <a:schemeClr val="dk1"/>
                </a:solidFill>
                <a:latin typeface="Arial"/>
                <a:ea typeface="Arial"/>
                <a:cs typeface="Arial"/>
                <a:sym typeface="Arial"/>
              </a:rPr>
              <a:t> : panier 100 % Santé = zéro reste à charge, hors panier = reste à charge variable selon mutuelle.</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Orthodontie</a:t>
            </a:r>
            <a:r>
              <a:rPr b="0" i="0" lang="en-US" sz="1000" u="none" cap="none" strike="noStrike">
                <a:solidFill>
                  <a:schemeClr val="dk1"/>
                </a:solidFill>
                <a:latin typeface="Arial"/>
                <a:ea typeface="Arial"/>
                <a:cs typeface="Arial"/>
                <a:sym typeface="Arial"/>
              </a:rPr>
              <a:t> : enfants = remboursé sur semestre, adultes = forfait mutuelle éventuel.</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00"/>
              <a:buFont typeface="Arial"/>
              <a:buNone/>
            </a:pPr>
            <a:r>
              <a:rPr b="1" i="0" lang="en-US" sz="1200" u="none" cap="none" strike="noStrike">
                <a:solidFill>
                  <a:schemeClr val="dk1"/>
                </a:solidFill>
                <a:latin typeface="Arial"/>
                <a:ea typeface="Arial"/>
                <a:cs typeface="Arial"/>
                <a:sym typeface="Arial"/>
              </a:rPr>
              <a:t> Optique</a:t>
            </a:r>
            <a:endParaRPr b="1" i="0" sz="12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AMO</a:t>
            </a:r>
            <a:r>
              <a:rPr b="0" i="0" lang="en-US" sz="1000" u="none" cap="none" strike="noStrike">
                <a:solidFill>
                  <a:schemeClr val="dk1"/>
                </a:solidFill>
                <a:latin typeface="Arial"/>
                <a:ea typeface="Arial"/>
                <a:cs typeface="Arial"/>
                <a:sym typeface="Arial"/>
              </a:rPr>
              <a:t> : très faible (monture ≈ 2,84 €, verres ≈ 2–25 € selon correction).</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Mutuelle</a:t>
            </a:r>
            <a:r>
              <a:rPr b="0" i="0" lang="en-US" sz="1000" u="none" cap="none" strike="noStrike">
                <a:solidFill>
                  <a:schemeClr val="dk1"/>
                </a:solidFill>
                <a:latin typeface="Arial"/>
                <a:ea typeface="Arial"/>
                <a:cs typeface="Arial"/>
                <a:sym typeface="Arial"/>
              </a:rPr>
              <a:t> : forfait annuel ou 100 % Santé (monture ≤ 30 €, verres encadrés) → reste à charge 0 €.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Hors 100 % Santé</a:t>
            </a:r>
            <a:r>
              <a:rPr b="0" i="0" lang="en-US" sz="1000" u="none" cap="none" strike="noStrike">
                <a:solidFill>
                  <a:schemeClr val="dk1"/>
                </a:solidFill>
                <a:latin typeface="Arial"/>
                <a:ea typeface="Arial"/>
                <a:cs typeface="Arial"/>
                <a:sym typeface="Arial"/>
              </a:rPr>
              <a:t> : reste à charge élevé si mutuelle faible.</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300"/>
              <a:buFont typeface="Arial"/>
              <a:buNone/>
            </a:pPr>
            <a:r>
              <a:rPr b="1" i="0" lang="en-US" sz="1200" u="none" cap="none" strike="noStrike">
                <a:solidFill>
                  <a:schemeClr val="dk1"/>
                </a:solidFill>
                <a:latin typeface="Arial"/>
                <a:ea typeface="Arial"/>
                <a:cs typeface="Arial"/>
                <a:sym typeface="Arial"/>
              </a:rPr>
              <a:t> Audition</a:t>
            </a:r>
            <a:endParaRPr b="1" i="0" sz="1200" u="none" cap="none" strike="noStrike">
              <a:solidFill>
                <a:schemeClr val="dk1"/>
              </a:solidFill>
              <a:latin typeface="Arial"/>
              <a:ea typeface="Arial"/>
              <a:cs typeface="Arial"/>
              <a:sym typeface="Arial"/>
            </a:endParaRPr>
          </a:p>
          <a:p>
            <a:pPr indent="-292100" lvl="0" marL="457200" marR="0" rtl="0" algn="l">
              <a:lnSpc>
                <a:spcPct val="115000"/>
              </a:lnSpc>
              <a:spcBef>
                <a:spcPts val="120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AMO</a:t>
            </a:r>
            <a:r>
              <a:rPr b="0" i="0" lang="en-US" sz="1000" u="none" cap="none" strike="noStrike">
                <a:solidFill>
                  <a:schemeClr val="dk1"/>
                </a:solidFill>
                <a:latin typeface="Arial"/>
                <a:ea typeface="Arial"/>
                <a:cs typeface="Arial"/>
                <a:sym typeface="Arial"/>
              </a:rPr>
              <a:t> : 400 €/oreille, remboursement 60 % → 240 € par oreille.</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Mutuelle</a:t>
            </a:r>
            <a:r>
              <a:rPr b="0" i="0" lang="en-US" sz="1000" u="none" cap="none" strike="noStrike">
                <a:solidFill>
                  <a:schemeClr val="dk1"/>
                </a:solidFill>
                <a:latin typeface="Arial"/>
                <a:ea typeface="Arial"/>
                <a:cs typeface="Arial"/>
                <a:sym typeface="Arial"/>
              </a:rPr>
              <a:t> : complément ou 100 % Santé (classe I = 950 €/oreille → reste à charge 0 €).</a:t>
            </a:r>
            <a:br>
              <a:rPr b="0" i="0" lang="en-US" sz="1000" u="none" cap="none" strike="noStrike">
                <a:solidFill>
                  <a:schemeClr val="dk1"/>
                </a:solidFill>
                <a:latin typeface="Arial"/>
                <a:ea typeface="Arial"/>
                <a:cs typeface="Arial"/>
                <a:sym typeface="Arial"/>
              </a:rPr>
            </a:br>
            <a:endParaRPr b="0" i="0" sz="1000" u="none" cap="none" strike="noStrike">
              <a:solidFill>
                <a:schemeClr val="dk1"/>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Arial"/>
              <a:buChar char="●"/>
            </a:pPr>
            <a:r>
              <a:rPr b="1" i="0" lang="en-US" sz="1000" u="none" cap="none" strike="noStrike">
                <a:solidFill>
                  <a:schemeClr val="dk1"/>
                </a:solidFill>
                <a:latin typeface="Arial"/>
                <a:ea typeface="Arial"/>
                <a:cs typeface="Arial"/>
                <a:sym typeface="Arial"/>
              </a:rPr>
              <a:t>Classe II / hors panier</a:t>
            </a:r>
            <a:r>
              <a:rPr b="0" i="0" lang="en-US" sz="1000" u="none" cap="none" strike="noStrike">
                <a:solidFill>
                  <a:schemeClr val="dk1"/>
                </a:solidFill>
                <a:latin typeface="Arial"/>
                <a:ea typeface="Arial"/>
                <a:cs typeface="Arial"/>
                <a:sym typeface="Arial"/>
              </a:rPr>
              <a:t> : prix libre (1 500–2 500 €), forfait mutuelle variable, reste à charge important.</a:t>
            </a:r>
            <a:br>
              <a:rPr b="0" i="0" lang="en-US" sz="1000" u="none" cap="none" strike="noStrike">
                <a:solidFill>
                  <a:schemeClr val="dk1"/>
                </a:solidFill>
                <a:latin typeface="Arial"/>
                <a:ea typeface="Arial"/>
                <a:cs typeface="Arial"/>
                <a:sym typeface="Arial"/>
              </a:rPr>
            </a:br>
            <a:endParaRPr b="0" i="0" sz="13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grpSp>
        <p:nvGrpSpPr>
          <p:cNvPr id="498" name="Google Shape;498;g3ccdaf7071a_0_0"/>
          <p:cNvGrpSpPr/>
          <p:nvPr/>
        </p:nvGrpSpPr>
        <p:grpSpPr>
          <a:xfrm>
            <a:off x="0" y="1946520"/>
            <a:ext cx="9143639" cy="3196441"/>
            <a:chOff x="0" y="1946520"/>
            <a:chExt cx="9143639" cy="3196441"/>
          </a:xfrm>
        </p:grpSpPr>
        <p:pic>
          <p:nvPicPr>
            <p:cNvPr id="499" name="Google Shape;499;g3ccdaf7071a_0_0"/>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500" name="Google Shape;500;g3ccdaf7071a_0_0"/>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501" name="Google Shape;501;g3ccdaf7071a_0_0"/>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502" name="Google Shape;502;g3ccdaf7071a_0_0"/>
          <p:cNvSpPr txBox="1"/>
          <p:nvPr/>
        </p:nvSpPr>
        <p:spPr>
          <a:xfrm>
            <a:off x="298315" y="349277"/>
            <a:ext cx="8547000" cy="3767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400"/>
              </a:spcBef>
              <a:spcAft>
                <a:spcPts val="0"/>
              </a:spcAft>
              <a:buClr>
                <a:srgbClr val="000000"/>
              </a:buClr>
              <a:buSzPts val="1300"/>
              <a:buFont typeface="Arial"/>
              <a:buNone/>
            </a:pPr>
            <a:r>
              <a:rPr b="1" lang="en-US" sz="2000" u="sng">
                <a:solidFill>
                  <a:schemeClr val="dk1"/>
                </a:solidFill>
              </a:rPr>
              <a:t>Précision pour certains produits</a:t>
            </a:r>
            <a:r>
              <a:rPr b="1" lang="en-US" sz="2000">
                <a:solidFill>
                  <a:schemeClr val="dk1"/>
                </a:solidFill>
              </a:rPr>
              <a:t> :</a:t>
            </a:r>
            <a:endParaRPr b="1" sz="2000">
              <a:solidFill>
                <a:schemeClr val="dk1"/>
              </a:solidFill>
            </a:endParaRPr>
          </a:p>
          <a:p>
            <a:pPr indent="0" lvl="0" marL="0" marR="0" rtl="0" algn="l">
              <a:lnSpc>
                <a:spcPct val="115000"/>
              </a:lnSpc>
              <a:spcBef>
                <a:spcPts val="1400"/>
              </a:spcBef>
              <a:spcAft>
                <a:spcPts val="0"/>
              </a:spcAft>
              <a:buClr>
                <a:srgbClr val="000000"/>
              </a:buClr>
              <a:buSzPts val="1300"/>
              <a:buFont typeface="Arial"/>
              <a:buNone/>
            </a:pPr>
            <a:r>
              <a:t/>
            </a:r>
            <a:endParaRPr b="1" sz="1600">
              <a:solidFill>
                <a:schemeClr val="dk1"/>
              </a:solidFill>
            </a:endParaRPr>
          </a:p>
          <a:p>
            <a:pPr indent="0" lvl="0" marL="0" marR="0" rtl="0" algn="l">
              <a:lnSpc>
                <a:spcPct val="115000"/>
              </a:lnSpc>
              <a:spcBef>
                <a:spcPts val="1400"/>
              </a:spcBef>
              <a:spcAft>
                <a:spcPts val="0"/>
              </a:spcAft>
              <a:buClr>
                <a:srgbClr val="000000"/>
              </a:buClr>
              <a:buSzPts val="1300"/>
              <a:buFont typeface="Arial"/>
              <a:buNone/>
            </a:pPr>
            <a:r>
              <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highlight>
                  <a:srgbClr val="FFFFFF"/>
                </a:highlight>
              </a:rPr>
              <a:t>Pour certains produits, </a:t>
            </a:r>
            <a:r>
              <a:rPr b="1" lang="en-US" sz="1200" u="sng">
                <a:solidFill>
                  <a:schemeClr val="dk1"/>
                </a:solidFill>
                <a:highlight>
                  <a:srgbClr val="FFFFFF"/>
                </a:highlight>
              </a:rPr>
              <a:t>notre service souscription procède à la confirmation auprès du partenaire</a:t>
            </a:r>
            <a:r>
              <a:rPr lang="en-US" sz="1200">
                <a:solidFill>
                  <a:schemeClr val="dk1"/>
                </a:solidFill>
                <a:highlight>
                  <a:srgbClr val="FFFFFF"/>
                </a:highlight>
              </a:rPr>
              <a:t> de la pré-saisie du devis, généré automatiquement lors de la signature depuis le CRM. Cette confirmation est réalisée via l’envoi automatique, depuis le CRM vers notre partenaire, des documents signés YOUSIGN déposés en formule ainsi que des justificatifs transmis en GED.</a:t>
            </a:r>
            <a:endParaRPr sz="1200">
              <a:solidFill>
                <a:schemeClr val="dk1"/>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highlight>
                  <a:srgbClr val="FFFFFF"/>
                </a:highlight>
              </a:rPr>
              <a:t>Aucune modification n’est possible de notre part à ce stade. Il est donc impératif que le BA renseigne des informations exactes et conformes, notamment la date d’effet.</a:t>
            </a:r>
            <a:endParaRPr sz="1200">
              <a:solidFill>
                <a:schemeClr val="dk1"/>
              </a:solidFill>
              <a:highlight>
                <a:srgbClr val="FFFFFF"/>
              </a:highlight>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highlight>
                <a:srgbClr val="FFFFFF"/>
              </a:highlight>
            </a:endParaRPr>
          </a:p>
          <a:p>
            <a:pPr indent="0" lvl="0" marL="0" rtl="0" algn="l">
              <a:lnSpc>
                <a:spcPct val="115000"/>
              </a:lnSpc>
              <a:spcBef>
                <a:spcPts val="1200"/>
              </a:spcBef>
              <a:spcAft>
                <a:spcPts val="1200"/>
              </a:spcAft>
              <a:buClr>
                <a:schemeClr val="dk1"/>
              </a:buClr>
              <a:buSzPts val="1100"/>
              <a:buFont typeface="Arial"/>
              <a:buNone/>
            </a:pPr>
            <a:r>
              <a:rPr b="1" lang="en-US" sz="1300">
                <a:solidFill>
                  <a:schemeClr val="dk1"/>
                </a:solidFill>
                <a:highlight>
                  <a:srgbClr val="FFFFFF"/>
                </a:highlight>
              </a:rPr>
              <a:t>Produits à effet immédiat</a:t>
            </a:r>
            <a:r>
              <a:rPr lang="en-US" sz="1200">
                <a:solidFill>
                  <a:schemeClr val="dk1"/>
                </a:solidFill>
                <a:highlight>
                  <a:srgbClr val="FFFFFF"/>
                </a:highlight>
              </a:rPr>
              <a:t> : NEOLIANE J+8, ZENIOO APIVIA, APRIL J+3, FMA (adhésion uniquement au 1er du mois).</a:t>
            </a:r>
            <a:endParaRPr b="1" sz="16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28"/>
          <p:cNvGrpSpPr/>
          <p:nvPr/>
        </p:nvGrpSpPr>
        <p:grpSpPr>
          <a:xfrm>
            <a:off x="-32400" y="0"/>
            <a:ext cx="9143640" cy="5142960"/>
            <a:chOff x="-32400" y="0"/>
            <a:chExt cx="9143640" cy="5142960"/>
          </a:xfrm>
        </p:grpSpPr>
        <p:pic>
          <p:nvPicPr>
            <p:cNvPr id="508" name="Google Shape;508;p28"/>
            <p:cNvPicPr preferRelativeResize="0"/>
            <p:nvPr/>
          </p:nvPicPr>
          <p:blipFill rotWithShape="1">
            <a:blip r:embed="rId3">
              <a:alphaModFix/>
            </a:blip>
            <a:srcRect b="0" l="0" r="0" t="0"/>
            <a:stretch/>
          </p:blipFill>
          <p:spPr>
            <a:xfrm>
              <a:off x="-32400" y="0"/>
              <a:ext cx="9143640" cy="5142960"/>
            </a:xfrm>
            <a:prstGeom prst="rect">
              <a:avLst/>
            </a:prstGeom>
            <a:noFill/>
            <a:ln>
              <a:noFill/>
            </a:ln>
          </p:spPr>
        </p:pic>
        <p:pic>
          <p:nvPicPr>
            <p:cNvPr id="509" name="Google Shape;509;p28"/>
            <p:cNvPicPr preferRelativeResize="0"/>
            <p:nvPr/>
          </p:nvPicPr>
          <p:blipFill rotWithShape="1">
            <a:blip r:embed="rId4">
              <a:alphaModFix/>
            </a:blip>
            <a:srcRect b="0" l="0" r="0" t="0"/>
            <a:stretch/>
          </p:blipFill>
          <p:spPr>
            <a:xfrm>
              <a:off x="8226000" y="4515840"/>
              <a:ext cx="721440" cy="451440"/>
            </a:xfrm>
            <a:prstGeom prst="rect">
              <a:avLst/>
            </a:prstGeom>
            <a:noFill/>
            <a:ln>
              <a:noFill/>
            </a:ln>
          </p:spPr>
        </p:pic>
        <p:pic>
          <p:nvPicPr>
            <p:cNvPr id="510" name="Google Shape;510;p28"/>
            <p:cNvPicPr preferRelativeResize="0"/>
            <p:nvPr/>
          </p:nvPicPr>
          <p:blipFill rotWithShape="1">
            <a:blip r:embed="rId5">
              <a:alphaModFix/>
            </a:blip>
            <a:srcRect b="0" l="0" r="0" t="0"/>
            <a:stretch/>
          </p:blipFill>
          <p:spPr>
            <a:xfrm>
              <a:off x="146880" y="4665600"/>
              <a:ext cx="377640" cy="301680"/>
            </a:xfrm>
            <a:prstGeom prst="rect">
              <a:avLst/>
            </a:prstGeom>
            <a:noFill/>
            <a:ln>
              <a:noFill/>
            </a:ln>
          </p:spPr>
        </p:pic>
      </p:grpSp>
      <p:sp>
        <p:nvSpPr>
          <p:cNvPr id="511" name="Google Shape;511;p28"/>
          <p:cNvSpPr/>
          <p:nvPr/>
        </p:nvSpPr>
        <p:spPr>
          <a:xfrm>
            <a:off x="1978200" y="3191760"/>
            <a:ext cx="5186880" cy="771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sng" cap="none" strike="noStrike">
                <a:solidFill>
                  <a:srgbClr val="83E3DA"/>
                </a:solidFill>
                <a:latin typeface="Times New Roman"/>
                <a:ea typeface="Times New Roman"/>
                <a:cs typeface="Times New Roman"/>
                <a:sym typeface="Times New Roman"/>
              </a:rPr>
              <a:t> Merci pour votre participation </a:t>
            </a:r>
            <a:endParaRPr b="0" i="0" sz="2900" u="none" cap="none" strike="noStrike">
              <a:solidFill>
                <a:srgbClr val="000000"/>
              </a:solidFill>
              <a:latin typeface="Arial"/>
              <a:ea typeface="Arial"/>
              <a:cs typeface="Arial"/>
              <a:sym typeface="Arial"/>
            </a:endParaRPr>
          </a:p>
        </p:txBody>
      </p:sp>
      <p:sp>
        <p:nvSpPr>
          <p:cNvPr id="512" name="Google Shape;512;p28"/>
          <p:cNvSpPr txBox="1"/>
          <p:nvPr/>
        </p:nvSpPr>
        <p:spPr>
          <a:xfrm>
            <a:off x="1469575" y="1517000"/>
            <a:ext cx="60564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Arial"/>
                <a:ea typeface="Arial"/>
                <a:cs typeface="Arial"/>
                <a:sym typeface="Arial"/>
              </a:rPr>
              <a:t>« Maîtriser les postes de soins, c’est comprendre comment chaque soin est remboursé et savoir accompagner vos clients pour réduire leur reste à charge. »</a:t>
            </a:r>
            <a:endParaRPr b="0" i="0" sz="14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