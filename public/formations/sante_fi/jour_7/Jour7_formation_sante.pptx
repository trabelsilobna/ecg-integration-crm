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iqMAbmuhYwQeZVI0L9ydlPDXhZ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BBF3B7-431E-4681-92F3-4885C300930F}">
  <a:tblStyle styleId="{30BBF3B7-431E-4681-92F3-4885C300930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customschemas.google.com/relationships/presentationmetadata" Target="meta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1" name="Google Shape;11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Travail en </a:t>
            </a:r>
            <a:r>
              <a:rPr b="1" lang="en-US">
                <a:solidFill>
                  <a:schemeClr val="dk1"/>
                </a:solidFill>
              </a:rPr>
              <a:t>binômes</a:t>
            </a:r>
            <a:r>
              <a:rPr lang="en-US">
                <a:solidFill>
                  <a:schemeClr val="dk1"/>
                </a:solidFill>
              </a:rPr>
              <a:t> : un conseiller + un client, avec rotation rapide.</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Focus sur : </a:t>
            </a:r>
            <a:r>
              <a:rPr b="1" lang="en-US">
                <a:solidFill>
                  <a:schemeClr val="dk1"/>
                </a:solidFill>
              </a:rPr>
              <a:t>écoute active – reformulation – réponse structurée (méthode CAP/SONCAS) – relance vers conclusion</a:t>
            </a:r>
            <a:r>
              <a:rPr lang="en-US">
                <a:solidFill>
                  <a:schemeClr val="dk1"/>
                </a:solidFill>
              </a:rPr>
              <a:t>.</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CAP⇒ ( Caractéristique – Avantage – Preuve </a:t>
            </a:r>
            <a:r>
              <a:rPr b="1" lang="en-US">
                <a:solidFill>
                  <a:schemeClr val="dk1"/>
                </a:solidFill>
              </a:rPr>
              <a:t>Caractéristique</a:t>
            </a:r>
            <a:br>
              <a:rPr b="1" lang="en-US">
                <a:solidFill>
                  <a:schemeClr val="dk1"/>
                </a:solidFill>
              </a:rPr>
            </a:br>
            <a:endParaRPr b="1">
              <a:solidFill>
                <a:schemeClr val="dk1"/>
              </a:solidFill>
            </a:endParaRPr>
          </a:p>
          <a:p>
            <a:pPr indent="-298450" lvl="1" marL="914400" rtl="0" algn="l">
              <a:lnSpc>
                <a:spcPct val="115000"/>
              </a:lnSpc>
              <a:spcBef>
                <a:spcPts val="1200"/>
              </a:spcBef>
              <a:spcAft>
                <a:spcPts val="0"/>
              </a:spcAft>
              <a:buClr>
                <a:schemeClr val="dk1"/>
              </a:buClr>
              <a:buSzPts val="1100"/>
              <a:buChar char="○"/>
            </a:pPr>
            <a:r>
              <a:rPr lang="en-US">
                <a:solidFill>
                  <a:schemeClr val="dk1"/>
                </a:solidFill>
              </a:rPr>
              <a:t>Décrire un élément concret de l’offre/du produit.</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Exemple : </a:t>
            </a:r>
            <a:r>
              <a:rPr i="1" lang="en-US">
                <a:solidFill>
                  <a:schemeClr val="dk1"/>
                </a:solidFill>
              </a:rPr>
              <a:t>« Notre mutuelle inclut un renfort dentaire. »</a:t>
            </a:r>
            <a:br>
              <a:rPr i="1" lang="en-US">
                <a:solidFill>
                  <a:schemeClr val="dk1"/>
                </a:solidFill>
              </a:rPr>
            </a:br>
            <a:endParaRPr i="1">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a:solidFill>
                  <a:schemeClr val="dk1"/>
                </a:solidFill>
              </a:rPr>
              <a:t>Avantage</a:t>
            </a:r>
            <a:br>
              <a:rPr b="1" lang="en-US">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Expliquer ce que cette caractéristique apporte au client.</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Exemple : </a:t>
            </a:r>
            <a:r>
              <a:rPr i="1" lang="en-US">
                <a:solidFill>
                  <a:schemeClr val="dk1"/>
                </a:solidFill>
              </a:rPr>
              <a:t>« Cela vous permet de réduire fortement vos frais en cas de soins dentaires. »</a:t>
            </a:r>
            <a:br>
              <a:rPr i="1" lang="en-US">
                <a:solidFill>
                  <a:schemeClr val="dk1"/>
                </a:solidFill>
              </a:rPr>
            </a:br>
            <a:endParaRPr i="1">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a:solidFill>
                  <a:schemeClr val="dk1"/>
                </a:solidFill>
              </a:rPr>
              <a:t>Preuve</a:t>
            </a:r>
            <a:br>
              <a:rPr b="1" lang="en-US">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Donner un élément tangible qui renforce la crédibilité (exemple, chiffres, témoignage, garantie).</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Exemple : </a:t>
            </a:r>
            <a:r>
              <a:rPr i="1" lang="en-US">
                <a:solidFill>
                  <a:schemeClr val="dk1"/>
                </a:solidFill>
              </a:rPr>
              <a:t>« Par exemple, une couronne facturée 600 € est remboursée jusqu’à 450 € avec cette garantie. »</a:t>
            </a:r>
            <a:endParaRPr i="1">
              <a:solidFill>
                <a:schemeClr val="dk1"/>
              </a:solidFill>
            </a:endParaRPr>
          </a:p>
          <a:p>
            <a:pPr indent="0" lvl="0" marL="0" rtl="0" algn="l">
              <a:lnSpc>
                <a:spcPct val="115000"/>
              </a:lnSpc>
              <a:spcBef>
                <a:spcPts val="1200"/>
              </a:spcBef>
              <a:spcAft>
                <a:spcPts val="0"/>
              </a:spcAft>
              <a:buSzPts val="1100"/>
              <a:buNone/>
            </a:pPr>
            <a:r>
              <a:t/>
            </a:r>
            <a:endParaRPr i="1">
              <a:solidFill>
                <a:schemeClr val="dk1"/>
              </a:solidFill>
            </a:endParaRPr>
          </a:p>
          <a:p>
            <a:pPr indent="0" lvl="0" marL="0" rtl="0" algn="l">
              <a:lnSpc>
                <a:spcPct val="115000"/>
              </a:lnSpc>
              <a:spcBef>
                <a:spcPts val="1200"/>
              </a:spcBef>
              <a:spcAft>
                <a:spcPts val="0"/>
              </a:spcAft>
              <a:buSzPts val="1100"/>
              <a:buNone/>
            </a:pPr>
            <a:r>
              <a:t/>
            </a:r>
            <a:endParaRPr i="1">
              <a:solidFill>
                <a:schemeClr val="dk1"/>
              </a:solidFill>
            </a:endParaRPr>
          </a:p>
          <a:p>
            <a:pPr indent="0" lvl="0" marL="0" rtl="0" algn="ctr">
              <a:lnSpc>
                <a:spcPct val="115000"/>
              </a:lnSpc>
              <a:spcBef>
                <a:spcPts val="1200"/>
              </a:spcBef>
              <a:spcAft>
                <a:spcPts val="0"/>
              </a:spcAft>
              <a:buSzPts val="1100"/>
              <a:buNone/>
            </a:pPr>
            <a:r>
              <a:rPr b="1" lang="en-US"/>
              <a:t>Objection</a:t>
            </a:r>
            <a:endParaRPr b="1"/>
          </a:p>
          <a:p>
            <a:pPr indent="0" lvl="0" marL="0" rtl="0" algn="ctr">
              <a:lnSpc>
                <a:spcPct val="115000"/>
              </a:lnSpc>
              <a:spcBef>
                <a:spcPts val="0"/>
              </a:spcBef>
              <a:spcAft>
                <a:spcPts val="0"/>
              </a:spcAft>
              <a:buSzPts val="1100"/>
              <a:buNone/>
            </a:pPr>
            <a:r>
              <a:rPr b="1" lang="en-US"/>
              <a:t>Exemple de réponse adaptée / ou pas (dans la majorité des cas)</a:t>
            </a:r>
            <a:endParaRPr b="1"/>
          </a:p>
          <a:p>
            <a:pPr indent="0" lvl="0" marL="0" rtl="0" algn="ctr">
              <a:lnSpc>
                <a:spcPct val="115000"/>
              </a:lnSpc>
              <a:spcBef>
                <a:spcPts val="0"/>
              </a:spcBef>
              <a:spcAft>
                <a:spcPts val="0"/>
              </a:spcAft>
              <a:buSzPts val="1100"/>
              <a:buNone/>
            </a:pPr>
            <a:r>
              <a:rPr b="1" lang="en-US"/>
              <a:t>A developer en salle</a:t>
            </a:r>
            <a:endParaRPr b="1"/>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C’est trop cher, je ne peux pas me le permettre. »</a:t>
            </a:r>
            <a:endParaRPr sz="1200"/>
          </a:p>
          <a:p>
            <a:pPr indent="0" lvl="0" marL="0" rtl="0" algn="l">
              <a:lnSpc>
                <a:spcPct val="100000"/>
              </a:lnSpc>
              <a:spcBef>
                <a:spcPts val="0"/>
              </a:spcBef>
              <a:spcAft>
                <a:spcPts val="0"/>
              </a:spcAft>
              <a:buSzPts val="1100"/>
              <a:buNone/>
            </a:pPr>
            <a:r>
              <a:rPr lang="en-US">
                <a:solidFill>
                  <a:schemeClr val="dk1"/>
                </a:solidFill>
              </a:rPr>
              <a:t>« Je comprends, mais pour seulement X€/mois, vous bénéficiez d’une couverture complète qui peut vous éviter des dépenses imprévues importantes.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Je trouve que ma mutuelle actuelle est suffisante. »</a:t>
            </a:r>
            <a:endParaRPr sz="1200"/>
          </a:p>
          <a:p>
            <a:pPr indent="0" lvl="0" marL="0" rtl="0" algn="l">
              <a:lnSpc>
                <a:spcPct val="100000"/>
              </a:lnSpc>
              <a:spcBef>
                <a:spcPts val="0"/>
              </a:spcBef>
              <a:spcAft>
                <a:spcPts val="0"/>
              </a:spcAft>
              <a:buSzPts val="1100"/>
              <a:buNone/>
            </a:pPr>
            <a:r>
              <a:rPr lang="en-US">
                <a:solidFill>
                  <a:schemeClr val="dk1"/>
                </a:solidFill>
              </a:rPr>
              <a:t>« Votre mutuelle couvre une partie, mais certaines dépenses (optique, dentaire, hospitalisation) peuvent rester à votre charge. Mon offre complète ces lacunes.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US" sz="1200"/>
              <a:t>« Je n’ai pas prévu de budget pour ça cette année. »</a:t>
            </a:r>
            <a:endParaRPr sz="1200"/>
          </a:p>
          <a:p>
            <a:pPr indent="0" lvl="0" marL="0" rtl="0" algn="l">
              <a:lnSpc>
                <a:spcPct val="100000"/>
              </a:lnSpc>
              <a:spcBef>
                <a:spcPts val="0"/>
              </a:spcBef>
              <a:spcAft>
                <a:spcPts val="0"/>
              </a:spcAft>
              <a:buSzPts val="1100"/>
              <a:buNone/>
            </a:pPr>
            <a:r>
              <a:rPr lang="en-US" sz="1200"/>
              <a:t>« Je comprends, c’est normal. Cependant, pour seulement X€/mois, cette couverture peut vous éviter des dépenses beaucoup plus importantes en cas d’imprévu. C’est un investissement préventif pour votre tranquillité. »</a:t>
            </a:r>
            <a:endParaRPr sz="1200"/>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Je n’ai pas besoin de cette couverture, je ne vais presque jamais chez le médecin. »</a:t>
            </a:r>
            <a:endParaRPr sz="1200"/>
          </a:p>
          <a:p>
            <a:pPr indent="0" lvl="0" marL="0" rtl="0" algn="l">
              <a:lnSpc>
                <a:spcPct val="100000"/>
              </a:lnSpc>
              <a:spcBef>
                <a:spcPts val="0"/>
              </a:spcBef>
              <a:spcAft>
                <a:spcPts val="0"/>
              </a:spcAft>
              <a:buSzPts val="1100"/>
              <a:buNone/>
            </a:pPr>
            <a:r>
              <a:rPr lang="en-US">
                <a:solidFill>
                  <a:schemeClr val="dk1"/>
                </a:solidFill>
              </a:rPr>
              <a:t>« C’est vrai, vous allez rarement consulter, mais la mutuelle ne sert pas seulement pour les visites fréquentes. Elle vous protège en cas d’hospitalisation, d’accident ou de soins imprévus qui peuvent coûter très cher.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Les remboursements sont trop limités / pas assez complets. »</a:t>
            </a:r>
            <a:endParaRPr sz="1200"/>
          </a:p>
          <a:p>
            <a:pPr indent="0" lvl="0" marL="0" rtl="0" algn="l">
              <a:lnSpc>
                <a:spcPct val="100000"/>
              </a:lnSpc>
              <a:spcBef>
                <a:spcPts val="0"/>
              </a:spcBef>
              <a:spcAft>
                <a:spcPts val="0"/>
              </a:spcAft>
              <a:buSzPts val="1100"/>
              <a:buNone/>
            </a:pPr>
            <a:r>
              <a:rPr lang="en-US">
                <a:solidFill>
                  <a:schemeClr val="dk1"/>
                </a:solidFill>
              </a:rPr>
              <a:t>« Je peux vous détailler exactement ce qui est couvert et vous montrer des exemples concrets pour que ce soit totalement transparent.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Je ne comprends pas exactement ce qui est couvert ou pas. »</a:t>
            </a:r>
            <a:endParaRPr sz="1200"/>
          </a:p>
          <a:p>
            <a:pPr indent="0" lvl="0" marL="0" rtl="0" algn="l">
              <a:lnSpc>
                <a:spcPct val="100000"/>
              </a:lnSpc>
              <a:spcBef>
                <a:spcPts val="0"/>
              </a:spcBef>
              <a:spcAft>
                <a:spcPts val="0"/>
              </a:spcAft>
              <a:buSzPts val="1100"/>
              <a:buNone/>
            </a:pPr>
            <a:r>
              <a:rPr lang="en-US">
                <a:solidFill>
                  <a:schemeClr val="dk1"/>
                </a:solidFill>
              </a:rPr>
              <a:t>« Je comprends, cela peut sembler complexe. Je peux vous expliquer simplement, point par point, ce qui est inclus et ce qui ne l’est pas, pour que vous ayez une vision claire et transparente de votre couverture.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Je ne connais pas votre compagnie / je préfère rester avec mon assureur actuel. »</a:t>
            </a:r>
            <a:endParaRPr sz="1200"/>
          </a:p>
          <a:p>
            <a:pPr indent="0" lvl="0" marL="0" rtl="0" algn="l">
              <a:lnSpc>
                <a:spcPct val="100000"/>
              </a:lnSpc>
              <a:spcBef>
                <a:spcPts val="0"/>
              </a:spcBef>
              <a:spcAft>
                <a:spcPts val="0"/>
              </a:spcAft>
              <a:buSzPts val="1100"/>
              <a:buNone/>
            </a:pPr>
            <a:r>
              <a:rPr lang="en-US">
                <a:solidFill>
                  <a:schemeClr val="dk1"/>
                </a:solidFill>
              </a:rPr>
              <a:t>« Je comprends votre prudence. Notre compagnie est présente depuis X années et accompagne déjà de nombreux clients dans des situations similaires. Je peux également vous partager des témoignages et garanties pour vous rassurer.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Je doute de l’efficacité de vos services. »</a:t>
            </a:r>
            <a:endParaRPr sz="1200"/>
          </a:p>
          <a:p>
            <a:pPr indent="0" lvl="0" marL="0" rtl="0" algn="l">
              <a:lnSpc>
                <a:spcPct val="100000"/>
              </a:lnSpc>
              <a:spcBef>
                <a:spcPts val="0"/>
              </a:spcBef>
              <a:spcAft>
                <a:spcPts val="0"/>
              </a:spcAft>
              <a:buSzPts val="1100"/>
              <a:buNone/>
            </a:pPr>
            <a:r>
              <a:rPr lang="en-US">
                <a:solidFill>
                  <a:schemeClr val="dk1"/>
                </a:solidFill>
              </a:rPr>
              <a:t>« Je comprends vos réserves. Nous avons mis en place un suivi client dédié et des process clairs pour que toutes vos demandes soient traitées rapidement et efficacement. Je peux également vous montrer des exemples concrets de clients satisfaits.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Je ne suis pas sûr que ça vaille la peine de changer. »</a:t>
            </a:r>
            <a:endParaRPr sz="1200"/>
          </a:p>
          <a:p>
            <a:pPr indent="0" lvl="0" marL="0" rtl="0" algn="l">
              <a:lnSpc>
                <a:spcPct val="100000"/>
              </a:lnSpc>
              <a:spcBef>
                <a:spcPts val="0"/>
              </a:spcBef>
              <a:spcAft>
                <a:spcPts val="0"/>
              </a:spcAft>
              <a:buSzPts val="1100"/>
              <a:buNone/>
            </a:pPr>
            <a:r>
              <a:rPr lang="en-US">
                <a:solidFill>
                  <a:schemeClr val="dk1"/>
                </a:solidFill>
              </a:rPr>
              <a:t>« Je comprends. Cependant, mon offre peut compléter ou améliorer votre couverture actuelle, parfois avec des garanties supplémentaires ou un meilleur rapport qualité/prix. Cela vous permettrait de bénéficier d’une protection plus complète sans effort supplémentaire.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Ce n’est pas le bon moment, je veux réfléchir. »</a:t>
            </a:r>
            <a:endParaRPr sz="1200"/>
          </a:p>
          <a:p>
            <a:pPr indent="0" lvl="0" marL="0" rtl="0" algn="l">
              <a:lnSpc>
                <a:spcPct val="100000"/>
              </a:lnSpc>
              <a:spcBef>
                <a:spcPts val="0"/>
              </a:spcBef>
              <a:spcAft>
                <a:spcPts val="0"/>
              </a:spcAft>
              <a:buSzPts val="1100"/>
              <a:buNone/>
            </a:pPr>
            <a:r>
              <a:rPr lang="en-US">
                <a:solidFill>
                  <a:schemeClr val="dk1"/>
                </a:solidFill>
              </a:rPr>
              <a:t>« Je comprends, prendre le temps de réfléchir est important. Cependant, chaque jour sans couverture peut représenter un risque financier. Je peux vous proposer un récapitulatif clair et chiffré pour que vous puissiez décider sereinement.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Je préfère attendre la fin de mon contrat actuel. »</a:t>
            </a:r>
            <a:endParaRPr sz="1200"/>
          </a:p>
          <a:p>
            <a:pPr indent="0" lvl="0" marL="0" rtl="0" algn="l">
              <a:lnSpc>
                <a:spcPct val="100000"/>
              </a:lnSpc>
              <a:spcBef>
                <a:spcPts val="0"/>
              </a:spcBef>
              <a:spcAft>
                <a:spcPts val="0"/>
              </a:spcAft>
              <a:buSzPts val="1100"/>
              <a:buNone/>
            </a:pPr>
            <a:r>
              <a:rPr lang="en-US">
                <a:solidFill>
                  <a:schemeClr val="dk1"/>
                </a:solidFill>
              </a:rPr>
              <a:t>« Je comprends, mais grâce à la loi Hamon, après un an de contrat, vous pouvez changer à tout moment sans frais ni pénalité. Vous pourriez donc bénéficier immédiatement d’une meilleure couverture.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Je dois en parler à mon conjoint / partenaire / famille. »</a:t>
            </a:r>
            <a:endParaRPr sz="1200"/>
          </a:p>
          <a:p>
            <a:pPr indent="0" lvl="0" marL="0" rtl="0" algn="l">
              <a:lnSpc>
                <a:spcPct val="100000"/>
              </a:lnSpc>
              <a:spcBef>
                <a:spcPts val="0"/>
              </a:spcBef>
              <a:spcAft>
                <a:spcPts val="0"/>
              </a:spcAft>
              <a:buSzPts val="1100"/>
              <a:buNone/>
            </a:pPr>
            <a:r>
              <a:rPr lang="en-US">
                <a:solidFill>
                  <a:schemeClr val="dk1"/>
                </a:solidFill>
              </a:rPr>
              <a:t>« Bien sûr, il est important de prendre cette décision à plusieurs. Je peux vous envoyer un récapitulatif clair et détaillé pour que vous puissiez en discuter sereinement avec eux. »</a:t>
            </a:r>
            <a:endParaRPr>
              <a:solidFill>
                <a:schemeClr val="dk1"/>
              </a:solidFill>
            </a:endParaRPr>
          </a:p>
        </p:txBody>
      </p:sp>
      <p:sp>
        <p:nvSpPr>
          <p:cNvPr id="144" name="Google Shape;14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 J’ai déjà plusieurs assurances et je ne veux pas payer pour des doublons. »</a:t>
            </a:r>
            <a:endParaRPr/>
          </a:p>
          <a:p>
            <a:pPr indent="0" lvl="0" marL="0" rtl="0" algn="l">
              <a:lnSpc>
                <a:spcPct val="100000"/>
              </a:lnSpc>
              <a:spcBef>
                <a:spcPts val="0"/>
              </a:spcBef>
              <a:spcAft>
                <a:spcPts val="0"/>
              </a:spcAft>
              <a:buSzPts val="1100"/>
              <a:buNone/>
            </a:pPr>
            <a:r>
              <a:rPr lang="en-US">
                <a:solidFill>
                  <a:schemeClr val="dk1"/>
                </a:solidFill>
              </a:rPr>
              <a:t>« Je comprends parfaitement. Mon rôle est justement de vous montrer comment notre complémentaire peut </a:t>
            </a:r>
            <a:r>
              <a:rPr b="1" lang="en-US">
                <a:solidFill>
                  <a:schemeClr val="dk1"/>
                </a:solidFill>
              </a:rPr>
              <a:t>compléter vos assurances existantes ou les regroupes</a:t>
            </a:r>
            <a:r>
              <a:rPr lang="en-US">
                <a:solidFill>
                  <a:schemeClr val="dk1"/>
                </a:solidFill>
              </a:rPr>
              <a:t>, sans doublons, et couvrir ce qui n’est pas pris en charge. Cela vous permet d’éviter les surprises et d’optimiser votre protection sans coûts inutiles.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J’ai des pathologies existantes, je crains que certaines garanties ne me soient pas accordées. »</a:t>
            </a:r>
            <a:endParaRPr sz="1200"/>
          </a:p>
          <a:p>
            <a:pPr indent="0" lvl="0" marL="0" rtl="0" algn="l">
              <a:lnSpc>
                <a:spcPct val="100000"/>
              </a:lnSpc>
              <a:spcBef>
                <a:spcPts val="0"/>
              </a:spcBef>
              <a:spcAft>
                <a:spcPts val="0"/>
              </a:spcAft>
              <a:buSzPts val="1100"/>
              <a:buNone/>
            </a:pPr>
            <a:r>
              <a:rPr lang="en-US">
                <a:solidFill>
                  <a:schemeClr val="dk1"/>
                </a:solidFill>
              </a:rPr>
              <a:t>« Je comprends vos inquiétudes. Nous pouvons analyser votre situation pour </a:t>
            </a:r>
            <a:r>
              <a:rPr b="1" lang="en-US">
                <a:solidFill>
                  <a:schemeClr val="dk1"/>
                </a:solidFill>
              </a:rPr>
              <a:t>vous proposer une couverture adaptée</a:t>
            </a:r>
            <a:r>
              <a:rPr lang="en-US">
                <a:solidFill>
                  <a:schemeClr val="dk1"/>
                </a:solidFill>
              </a:rPr>
              <a:t>, qui prend en compte vos pathologies préexistantes et vous garantit une protection optimale. Certaines options permettent même de continuer à bénéficier d’une prise en charge complète malgré vos antécédents.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US" sz="1200"/>
              <a:t>« Je veux une couverture déductible fiscalement, sinon ça ne m’intéresse pas. »</a:t>
            </a:r>
            <a:endParaRPr sz="1200"/>
          </a:p>
          <a:p>
            <a:pPr indent="0" lvl="0" marL="0" rtl="0" algn="l">
              <a:lnSpc>
                <a:spcPct val="100000"/>
              </a:lnSpc>
              <a:spcBef>
                <a:spcPts val="0"/>
              </a:spcBef>
              <a:spcAft>
                <a:spcPts val="0"/>
              </a:spcAft>
              <a:buSzPts val="1100"/>
              <a:buNone/>
            </a:pPr>
            <a:r>
              <a:rPr lang="en-US" sz="1200">
                <a:solidFill>
                  <a:schemeClr val="dk1"/>
                </a:solidFill>
              </a:rPr>
              <a:t>« Je comprends votre préoccupation. Notre offre Madelin est justement conçue pour les travailleurs non-salariés et permet de </a:t>
            </a:r>
            <a:r>
              <a:rPr b="1" lang="en-US" sz="1200">
                <a:solidFill>
                  <a:schemeClr val="dk1"/>
                </a:solidFill>
              </a:rPr>
              <a:t>déduire vos cotisations de votre revenu imposable</a:t>
            </a:r>
            <a:r>
              <a:rPr lang="en-US" sz="1200">
                <a:solidFill>
                  <a:schemeClr val="dk1"/>
                </a:solidFill>
              </a:rPr>
              <a:t>, ce qui optimise votre fiscalité tout en bénéficiant d’une couverture complète. »</a:t>
            </a:r>
            <a:endParaRPr sz="14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t/>
            </a:r>
            <a:endParaRPr sz="15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US" sz="1200"/>
              <a:t>« Et si je change de statut ou arrête mon activité ? »</a:t>
            </a:r>
            <a:endParaRPr sz="1200"/>
          </a:p>
          <a:p>
            <a:pPr indent="0" lvl="0" marL="0" rtl="0" algn="l">
              <a:lnSpc>
                <a:spcPct val="100000"/>
              </a:lnSpc>
              <a:spcBef>
                <a:spcPts val="0"/>
              </a:spcBef>
              <a:spcAft>
                <a:spcPts val="0"/>
              </a:spcAft>
              <a:buSzPts val="1100"/>
              <a:buNone/>
            </a:pPr>
            <a:r>
              <a:rPr lang="en-US">
                <a:solidFill>
                  <a:schemeClr val="dk1"/>
                </a:solidFill>
              </a:rPr>
              <a:t>« Je comprends votre préoccupation. Notre offre Madelin est flexible et peut s’adapter à votre situation : si votre statut change ou si vous arrêtez votre activité, il est possible de </a:t>
            </a:r>
            <a:r>
              <a:rPr b="1" lang="en-US">
                <a:solidFill>
                  <a:schemeClr val="dk1"/>
                </a:solidFill>
              </a:rPr>
              <a:t>transférer, modifier ou résilier votre contrat</a:t>
            </a:r>
            <a:r>
              <a:rPr lang="en-US">
                <a:solidFill>
                  <a:schemeClr val="dk1"/>
                </a:solidFill>
              </a:rPr>
              <a:t> selon la réglementation en vigueur, sans perdre les avantages acquis.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J’ai besoin d’un remboursement spécifique pour mon matériel ou suivi médical, est-ce inclus ? »</a:t>
            </a:r>
            <a:endParaRPr sz="1200"/>
          </a:p>
          <a:p>
            <a:pPr indent="0" lvl="0" marL="0" rtl="0" algn="l">
              <a:lnSpc>
                <a:spcPct val="100000"/>
              </a:lnSpc>
              <a:spcBef>
                <a:spcPts val="0"/>
              </a:spcBef>
              <a:spcAft>
                <a:spcPts val="0"/>
              </a:spcAft>
              <a:buSzPts val="1100"/>
              <a:buNone/>
            </a:pPr>
            <a:r>
              <a:rPr lang="en-US">
                <a:solidFill>
                  <a:schemeClr val="dk1"/>
                </a:solidFill>
              </a:rPr>
              <a:t>« C’est une excellente question. Tout dépend du type de matériel ou de suivi médical. Nous pouvons vérifier ensemble si c’est inclus dans nos garanties actuelles. Et si ce n’est pas le cas, nous avons des </a:t>
            </a:r>
            <a:r>
              <a:rPr b="1" lang="en-US">
                <a:solidFill>
                  <a:schemeClr val="dk1"/>
                </a:solidFill>
              </a:rPr>
              <a:t>options complémentaires</a:t>
            </a:r>
            <a:r>
              <a:rPr lang="en-US">
                <a:solidFill>
                  <a:schemeClr val="dk1"/>
                </a:solidFill>
              </a:rPr>
              <a:t> qui permettent d’intégrer ce type de remboursement pour que vous soyez parfaitement couvert.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sz="1200"/>
              <a:t>« Si mes soins augmentent, le tarif ne va pas exploser ? »</a:t>
            </a:r>
            <a:endParaRPr sz="1200"/>
          </a:p>
          <a:p>
            <a:pPr indent="0" lvl="0" marL="0" rtl="0" algn="l">
              <a:lnSpc>
                <a:spcPct val="100000"/>
              </a:lnSpc>
              <a:spcBef>
                <a:spcPts val="0"/>
              </a:spcBef>
              <a:spcAft>
                <a:spcPts val="0"/>
              </a:spcAft>
              <a:buSzPts val="1100"/>
              <a:buNone/>
            </a:pPr>
            <a:r>
              <a:rPr lang="en-US">
                <a:solidFill>
                  <a:schemeClr val="dk1"/>
                </a:solidFill>
              </a:rPr>
              <a:t>« Je comprends votre inquiétude. Le montant de vos cotisations est fixé selon votre âge et votre formule choisie, pas en fonction de votre consommation de soins. Même si vos dépenses augmentent, votre tarif ne variera pas à cause de ça. Les seules évolutions possibles sont celles prévues par la réglementation ou les ajustements collectifs annuels.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
        <p:nvSpPr>
          <p:cNvPr id="174" name="Google Shape;17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300">
                <a:solidFill>
                  <a:schemeClr val="dk1"/>
                </a:solidFill>
              </a:rPr>
              <a:t>Ateliers de réponses adaptées + posture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Exercices ciblés</a:t>
            </a:r>
            <a:r>
              <a:rPr lang="en-US">
                <a:solidFill>
                  <a:schemeClr val="dk1"/>
                </a:solidFill>
              </a:rPr>
              <a:t> : trouver plusieurs formulations de traitement possibles pour une même objection.</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Travail sur la posture</a:t>
            </a:r>
            <a:r>
              <a:rPr lang="en-US">
                <a:solidFill>
                  <a:schemeClr val="dk1"/>
                </a:solidFill>
              </a:rPr>
              <a:t> :</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Ton de voix (assurance sans agressivité).</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Langage corporel (même au téléphone, sourire, rythme).</a:t>
            </a:r>
            <a:br>
              <a:rPr lang="en-US">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US">
                <a:solidFill>
                  <a:schemeClr val="dk1"/>
                </a:solidFill>
              </a:rPr>
              <a:t>Gestion du silence et de l’hésitation du client.</a:t>
            </a:r>
            <a:endParaRPr>
              <a:solidFill>
                <a:schemeClr val="dk1"/>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Simulation complète</a:t>
            </a:r>
            <a:r>
              <a:rPr lang="en-US">
                <a:solidFill>
                  <a:schemeClr val="dk1"/>
                </a:solidFill>
              </a:rPr>
              <a:t> :</a:t>
            </a:r>
            <a:br>
              <a:rPr lang="en-US">
                <a:solidFill>
                  <a:schemeClr val="dk1"/>
                </a:solidFill>
              </a:rPr>
            </a:b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a:solidFill>
                  <a:schemeClr val="dk1"/>
                </a:solidFill>
              </a:rPr>
              <a:t>Accueil → découverte → proposition → objection → conclusion.</a:t>
            </a:r>
            <a:br>
              <a:rPr lang="en-U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Chaque collaborateur passe au moins une fois dans le rôle de </a:t>
            </a:r>
            <a:r>
              <a:rPr b="1" lang="en-US">
                <a:solidFill>
                  <a:schemeClr val="dk1"/>
                </a:solidFill>
              </a:rPr>
              <a:t>conseiller</a:t>
            </a:r>
            <a:r>
              <a:rPr lang="en-US">
                <a:solidFill>
                  <a:schemeClr val="dk1"/>
                </a:solidFill>
              </a:rPr>
              <a:t>.</a:t>
            </a:r>
            <a:br>
              <a:rPr lang="en-US">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Feedback immédiat :</a:t>
            </a:r>
            <a:br>
              <a:rPr lang="en-US">
                <a:solidFill>
                  <a:schemeClr val="dk1"/>
                </a:solidFill>
              </a:rPr>
            </a:b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a:solidFill>
                  <a:schemeClr val="dk1"/>
                </a:solidFill>
              </a:rPr>
              <a:t>Formateur</a:t>
            </a:r>
            <a:r>
              <a:rPr lang="en-US">
                <a:solidFill>
                  <a:schemeClr val="dk1"/>
                </a:solidFill>
              </a:rPr>
              <a:t> (structuré et objectif).</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Pairs</a:t>
            </a:r>
            <a:r>
              <a:rPr lang="en-US">
                <a:solidFill>
                  <a:schemeClr val="dk1"/>
                </a:solidFill>
              </a:rPr>
              <a:t> (impressions clients).</a:t>
            </a:r>
            <a:br>
              <a:rPr lang="en-US">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a:solidFill>
                  <a:schemeClr val="dk1"/>
                </a:solidFill>
              </a:rPr>
              <a:t>Auto-évaluation</a:t>
            </a:r>
            <a:r>
              <a:rPr lang="en-US">
                <a:solidFill>
                  <a:schemeClr val="dk1"/>
                </a:solidFill>
              </a:rPr>
              <a:t> (prise de conscience).</a:t>
            </a:r>
            <a:endParaRPr>
              <a:solidFill>
                <a:schemeClr val="dk1"/>
              </a:solidFill>
            </a:endParaRPr>
          </a:p>
          <a:p>
            <a:pPr indent="0" lvl="0" marL="0" rtl="0" algn="l">
              <a:lnSpc>
                <a:spcPct val="115000"/>
              </a:lnSpc>
              <a:spcBef>
                <a:spcPts val="1200"/>
              </a:spcBef>
              <a:spcAft>
                <a:spcPts val="1200"/>
              </a:spcAft>
              <a:buSzPts val="1100"/>
              <a:buNone/>
            </a:pPr>
            <a:r>
              <a:t/>
            </a:r>
            <a:endParaRPr>
              <a:solidFill>
                <a:schemeClr val="dk1"/>
              </a:solidFill>
            </a:endParaRPr>
          </a:p>
        </p:txBody>
      </p:sp>
      <p:sp>
        <p:nvSpPr>
          <p:cNvPr id="205" name="Google Shape;205;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9" name="Shape 9"/>
        <p:cNvGrpSpPr/>
        <p:nvPr/>
      </p:nvGrpSpPr>
      <p:grpSpPr>
        <a:xfrm>
          <a:off x="0" y="0"/>
          <a:ext cx="0" cy="0"/>
          <a:chOff x="0" y="0"/>
          <a:chExt cx="0" cy="0"/>
        </a:xfrm>
      </p:grpSpPr>
      <p:sp>
        <p:nvSpPr>
          <p:cNvPr id="10" name="Google Shape;10;p11"/>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11"/>
          <p:cNvSpPr txBox="1"/>
          <p:nvPr>
            <p:ph idx="1" type="subTitle"/>
          </p:nvPr>
        </p:nvSpPr>
        <p:spPr>
          <a:xfrm>
            <a:off x="311760" y="1152360"/>
            <a:ext cx="8520120" cy="34160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3" name="Shape 13"/>
        <p:cNvGrpSpPr/>
        <p:nvPr/>
      </p:nvGrpSpPr>
      <p:grpSpPr>
        <a:xfrm>
          <a:off x="0" y="0"/>
          <a:ext cx="0" cy="0"/>
          <a:chOff x="0" y="0"/>
          <a:chExt cx="0" cy="0"/>
        </a:xfrm>
      </p:grpSpPr>
      <p:sp>
        <p:nvSpPr>
          <p:cNvPr id="14" name="Google Shape;14;p15"/>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5"/>
          <p:cNvSpPr txBox="1"/>
          <p:nvPr>
            <p:ph idx="1" type="body"/>
          </p:nvPr>
        </p:nvSpPr>
        <p:spPr>
          <a:xfrm>
            <a:off x="311760" y="1152360"/>
            <a:ext cx="852012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6" name="Shape 16"/>
        <p:cNvGrpSpPr/>
        <p:nvPr/>
      </p:nvGrpSpPr>
      <p:grpSpPr>
        <a:xfrm>
          <a:off x="0" y="0"/>
          <a:ext cx="0" cy="0"/>
          <a:chOff x="0" y="0"/>
          <a:chExt cx="0" cy="0"/>
        </a:xfrm>
      </p:grpSpPr>
      <p:sp>
        <p:nvSpPr>
          <p:cNvPr id="17" name="Google Shape;17;p16"/>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 type="body"/>
          </p:nvPr>
        </p:nvSpPr>
        <p:spPr>
          <a:xfrm>
            <a:off x="31176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 name="Google Shape;19;p16"/>
          <p:cNvSpPr txBox="1"/>
          <p:nvPr>
            <p:ph idx="2" type="body"/>
          </p:nvPr>
        </p:nvSpPr>
        <p:spPr>
          <a:xfrm>
            <a:off x="467784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17"/>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2" name="Shape 22"/>
        <p:cNvGrpSpPr/>
        <p:nvPr/>
      </p:nvGrpSpPr>
      <p:grpSpPr>
        <a:xfrm>
          <a:off x="0" y="0"/>
          <a:ext cx="0" cy="0"/>
          <a:chOff x="0" y="0"/>
          <a:chExt cx="0" cy="0"/>
        </a:xfrm>
      </p:grpSpPr>
      <p:sp>
        <p:nvSpPr>
          <p:cNvPr id="23" name="Google Shape;23;p18"/>
          <p:cNvSpPr txBox="1"/>
          <p:nvPr>
            <p:ph idx="1" type="subTitle"/>
          </p:nvPr>
        </p:nvSpPr>
        <p:spPr>
          <a:xfrm>
            <a:off x="311760" y="444960"/>
            <a:ext cx="8520120" cy="26546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 name="Shape 24"/>
        <p:cNvGrpSpPr/>
        <p:nvPr/>
      </p:nvGrpSpPr>
      <p:grpSpPr>
        <a:xfrm>
          <a:off x="0" y="0"/>
          <a:ext cx="0" cy="0"/>
          <a:chOff x="0" y="0"/>
          <a:chExt cx="0" cy="0"/>
        </a:xfrm>
      </p:grpSpPr>
      <p:sp>
        <p:nvSpPr>
          <p:cNvPr id="25" name="Google Shape;25;p19"/>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 type="body"/>
          </p:nvPr>
        </p:nvSpPr>
        <p:spPr>
          <a:xfrm>
            <a:off x="31176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19"/>
          <p:cNvSpPr txBox="1"/>
          <p:nvPr>
            <p:ph idx="2" type="body"/>
          </p:nvPr>
        </p:nvSpPr>
        <p:spPr>
          <a:xfrm>
            <a:off x="467784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19"/>
          <p:cNvSpPr txBox="1"/>
          <p:nvPr>
            <p:ph idx="3" type="body"/>
          </p:nvPr>
        </p:nvSpPr>
        <p:spPr>
          <a:xfrm>
            <a:off x="31176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9" name="Shape 29"/>
        <p:cNvGrpSpPr/>
        <p:nvPr/>
      </p:nvGrpSpPr>
      <p:grpSpPr>
        <a:xfrm>
          <a:off x="0" y="0"/>
          <a:ext cx="0" cy="0"/>
          <a:chOff x="0" y="0"/>
          <a:chExt cx="0" cy="0"/>
        </a:xfrm>
      </p:grpSpPr>
      <p:sp>
        <p:nvSpPr>
          <p:cNvPr id="30" name="Google Shape;30;p20"/>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 type="body"/>
          </p:nvPr>
        </p:nvSpPr>
        <p:spPr>
          <a:xfrm>
            <a:off x="31176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20"/>
          <p:cNvSpPr txBox="1"/>
          <p:nvPr>
            <p:ph idx="2" type="body"/>
          </p:nvPr>
        </p:nvSpPr>
        <p:spPr>
          <a:xfrm>
            <a:off x="467784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3" name="Google Shape;33;p20"/>
          <p:cNvSpPr txBox="1"/>
          <p:nvPr>
            <p:ph idx="3" type="body"/>
          </p:nvPr>
        </p:nvSpPr>
        <p:spPr>
          <a:xfrm>
            <a:off x="467784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4" name="Shape 34"/>
        <p:cNvGrpSpPr/>
        <p:nvPr/>
      </p:nvGrpSpPr>
      <p:grpSpPr>
        <a:xfrm>
          <a:off x="0" y="0"/>
          <a:ext cx="0" cy="0"/>
          <a:chOff x="0" y="0"/>
          <a:chExt cx="0" cy="0"/>
        </a:xfrm>
      </p:grpSpPr>
      <p:sp>
        <p:nvSpPr>
          <p:cNvPr id="35" name="Google Shape;35;p21"/>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1"/>
          <p:cNvSpPr txBox="1"/>
          <p:nvPr>
            <p:ph idx="1" type="body"/>
          </p:nvPr>
        </p:nvSpPr>
        <p:spPr>
          <a:xfrm>
            <a:off x="31176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21"/>
          <p:cNvSpPr txBox="1"/>
          <p:nvPr>
            <p:ph idx="2" type="body"/>
          </p:nvPr>
        </p:nvSpPr>
        <p:spPr>
          <a:xfrm>
            <a:off x="467784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8" name="Google Shape;38;p21"/>
          <p:cNvSpPr txBox="1"/>
          <p:nvPr>
            <p:ph idx="3" type="body"/>
          </p:nvPr>
        </p:nvSpPr>
        <p:spPr>
          <a:xfrm>
            <a:off x="311760" y="2936880"/>
            <a:ext cx="852012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9" name="Shape 39"/>
        <p:cNvGrpSpPr/>
        <p:nvPr/>
      </p:nvGrpSpPr>
      <p:grpSpPr>
        <a:xfrm>
          <a:off x="0" y="0"/>
          <a:ext cx="0" cy="0"/>
          <a:chOff x="0" y="0"/>
          <a:chExt cx="0" cy="0"/>
        </a:xfrm>
      </p:grpSpPr>
      <p:sp>
        <p:nvSpPr>
          <p:cNvPr id="40" name="Google Shape;40;p22"/>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2"/>
          <p:cNvSpPr txBox="1"/>
          <p:nvPr>
            <p:ph idx="1" type="body"/>
          </p:nvPr>
        </p:nvSpPr>
        <p:spPr>
          <a:xfrm>
            <a:off x="311760" y="1152360"/>
            <a:ext cx="852012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2" name="Google Shape;42;p22"/>
          <p:cNvSpPr txBox="1"/>
          <p:nvPr>
            <p:ph idx="2" type="body"/>
          </p:nvPr>
        </p:nvSpPr>
        <p:spPr>
          <a:xfrm>
            <a:off x="311760" y="2936880"/>
            <a:ext cx="852012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3" name="Shape 43"/>
        <p:cNvGrpSpPr/>
        <p:nvPr/>
      </p:nvGrpSpPr>
      <p:grpSpPr>
        <a:xfrm>
          <a:off x="0" y="0"/>
          <a:ext cx="0" cy="0"/>
          <a:chOff x="0" y="0"/>
          <a:chExt cx="0" cy="0"/>
        </a:xfrm>
      </p:grpSpPr>
      <p:sp>
        <p:nvSpPr>
          <p:cNvPr id="44" name="Google Shape;44;p23"/>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3"/>
          <p:cNvSpPr txBox="1"/>
          <p:nvPr>
            <p:ph idx="1" type="body"/>
          </p:nvPr>
        </p:nvSpPr>
        <p:spPr>
          <a:xfrm>
            <a:off x="31176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6" name="Google Shape;46;p23"/>
          <p:cNvSpPr txBox="1"/>
          <p:nvPr>
            <p:ph idx="2" type="body"/>
          </p:nvPr>
        </p:nvSpPr>
        <p:spPr>
          <a:xfrm>
            <a:off x="467784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7" name="Google Shape;47;p23"/>
          <p:cNvSpPr txBox="1"/>
          <p:nvPr>
            <p:ph idx="3" type="body"/>
          </p:nvPr>
        </p:nvSpPr>
        <p:spPr>
          <a:xfrm>
            <a:off x="31176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8" name="Google Shape;48;p23"/>
          <p:cNvSpPr txBox="1"/>
          <p:nvPr>
            <p:ph idx="4" type="body"/>
          </p:nvPr>
        </p:nvSpPr>
        <p:spPr>
          <a:xfrm>
            <a:off x="467784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9" name="Shape 49"/>
        <p:cNvGrpSpPr/>
        <p:nvPr/>
      </p:nvGrpSpPr>
      <p:grpSpPr>
        <a:xfrm>
          <a:off x="0" y="0"/>
          <a:ext cx="0" cy="0"/>
          <a:chOff x="0" y="0"/>
          <a:chExt cx="0" cy="0"/>
        </a:xfrm>
      </p:grpSpPr>
      <p:sp>
        <p:nvSpPr>
          <p:cNvPr id="50" name="Google Shape;50;p24"/>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 type="body"/>
          </p:nvPr>
        </p:nvSpPr>
        <p:spPr>
          <a:xfrm>
            <a:off x="311760" y="115236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2" name="Google Shape;52;p24"/>
          <p:cNvSpPr txBox="1"/>
          <p:nvPr>
            <p:ph idx="2" type="body"/>
          </p:nvPr>
        </p:nvSpPr>
        <p:spPr>
          <a:xfrm>
            <a:off x="3192480" y="115236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3" name="Google Shape;53;p24"/>
          <p:cNvSpPr txBox="1"/>
          <p:nvPr>
            <p:ph idx="3" type="body"/>
          </p:nvPr>
        </p:nvSpPr>
        <p:spPr>
          <a:xfrm>
            <a:off x="6073200" y="115236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4" name="Google Shape;54;p24"/>
          <p:cNvSpPr txBox="1"/>
          <p:nvPr>
            <p:ph idx="4" type="body"/>
          </p:nvPr>
        </p:nvSpPr>
        <p:spPr>
          <a:xfrm>
            <a:off x="311760" y="293688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5" name="Google Shape;55;p24"/>
          <p:cNvSpPr txBox="1"/>
          <p:nvPr>
            <p:ph idx="5" type="body"/>
          </p:nvPr>
        </p:nvSpPr>
        <p:spPr>
          <a:xfrm>
            <a:off x="3192480" y="293688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6" name="Google Shape;56;p24"/>
          <p:cNvSpPr txBox="1"/>
          <p:nvPr>
            <p:ph idx="6" type="body"/>
          </p:nvPr>
        </p:nvSpPr>
        <p:spPr>
          <a:xfrm>
            <a:off x="6073200" y="293688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1" name="Shape 61"/>
        <p:cNvGrpSpPr/>
        <p:nvPr/>
      </p:nvGrpSpPr>
      <p:grpSpPr>
        <a:xfrm>
          <a:off x="0" y="0"/>
          <a:ext cx="0" cy="0"/>
          <a:chOff x="0" y="0"/>
          <a:chExt cx="0" cy="0"/>
        </a:xfrm>
      </p:grpSpPr>
      <p:sp>
        <p:nvSpPr>
          <p:cNvPr id="62" name="Google Shape;62;p13"/>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p:nvPr>
            <p:ph idx="1" type="body"/>
          </p:nvPr>
        </p:nvSpPr>
        <p:spPr>
          <a:xfrm>
            <a:off x="311760" y="1152360"/>
            <a:ext cx="852012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4" name="Shape 64"/>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5" name="Shape 65"/>
        <p:cNvGrpSpPr/>
        <p:nvPr/>
      </p:nvGrpSpPr>
      <p:grpSpPr>
        <a:xfrm>
          <a:off x="0" y="0"/>
          <a:ext cx="0" cy="0"/>
          <a:chOff x="0" y="0"/>
          <a:chExt cx="0" cy="0"/>
        </a:xfrm>
      </p:grpSpPr>
      <p:sp>
        <p:nvSpPr>
          <p:cNvPr id="66" name="Google Shape;66;p26"/>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txBox="1"/>
          <p:nvPr>
            <p:ph idx="1" type="subTitle"/>
          </p:nvPr>
        </p:nvSpPr>
        <p:spPr>
          <a:xfrm>
            <a:off x="311760" y="1152360"/>
            <a:ext cx="8520120" cy="34160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68" name="Shape 68"/>
        <p:cNvGrpSpPr/>
        <p:nvPr/>
      </p:nvGrpSpPr>
      <p:grpSpPr>
        <a:xfrm>
          <a:off x="0" y="0"/>
          <a:ext cx="0" cy="0"/>
          <a:chOff x="0" y="0"/>
          <a:chExt cx="0" cy="0"/>
        </a:xfrm>
      </p:grpSpPr>
      <p:sp>
        <p:nvSpPr>
          <p:cNvPr id="69" name="Google Shape;69;p27"/>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 type="body"/>
          </p:nvPr>
        </p:nvSpPr>
        <p:spPr>
          <a:xfrm>
            <a:off x="31176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1" name="Google Shape;71;p27"/>
          <p:cNvSpPr txBox="1"/>
          <p:nvPr>
            <p:ph idx="2" type="body"/>
          </p:nvPr>
        </p:nvSpPr>
        <p:spPr>
          <a:xfrm>
            <a:off x="467784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28"/>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74" name="Shape 74"/>
        <p:cNvGrpSpPr/>
        <p:nvPr/>
      </p:nvGrpSpPr>
      <p:grpSpPr>
        <a:xfrm>
          <a:off x="0" y="0"/>
          <a:ext cx="0" cy="0"/>
          <a:chOff x="0" y="0"/>
          <a:chExt cx="0" cy="0"/>
        </a:xfrm>
      </p:grpSpPr>
      <p:sp>
        <p:nvSpPr>
          <p:cNvPr id="75" name="Google Shape;75;p29"/>
          <p:cNvSpPr txBox="1"/>
          <p:nvPr>
            <p:ph idx="1" type="subTitle"/>
          </p:nvPr>
        </p:nvSpPr>
        <p:spPr>
          <a:xfrm>
            <a:off x="311760" y="444960"/>
            <a:ext cx="8520120" cy="265464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76" name="Shape 76"/>
        <p:cNvGrpSpPr/>
        <p:nvPr/>
      </p:nvGrpSpPr>
      <p:grpSpPr>
        <a:xfrm>
          <a:off x="0" y="0"/>
          <a:ext cx="0" cy="0"/>
          <a:chOff x="0" y="0"/>
          <a:chExt cx="0" cy="0"/>
        </a:xfrm>
      </p:grpSpPr>
      <p:sp>
        <p:nvSpPr>
          <p:cNvPr id="77" name="Google Shape;77;p30"/>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0"/>
          <p:cNvSpPr txBox="1"/>
          <p:nvPr>
            <p:ph idx="1" type="body"/>
          </p:nvPr>
        </p:nvSpPr>
        <p:spPr>
          <a:xfrm>
            <a:off x="31176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9" name="Google Shape;79;p30"/>
          <p:cNvSpPr txBox="1"/>
          <p:nvPr>
            <p:ph idx="2" type="body"/>
          </p:nvPr>
        </p:nvSpPr>
        <p:spPr>
          <a:xfrm>
            <a:off x="467784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0" name="Google Shape;80;p30"/>
          <p:cNvSpPr txBox="1"/>
          <p:nvPr>
            <p:ph idx="3" type="body"/>
          </p:nvPr>
        </p:nvSpPr>
        <p:spPr>
          <a:xfrm>
            <a:off x="31176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1" name="Shape 81"/>
        <p:cNvGrpSpPr/>
        <p:nvPr/>
      </p:nvGrpSpPr>
      <p:grpSpPr>
        <a:xfrm>
          <a:off x="0" y="0"/>
          <a:ext cx="0" cy="0"/>
          <a:chOff x="0" y="0"/>
          <a:chExt cx="0" cy="0"/>
        </a:xfrm>
      </p:grpSpPr>
      <p:sp>
        <p:nvSpPr>
          <p:cNvPr id="82" name="Google Shape;82;p31"/>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1"/>
          <p:cNvSpPr txBox="1"/>
          <p:nvPr>
            <p:ph idx="1" type="body"/>
          </p:nvPr>
        </p:nvSpPr>
        <p:spPr>
          <a:xfrm>
            <a:off x="311760" y="1152360"/>
            <a:ext cx="4157640" cy="34160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4" name="Google Shape;84;p31"/>
          <p:cNvSpPr txBox="1"/>
          <p:nvPr>
            <p:ph idx="2" type="body"/>
          </p:nvPr>
        </p:nvSpPr>
        <p:spPr>
          <a:xfrm>
            <a:off x="467784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5" name="Google Shape;85;p31"/>
          <p:cNvSpPr txBox="1"/>
          <p:nvPr>
            <p:ph idx="3" type="body"/>
          </p:nvPr>
        </p:nvSpPr>
        <p:spPr>
          <a:xfrm>
            <a:off x="467784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86" name="Shape 86"/>
        <p:cNvGrpSpPr/>
        <p:nvPr/>
      </p:nvGrpSpPr>
      <p:grpSpPr>
        <a:xfrm>
          <a:off x="0" y="0"/>
          <a:ext cx="0" cy="0"/>
          <a:chOff x="0" y="0"/>
          <a:chExt cx="0" cy="0"/>
        </a:xfrm>
      </p:grpSpPr>
      <p:sp>
        <p:nvSpPr>
          <p:cNvPr id="87" name="Google Shape;87;p32"/>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2"/>
          <p:cNvSpPr txBox="1"/>
          <p:nvPr>
            <p:ph idx="1" type="body"/>
          </p:nvPr>
        </p:nvSpPr>
        <p:spPr>
          <a:xfrm>
            <a:off x="31176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9" name="Google Shape;89;p32"/>
          <p:cNvSpPr txBox="1"/>
          <p:nvPr>
            <p:ph idx="2" type="body"/>
          </p:nvPr>
        </p:nvSpPr>
        <p:spPr>
          <a:xfrm>
            <a:off x="467784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0" name="Google Shape;90;p32"/>
          <p:cNvSpPr txBox="1"/>
          <p:nvPr>
            <p:ph idx="3" type="body"/>
          </p:nvPr>
        </p:nvSpPr>
        <p:spPr>
          <a:xfrm>
            <a:off x="311760" y="2936880"/>
            <a:ext cx="852012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1" name="Shape 91"/>
        <p:cNvGrpSpPr/>
        <p:nvPr/>
      </p:nvGrpSpPr>
      <p:grpSpPr>
        <a:xfrm>
          <a:off x="0" y="0"/>
          <a:ext cx="0" cy="0"/>
          <a:chOff x="0" y="0"/>
          <a:chExt cx="0" cy="0"/>
        </a:xfrm>
      </p:grpSpPr>
      <p:sp>
        <p:nvSpPr>
          <p:cNvPr id="92" name="Google Shape;92;p33"/>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3"/>
          <p:cNvSpPr txBox="1"/>
          <p:nvPr>
            <p:ph idx="1" type="body"/>
          </p:nvPr>
        </p:nvSpPr>
        <p:spPr>
          <a:xfrm>
            <a:off x="311760" y="1152360"/>
            <a:ext cx="852012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4" name="Google Shape;94;p33"/>
          <p:cNvSpPr txBox="1"/>
          <p:nvPr>
            <p:ph idx="2" type="body"/>
          </p:nvPr>
        </p:nvSpPr>
        <p:spPr>
          <a:xfrm>
            <a:off x="311760" y="2936880"/>
            <a:ext cx="852012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95" name="Shape 95"/>
        <p:cNvGrpSpPr/>
        <p:nvPr/>
      </p:nvGrpSpPr>
      <p:grpSpPr>
        <a:xfrm>
          <a:off x="0" y="0"/>
          <a:ext cx="0" cy="0"/>
          <a:chOff x="0" y="0"/>
          <a:chExt cx="0" cy="0"/>
        </a:xfrm>
      </p:grpSpPr>
      <p:sp>
        <p:nvSpPr>
          <p:cNvPr id="96" name="Google Shape;96;p34"/>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4"/>
          <p:cNvSpPr txBox="1"/>
          <p:nvPr>
            <p:ph idx="1" type="body"/>
          </p:nvPr>
        </p:nvSpPr>
        <p:spPr>
          <a:xfrm>
            <a:off x="31176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8" name="Google Shape;98;p34"/>
          <p:cNvSpPr txBox="1"/>
          <p:nvPr>
            <p:ph idx="2" type="body"/>
          </p:nvPr>
        </p:nvSpPr>
        <p:spPr>
          <a:xfrm>
            <a:off x="4677840" y="115236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9" name="Google Shape;99;p34"/>
          <p:cNvSpPr txBox="1"/>
          <p:nvPr>
            <p:ph idx="3" type="body"/>
          </p:nvPr>
        </p:nvSpPr>
        <p:spPr>
          <a:xfrm>
            <a:off x="31176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0" name="Google Shape;100;p34"/>
          <p:cNvSpPr txBox="1"/>
          <p:nvPr>
            <p:ph idx="4" type="body"/>
          </p:nvPr>
        </p:nvSpPr>
        <p:spPr>
          <a:xfrm>
            <a:off x="4677840" y="2936880"/>
            <a:ext cx="415764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1" name="Shape 101"/>
        <p:cNvGrpSpPr/>
        <p:nvPr/>
      </p:nvGrpSpPr>
      <p:grpSpPr>
        <a:xfrm>
          <a:off x="0" y="0"/>
          <a:ext cx="0" cy="0"/>
          <a:chOff x="0" y="0"/>
          <a:chExt cx="0" cy="0"/>
        </a:xfrm>
      </p:grpSpPr>
      <p:sp>
        <p:nvSpPr>
          <p:cNvPr id="102" name="Google Shape;102;p35"/>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5"/>
          <p:cNvSpPr txBox="1"/>
          <p:nvPr>
            <p:ph idx="1" type="body"/>
          </p:nvPr>
        </p:nvSpPr>
        <p:spPr>
          <a:xfrm>
            <a:off x="311760" y="115236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4" name="Google Shape;104;p35"/>
          <p:cNvSpPr txBox="1"/>
          <p:nvPr>
            <p:ph idx="2" type="body"/>
          </p:nvPr>
        </p:nvSpPr>
        <p:spPr>
          <a:xfrm>
            <a:off x="3192480" y="115236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5" name="Google Shape;105;p35"/>
          <p:cNvSpPr txBox="1"/>
          <p:nvPr>
            <p:ph idx="3" type="body"/>
          </p:nvPr>
        </p:nvSpPr>
        <p:spPr>
          <a:xfrm>
            <a:off x="6073200" y="115236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6" name="Google Shape;106;p35"/>
          <p:cNvSpPr txBox="1"/>
          <p:nvPr>
            <p:ph idx="4" type="body"/>
          </p:nvPr>
        </p:nvSpPr>
        <p:spPr>
          <a:xfrm>
            <a:off x="311760" y="293688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7" name="Google Shape;107;p35"/>
          <p:cNvSpPr txBox="1"/>
          <p:nvPr>
            <p:ph idx="5" type="body"/>
          </p:nvPr>
        </p:nvSpPr>
        <p:spPr>
          <a:xfrm>
            <a:off x="3192480" y="293688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8" name="Google Shape;108;p35"/>
          <p:cNvSpPr txBox="1"/>
          <p:nvPr>
            <p:ph idx="6" type="body"/>
          </p:nvPr>
        </p:nvSpPr>
        <p:spPr>
          <a:xfrm>
            <a:off x="6073200" y="2936880"/>
            <a:ext cx="2743200" cy="16293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311760" y="744480"/>
            <a:ext cx="8520120" cy="205236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8" name="Google Shape;8;p1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12"/>
          <p:cNvSpPr txBox="1"/>
          <p:nvPr>
            <p:ph type="title"/>
          </p:nvPr>
        </p:nvSpPr>
        <p:spPr>
          <a:xfrm>
            <a:off x="311760" y="444960"/>
            <a:ext cx="8520120" cy="5724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12"/>
          <p:cNvSpPr txBox="1"/>
          <p:nvPr>
            <p:ph idx="1" type="body"/>
          </p:nvPr>
        </p:nvSpPr>
        <p:spPr>
          <a:xfrm>
            <a:off x="311760" y="1152360"/>
            <a:ext cx="8520120" cy="341604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0" name="Google Shape;60;p12"/>
          <p:cNvSpPr txBox="1"/>
          <p:nvPr>
            <p:ph idx="12" type="sldNum"/>
          </p:nvPr>
        </p:nvSpPr>
        <p:spPr>
          <a:xfrm>
            <a:off x="8472600" y="4663080"/>
            <a:ext cx="548280" cy="39312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 Id="rId4"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22.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15.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22.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20.gif"/><Relationship Id="rId7" Type="http://schemas.openxmlformats.org/officeDocument/2006/relationships/image" Target="../media/image17.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image" Target="../media/image24.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grpSp>
        <p:nvGrpSpPr>
          <p:cNvPr id="113" name="Google Shape;113;p1"/>
          <p:cNvGrpSpPr/>
          <p:nvPr/>
        </p:nvGrpSpPr>
        <p:grpSpPr>
          <a:xfrm>
            <a:off x="0" y="0"/>
            <a:ext cx="9143640" cy="5143320"/>
            <a:chOff x="0" y="0"/>
            <a:chExt cx="9143640" cy="5143320"/>
          </a:xfrm>
        </p:grpSpPr>
        <p:pic>
          <p:nvPicPr>
            <p:cNvPr id="114" name="Google Shape;114;p1"/>
            <p:cNvPicPr preferRelativeResize="0"/>
            <p:nvPr/>
          </p:nvPicPr>
          <p:blipFill rotWithShape="1">
            <a:blip r:embed="rId3">
              <a:alphaModFix/>
            </a:blip>
            <a:srcRect b="0" l="0" r="0" t="0"/>
            <a:stretch/>
          </p:blipFill>
          <p:spPr>
            <a:xfrm>
              <a:off x="1928880" y="0"/>
              <a:ext cx="7214760" cy="5143320"/>
            </a:xfrm>
            <a:prstGeom prst="rect">
              <a:avLst/>
            </a:prstGeom>
            <a:noFill/>
            <a:ln>
              <a:noFill/>
            </a:ln>
            <a:effectLst>
              <a:outerShdw dir="5400000" dist="19080">
                <a:srgbClr val="000000">
                  <a:alpha val="49019"/>
                </a:srgbClr>
              </a:outerShdw>
            </a:effectLst>
          </p:spPr>
        </p:pic>
        <p:pic>
          <p:nvPicPr>
            <p:cNvPr id="115" name="Google Shape;115;p1"/>
            <p:cNvPicPr preferRelativeResize="0"/>
            <p:nvPr/>
          </p:nvPicPr>
          <p:blipFill rotWithShape="1">
            <a:blip r:embed="rId4">
              <a:alphaModFix/>
            </a:blip>
            <a:srcRect b="0" l="0" r="0" t="0"/>
            <a:stretch/>
          </p:blipFill>
          <p:spPr>
            <a:xfrm>
              <a:off x="0" y="1946520"/>
              <a:ext cx="9143640" cy="3196440"/>
            </a:xfrm>
            <a:prstGeom prst="rect">
              <a:avLst/>
            </a:prstGeom>
            <a:noFill/>
            <a:ln>
              <a:noFill/>
            </a:ln>
            <a:effectLst>
              <a:outerShdw dir="5400000" dist="19080">
                <a:srgbClr val="000000">
                  <a:alpha val="49019"/>
                </a:srgbClr>
              </a:outerShdw>
            </a:effectLst>
          </p:spPr>
        </p:pic>
        <p:pic>
          <p:nvPicPr>
            <p:cNvPr id="116" name="Google Shape;116;p1"/>
            <p:cNvPicPr preferRelativeResize="0"/>
            <p:nvPr/>
          </p:nvPicPr>
          <p:blipFill rotWithShape="1">
            <a:blip r:embed="rId5">
              <a:alphaModFix/>
            </a:blip>
            <a:srcRect b="0" l="0" r="0" t="0"/>
            <a:stretch/>
          </p:blipFill>
          <p:spPr>
            <a:xfrm>
              <a:off x="8323200" y="4545360"/>
              <a:ext cx="747000" cy="532800"/>
            </a:xfrm>
            <a:prstGeom prst="rect">
              <a:avLst/>
            </a:prstGeom>
            <a:noFill/>
            <a:ln>
              <a:noFill/>
            </a:ln>
            <a:effectLst>
              <a:outerShdw dir="5400000" dist="19080">
                <a:srgbClr val="000000">
                  <a:alpha val="49019"/>
                </a:srgbClr>
              </a:outerShdw>
            </a:effectLst>
          </p:spPr>
        </p:pic>
        <p:pic>
          <p:nvPicPr>
            <p:cNvPr id="117" name="Google Shape;117;p1"/>
            <p:cNvPicPr preferRelativeResize="0"/>
            <p:nvPr/>
          </p:nvPicPr>
          <p:blipFill rotWithShape="1">
            <a:blip r:embed="rId6">
              <a:alphaModFix/>
            </a:blip>
            <a:srcRect b="0" l="0" r="0" t="0"/>
            <a:stretch/>
          </p:blipFill>
          <p:spPr>
            <a:xfrm>
              <a:off x="154080" y="4651920"/>
              <a:ext cx="345960" cy="330840"/>
            </a:xfrm>
            <a:prstGeom prst="rect">
              <a:avLst/>
            </a:prstGeom>
            <a:noFill/>
            <a:ln>
              <a:noFill/>
            </a:ln>
            <a:effectLst>
              <a:outerShdw dir="5400000" dist="19080">
                <a:srgbClr val="000000">
                  <a:alpha val="49019"/>
                </a:srgbClr>
              </a:outerShdw>
            </a:effectLst>
          </p:spPr>
        </p:pic>
      </p:grpSp>
      <p:sp>
        <p:nvSpPr>
          <p:cNvPr id="118" name="Google Shape;118;p1"/>
          <p:cNvSpPr txBox="1"/>
          <p:nvPr/>
        </p:nvSpPr>
        <p:spPr>
          <a:xfrm>
            <a:off x="732600" y="1215355"/>
            <a:ext cx="3700800" cy="753300"/>
          </a:xfrm>
          <a:prstGeom prst="rect">
            <a:avLst/>
          </a:prstGeom>
          <a:noFill/>
          <a:ln>
            <a:noFill/>
          </a:ln>
        </p:spPr>
        <p:txBody>
          <a:bodyPr anchorCtr="0" anchor="t" bIns="91425" lIns="91425" spcFirstLastPara="1" rIns="91425" wrap="square" tIns="91425">
            <a:normAutofit lnSpcReduction="20000"/>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1D2BA5"/>
                </a:solidFill>
                <a:latin typeface="Times New Roman"/>
                <a:ea typeface="Times New Roman"/>
                <a:cs typeface="Times New Roman"/>
                <a:sym typeface="Times New Roman"/>
              </a:rPr>
              <a:t>Jour 7</a:t>
            </a:r>
            <a:endParaRPr b="0" i="0" sz="4400" u="none" cap="none" strike="noStrike">
              <a:solidFill>
                <a:srgbClr val="000000"/>
              </a:solidFill>
              <a:latin typeface="Arial"/>
              <a:ea typeface="Arial"/>
              <a:cs typeface="Arial"/>
              <a:sym typeface="Arial"/>
            </a:endParaRPr>
          </a:p>
        </p:txBody>
      </p:sp>
      <p:sp>
        <p:nvSpPr>
          <p:cNvPr id="119" name="Google Shape;119;p1"/>
          <p:cNvSpPr txBox="1"/>
          <p:nvPr/>
        </p:nvSpPr>
        <p:spPr>
          <a:xfrm>
            <a:off x="788950" y="2018475"/>
            <a:ext cx="4249800" cy="500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50"/>
              <a:buFont typeface="Arial"/>
              <a:buNone/>
            </a:pPr>
            <a:r>
              <a:rPr b="1" i="0" lang="en-US" sz="2050" u="none" cap="none" strike="noStrike">
                <a:solidFill>
                  <a:srgbClr val="1D2BA5"/>
                </a:solidFill>
                <a:latin typeface="Arial"/>
                <a:ea typeface="Arial"/>
                <a:cs typeface="Arial"/>
                <a:sym typeface="Arial"/>
              </a:rPr>
              <a:t>Traitement des objections</a:t>
            </a:r>
            <a:endParaRPr b="1" i="0" sz="2050" u="none" cap="none" strike="noStrike">
              <a:solidFill>
                <a:srgbClr val="1D2BA5"/>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grpSp>
        <p:nvGrpSpPr>
          <p:cNvPr id="124" name="Google Shape;124;p2"/>
          <p:cNvGrpSpPr/>
          <p:nvPr/>
        </p:nvGrpSpPr>
        <p:grpSpPr>
          <a:xfrm>
            <a:off x="0" y="-7200"/>
            <a:ext cx="9176760" cy="5157720"/>
            <a:chOff x="0" y="-7200"/>
            <a:chExt cx="9176760" cy="5157720"/>
          </a:xfrm>
        </p:grpSpPr>
        <p:pic>
          <p:nvPicPr>
            <p:cNvPr id="125" name="Google Shape;125;p2"/>
            <p:cNvPicPr preferRelativeResize="0"/>
            <p:nvPr/>
          </p:nvPicPr>
          <p:blipFill rotWithShape="1">
            <a:blip r:embed="rId3">
              <a:alphaModFix/>
            </a:blip>
            <a:srcRect b="0" l="0" r="0" t="0"/>
            <a:stretch/>
          </p:blipFill>
          <p:spPr>
            <a:xfrm>
              <a:off x="0" y="-7200"/>
              <a:ext cx="9176040" cy="5142960"/>
            </a:xfrm>
            <a:prstGeom prst="rect">
              <a:avLst/>
            </a:prstGeom>
            <a:noFill/>
            <a:ln>
              <a:noFill/>
            </a:ln>
          </p:spPr>
        </p:pic>
        <p:pic>
          <p:nvPicPr>
            <p:cNvPr id="126" name="Google Shape;126;p2"/>
            <p:cNvPicPr preferRelativeResize="0"/>
            <p:nvPr/>
          </p:nvPicPr>
          <p:blipFill rotWithShape="1">
            <a:blip r:embed="rId4">
              <a:alphaModFix/>
            </a:blip>
            <a:srcRect b="0" l="0" r="0" t="0"/>
            <a:stretch/>
          </p:blipFill>
          <p:spPr>
            <a:xfrm>
              <a:off x="1962000" y="7200"/>
              <a:ext cx="7214760" cy="5143320"/>
            </a:xfrm>
            <a:prstGeom prst="rect">
              <a:avLst/>
            </a:prstGeom>
            <a:noFill/>
            <a:ln>
              <a:noFill/>
            </a:ln>
          </p:spPr>
        </p:pic>
        <p:pic>
          <p:nvPicPr>
            <p:cNvPr id="127" name="Google Shape;127;p2"/>
            <p:cNvPicPr preferRelativeResize="0"/>
            <p:nvPr/>
          </p:nvPicPr>
          <p:blipFill rotWithShape="1">
            <a:blip r:embed="rId5">
              <a:alphaModFix/>
            </a:blip>
            <a:srcRect b="0" l="0" r="0" t="0"/>
            <a:stretch/>
          </p:blipFill>
          <p:spPr>
            <a:xfrm>
              <a:off x="8760960" y="302760"/>
              <a:ext cx="377640" cy="301680"/>
            </a:xfrm>
            <a:prstGeom prst="rect">
              <a:avLst/>
            </a:prstGeom>
            <a:noFill/>
            <a:ln>
              <a:noFill/>
            </a:ln>
          </p:spPr>
        </p:pic>
        <p:pic>
          <p:nvPicPr>
            <p:cNvPr id="128" name="Google Shape;128;p2"/>
            <p:cNvPicPr preferRelativeResize="0"/>
            <p:nvPr/>
          </p:nvPicPr>
          <p:blipFill rotWithShape="1">
            <a:blip r:embed="rId6">
              <a:alphaModFix/>
            </a:blip>
            <a:srcRect b="0" l="0" r="0" t="0"/>
            <a:stretch/>
          </p:blipFill>
          <p:spPr>
            <a:xfrm>
              <a:off x="183600" y="4532040"/>
              <a:ext cx="721440" cy="451440"/>
            </a:xfrm>
            <a:prstGeom prst="rect">
              <a:avLst/>
            </a:prstGeom>
            <a:noFill/>
            <a:ln>
              <a:noFill/>
            </a:ln>
          </p:spPr>
        </p:pic>
      </p:grpSp>
      <p:sp>
        <p:nvSpPr>
          <p:cNvPr id="129" name="Google Shape;129;p2"/>
          <p:cNvSpPr txBox="1"/>
          <p:nvPr/>
        </p:nvSpPr>
        <p:spPr>
          <a:xfrm>
            <a:off x="737725" y="1885275"/>
            <a:ext cx="30000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FFFFFF"/>
                </a:solidFill>
                <a:latin typeface="Times New Roman"/>
                <a:ea typeface="Times New Roman"/>
                <a:cs typeface="Times New Roman"/>
                <a:sym typeface="Times New Roman"/>
              </a:rPr>
              <a:t>Objectifs pédagogiques</a:t>
            </a:r>
            <a:endParaRPr b="1" i="0" sz="2200" u="none" cap="none" strike="noStrike">
              <a:solidFill>
                <a:srgbClr val="FFFFFF"/>
              </a:solidFill>
              <a:latin typeface="Times New Roman"/>
              <a:ea typeface="Times New Roman"/>
              <a:cs typeface="Times New Roman"/>
              <a:sym typeface="Times New Roman"/>
            </a:endParaRPr>
          </a:p>
        </p:txBody>
      </p:sp>
      <p:sp>
        <p:nvSpPr>
          <p:cNvPr id="130" name="Google Shape;130;p2"/>
          <p:cNvSpPr txBox="1"/>
          <p:nvPr/>
        </p:nvSpPr>
        <p:spPr>
          <a:xfrm>
            <a:off x="512300" y="2438550"/>
            <a:ext cx="4608300" cy="3693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objections courantes</a:t>
            </a:r>
            <a:endParaRPr b="0" i="0" sz="1200" u="none" cap="none" strike="noStrike">
              <a:solidFill>
                <a:srgbClr val="FFFFFF"/>
              </a:solidFill>
              <a:latin typeface="Arial"/>
              <a:ea typeface="Arial"/>
              <a:cs typeface="Arial"/>
              <a:sym typeface="Arial"/>
            </a:endParaRPr>
          </a:p>
        </p:txBody>
      </p:sp>
      <p:sp>
        <p:nvSpPr>
          <p:cNvPr id="131" name="Google Shape;131;p2"/>
          <p:cNvSpPr txBox="1"/>
          <p:nvPr/>
        </p:nvSpPr>
        <p:spPr>
          <a:xfrm>
            <a:off x="512300" y="2766341"/>
            <a:ext cx="6524400" cy="3693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Traiter les cas particuliers</a:t>
            </a:r>
            <a:endParaRPr b="0" i="0" sz="120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grpSp>
        <p:nvGrpSpPr>
          <p:cNvPr id="136" name="Google Shape;136;p3"/>
          <p:cNvGrpSpPr/>
          <p:nvPr/>
        </p:nvGrpSpPr>
        <p:grpSpPr>
          <a:xfrm>
            <a:off x="0" y="0"/>
            <a:ext cx="9143640" cy="5143320"/>
            <a:chOff x="0" y="0"/>
            <a:chExt cx="9143640" cy="5143320"/>
          </a:xfrm>
        </p:grpSpPr>
        <p:pic>
          <p:nvPicPr>
            <p:cNvPr id="137" name="Google Shape;137;p3"/>
            <p:cNvPicPr preferRelativeResize="0"/>
            <p:nvPr/>
          </p:nvPicPr>
          <p:blipFill rotWithShape="1">
            <a:blip r:embed="rId3">
              <a:alphaModFix/>
            </a:blip>
            <a:srcRect b="0" l="0" r="0" t="0"/>
            <a:stretch/>
          </p:blipFill>
          <p:spPr>
            <a:xfrm>
              <a:off x="0" y="0"/>
              <a:ext cx="9143640" cy="5142960"/>
            </a:xfrm>
            <a:prstGeom prst="rect">
              <a:avLst/>
            </a:prstGeom>
            <a:noFill/>
            <a:ln>
              <a:noFill/>
            </a:ln>
          </p:spPr>
        </p:pic>
        <p:pic>
          <p:nvPicPr>
            <p:cNvPr id="138" name="Google Shape;138;p3"/>
            <p:cNvPicPr preferRelativeResize="0"/>
            <p:nvPr/>
          </p:nvPicPr>
          <p:blipFill rotWithShape="1">
            <a:blip r:embed="rId4">
              <a:alphaModFix/>
            </a:blip>
            <a:srcRect b="0" l="0" r="0" t="0"/>
            <a:stretch/>
          </p:blipFill>
          <p:spPr>
            <a:xfrm>
              <a:off x="151920" y="4524840"/>
              <a:ext cx="721440" cy="451440"/>
            </a:xfrm>
            <a:prstGeom prst="rect">
              <a:avLst/>
            </a:prstGeom>
            <a:noFill/>
            <a:ln>
              <a:noFill/>
            </a:ln>
          </p:spPr>
        </p:pic>
        <p:pic>
          <p:nvPicPr>
            <p:cNvPr id="139" name="Google Shape;139;p3"/>
            <p:cNvPicPr preferRelativeResize="0"/>
            <p:nvPr/>
          </p:nvPicPr>
          <p:blipFill rotWithShape="1">
            <a:blip r:embed="rId5">
              <a:alphaModFix/>
            </a:blip>
            <a:srcRect b="0" l="0" r="0" t="0"/>
            <a:stretch/>
          </p:blipFill>
          <p:spPr>
            <a:xfrm>
              <a:off x="1928880" y="0"/>
              <a:ext cx="7214760" cy="5143320"/>
            </a:xfrm>
            <a:prstGeom prst="rect">
              <a:avLst/>
            </a:prstGeom>
            <a:noFill/>
            <a:ln>
              <a:noFill/>
            </a:ln>
          </p:spPr>
        </p:pic>
        <p:pic>
          <p:nvPicPr>
            <p:cNvPr id="140" name="Google Shape;140;p3"/>
            <p:cNvPicPr preferRelativeResize="0"/>
            <p:nvPr/>
          </p:nvPicPr>
          <p:blipFill rotWithShape="1">
            <a:blip r:embed="rId6">
              <a:alphaModFix/>
            </a:blip>
            <a:srcRect b="0" l="0" r="0" t="0"/>
            <a:stretch/>
          </p:blipFill>
          <p:spPr>
            <a:xfrm>
              <a:off x="8596800" y="142920"/>
              <a:ext cx="357480" cy="301680"/>
            </a:xfrm>
            <a:prstGeom prst="rect">
              <a:avLst/>
            </a:prstGeom>
            <a:noFill/>
            <a:ln>
              <a:noFill/>
            </a:ln>
          </p:spPr>
        </p:pic>
      </p:grpSp>
      <p:sp>
        <p:nvSpPr>
          <p:cNvPr id="141" name="Google Shape;141;p3"/>
          <p:cNvSpPr txBox="1"/>
          <p:nvPr/>
        </p:nvSpPr>
        <p:spPr>
          <a:xfrm>
            <a:off x="512300" y="2438550"/>
            <a:ext cx="4608300" cy="3693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objections courantes </a:t>
            </a:r>
            <a:endParaRPr b="0" i="0" sz="1200" u="none" cap="none" strike="noStrike">
              <a:solidFill>
                <a:srgbClr val="FFFFFF"/>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grpSp>
        <p:nvGrpSpPr>
          <p:cNvPr id="146" name="Google Shape;146;p4"/>
          <p:cNvGrpSpPr/>
          <p:nvPr/>
        </p:nvGrpSpPr>
        <p:grpSpPr>
          <a:xfrm>
            <a:off x="0" y="1946520"/>
            <a:ext cx="9143640" cy="3196440"/>
            <a:chOff x="0" y="1946520"/>
            <a:chExt cx="9143640" cy="3196440"/>
          </a:xfrm>
        </p:grpSpPr>
        <p:pic>
          <p:nvPicPr>
            <p:cNvPr id="147" name="Google Shape;147;p4"/>
            <p:cNvPicPr preferRelativeResize="0"/>
            <p:nvPr/>
          </p:nvPicPr>
          <p:blipFill rotWithShape="1">
            <a:blip r:embed="rId3">
              <a:alphaModFix/>
            </a:blip>
            <a:srcRect b="0" l="0" r="0" t="0"/>
            <a:stretch/>
          </p:blipFill>
          <p:spPr>
            <a:xfrm>
              <a:off x="0" y="1946520"/>
              <a:ext cx="9143640" cy="3196440"/>
            </a:xfrm>
            <a:prstGeom prst="rect">
              <a:avLst/>
            </a:prstGeom>
            <a:noFill/>
            <a:ln>
              <a:noFill/>
            </a:ln>
          </p:spPr>
        </p:pic>
        <p:pic>
          <p:nvPicPr>
            <p:cNvPr id="148" name="Google Shape;148;p4"/>
            <p:cNvPicPr preferRelativeResize="0"/>
            <p:nvPr/>
          </p:nvPicPr>
          <p:blipFill rotWithShape="1">
            <a:blip r:embed="rId4">
              <a:alphaModFix/>
            </a:blip>
            <a:srcRect b="0" l="0" r="0" t="0"/>
            <a:stretch/>
          </p:blipFill>
          <p:spPr>
            <a:xfrm>
              <a:off x="154080" y="4651920"/>
              <a:ext cx="345960" cy="330840"/>
            </a:xfrm>
            <a:prstGeom prst="rect">
              <a:avLst/>
            </a:prstGeom>
            <a:noFill/>
            <a:ln>
              <a:noFill/>
            </a:ln>
          </p:spPr>
        </p:pic>
        <p:pic>
          <p:nvPicPr>
            <p:cNvPr id="149" name="Google Shape;149;p4"/>
            <p:cNvPicPr preferRelativeResize="0"/>
            <p:nvPr/>
          </p:nvPicPr>
          <p:blipFill rotWithShape="1">
            <a:blip r:embed="rId5">
              <a:alphaModFix/>
            </a:blip>
            <a:srcRect b="0" l="0" r="0" t="0"/>
            <a:stretch/>
          </p:blipFill>
          <p:spPr>
            <a:xfrm>
              <a:off x="8323200" y="4545360"/>
              <a:ext cx="747000" cy="532800"/>
            </a:xfrm>
            <a:prstGeom prst="rect">
              <a:avLst/>
            </a:prstGeom>
            <a:noFill/>
            <a:ln>
              <a:noFill/>
            </a:ln>
          </p:spPr>
        </p:pic>
      </p:grpSp>
      <p:sp>
        <p:nvSpPr>
          <p:cNvPr id="150" name="Google Shape;150;p4"/>
          <p:cNvSpPr/>
          <p:nvPr/>
        </p:nvSpPr>
        <p:spPr>
          <a:xfrm>
            <a:off x="0" y="1695600"/>
            <a:ext cx="2101680" cy="3535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4"/>
          <p:cNvSpPr/>
          <p:nvPr/>
        </p:nvSpPr>
        <p:spPr>
          <a:xfrm>
            <a:off x="2204500" y="574375"/>
            <a:ext cx="4024200" cy="225300"/>
          </a:xfrm>
          <a:prstGeom prst="rect">
            <a:avLst/>
          </a:prstGeom>
          <a:solidFill>
            <a:srgbClr val="CFE2F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Mise en pratique sur les objections récurrentes :</a:t>
            </a:r>
            <a:endParaRPr b="0" i="0" sz="1400" u="none" cap="none" strike="noStrike">
              <a:solidFill>
                <a:srgbClr val="000000"/>
              </a:solidFill>
              <a:latin typeface="Arial"/>
              <a:ea typeface="Arial"/>
              <a:cs typeface="Arial"/>
              <a:sym typeface="Arial"/>
            </a:endParaRPr>
          </a:p>
        </p:txBody>
      </p:sp>
      <p:sp>
        <p:nvSpPr>
          <p:cNvPr id="152" name="Google Shape;152;p4"/>
          <p:cNvSpPr/>
          <p:nvPr/>
        </p:nvSpPr>
        <p:spPr>
          <a:xfrm>
            <a:off x="4288320" y="1695600"/>
            <a:ext cx="2034000" cy="3535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4"/>
          <p:cNvSpPr/>
          <p:nvPr/>
        </p:nvSpPr>
        <p:spPr>
          <a:xfrm>
            <a:off x="6240600" y="1695600"/>
            <a:ext cx="2999520" cy="35352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Exercices : Objections fréquentes</a:t>
            </a:r>
            <a:endParaRPr b="0" i="0" sz="1400" u="none" cap="none" strike="noStrike">
              <a:solidFill>
                <a:srgbClr val="000000"/>
              </a:solidFill>
              <a:latin typeface="Arial"/>
              <a:ea typeface="Arial"/>
              <a:cs typeface="Arial"/>
              <a:sym typeface="Arial"/>
            </a:endParaRPr>
          </a:p>
        </p:txBody>
      </p:sp>
      <p:cxnSp>
        <p:nvCxnSpPr>
          <p:cNvPr id="155" name="Google Shape;155;p4"/>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156" name="Google Shape;156;p4"/>
          <p:cNvSpPr txBox="1"/>
          <p:nvPr/>
        </p:nvSpPr>
        <p:spPr>
          <a:xfrm>
            <a:off x="125615" y="2193712"/>
            <a:ext cx="3255900" cy="3849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15000"/>
              </a:lnSpc>
              <a:spcBef>
                <a:spcPts val="1800"/>
              </a:spcBef>
              <a:spcAft>
                <a:spcPts val="0"/>
              </a:spcAft>
              <a:buClr>
                <a:schemeClr val="dk1"/>
              </a:buClr>
              <a:buSzPts val="1300"/>
              <a:buFont typeface="Arial"/>
              <a:buChar char="●"/>
            </a:pPr>
            <a:r>
              <a:rPr b="1" i="0" lang="en-US" sz="1300" u="none" cap="none" strike="noStrike">
                <a:solidFill>
                  <a:schemeClr val="dk1"/>
                </a:solidFill>
                <a:latin typeface="Arial"/>
                <a:ea typeface="Arial"/>
                <a:cs typeface="Arial"/>
                <a:sym typeface="Arial"/>
              </a:rPr>
              <a:t>Objections liées au prix / coût</a:t>
            </a:r>
            <a:endParaRPr b="1" i="0" sz="1300" u="none" cap="none" strike="noStrike">
              <a:solidFill>
                <a:schemeClr val="dk1"/>
              </a:solidFill>
              <a:latin typeface="Arial"/>
              <a:ea typeface="Arial"/>
              <a:cs typeface="Arial"/>
              <a:sym typeface="Arial"/>
            </a:endParaRPr>
          </a:p>
        </p:txBody>
      </p:sp>
      <p:sp>
        <p:nvSpPr>
          <p:cNvPr id="157" name="Google Shape;157;p4"/>
          <p:cNvSpPr txBox="1"/>
          <p:nvPr/>
        </p:nvSpPr>
        <p:spPr>
          <a:xfrm>
            <a:off x="129400" y="2830050"/>
            <a:ext cx="4024200" cy="3849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15000"/>
              </a:lnSpc>
              <a:spcBef>
                <a:spcPts val="1800"/>
              </a:spcBef>
              <a:spcAft>
                <a:spcPts val="0"/>
              </a:spcAft>
              <a:buClr>
                <a:schemeClr val="dk1"/>
              </a:buClr>
              <a:buSzPts val="1300"/>
              <a:buFont typeface="Arial"/>
              <a:buChar char="●"/>
            </a:pPr>
            <a:r>
              <a:rPr b="1" i="0" lang="en-US" sz="1300" u="none" cap="none" strike="noStrike">
                <a:solidFill>
                  <a:schemeClr val="dk1"/>
                </a:solidFill>
                <a:latin typeface="Arial"/>
                <a:ea typeface="Arial"/>
                <a:cs typeface="Arial"/>
                <a:sym typeface="Arial"/>
              </a:rPr>
              <a:t>Objections liées à la couverture / garanties</a:t>
            </a:r>
            <a:endParaRPr b="1" i="0" sz="1300" u="none" cap="none" strike="noStrike">
              <a:solidFill>
                <a:schemeClr val="dk1"/>
              </a:solidFill>
              <a:latin typeface="Arial"/>
              <a:ea typeface="Arial"/>
              <a:cs typeface="Arial"/>
              <a:sym typeface="Arial"/>
            </a:endParaRPr>
          </a:p>
        </p:txBody>
      </p:sp>
      <p:sp>
        <p:nvSpPr>
          <p:cNvPr id="158" name="Google Shape;158;p4"/>
          <p:cNvSpPr txBox="1"/>
          <p:nvPr/>
        </p:nvSpPr>
        <p:spPr>
          <a:xfrm>
            <a:off x="129396" y="2511898"/>
            <a:ext cx="4024200" cy="3849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Clr>
                <a:schemeClr val="dk1"/>
              </a:buClr>
              <a:buSzPts val="1300"/>
              <a:buFont typeface="Arial"/>
              <a:buChar char="●"/>
            </a:pPr>
            <a:r>
              <a:rPr b="1" i="0" lang="en-US" sz="1300" u="none" cap="none" strike="noStrike">
                <a:solidFill>
                  <a:schemeClr val="dk1"/>
                </a:solidFill>
                <a:latin typeface="Arial"/>
                <a:ea typeface="Arial"/>
                <a:cs typeface="Arial"/>
                <a:sym typeface="Arial"/>
              </a:rPr>
              <a:t>Objections liées à la confiance / crédibilité</a:t>
            </a:r>
            <a:endParaRPr b="0" i="0" sz="1400" u="none" cap="none" strike="noStrike">
              <a:solidFill>
                <a:srgbClr val="000000"/>
              </a:solidFill>
              <a:latin typeface="Arial"/>
              <a:ea typeface="Arial"/>
              <a:cs typeface="Arial"/>
              <a:sym typeface="Arial"/>
            </a:endParaRPr>
          </a:p>
        </p:txBody>
      </p:sp>
      <p:sp>
        <p:nvSpPr>
          <p:cNvPr id="159" name="Google Shape;159;p4"/>
          <p:cNvSpPr txBox="1"/>
          <p:nvPr/>
        </p:nvSpPr>
        <p:spPr>
          <a:xfrm>
            <a:off x="125628" y="3136200"/>
            <a:ext cx="3786000" cy="3849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Clr>
                <a:schemeClr val="dk1"/>
              </a:buClr>
              <a:buSzPts val="1300"/>
              <a:buFont typeface="Arial"/>
              <a:buChar char="●"/>
            </a:pPr>
            <a:r>
              <a:rPr b="1" i="0" lang="en-US" sz="1300" u="none" cap="none" strike="noStrike">
                <a:solidFill>
                  <a:schemeClr val="dk1"/>
                </a:solidFill>
                <a:latin typeface="Arial"/>
                <a:ea typeface="Arial"/>
                <a:cs typeface="Arial"/>
                <a:sym typeface="Arial"/>
              </a:rPr>
              <a:t>Objections liées au timing / priorité</a:t>
            </a:r>
            <a:endParaRPr b="0" i="0" sz="1400" u="none" cap="none" strike="noStrike">
              <a:solidFill>
                <a:srgbClr val="000000"/>
              </a:solidFill>
              <a:latin typeface="Arial"/>
              <a:ea typeface="Arial"/>
              <a:cs typeface="Arial"/>
              <a:sym typeface="Arial"/>
            </a:endParaRPr>
          </a:p>
        </p:txBody>
      </p:sp>
      <p:pic>
        <p:nvPicPr>
          <p:cNvPr id="160" name="Google Shape;160;p4" title="2Zhw.gif"/>
          <p:cNvPicPr preferRelativeResize="0"/>
          <p:nvPr/>
        </p:nvPicPr>
        <p:blipFill rotWithShape="1">
          <a:blip r:embed="rId6">
            <a:alphaModFix/>
          </a:blip>
          <a:srcRect b="0" l="0" r="0" t="0"/>
          <a:stretch/>
        </p:blipFill>
        <p:spPr>
          <a:xfrm>
            <a:off x="6472075" y="672813"/>
            <a:ext cx="828675" cy="1171575"/>
          </a:xfrm>
          <a:prstGeom prst="rect">
            <a:avLst/>
          </a:prstGeom>
          <a:noFill/>
          <a:ln>
            <a:noFill/>
          </a:ln>
        </p:spPr>
      </p:pic>
      <p:sp>
        <p:nvSpPr>
          <p:cNvPr id="161" name="Google Shape;161;p4"/>
          <p:cNvSpPr/>
          <p:nvPr/>
        </p:nvSpPr>
        <p:spPr>
          <a:xfrm>
            <a:off x="6985375" y="1316150"/>
            <a:ext cx="1940400" cy="27624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FFFFFF"/>
                </a:solidFill>
                <a:latin typeface="Arial"/>
                <a:ea typeface="Arial"/>
                <a:cs typeface="Arial"/>
                <a:sym typeface="Arial"/>
              </a:rPr>
              <a:t>Trouver des objections pour chaque catégorie, et le traitement pour les désamorcer</a:t>
            </a:r>
            <a:endParaRPr b="1" i="0" sz="1900" u="none" cap="none" strike="noStrike">
              <a:solidFill>
                <a:srgbClr val="FFFFF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grpSp>
        <p:nvGrpSpPr>
          <p:cNvPr id="166" name="Google Shape;166;p5"/>
          <p:cNvGrpSpPr/>
          <p:nvPr/>
        </p:nvGrpSpPr>
        <p:grpSpPr>
          <a:xfrm>
            <a:off x="0" y="0"/>
            <a:ext cx="9143641" cy="5143321"/>
            <a:chOff x="0" y="0"/>
            <a:chExt cx="9143641" cy="5143321"/>
          </a:xfrm>
        </p:grpSpPr>
        <p:pic>
          <p:nvPicPr>
            <p:cNvPr id="167" name="Google Shape;167;p5"/>
            <p:cNvPicPr preferRelativeResize="0"/>
            <p:nvPr/>
          </p:nvPicPr>
          <p:blipFill rotWithShape="1">
            <a:blip r:embed="rId3">
              <a:alphaModFix/>
            </a:blip>
            <a:srcRect b="0" l="0" r="0" t="0"/>
            <a:stretch/>
          </p:blipFill>
          <p:spPr>
            <a:xfrm>
              <a:off x="0" y="0"/>
              <a:ext cx="9143639" cy="5142961"/>
            </a:xfrm>
            <a:prstGeom prst="rect">
              <a:avLst/>
            </a:prstGeom>
            <a:noFill/>
            <a:ln>
              <a:noFill/>
            </a:ln>
          </p:spPr>
        </p:pic>
        <p:pic>
          <p:nvPicPr>
            <p:cNvPr id="168" name="Google Shape;168;p5"/>
            <p:cNvPicPr preferRelativeResize="0"/>
            <p:nvPr/>
          </p:nvPicPr>
          <p:blipFill rotWithShape="1">
            <a:blip r:embed="rId4">
              <a:alphaModFix/>
            </a:blip>
            <a:srcRect b="0" l="0" r="0" t="0"/>
            <a:stretch/>
          </p:blipFill>
          <p:spPr>
            <a:xfrm>
              <a:off x="151920" y="4524840"/>
              <a:ext cx="721440" cy="451440"/>
            </a:xfrm>
            <a:prstGeom prst="rect">
              <a:avLst/>
            </a:prstGeom>
            <a:noFill/>
            <a:ln>
              <a:noFill/>
            </a:ln>
          </p:spPr>
        </p:pic>
        <p:pic>
          <p:nvPicPr>
            <p:cNvPr id="169" name="Google Shape;169;p5"/>
            <p:cNvPicPr preferRelativeResize="0"/>
            <p:nvPr/>
          </p:nvPicPr>
          <p:blipFill rotWithShape="1">
            <a:blip r:embed="rId5">
              <a:alphaModFix/>
            </a:blip>
            <a:srcRect b="0" l="0" r="0" t="0"/>
            <a:stretch/>
          </p:blipFill>
          <p:spPr>
            <a:xfrm>
              <a:off x="1928880" y="0"/>
              <a:ext cx="7214761" cy="5143321"/>
            </a:xfrm>
            <a:prstGeom prst="rect">
              <a:avLst/>
            </a:prstGeom>
            <a:noFill/>
            <a:ln>
              <a:noFill/>
            </a:ln>
          </p:spPr>
        </p:pic>
        <p:pic>
          <p:nvPicPr>
            <p:cNvPr id="170" name="Google Shape;170;p5"/>
            <p:cNvPicPr preferRelativeResize="0"/>
            <p:nvPr/>
          </p:nvPicPr>
          <p:blipFill rotWithShape="1">
            <a:blip r:embed="rId6">
              <a:alphaModFix/>
            </a:blip>
            <a:srcRect b="0" l="0" r="0" t="0"/>
            <a:stretch/>
          </p:blipFill>
          <p:spPr>
            <a:xfrm>
              <a:off x="8596800" y="142920"/>
              <a:ext cx="357481" cy="301681"/>
            </a:xfrm>
            <a:prstGeom prst="rect">
              <a:avLst/>
            </a:prstGeom>
            <a:noFill/>
            <a:ln>
              <a:noFill/>
            </a:ln>
          </p:spPr>
        </p:pic>
      </p:grpSp>
      <p:sp>
        <p:nvSpPr>
          <p:cNvPr id="171" name="Google Shape;171;p5"/>
          <p:cNvSpPr txBox="1"/>
          <p:nvPr/>
        </p:nvSpPr>
        <p:spPr>
          <a:xfrm>
            <a:off x="512300" y="2438550"/>
            <a:ext cx="4608300" cy="3693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chemeClr val="lt1"/>
              </a:buClr>
              <a:buSzPts val="1200"/>
              <a:buFont typeface="Arial"/>
              <a:buChar char="●"/>
            </a:pPr>
            <a:r>
              <a:rPr b="0" i="0" lang="en-US" sz="1200" u="none" cap="none" strike="noStrike">
                <a:solidFill>
                  <a:schemeClr val="lt1"/>
                </a:solidFill>
                <a:latin typeface="Arial"/>
                <a:ea typeface="Arial"/>
                <a:cs typeface="Arial"/>
                <a:sym typeface="Arial"/>
              </a:rPr>
              <a:t>Traiter les cas particuliers</a:t>
            </a:r>
            <a:endParaRPr b="0" i="0" sz="12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grpSp>
        <p:nvGrpSpPr>
          <p:cNvPr id="176" name="Google Shape;176;p6"/>
          <p:cNvGrpSpPr/>
          <p:nvPr/>
        </p:nvGrpSpPr>
        <p:grpSpPr>
          <a:xfrm>
            <a:off x="0" y="1946520"/>
            <a:ext cx="9143640" cy="3196440"/>
            <a:chOff x="0" y="1946520"/>
            <a:chExt cx="9143640" cy="3196440"/>
          </a:xfrm>
        </p:grpSpPr>
        <p:pic>
          <p:nvPicPr>
            <p:cNvPr id="177" name="Google Shape;177;p6"/>
            <p:cNvPicPr preferRelativeResize="0"/>
            <p:nvPr/>
          </p:nvPicPr>
          <p:blipFill rotWithShape="1">
            <a:blip r:embed="rId3">
              <a:alphaModFix/>
            </a:blip>
            <a:srcRect b="0" l="0" r="0" t="0"/>
            <a:stretch/>
          </p:blipFill>
          <p:spPr>
            <a:xfrm>
              <a:off x="0" y="1946520"/>
              <a:ext cx="9143640" cy="3196440"/>
            </a:xfrm>
            <a:prstGeom prst="rect">
              <a:avLst/>
            </a:prstGeom>
            <a:noFill/>
            <a:ln>
              <a:noFill/>
            </a:ln>
          </p:spPr>
        </p:pic>
        <p:pic>
          <p:nvPicPr>
            <p:cNvPr id="178" name="Google Shape;178;p6"/>
            <p:cNvPicPr preferRelativeResize="0"/>
            <p:nvPr/>
          </p:nvPicPr>
          <p:blipFill rotWithShape="1">
            <a:blip r:embed="rId4">
              <a:alphaModFix/>
            </a:blip>
            <a:srcRect b="0" l="0" r="0" t="0"/>
            <a:stretch/>
          </p:blipFill>
          <p:spPr>
            <a:xfrm>
              <a:off x="154080" y="4651920"/>
              <a:ext cx="345960" cy="330840"/>
            </a:xfrm>
            <a:prstGeom prst="rect">
              <a:avLst/>
            </a:prstGeom>
            <a:noFill/>
            <a:ln>
              <a:noFill/>
            </a:ln>
          </p:spPr>
        </p:pic>
        <p:pic>
          <p:nvPicPr>
            <p:cNvPr id="179" name="Google Shape;179;p6"/>
            <p:cNvPicPr preferRelativeResize="0"/>
            <p:nvPr/>
          </p:nvPicPr>
          <p:blipFill rotWithShape="1">
            <a:blip r:embed="rId5">
              <a:alphaModFix/>
            </a:blip>
            <a:srcRect b="0" l="0" r="0" t="0"/>
            <a:stretch/>
          </p:blipFill>
          <p:spPr>
            <a:xfrm>
              <a:off x="8323200" y="4545360"/>
              <a:ext cx="747000" cy="532800"/>
            </a:xfrm>
            <a:prstGeom prst="rect">
              <a:avLst/>
            </a:prstGeom>
            <a:noFill/>
            <a:ln>
              <a:noFill/>
            </a:ln>
          </p:spPr>
        </p:pic>
      </p:grpSp>
      <p:sp>
        <p:nvSpPr>
          <p:cNvPr id="180" name="Google Shape;180;p6"/>
          <p:cNvSpPr txBox="1"/>
          <p:nvPr/>
        </p:nvSpPr>
        <p:spPr>
          <a:xfrm>
            <a:off x="0" y="0"/>
            <a:ext cx="4608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Exercices : Objection particuliers</a:t>
            </a:r>
            <a:endParaRPr b="0" i="0" sz="1000" u="none" cap="none" strike="noStrike">
              <a:solidFill>
                <a:schemeClr val="dk1"/>
              </a:solidFill>
              <a:latin typeface="Arial"/>
              <a:ea typeface="Arial"/>
              <a:cs typeface="Arial"/>
              <a:sym typeface="Arial"/>
            </a:endParaRPr>
          </a:p>
        </p:txBody>
      </p:sp>
      <p:cxnSp>
        <p:nvCxnSpPr>
          <p:cNvPr id="181" name="Google Shape;181;p6"/>
          <p:cNvCxnSpPr/>
          <p:nvPr/>
        </p:nvCxnSpPr>
        <p:spPr>
          <a:xfrm>
            <a:off x="0" y="435779"/>
            <a:ext cx="9135300" cy="19200"/>
          </a:xfrm>
          <a:prstGeom prst="straightConnector1">
            <a:avLst/>
          </a:prstGeom>
          <a:noFill/>
          <a:ln cap="flat" cmpd="sng" w="19050">
            <a:solidFill>
              <a:srgbClr val="0000FF"/>
            </a:solidFill>
            <a:prstDash val="solid"/>
            <a:round/>
            <a:headEnd len="sm" w="sm" type="none"/>
            <a:tailEnd len="sm" w="sm" type="none"/>
          </a:ln>
        </p:spPr>
      </p:cxnSp>
      <p:sp>
        <p:nvSpPr>
          <p:cNvPr id="182" name="Google Shape;182;p6"/>
          <p:cNvSpPr txBox="1"/>
          <p:nvPr/>
        </p:nvSpPr>
        <p:spPr>
          <a:xfrm>
            <a:off x="143444" y="1978621"/>
            <a:ext cx="4251000" cy="3849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000000"/>
                </a:solidFill>
                <a:latin typeface="Arial"/>
                <a:ea typeface="Arial"/>
                <a:cs typeface="Arial"/>
                <a:sym typeface="Arial"/>
              </a:rPr>
              <a:t>Retraité / Senior avec antécédents médicaux</a:t>
            </a:r>
            <a:endParaRPr b="1" i="0" sz="1300" u="none" cap="none" strike="noStrike">
              <a:solidFill>
                <a:srgbClr val="000000"/>
              </a:solidFill>
              <a:latin typeface="Arial"/>
              <a:ea typeface="Arial"/>
              <a:cs typeface="Arial"/>
              <a:sym typeface="Arial"/>
            </a:endParaRPr>
          </a:p>
        </p:txBody>
      </p:sp>
      <p:sp>
        <p:nvSpPr>
          <p:cNvPr id="183" name="Google Shape;183;p6"/>
          <p:cNvSpPr/>
          <p:nvPr/>
        </p:nvSpPr>
        <p:spPr>
          <a:xfrm>
            <a:off x="2204500" y="574375"/>
            <a:ext cx="4074000" cy="234600"/>
          </a:xfrm>
          <a:prstGeom prst="rect">
            <a:avLst/>
          </a:prstGeom>
          <a:solidFill>
            <a:srgbClr val="CFE2F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Mise en pratique sur les objections particulières :</a:t>
            </a:r>
            <a:endParaRPr b="0" i="0" sz="1400" u="none" cap="none" strike="noStrike">
              <a:solidFill>
                <a:srgbClr val="000000"/>
              </a:solidFill>
              <a:latin typeface="Arial"/>
              <a:ea typeface="Arial"/>
              <a:cs typeface="Arial"/>
              <a:sym typeface="Arial"/>
            </a:endParaRPr>
          </a:p>
        </p:txBody>
      </p:sp>
      <p:sp>
        <p:nvSpPr>
          <p:cNvPr id="184" name="Google Shape;184;p6"/>
          <p:cNvSpPr txBox="1"/>
          <p:nvPr/>
        </p:nvSpPr>
        <p:spPr>
          <a:xfrm>
            <a:off x="153684" y="2764903"/>
            <a:ext cx="3000000" cy="3849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000000"/>
                </a:solidFill>
                <a:latin typeface="Arial"/>
                <a:ea typeface="Arial"/>
                <a:cs typeface="Arial"/>
                <a:sym typeface="Arial"/>
              </a:rPr>
              <a:t>Travailleur non-salarié (TNS)</a:t>
            </a:r>
            <a:endParaRPr b="1" i="0" sz="1300" u="none" cap="none" strike="noStrike">
              <a:solidFill>
                <a:srgbClr val="000000"/>
              </a:solidFill>
              <a:latin typeface="Arial"/>
              <a:ea typeface="Arial"/>
              <a:cs typeface="Arial"/>
              <a:sym typeface="Arial"/>
            </a:endParaRPr>
          </a:p>
        </p:txBody>
      </p:sp>
      <p:sp>
        <p:nvSpPr>
          <p:cNvPr id="185" name="Google Shape;185;p6"/>
          <p:cNvSpPr txBox="1"/>
          <p:nvPr/>
        </p:nvSpPr>
        <p:spPr>
          <a:xfrm>
            <a:off x="139100" y="2361525"/>
            <a:ext cx="5719200" cy="3849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00000"/>
              </a:lnSpc>
              <a:spcBef>
                <a:spcPts val="0"/>
              </a:spcBef>
              <a:spcAft>
                <a:spcPts val="0"/>
              </a:spcAft>
              <a:buClr>
                <a:srgbClr val="000000"/>
              </a:buClr>
              <a:buSzPts val="1300"/>
              <a:buFont typeface="Arial"/>
              <a:buChar char="●"/>
            </a:pPr>
            <a:r>
              <a:rPr b="1" i="0" lang="en-US" sz="1300" u="none" cap="none" strike="noStrike">
                <a:solidFill>
                  <a:srgbClr val="000000"/>
                </a:solidFill>
                <a:latin typeface="Arial"/>
                <a:ea typeface="Arial"/>
                <a:cs typeface="Arial"/>
                <a:sym typeface="Arial"/>
              </a:rPr>
              <a:t>Personne en situation de handicap ou pathologie spécifique</a:t>
            </a:r>
            <a:endParaRPr b="1" i="0" sz="1300" u="none" cap="none" strike="noStrike">
              <a:solidFill>
                <a:srgbClr val="000000"/>
              </a:solidFill>
              <a:latin typeface="Arial"/>
              <a:ea typeface="Arial"/>
              <a:cs typeface="Arial"/>
              <a:sym typeface="Arial"/>
            </a:endParaRPr>
          </a:p>
        </p:txBody>
      </p:sp>
      <p:pic>
        <p:nvPicPr>
          <p:cNvPr id="186" name="Google Shape;186;p6" title="2Zhw.gif"/>
          <p:cNvPicPr preferRelativeResize="0"/>
          <p:nvPr/>
        </p:nvPicPr>
        <p:blipFill rotWithShape="1">
          <a:blip r:embed="rId6">
            <a:alphaModFix/>
          </a:blip>
          <a:srcRect b="0" l="0" r="0" t="0"/>
          <a:stretch/>
        </p:blipFill>
        <p:spPr>
          <a:xfrm>
            <a:off x="6464669" y="676823"/>
            <a:ext cx="828675" cy="1171575"/>
          </a:xfrm>
          <a:prstGeom prst="rect">
            <a:avLst/>
          </a:prstGeom>
          <a:noFill/>
          <a:ln>
            <a:noFill/>
          </a:ln>
        </p:spPr>
      </p:pic>
      <p:sp>
        <p:nvSpPr>
          <p:cNvPr id="187" name="Google Shape;187;p6"/>
          <p:cNvSpPr/>
          <p:nvPr/>
        </p:nvSpPr>
        <p:spPr>
          <a:xfrm>
            <a:off x="6985375" y="1316150"/>
            <a:ext cx="1940400" cy="27624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FFFFFF"/>
                </a:solidFill>
                <a:latin typeface="Arial"/>
                <a:ea typeface="Arial"/>
                <a:cs typeface="Arial"/>
                <a:sym typeface="Arial"/>
              </a:rPr>
              <a:t>Trouver des objections pour chaque catégorie, et le traitement pour les désamorcer</a:t>
            </a:r>
            <a:endParaRPr b="1" i="0" sz="1900" u="none" cap="none" strike="noStrike">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grpSp>
        <p:nvGrpSpPr>
          <p:cNvPr id="192" name="Google Shape;192;p7"/>
          <p:cNvGrpSpPr/>
          <p:nvPr/>
        </p:nvGrpSpPr>
        <p:grpSpPr>
          <a:xfrm>
            <a:off x="0" y="1946520"/>
            <a:ext cx="9143639" cy="3196441"/>
            <a:chOff x="0" y="1946520"/>
            <a:chExt cx="9143639" cy="3196441"/>
          </a:xfrm>
        </p:grpSpPr>
        <p:pic>
          <p:nvPicPr>
            <p:cNvPr id="193" name="Google Shape;193;p7"/>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194" name="Google Shape;194;p7"/>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195" name="Google Shape;195;p7"/>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graphicFrame>
        <p:nvGraphicFramePr>
          <p:cNvPr id="196" name="Google Shape;196;p7"/>
          <p:cNvGraphicFramePr/>
          <p:nvPr/>
        </p:nvGraphicFramePr>
        <p:xfrm>
          <a:off x="85725" y="88525"/>
          <a:ext cx="3000000" cy="3000000"/>
        </p:xfrm>
        <a:graphic>
          <a:graphicData uri="http://schemas.openxmlformats.org/drawingml/2006/table">
            <a:tbl>
              <a:tblPr>
                <a:noFill/>
                <a:tableStyleId>{30BBF3B7-431E-4681-92F3-4885C300930F}</a:tableStyleId>
              </a:tblPr>
              <a:tblGrid>
                <a:gridCol w="881475"/>
                <a:gridCol w="3532350"/>
                <a:gridCol w="2003700"/>
                <a:gridCol w="2589700"/>
              </a:tblGrid>
              <a:tr h="378475">
                <a:tc>
                  <a:txBody>
                    <a:bodyPr/>
                    <a:lstStyle/>
                    <a:p>
                      <a:pPr indent="0" lvl="0" marL="0" marR="0" rtl="0" algn="ctr">
                        <a:lnSpc>
                          <a:spcPct val="115000"/>
                        </a:lnSpc>
                        <a:spcBef>
                          <a:spcPts val="0"/>
                        </a:spcBef>
                        <a:spcAft>
                          <a:spcPts val="0"/>
                        </a:spcAft>
                        <a:buClr>
                          <a:srgbClr val="000000"/>
                        </a:buClr>
                        <a:buSzPts val="1300"/>
                        <a:buFont typeface="Arial"/>
                        <a:buNone/>
                      </a:pPr>
                      <a:r>
                        <a:rPr b="1" lang="en-US" sz="1300" u="none" cap="none" strike="noStrike">
                          <a:solidFill>
                            <a:srgbClr val="0C343D"/>
                          </a:solidFill>
                        </a:rPr>
                        <a:t>Profil</a:t>
                      </a:r>
                      <a:endParaRPr b="1" sz="1300" u="none" cap="none" strike="noStrike">
                        <a:solidFill>
                          <a:srgbClr val="0C343D"/>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US" sz="1300" u="none" cap="none" strike="noStrike">
                          <a:solidFill>
                            <a:srgbClr val="0C343D"/>
                          </a:solidFill>
                        </a:rPr>
                        <a:t>Besoins principaux</a:t>
                      </a:r>
                      <a:endParaRPr b="1" sz="1300" u="none" cap="none" strike="noStrike">
                        <a:solidFill>
                          <a:srgbClr val="0C343D"/>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US" sz="1300" u="none" cap="none" strike="noStrike">
                          <a:solidFill>
                            <a:srgbClr val="0C343D"/>
                          </a:solidFill>
                        </a:rPr>
                        <a:t>Motivations</a:t>
                      </a:r>
                      <a:endParaRPr b="1" sz="1300" u="none" cap="none" strike="noStrike">
                        <a:solidFill>
                          <a:srgbClr val="0C343D"/>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300"/>
                        <a:buFont typeface="Arial"/>
                        <a:buNone/>
                      </a:pPr>
                      <a:r>
                        <a:rPr b="1" lang="en-US" sz="1300" u="none" cap="none" strike="noStrike">
                          <a:solidFill>
                            <a:srgbClr val="0C343D"/>
                          </a:solidFill>
                        </a:rPr>
                        <a:t>Points clés à mettre en avant</a:t>
                      </a:r>
                      <a:endParaRPr b="1" sz="1300" u="none" cap="none" strike="noStrike">
                        <a:solidFill>
                          <a:srgbClr val="0C343D"/>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35100">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rgbClr val="0C343D"/>
                          </a:solidFill>
                        </a:rPr>
                        <a:t>Senior</a:t>
                      </a:r>
                      <a:endParaRPr b="1" sz="1300" u="none" cap="none" strike="noStrike">
                        <a:solidFill>
                          <a:srgbClr val="0C343D"/>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 Hospitalisation renforcée- Soins spécialistes- Optique &amp; dentaire- Dépassements d’honoraires- Services d’assistance</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Sécurité, tranquillité, maintien du niveau de vie</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Remboursements solides, confort (chambre particulière), téléassistance</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22675">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rgbClr val="0C343D"/>
                          </a:solidFill>
                        </a:rPr>
                        <a:t>TNS</a:t>
                      </a:r>
                      <a:endParaRPr b="1" sz="1300" u="none" cap="none" strike="noStrike">
                        <a:solidFill>
                          <a:srgbClr val="0C343D"/>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 Couverture hospitalisation &amp; soins courants- Arrêt de travail- Prévention santé- Fiscalité (loi Madelin)</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Sécurité financière, protection familiale, avantage fiscal</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Garanties solides, réduction d’impôt, sérénité pour la famille</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22675">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rgbClr val="0C343D"/>
                          </a:solidFill>
                        </a:rPr>
                        <a:t>Étudiant</a:t>
                      </a:r>
                      <a:endParaRPr b="1" sz="1300" u="none" cap="none" strike="noStrike">
                        <a:solidFill>
                          <a:srgbClr val="0C343D"/>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 Tarifs accessibles- Soins courants- Optique/dentaire basiques- Hospitalisation minimum- Souplesse des contrats</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Prix, praticité, protection minimum</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Formules économiques, garanties simples, liberté sans engagement</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22675">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rgbClr val="0C343D"/>
                          </a:solidFill>
                        </a:rPr>
                        <a:t>ALD</a:t>
                      </a:r>
                      <a:endParaRPr b="1" sz="1300" u="none" cap="none" strike="noStrike">
                        <a:solidFill>
                          <a:srgbClr val="0C343D"/>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 Soins spécialisés- Hospitalisation fréquente- Paramédical (kiné, infirmiers)- Dépassements d’honoraires</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Sécurité médicale, minimiser le reste à charge</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Couverture renforcée, suivi long terme, pas de plafond limité</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22675">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rgbClr val="0C343D"/>
                          </a:solidFill>
                        </a:rPr>
                        <a:t>CSS</a:t>
                      </a:r>
                      <a:endParaRPr b="1" sz="1300" u="none" cap="none" strike="noStrike">
                        <a:solidFill>
                          <a:srgbClr val="0C343D"/>
                        </a:solidFill>
                      </a:endParaRPr>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 Couverture complète à faible coût- Tiers payant généralisé- Hospitalisation + soins courants- Optique/dentaire essentiels</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Accès aux soins, zéro avance d’argent, protection du budget</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Gratuité/abordabilité, simplicité administrative, sécurité financière</a:t>
                      </a:r>
                      <a:endParaRPr sz="14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197" name="Google Shape;197;p7" title="XwI5.gif"/>
          <p:cNvPicPr preferRelativeResize="0"/>
          <p:nvPr/>
        </p:nvPicPr>
        <p:blipFill rotWithShape="1">
          <a:blip r:embed="rId6">
            <a:alphaModFix/>
          </a:blip>
          <a:srcRect b="0" l="0" r="0" t="0"/>
          <a:stretch/>
        </p:blipFill>
        <p:spPr>
          <a:xfrm>
            <a:off x="8666896" y="1028475"/>
            <a:ext cx="426050" cy="317950"/>
          </a:xfrm>
          <a:prstGeom prst="rect">
            <a:avLst/>
          </a:prstGeom>
          <a:noFill/>
          <a:ln>
            <a:noFill/>
          </a:ln>
        </p:spPr>
      </p:pic>
      <p:pic>
        <p:nvPicPr>
          <p:cNvPr id="198" name="Google Shape;198;p7" title="XwI5.gif"/>
          <p:cNvPicPr preferRelativeResize="0"/>
          <p:nvPr/>
        </p:nvPicPr>
        <p:blipFill rotWithShape="1">
          <a:blip r:embed="rId6">
            <a:alphaModFix/>
          </a:blip>
          <a:srcRect b="0" l="0" r="0" t="0"/>
          <a:stretch/>
        </p:blipFill>
        <p:spPr>
          <a:xfrm>
            <a:off x="8666896" y="1946525"/>
            <a:ext cx="426050" cy="317950"/>
          </a:xfrm>
          <a:prstGeom prst="rect">
            <a:avLst/>
          </a:prstGeom>
          <a:noFill/>
          <a:ln>
            <a:noFill/>
          </a:ln>
        </p:spPr>
      </p:pic>
      <p:pic>
        <p:nvPicPr>
          <p:cNvPr id="199" name="Google Shape;199;p7" title="XwI5.gif"/>
          <p:cNvPicPr preferRelativeResize="0"/>
          <p:nvPr/>
        </p:nvPicPr>
        <p:blipFill rotWithShape="1">
          <a:blip r:embed="rId6">
            <a:alphaModFix/>
          </a:blip>
          <a:srcRect b="0" l="0" r="0" t="0"/>
          <a:stretch/>
        </p:blipFill>
        <p:spPr>
          <a:xfrm>
            <a:off x="8666896" y="2781675"/>
            <a:ext cx="426050" cy="317950"/>
          </a:xfrm>
          <a:prstGeom prst="rect">
            <a:avLst/>
          </a:prstGeom>
          <a:noFill/>
          <a:ln>
            <a:noFill/>
          </a:ln>
        </p:spPr>
      </p:pic>
      <p:pic>
        <p:nvPicPr>
          <p:cNvPr id="200" name="Google Shape;200;p7" title="XwI5.gif"/>
          <p:cNvPicPr preferRelativeResize="0"/>
          <p:nvPr/>
        </p:nvPicPr>
        <p:blipFill rotWithShape="1">
          <a:blip r:embed="rId6">
            <a:alphaModFix/>
          </a:blip>
          <a:srcRect b="0" l="0" r="0" t="0"/>
          <a:stretch/>
        </p:blipFill>
        <p:spPr>
          <a:xfrm>
            <a:off x="8666896" y="3616825"/>
            <a:ext cx="426050" cy="317950"/>
          </a:xfrm>
          <a:prstGeom prst="rect">
            <a:avLst/>
          </a:prstGeom>
          <a:noFill/>
          <a:ln>
            <a:noFill/>
          </a:ln>
        </p:spPr>
      </p:pic>
      <p:pic>
        <p:nvPicPr>
          <p:cNvPr id="201" name="Google Shape;201;p7" title="XwI5.gif"/>
          <p:cNvPicPr preferRelativeResize="0"/>
          <p:nvPr/>
        </p:nvPicPr>
        <p:blipFill rotWithShape="1">
          <a:blip r:embed="rId6">
            <a:alphaModFix/>
          </a:blip>
          <a:srcRect b="0" l="0" r="0" t="0"/>
          <a:stretch/>
        </p:blipFill>
        <p:spPr>
          <a:xfrm>
            <a:off x="8666896" y="4451975"/>
            <a:ext cx="426050" cy="317950"/>
          </a:xfrm>
          <a:prstGeom prst="rect">
            <a:avLst/>
          </a:prstGeom>
          <a:noFill/>
          <a:ln>
            <a:noFill/>
          </a:ln>
        </p:spPr>
      </p:pic>
      <p:pic>
        <p:nvPicPr>
          <p:cNvPr id="202" name="Google Shape;202;p7" title="ZZ5H.gif"/>
          <p:cNvPicPr preferRelativeResize="0"/>
          <p:nvPr/>
        </p:nvPicPr>
        <p:blipFill rotWithShape="1">
          <a:blip r:embed="rId7">
            <a:alphaModFix/>
          </a:blip>
          <a:srcRect b="0" l="0" r="0" t="0"/>
          <a:stretch/>
        </p:blipFill>
        <p:spPr>
          <a:xfrm>
            <a:off x="0" y="0"/>
            <a:ext cx="317950" cy="317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pSp>
        <p:nvGrpSpPr>
          <p:cNvPr id="207" name="Google Shape;207;p8"/>
          <p:cNvGrpSpPr/>
          <p:nvPr/>
        </p:nvGrpSpPr>
        <p:grpSpPr>
          <a:xfrm>
            <a:off x="0" y="1946520"/>
            <a:ext cx="9143639" cy="3196441"/>
            <a:chOff x="0" y="1946520"/>
            <a:chExt cx="9143639" cy="3196441"/>
          </a:xfrm>
        </p:grpSpPr>
        <p:pic>
          <p:nvPicPr>
            <p:cNvPr id="208" name="Google Shape;208;p8"/>
            <p:cNvPicPr preferRelativeResize="0"/>
            <p:nvPr/>
          </p:nvPicPr>
          <p:blipFill rotWithShape="1">
            <a:blip r:embed="rId3">
              <a:alphaModFix/>
            </a:blip>
            <a:srcRect b="0" l="0" r="0" t="0"/>
            <a:stretch/>
          </p:blipFill>
          <p:spPr>
            <a:xfrm>
              <a:off x="0" y="1946520"/>
              <a:ext cx="9143639" cy="3196441"/>
            </a:xfrm>
            <a:prstGeom prst="rect">
              <a:avLst/>
            </a:prstGeom>
            <a:noFill/>
            <a:ln>
              <a:noFill/>
            </a:ln>
          </p:spPr>
        </p:pic>
        <p:pic>
          <p:nvPicPr>
            <p:cNvPr id="209" name="Google Shape;209;p8"/>
            <p:cNvPicPr preferRelativeResize="0"/>
            <p:nvPr/>
          </p:nvPicPr>
          <p:blipFill rotWithShape="1">
            <a:blip r:embed="rId4">
              <a:alphaModFix/>
            </a:blip>
            <a:srcRect b="0" l="0" r="0" t="0"/>
            <a:stretch/>
          </p:blipFill>
          <p:spPr>
            <a:xfrm>
              <a:off x="154080" y="4651920"/>
              <a:ext cx="345959" cy="330841"/>
            </a:xfrm>
            <a:prstGeom prst="rect">
              <a:avLst/>
            </a:prstGeom>
            <a:noFill/>
            <a:ln>
              <a:noFill/>
            </a:ln>
          </p:spPr>
        </p:pic>
        <p:pic>
          <p:nvPicPr>
            <p:cNvPr id="210" name="Google Shape;210;p8"/>
            <p:cNvPicPr preferRelativeResize="0"/>
            <p:nvPr/>
          </p:nvPicPr>
          <p:blipFill rotWithShape="1">
            <a:blip r:embed="rId5">
              <a:alphaModFix/>
            </a:blip>
            <a:srcRect b="0" l="0" r="0" t="0"/>
            <a:stretch/>
          </p:blipFill>
          <p:spPr>
            <a:xfrm>
              <a:off x="8323200" y="4545360"/>
              <a:ext cx="746999" cy="532800"/>
            </a:xfrm>
            <a:prstGeom prst="rect">
              <a:avLst/>
            </a:prstGeom>
            <a:noFill/>
            <a:ln>
              <a:noFill/>
            </a:ln>
          </p:spPr>
        </p:pic>
      </p:grpSp>
      <p:sp>
        <p:nvSpPr>
          <p:cNvPr id="211" name="Google Shape;211;p8"/>
          <p:cNvSpPr txBox="1"/>
          <p:nvPr/>
        </p:nvSpPr>
        <p:spPr>
          <a:xfrm>
            <a:off x="3072000" y="1946525"/>
            <a:ext cx="3000000" cy="69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1" i="0" lang="en-US" sz="3300" u="none" cap="none" strike="noStrike">
                <a:solidFill>
                  <a:srgbClr val="000000"/>
                </a:solidFill>
                <a:latin typeface="Arial"/>
                <a:ea typeface="Arial"/>
                <a:cs typeface="Arial"/>
                <a:sym typeface="Arial"/>
              </a:rPr>
              <a:t>posture</a:t>
            </a:r>
            <a:endParaRPr b="1" i="0" sz="3300" u="none" cap="none" strike="noStrike">
              <a:solidFill>
                <a:srgbClr val="000000"/>
              </a:solidFill>
              <a:latin typeface="Arial"/>
              <a:ea typeface="Arial"/>
              <a:cs typeface="Arial"/>
              <a:sym typeface="Arial"/>
            </a:endParaRPr>
          </a:p>
        </p:txBody>
      </p:sp>
      <p:pic>
        <p:nvPicPr>
          <p:cNvPr id="212" name="Google Shape;212;p8" title="KKgi.gif"/>
          <p:cNvPicPr preferRelativeResize="0"/>
          <p:nvPr/>
        </p:nvPicPr>
        <p:blipFill rotWithShape="1">
          <a:blip r:embed="rId6">
            <a:alphaModFix/>
          </a:blip>
          <a:srcRect b="0" l="0" r="0" t="0"/>
          <a:stretch/>
        </p:blipFill>
        <p:spPr>
          <a:xfrm>
            <a:off x="1672050" y="513895"/>
            <a:ext cx="2010625" cy="2230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grpSp>
        <p:nvGrpSpPr>
          <p:cNvPr id="217" name="Google Shape;217;p9"/>
          <p:cNvGrpSpPr/>
          <p:nvPr/>
        </p:nvGrpSpPr>
        <p:grpSpPr>
          <a:xfrm>
            <a:off x="-32400" y="0"/>
            <a:ext cx="9143640" cy="5142960"/>
            <a:chOff x="-32400" y="0"/>
            <a:chExt cx="9143640" cy="5142960"/>
          </a:xfrm>
        </p:grpSpPr>
        <p:pic>
          <p:nvPicPr>
            <p:cNvPr id="218" name="Google Shape;218;p9"/>
            <p:cNvPicPr preferRelativeResize="0"/>
            <p:nvPr/>
          </p:nvPicPr>
          <p:blipFill rotWithShape="1">
            <a:blip r:embed="rId3">
              <a:alphaModFix/>
            </a:blip>
            <a:srcRect b="0" l="0" r="0" t="0"/>
            <a:stretch/>
          </p:blipFill>
          <p:spPr>
            <a:xfrm>
              <a:off x="-32400" y="0"/>
              <a:ext cx="9143640" cy="5142960"/>
            </a:xfrm>
            <a:prstGeom prst="rect">
              <a:avLst/>
            </a:prstGeom>
            <a:noFill/>
            <a:ln>
              <a:noFill/>
            </a:ln>
          </p:spPr>
        </p:pic>
        <p:pic>
          <p:nvPicPr>
            <p:cNvPr id="219" name="Google Shape;219;p9"/>
            <p:cNvPicPr preferRelativeResize="0"/>
            <p:nvPr/>
          </p:nvPicPr>
          <p:blipFill rotWithShape="1">
            <a:blip r:embed="rId4">
              <a:alphaModFix/>
            </a:blip>
            <a:srcRect b="0" l="0" r="0" t="0"/>
            <a:stretch/>
          </p:blipFill>
          <p:spPr>
            <a:xfrm>
              <a:off x="8226000" y="4515840"/>
              <a:ext cx="721440" cy="451440"/>
            </a:xfrm>
            <a:prstGeom prst="rect">
              <a:avLst/>
            </a:prstGeom>
            <a:noFill/>
            <a:ln>
              <a:noFill/>
            </a:ln>
          </p:spPr>
        </p:pic>
        <p:pic>
          <p:nvPicPr>
            <p:cNvPr id="220" name="Google Shape;220;p9"/>
            <p:cNvPicPr preferRelativeResize="0"/>
            <p:nvPr/>
          </p:nvPicPr>
          <p:blipFill rotWithShape="1">
            <a:blip r:embed="rId5">
              <a:alphaModFix/>
            </a:blip>
            <a:srcRect b="0" l="0" r="0" t="0"/>
            <a:stretch/>
          </p:blipFill>
          <p:spPr>
            <a:xfrm>
              <a:off x="146880" y="4665600"/>
              <a:ext cx="377640" cy="301680"/>
            </a:xfrm>
            <a:prstGeom prst="rect">
              <a:avLst/>
            </a:prstGeom>
            <a:noFill/>
            <a:ln>
              <a:noFill/>
            </a:ln>
          </p:spPr>
        </p:pic>
      </p:grpSp>
      <p:sp>
        <p:nvSpPr>
          <p:cNvPr id="221" name="Google Shape;221;p9"/>
          <p:cNvSpPr/>
          <p:nvPr/>
        </p:nvSpPr>
        <p:spPr>
          <a:xfrm>
            <a:off x="1978200" y="3191760"/>
            <a:ext cx="5186880" cy="7714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sng" cap="none" strike="noStrike">
                <a:solidFill>
                  <a:srgbClr val="83E3DA"/>
                </a:solidFill>
                <a:latin typeface="Times New Roman"/>
                <a:ea typeface="Times New Roman"/>
                <a:cs typeface="Times New Roman"/>
                <a:sym typeface="Times New Roman"/>
              </a:rPr>
              <a:t> Merci </a:t>
            </a:r>
            <a:endParaRPr b="0" i="0" sz="2900" u="none" cap="none" strike="noStrike">
              <a:solidFill>
                <a:srgbClr val="000000"/>
              </a:solidFill>
              <a:latin typeface="Arial"/>
              <a:ea typeface="Arial"/>
              <a:cs typeface="Arial"/>
              <a:sym typeface="Arial"/>
            </a:endParaRPr>
          </a:p>
        </p:txBody>
      </p:sp>
      <p:sp>
        <p:nvSpPr>
          <p:cNvPr id="222" name="Google Shape;222;p9"/>
          <p:cNvSpPr/>
          <p:nvPr/>
        </p:nvSpPr>
        <p:spPr>
          <a:xfrm>
            <a:off x="1978200" y="3191760"/>
            <a:ext cx="5187000" cy="77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sng" cap="none" strike="noStrike">
                <a:solidFill>
                  <a:srgbClr val="83E3DA"/>
                </a:solidFill>
                <a:latin typeface="Times New Roman"/>
                <a:ea typeface="Times New Roman"/>
                <a:cs typeface="Times New Roman"/>
                <a:sym typeface="Times New Roman"/>
              </a:rPr>
              <a:t> Merci pour votre Participation</a:t>
            </a:r>
            <a:endParaRPr b="0" i="0" sz="29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